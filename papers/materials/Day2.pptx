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24"/>
  </p:notesMasterIdLst>
  <p:sldIdLst>
    <p:sldId id="375" r:id="rId2"/>
    <p:sldId id="584" r:id="rId3"/>
    <p:sldId id="623" r:id="rId4"/>
    <p:sldId id="628" r:id="rId5"/>
    <p:sldId id="635" r:id="rId6"/>
    <p:sldId id="637" r:id="rId7"/>
    <p:sldId id="594" r:id="rId8"/>
    <p:sldId id="576" r:id="rId9"/>
    <p:sldId id="574" r:id="rId10"/>
    <p:sldId id="573" r:id="rId11"/>
    <p:sldId id="572" r:id="rId12"/>
    <p:sldId id="590" r:id="rId13"/>
    <p:sldId id="593" r:id="rId14"/>
    <p:sldId id="595" r:id="rId15"/>
    <p:sldId id="583" r:id="rId16"/>
    <p:sldId id="582" r:id="rId17"/>
    <p:sldId id="581" r:id="rId18"/>
    <p:sldId id="596" r:id="rId19"/>
    <p:sldId id="577" r:id="rId20"/>
    <p:sldId id="597" r:id="rId21"/>
    <p:sldId id="407" r:id="rId22"/>
    <p:sldId id="262"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9DDD94B-1509-DCC6-97CA-BFFAFB482CC6}" name="Murray Cantor" initials="MC" userId="S::contact@murraycantor.com::4c14c09f-f573-4990-929e-1c221c9daca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59"/>
    <p:restoredTop sz="86438"/>
  </p:normalViewPr>
  <p:slideViewPr>
    <p:cSldViewPr snapToGrid="0" snapToObjects="1">
      <p:cViewPr varScale="1">
        <p:scale>
          <a:sx n="98" d="100"/>
          <a:sy n="98" d="100"/>
        </p:scale>
        <p:origin x="208" y="42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935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EDITING: The course mark (top-right) and white background live in the slide master — change them once under View &gt; Slide Master. To reuse a layout, right-click a slide and Duplicate. Swap the bell-curve graphic for a topic image on other talks. Palette: teal 15686B, terracotta C2683F, ink 262320. Fonts: Bookman Old Style (headings), Calibri (body).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163909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343059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Leave it up during Q&amp;A.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BRAND_PLAIN">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9052560" y="310896"/>
            <a:ext cx="2212848" cy="502920"/>
          </a:xfrm>
          <a:prstGeom prst="rect">
            <a:avLst/>
          </a:prstGeom>
          <a:noFill/>
          <a:ln/>
        </p:spPr>
        <p:txBody>
          <a:bodyPr wrap="square" lIns="0" tIns="0" rIns="0" bIns="0" rtlCol="0" anchor="ctr"/>
          <a:lstStyle/>
          <a:p>
            <a:pPr marL="0" indent="0" algn="r">
              <a:buNone/>
            </a:pPr>
            <a:r>
              <a:rPr lang="en-US" sz="1200" dirty="0">
                <a:solidFill>
                  <a:srgbClr val="15686B"/>
                </a:solidFill>
                <a:latin typeface="Calibri" pitchFamily="34" charset="0"/>
                <a:ea typeface="Calibri" pitchFamily="34" charset="-122"/>
                <a:cs typeface="Calibri" pitchFamily="34" charset="-120"/>
              </a:rPr>
              <a:t>Healthy Skepticism</a:t>
            </a:r>
            <a:endParaRPr lang="en-US" sz="1200" dirty="0"/>
          </a:p>
        </p:txBody>
      </p:sp>
      <p:pic>
        <p:nvPicPr>
          <p:cNvPr id="4" name="Image 0" descr="/home/claude/assets/emblem.sv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84280" y="292608"/>
            <a:ext cx="530352" cy="53035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BRAND_CONTENT">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9052560" y="310896"/>
            <a:ext cx="2212848" cy="502920"/>
          </a:xfrm>
          <a:prstGeom prst="rect">
            <a:avLst/>
          </a:prstGeom>
          <a:noFill/>
          <a:ln/>
        </p:spPr>
        <p:txBody>
          <a:bodyPr wrap="square" lIns="0" tIns="0" rIns="0" bIns="0" rtlCol="0" anchor="ctr"/>
          <a:lstStyle/>
          <a:p>
            <a:pPr marL="0" indent="0" algn="r">
              <a:buNone/>
            </a:pPr>
            <a:r>
              <a:rPr lang="en-US" sz="1200" dirty="0">
                <a:solidFill>
                  <a:srgbClr val="15686B"/>
                </a:solidFill>
                <a:latin typeface="Calibri" pitchFamily="34" charset="0"/>
                <a:ea typeface="Calibri" pitchFamily="34" charset="-122"/>
                <a:cs typeface="Calibri" pitchFamily="34" charset="-120"/>
              </a:rPr>
              <a:t>Healthy Skepticism</a:t>
            </a:r>
            <a:endParaRPr lang="en-US" sz="1200" dirty="0"/>
          </a:p>
        </p:txBody>
      </p:sp>
      <p:sp>
        <p:nvSpPr>
          <p:cNvPr id="4" name="Text 1"/>
          <p:cNvSpPr>
            <a:spLocks noGrp="1"/>
          </p:cNvSpPr>
          <p:nvPr>
            <p:ph type="title" idx="102" hasCustomPrompt="1"/>
          </p:nvPr>
        </p:nvSpPr>
        <p:spPr>
          <a:xfrm>
            <a:off x="685800" y="868680"/>
            <a:ext cx="8046720" cy="868680"/>
          </a:xfrm>
          <a:prstGeom prst="rect">
            <a:avLst/>
          </a:prstGeom>
          <a:noFill/>
          <a:ln/>
        </p:spPr>
        <p:txBody>
          <a:bodyPr wrap="square" rtlCol="0"/>
          <a:lstStyle>
            <a:lvl1pPr marL="0" indent="0" algn="l">
              <a:buNone/>
              <a:defRPr lang="en-US" sz="3800" b="1" dirty="0">
                <a:solidFill>
                  <a:srgbClr val="15686B"/>
                </a:solidFill>
                <a:latin typeface="Bookman Old Style" pitchFamily="34" charset="0"/>
                <a:ea typeface="Bookman Old Style" pitchFamily="34" charset="-122"/>
                <a:cs typeface="Bookman Old Style" pitchFamily="34" charset="-120"/>
              </a:defRPr>
            </a:lvl1pPr>
          </a:lstStyle>
          <a:p>
            <a:pPr marL="0" indent="0" algn="l">
              <a:buNone/>
            </a:pPr>
            <a:endParaRPr lang="en-US" sz="3800" dirty="0"/>
          </a:p>
        </p:txBody>
      </p:sp>
      <p:pic>
        <p:nvPicPr>
          <p:cNvPr id="5" name="Image 0" descr="/home/claude/assets/emblem.sv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84280" y="292608"/>
            <a:ext cx="530352" cy="53035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FD3E0-23D6-D86E-5B73-94493E1A8699}"/>
              </a:ext>
            </a:extLst>
          </p:cNvPr>
          <p:cNvSpPr>
            <a:spLocks noGrp="1"/>
          </p:cNvSpPr>
          <p:nvPr>
            <p:ph type="dt" sz="half" idx="10"/>
          </p:nvPr>
        </p:nvSpPr>
        <p:spPr/>
        <p:txBody>
          <a:bodyPr/>
          <a:lstStyle/>
          <a:p>
            <a:fld id="{21E08557-15A8-9A43-B2AC-265A11910781}" type="datetimeFigureOut">
              <a:rPr lang="en-US" smtClean="0"/>
              <a:t>8/21/26</a:t>
            </a:fld>
            <a:endParaRPr lang="en-US"/>
          </a:p>
        </p:txBody>
      </p:sp>
      <p:sp>
        <p:nvSpPr>
          <p:cNvPr id="3" name="Footer Placeholder 2">
            <a:extLst>
              <a:ext uri="{FF2B5EF4-FFF2-40B4-BE49-F238E27FC236}">
                <a16:creationId xmlns:a16="http://schemas.microsoft.com/office/drawing/2014/main" id="{658F11EF-9D7B-8D93-9A06-4A768E3BE5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1D63F5-5491-4BB5-A523-F179701C8DFF}"/>
              </a:ext>
            </a:extLst>
          </p:cNvPr>
          <p:cNvSpPr>
            <a:spLocks noGrp="1"/>
          </p:cNvSpPr>
          <p:nvPr>
            <p:ph type="sldNum" sz="quarter" idx="12"/>
          </p:nvPr>
        </p:nvSpPr>
        <p:spPr/>
        <p:txBody>
          <a:bodyPr/>
          <a:lstStyle/>
          <a:p>
            <a:fld id="{066A57BB-8FFC-114E-83A4-C872F9C217B9}" type="slidenum">
              <a:rPr lang="en-US" smtClean="0"/>
              <a:t>‹#›</a:t>
            </a:fld>
            <a:endParaRPr lang="en-US"/>
          </a:p>
        </p:txBody>
      </p:sp>
    </p:spTree>
    <p:extLst>
      <p:ext uri="{BB962C8B-B14F-4D97-AF65-F5344CB8AC3E}">
        <p14:creationId xmlns:p14="http://schemas.microsoft.com/office/powerpoint/2010/main" val="3866955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77240" y="1444752"/>
            <a:ext cx="6126480" cy="1920240"/>
          </a:xfrm>
          <a:prstGeom prst="rect">
            <a:avLst/>
          </a:prstGeom>
          <a:noFill/>
          <a:ln/>
        </p:spPr>
        <p:txBody>
          <a:bodyPr wrap="square" lIns="0" tIns="0" rIns="0" bIns="0" rtlCol="0" anchor="ctr"/>
          <a:lstStyle/>
          <a:p>
            <a:pPr marL="0" indent="0" algn="l">
              <a:buNone/>
            </a:pPr>
            <a:r>
              <a:rPr lang="en-US" sz="5600" b="1" dirty="0">
                <a:solidFill>
                  <a:srgbClr val="262320"/>
                </a:solidFill>
                <a:latin typeface="Bookman Old Style" pitchFamily="34" charset="0"/>
                <a:ea typeface="Bookman Old Style" pitchFamily="34" charset="-122"/>
                <a:cs typeface="Bookman Old Style" pitchFamily="34" charset="-120"/>
              </a:rPr>
              <a:t>Healthy Skepticism</a:t>
            </a:r>
          </a:p>
          <a:p>
            <a:pPr marL="0" indent="0" algn="l">
              <a:buNone/>
            </a:pPr>
            <a:r>
              <a:rPr lang="en-US" sz="5600" b="1" dirty="0">
                <a:solidFill>
                  <a:srgbClr val="262320"/>
                </a:solidFill>
                <a:latin typeface="Bookman Old Style" pitchFamily="34" charset="0"/>
                <a:ea typeface="Bookman Old Style" pitchFamily="34" charset="-122"/>
                <a:cs typeface="Bookman Old Style" pitchFamily="34" charset="-120"/>
              </a:rPr>
              <a:t>Session 2</a:t>
            </a:r>
            <a:endParaRPr lang="en-US" sz="5600" dirty="0"/>
          </a:p>
        </p:txBody>
      </p:sp>
      <p:sp>
        <p:nvSpPr>
          <p:cNvPr id="4" name="Text 1"/>
          <p:cNvSpPr/>
          <p:nvPr/>
        </p:nvSpPr>
        <p:spPr>
          <a:xfrm>
            <a:off x="685800" y="3931920"/>
            <a:ext cx="6035040" cy="1005840"/>
          </a:xfrm>
          <a:prstGeom prst="rect">
            <a:avLst/>
          </a:prstGeom>
          <a:noFill/>
          <a:ln/>
        </p:spPr>
        <p:txBody>
          <a:bodyPr wrap="square" lIns="0" tIns="0" rIns="0" bIns="0" rtlCol="0" anchor="t"/>
          <a:lstStyle/>
          <a:p>
            <a:pPr marL="0" indent="0" algn="l">
              <a:buNone/>
            </a:pPr>
            <a:r>
              <a:rPr lang="en-US" sz="2500" dirty="0">
                <a:solidFill>
                  <a:srgbClr val="514B44"/>
                </a:solidFill>
                <a:latin typeface="Calibri" pitchFamily="34" charset="0"/>
                <a:ea typeface="Calibri" pitchFamily="34" charset="-122"/>
                <a:cs typeface="Calibri" pitchFamily="34" charset="-120"/>
              </a:rPr>
              <a:t>Fault 2 </a:t>
            </a:r>
            <a:r>
              <a:rPr lang="en-US" sz="2500" dirty="0" err="1">
                <a:solidFill>
                  <a:srgbClr val="514B44"/>
                </a:solidFill>
                <a:latin typeface="Calibri" pitchFamily="34" charset="0"/>
                <a:ea typeface="Calibri" pitchFamily="34" charset="-122"/>
                <a:cs typeface="Calibri" pitchFamily="34" charset="-120"/>
              </a:rPr>
              <a:t>Probility</a:t>
            </a:r>
            <a:r>
              <a:rPr lang="en-US" sz="2500" dirty="0">
                <a:solidFill>
                  <a:srgbClr val="514B44"/>
                </a:solidFill>
                <a:latin typeface="Calibri" pitchFamily="34" charset="0"/>
                <a:ea typeface="Calibri" pitchFamily="34" charset="-122"/>
                <a:cs typeface="Calibri" pitchFamily="34" charset="-120"/>
              </a:rPr>
              <a:t> Reversal</a:t>
            </a:r>
            <a:endParaRPr lang="en-US" sz="2500" dirty="0"/>
          </a:p>
        </p:txBody>
      </p:sp>
      <p:sp>
        <p:nvSpPr>
          <p:cNvPr id="5" name="Text 2"/>
          <p:cNvSpPr/>
          <p:nvPr/>
        </p:nvSpPr>
        <p:spPr>
          <a:xfrm>
            <a:off x="685800" y="5897880"/>
            <a:ext cx="10515600" cy="457200"/>
          </a:xfrm>
          <a:prstGeom prst="rect">
            <a:avLst/>
          </a:prstGeom>
          <a:noFill/>
          <a:ln/>
        </p:spPr>
        <p:txBody>
          <a:bodyPr wrap="square" lIns="0" tIns="0" rIns="0" bIns="0" rtlCol="0" anchor="ctr"/>
          <a:lstStyle/>
          <a:p>
            <a:pPr marL="0" indent="0" algn="l">
              <a:buNone/>
            </a:pPr>
            <a:r>
              <a:rPr lang="en-US" sz="2000" b="1" dirty="0">
                <a:solidFill>
                  <a:srgbClr val="262320"/>
                </a:solidFill>
                <a:latin typeface="Calibri" pitchFamily="34" charset="0"/>
                <a:ea typeface="Calibri" pitchFamily="34" charset="-122"/>
                <a:cs typeface="Calibri" pitchFamily="34" charset="-120"/>
              </a:rPr>
              <a:t>Murray Cantor, PhD</a:t>
            </a:r>
            <a:r>
              <a:rPr lang="en-US" sz="2000" dirty="0">
                <a:solidFill>
                  <a:srgbClr val="8A8076"/>
                </a:solidFill>
                <a:latin typeface="Calibri" pitchFamily="34" charset="0"/>
                <a:ea typeface="Calibri" pitchFamily="34" charset="-122"/>
                <a:cs typeface="Calibri" pitchFamily="34" charset="-120"/>
              </a:rPr>
              <a:t> &amp; </a:t>
            </a:r>
            <a:r>
              <a:rPr lang="en-US" sz="2000" b="1" dirty="0">
                <a:solidFill>
                  <a:srgbClr val="262320"/>
                </a:solidFill>
                <a:latin typeface="Calibri" pitchFamily="34" charset="0"/>
                <a:ea typeface="Calibri" pitchFamily="34" charset="-122"/>
                <a:cs typeface="Calibri" pitchFamily="34" charset="-120"/>
              </a:rPr>
              <a:t>Joel Keenan, MD</a:t>
            </a:r>
            <a:r>
              <a:rPr lang="en-US" sz="2000" dirty="0">
                <a:solidFill>
                  <a:srgbClr val="8A8076"/>
                </a:solidFill>
                <a:latin typeface="Calibri" pitchFamily="34" charset="0"/>
                <a:ea typeface="Calibri" pitchFamily="34" charset="-122"/>
                <a:cs typeface="Calibri" pitchFamily="34" charset="-120"/>
              </a:rPr>
              <a:t>      [venue and date]</a:t>
            </a:r>
            <a:endParaRPr lang="en-US" sz="2000" dirty="0"/>
          </a:p>
        </p:txBody>
      </p:sp>
      <p:pic>
        <p:nvPicPr>
          <p:cNvPr id="8" name="Picture 7">
            <a:extLst>
              <a:ext uri="{FF2B5EF4-FFF2-40B4-BE49-F238E27FC236}">
                <a16:creationId xmlns:a16="http://schemas.microsoft.com/office/drawing/2014/main" id="{39FCB6C9-B600-3075-6ECF-8170100C8225}"/>
              </a:ext>
            </a:extLst>
          </p:cNvPr>
          <p:cNvPicPr>
            <a:picLocks noChangeAspect="1"/>
          </p:cNvPicPr>
          <p:nvPr/>
        </p:nvPicPr>
        <p:blipFill>
          <a:blip r:embed="rId3"/>
          <a:stretch>
            <a:fillRect/>
          </a:stretch>
        </p:blipFill>
        <p:spPr>
          <a:xfrm>
            <a:off x="7147560" y="883920"/>
            <a:ext cx="4053840" cy="4053840"/>
          </a:xfrm>
          <a:prstGeom prst="rect">
            <a:avLst/>
          </a:prstGeom>
        </p:spPr>
      </p:pic>
    </p:spTree>
    <p:extLst>
      <p:ext uri="{BB962C8B-B14F-4D97-AF65-F5344CB8AC3E}">
        <p14:creationId xmlns:p14="http://schemas.microsoft.com/office/powerpoint/2010/main" val="3031507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1"/>
          <p:cNvSpPr/>
          <p:nvPr/>
        </p:nvSpPr>
        <p:spPr>
          <a:xfrm>
            <a:off x="685800" y="762000"/>
            <a:ext cx="804672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800" b="1" i="0" u="none" strike="noStrike" kern="1200" cap="none" spc="0" normalizeH="0" baseline="0" noProof="0" dirty="0">
                <a:ln>
                  <a:noFill/>
                </a:ln>
                <a:solidFill>
                  <a:srgbClr val="0F6C6C"/>
                </a:solidFill>
                <a:effectLst/>
                <a:uLnTx/>
                <a:uFillTx/>
                <a:latin typeface="Bookman Old Style" pitchFamily="34" charset="0"/>
                <a:ea typeface="Bookman Old Style" pitchFamily="34" charset="-122"/>
                <a:cs typeface="Bookman Old Style" pitchFamily="34" charset="-120"/>
              </a:rPr>
              <a:t>The Two Questions</a:t>
            </a:r>
          </a:p>
        </p:txBody>
      </p:sp>
      <p:sp>
        <p:nvSpPr>
          <p:cNvPr id="20" name="TB 41"/>
          <p:cNvSpPr/>
          <p:nvPr/>
        </p:nvSpPr>
        <p:spPr>
          <a:xfrm>
            <a:off x="685800" y="1930400"/>
            <a:ext cx="10058400" cy="431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2200" b="0" i="1" u="none" strike="noStrike" kern="1200" cap="none" spc="0" normalizeH="0" baseline="0" noProof="0" dirty="0">
                <a:ln>
                  <a:noFill/>
                </a:ln>
                <a:solidFill>
                  <a:srgbClr val="262320"/>
                </a:solidFill>
                <a:effectLst/>
                <a:uLnTx/>
                <a:uFillTx/>
                <a:latin typeface="Bookman Old Style" pitchFamily="34" charset="0"/>
                <a:ea typeface="Bookman Old Style" pitchFamily="34" charset="-122"/>
                <a:cs typeface="Bookman Old Style" pitchFamily="34" charset="-120"/>
              </a:rPr>
              <a:t>Two probabilities that sound the same and are not</a:t>
            </a:r>
          </a:p>
        </p:txBody>
      </p:sp>
      <p:sp>
        <p:nvSpPr>
          <p:cNvPr id="30" name="Card 30"/>
          <p:cNvSpPr/>
          <p:nvPr/>
        </p:nvSpPr>
        <p:spPr>
          <a:xfrm>
            <a:off x="685800" y="2667000"/>
            <a:ext cx="4876800" cy="1905000"/>
          </a:xfrm>
          <a:prstGeom prst="roundRect">
            <a:avLst>
              <a:gd name="adj" fmla="val 5000"/>
            </a:avLst>
          </a:prstGeom>
          <a:solidFill>
            <a:srgbClr val="EFF5F4"/>
          </a:solidFill>
          <a:ln w="12700">
            <a:solidFill>
              <a:srgbClr val="0F6C6C"/>
            </a:solidFill>
            <a:prstDash val="solid"/>
          </a:ln>
        </p:spPr>
        <p:txBody>
          <a:bodyPr/>
          <a:lstStyle/>
          <a:p>
            <a:endParaRPr/>
          </a:p>
        </p:txBody>
      </p:sp>
      <p:sp>
        <p:nvSpPr>
          <p:cNvPr id="31" name="CardTx 30"/>
          <p:cNvSpPr/>
          <p:nvPr/>
        </p:nvSpPr>
        <p:spPr>
          <a:xfrm>
            <a:off x="960120" y="2895600"/>
            <a:ext cx="4328160" cy="1447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200" normalizeH="0" baseline="0" noProof="0" dirty="0">
                <a:ln>
                  <a:noFill/>
                </a:ln>
                <a:solidFill>
                  <a:srgbClr val="0F6C6C"/>
                </a:solidFill>
                <a:effectLst/>
                <a:uLnTx/>
                <a:uFillTx/>
                <a:latin typeface="Calibri" pitchFamily="34" charset="0"/>
                <a:ea typeface="Calibri" pitchFamily="34" charset="-122"/>
                <a:cs typeface="Calibri" pitchFamily="34" charset="-120"/>
              </a:rPr>
              <a:t>WHAT CAN BE MEASURED</a:t>
            </a:r>
          </a:p>
          <a:p>
            <a:pPr marL="0" marR="0" lvl="0" indent="0" algn="l" defTabSz="914400" rtl="0" eaLnBrk="1" fontAlgn="auto" latinLnBrk="0" hangingPunct="1">
              <a:lnSpc>
                <a:spcPct val="100000"/>
              </a:lnSpc>
              <a:spcBef>
                <a:spcPts val="0"/>
              </a:spcBef>
              <a:spcAft>
                <a:spcPts val="0"/>
              </a:spcAft>
              <a:buNone/>
              <a:tabLst/>
              <a:defRPr/>
            </a:pPr>
            <a:r>
              <a:rPr kumimoji="0" lang="en-US" sz="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20000"/>
              </a:lnSpc>
              <a:spcBef>
                <a:spcPts val="0"/>
              </a:spcBef>
              <a:spcAft>
                <a:spcPts val="0"/>
              </a:spcAft>
              <a:buNone/>
              <a:tabLst/>
              <a:defRPr/>
            </a:pPr>
            <a:r>
              <a:rPr kumimoji="0" lang="en-US" sz="21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 observation | condition )</a:t>
            </a:r>
          </a:p>
          <a:p>
            <a:pPr marL="0" marR="0" lvl="0" indent="0" algn="l" defTabSz="914400" rtl="0" eaLnBrk="1" fontAlgn="auto" latinLnBrk="0" hangingPunct="1">
              <a:lnSpc>
                <a:spcPct val="100000"/>
              </a:lnSpc>
              <a:spcBef>
                <a:spcPts val="0"/>
              </a:spcBef>
              <a:spcAft>
                <a:spcPts val="0"/>
              </a:spcAft>
              <a:buNone/>
              <a:tabLst/>
              <a:defRPr/>
            </a:pPr>
            <a:r>
              <a:rPr kumimoji="0" lang="en-US" sz="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35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When the condition is there, how often do we see this?</a:t>
            </a:r>
          </a:p>
        </p:txBody>
      </p:sp>
      <p:sp>
        <p:nvSpPr>
          <p:cNvPr id="50" name="Card 50"/>
          <p:cNvSpPr/>
          <p:nvPr/>
        </p:nvSpPr>
        <p:spPr>
          <a:xfrm>
            <a:off x="5867400" y="2667000"/>
            <a:ext cx="4876800" cy="1905000"/>
          </a:xfrm>
          <a:prstGeom prst="roundRect">
            <a:avLst>
              <a:gd name="adj" fmla="val 5000"/>
            </a:avLst>
          </a:prstGeom>
          <a:solidFill>
            <a:srgbClr val="EFF5F4"/>
          </a:solidFill>
          <a:ln w="12700">
            <a:solidFill>
              <a:srgbClr val="0F6C6C"/>
            </a:solidFill>
            <a:prstDash val="solid"/>
          </a:ln>
        </p:spPr>
        <p:txBody>
          <a:bodyPr/>
          <a:lstStyle/>
          <a:p>
            <a:endParaRPr/>
          </a:p>
        </p:txBody>
      </p:sp>
      <p:sp>
        <p:nvSpPr>
          <p:cNvPr id="51" name="CardTx 50"/>
          <p:cNvSpPr/>
          <p:nvPr/>
        </p:nvSpPr>
        <p:spPr>
          <a:xfrm>
            <a:off x="6141720" y="2895600"/>
            <a:ext cx="4328160" cy="1447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200" normalizeH="0" baseline="0" noProof="0" dirty="0">
                <a:ln>
                  <a:noFill/>
                </a:ln>
                <a:solidFill>
                  <a:srgbClr val="0F6C6C"/>
                </a:solidFill>
                <a:effectLst/>
                <a:uLnTx/>
                <a:uFillTx/>
                <a:latin typeface="Calibri" pitchFamily="34" charset="0"/>
                <a:ea typeface="Calibri" pitchFamily="34" charset="-122"/>
                <a:cs typeface="Calibri" pitchFamily="34" charset="-120"/>
              </a:rPr>
              <a:t>WHAT YOU WANT TO KNOW</a:t>
            </a:r>
          </a:p>
          <a:p>
            <a:pPr marL="0" marR="0" lvl="0" indent="0" algn="l" defTabSz="914400" rtl="0" eaLnBrk="1" fontAlgn="auto" latinLnBrk="0" hangingPunct="1">
              <a:lnSpc>
                <a:spcPct val="100000"/>
              </a:lnSpc>
              <a:spcBef>
                <a:spcPts val="0"/>
              </a:spcBef>
              <a:spcAft>
                <a:spcPts val="0"/>
              </a:spcAft>
              <a:buNone/>
              <a:tabLst/>
              <a:defRPr/>
            </a:pPr>
            <a:r>
              <a:rPr kumimoji="0" lang="en-US" sz="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20000"/>
              </a:lnSpc>
              <a:spcBef>
                <a:spcPts val="0"/>
              </a:spcBef>
              <a:spcAft>
                <a:spcPts val="0"/>
              </a:spcAft>
              <a:buNone/>
              <a:tabLst/>
              <a:defRPr/>
            </a:pPr>
            <a:r>
              <a:rPr kumimoji="0" lang="en-US" sz="21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 condition | observation )</a:t>
            </a:r>
          </a:p>
          <a:p>
            <a:pPr marL="0" marR="0" lvl="0" indent="0" algn="l" defTabSz="914400" rtl="0" eaLnBrk="1" fontAlgn="auto" latinLnBrk="0" hangingPunct="1">
              <a:lnSpc>
                <a:spcPct val="100000"/>
              </a:lnSpc>
              <a:spcBef>
                <a:spcPts val="0"/>
              </a:spcBef>
              <a:spcAft>
                <a:spcPts val="0"/>
              </a:spcAft>
              <a:buNone/>
              <a:tabLst/>
              <a:defRPr/>
            </a:pPr>
            <a:r>
              <a:rPr kumimoji="0" lang="en-US" sz="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35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Having seen it, how likely is the condition?</a:t>
            </a:r>
          </a:p>
        </p:txBody>
      </p:sp>
      <p:sp>
        <p:nvSpPr>
          <p:cNvPr id="70" name="Card 32"/>
          <p:cNvSpPr/>
          <p:nvPr/>
        </p:nvSpPr>
        <p:spPr>
          <a:xfrm>
            <a:off x="685800" y="4978400"/>
            <a:ext cx="10058400" cy="1092200"/>
          </a:xfrm>
          <a:prstGeom prst="roundRect">
            <a:avLst>
              <a:gd name="adj" fmla="val 4000"/>
            </a:avLst>
          </a:prstGeom>
          <a:solidFill>
            <a:srgbClr val="0F6C6C"/>
          </a:solidFill>
          <a:ln>
            <a:noFill/>
          </a:ln>
        </p:spPr>
        <p:txBody>
          <a:bodyPr/>
          <a:lstStyle/>
          <a:p>
            <a:endParaRPr/>
          </a:p>
        </p:txBody>
      </p:sp>
      <p:sp>
        <p:nvSpPr>
          <p:cNvPr id="71" name="BandTx"/>
          <p:cNvSpPr/>
          <p:nvPr/>
        </p:nvSpPr>
        <p:spPr>
          <a:xfrm>
            <a:off x="960120" y="5184140"/>
            <a:ext cx="9509760" cy="680720"/>
          </a:xfrm>
          <a:prstGeom prst="rect">
            <a:avLst/>
          </a:prstGeom>
          <a:noFill/>
          <a:ln/>
        </p:spPr>
        <p:txBody>
          <a:bodyPr wrap="square" lIns="0" tIns="0" rIns="0" bIns="0" rtlCol="0" anchor="t"/>
          <a:lstStyle/>
          <a:p>
            <a:pPr marL="0" marR="0" lvl="0" indent="0" algn="l" defTabSz="914400" rtl="0" eaLnBrk="1" fontAlgn="auto" latinLnBrk="0" hangingPunct="1">
              <a:lnSpc>
                <a:spcPct val="135000"/>
              </a:lnSpc>
              <a:spcBef>
                <a:spcPts val="0"/>
              </a:spcBef>
              <a:spcAft>
                <a:spcPts val="0"/>
              </a:spcAft>
              <a:buNone/>
              <a:tabLst/>
              <a:defRPr/>
            </a:pPr>
            <a:r>
              <a:rPr kumimoji="0" lang="en-US" sz="17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 fault is reading one as if it were the other. They are different numbers, and how far apart they sit depends on something the observation never tells you: how common the condition is.</a:t>
            </a:r>
          </a:p>
        </p:txBody>
      </p:sp>
      <p:sp>
        <p:nvSpPr>
          <p:cNvPr id="2" name="Title 1">
            <a:extLst>
              <a:ext uri="{FF2B5EF4-FFF2-40B4-BE49-F238E27FC236}">
                <a16:creationId xmlns:a16="http://schemas.microsoft.com/office/drawing/2014/main" id="{8503F986-1638-BF4A-675C-E09EE24BFF7B}"/>
              </a:ext>
            </a:extLst>
          </p:cNvPr>
          <p:cNvSpPr>
            <a:spLocks noGrp="1"/>
          </p:cNvSpPr>
          <p:nvPr>
            <p:ph type="title" idx="102"/>
          </p:nvPr>
        </p:nvSpPr>
        <p:spPr/>
        <p:txBody>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22A3E0-18E0-DB47-93C6-7ED2263ABCBF}"/>
              </a:ext>
            </a:extLst>
          </p:cNvPr>
          <p:cNvSpPr txBox="1"/>
          <p:nvPr/>
        </p:nvSpPr>
        <p:spPr>
          <a:xfrm>
            <a:off x="635000" y="457200"/>
            <a:ext cx="109728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EACH SQUARE IS A MEMBER OF THE POPULATION</a:t>
            </a:r>
          </a:p>
        </p:txBody>
      </p:sp>
      <p:sp>
        <p:nvSpPr>
          <p:cNvPr id="3" name="TextBox 2">
            <a:extLst>
              <a:ext uri="{FF2B5EF4-FFF2-40B4-BE49-F238E27FC236}">
                <a16:creationId xmlns:a16="http://schemas.microsoft.com/office/drawing/2014/main" id="{D646DA3B-EA33-3944-B047-BF52925927D9}"/>
              </a:ext>
            </a:extLst>
          </p:cNvPr>
          <p:cNvSpPr txBox="1"/>
          <p:nvPr/>
        </p:nvSpPr>
        <p:spPr>
          <a:xfrm>
            <a:off x="635000" y="749300"/>
            <a:ext cx="10972800" cy="558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How to read a waffle chart</a:t>
            </a:r>
          </a:p>
        </p:txBody>
      </p:sp>
      <p:sp>
        <p:nvSpPr>
          <p:cNvPr id="4" name="TextBox 3">
            <a:extLst>
              <a:ext uri="{FF2B5EF4-FFF2-40B4-BE49-F238E27FC236}">
                <a16:creationId xmlns:a16="http://schemas.microsoft.com/office/drawing/2014/main" id="{6134C786-6BCC-6848-A924-161BF2B14E0C}"/>
              </a:ext>
            </a:extLst>
          </p:cNvPr>
          <p:cNvSpPr txBox="1"/>
          <p:nvPr/>
        </p:nvSpPr>
        <p:spPr>
          <a:xfrm>
            <a:off x="635000" y="1371600"/>
            <a:ext cx="66040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One square, one member. Call the two attributes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A</a:t>
            </a: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 and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B</a:t>
            </a: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a:t>
            </a:r>
          </a:p>
        </p:txBody>
      </p:sp>
      <p:sp>
        <p:nvSpPr>
          <p:cNvPr id="5" name="Rectangle 4">
            <a:extLst>
              <a:ext uri="{FF2B5EF4-FFF2-40B4-BE49-F238E27FC236}">
                <a16:creationId xmlns:a16="http://schemas.microsoft.com/office/drawing/2014/main" id="{9A9E3B53-8C41-0743-ACCD-9CFC0AB88F87}"/>
              </a:ext>
            </a:extLst>
          </p:cNvPr>
          <p:cNvSpPr/>
          <p:nvPr/>
        </p:nvSpPr>
        <p:spPr>
          <a:xfrm>
            <a:off x="635000" y="1879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FAEB3744-36A1-294D-AED7-A841C17CC6E6}"/>
              </a:ext>
            </a:extLst>
          </p:cNvPr>
          <p:cNvSpPr/>
          <p:nvPr/>
        </p:nvSpPr>
        <p:spPr>
          <a:xfrm>
            <a:off x="1016000" y="1879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045496E0-AAF5-8040-A930-5210D62EBF08}"/>
              </a:ext>
            </a:extLst>
          </p:cNvPr>
          <p:cNvSpPr/>
          <p:nvPr/>
        </p:nvSpPr>
        <p:spPr>
          <a:xfrm>
            <a:off x="1397000" y="1879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ctangle 7">
            <a:extLst>
              <a:ext uri="{FF2B5EF4-FFF2-40B4-BE49-F238E27FC236}">
                <a16:creationId xmlns:a16="http://schemas.microsoft.com/office/drawing/2014/main" id="{3EDAA86F-FFA4-3844-A300-30DAA81BCD46}"/>
              </a:ext>
            </a:extLst>
          </p:cNvPr>
          <p:cNvSpPr/>
          <p:nvPr/>
        </p:nvSpPr>
        <p:spPr>
          <a:xfrm>
            <a:off x="1778000" y="1879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8">
            <a:extLst>
              <a:ext uri="{FF2B5EF4-FFF2-40B4-BE49-F238E27FC236}">
                <a16:creationId xmlns:a16="http://schemas.microsoft.com/office/drawing/2014/main" id="{4A2FDA31-51A2-D64E-B32D-17581659F069}"/>
              </a:ext>
            </a:extLst>
          </p:cNvPr>
          <p:cNvSpPr/>
          <p:nvPr/>
        </p:nvSpPr>
        <p:spPr>
          <a:xfrm>
            <a:off x="2159000" y="1879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F5F82279-9D6C-024B-9942-558607CBED15}"/>
              </a:ext>
            </a:extLst>
          </p:cNvPr>
          <p:cNvSpPr/>
          <p:nvPr/>
        </p:nvSpPr>
        <p:spPr>
          <a:xfrm>
            <a:off x="2540000" y="1879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03DE3A4B-5A18-184C-98E5-49C21B57010C}"/>
              </a:ext>
            </a:extLst>
          </p:cNvPr>
          <p:cNvSpPr/>
          <p:nvPr/>
        </p:nvSpPr>
        <p:spPr>
          <a:xfrm>
            <a:off x="2921000" y="1879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99C1C645-3368-3A45-AA8D-DEDA5B7EAB98}"/>
              </a:ext>
            </a:extLst>
          </p:cNvPr>
          <p:cNvSpPr/>
          <p:nvPr/>
        </p:nvSpPr>
        <p:spPr>
          <a:xfrm>
            <a:off x="3302000" y="1879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33532073-B3F3-0740-A25C-3C51197EDFEB}"/>
              </a:ext>
            </a:extLst>
          </p:cNvPr>
          <p:cNvSpPr/>
          <p:nvPr/>
        </p:nvSpPr>
        <p:spPr>
          <a:xfrm>
            <a:off x="3683000" y="1879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12CABEBD-EE98-6849-BB78-2DB30642FE07}"/>
              </a:ext>
            </a:extLst>
          </p:cNvPr>
          <p:cNvSpPr/>
          <p:nvPr/>
        </p:nvSpPr>
        <p:spPr>
          <a:xfrm>
            <a:off x="4064000" y="1879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0323B13B-1267-6349-A5CC-012E1A13F734}"/>
              </a:ext>
            </a:extLst>
          </p:cNvPr>
          <p:cNvSpPr/>
          <p:nvPr/>
        </p:nvSpPr>
        <p:spPr>
          <a:xfrm>
            <a:off x="635000" y="2260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3E1CA80A-EA32-CE4F-A539-0764E6B3E79C}"/>
              </a:ext>
            </a:extLst>
          </p:cNvPr>
          <p:cNvSpPr/>
          <p:nvPr/>
        </p:nvSpPr>
        <p:spPr>
          <a:xfrm>
            <a:off x="1016000" y="2260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2E082B9F-E0A3-3F4E-A7BD-79319A013C28}"/>
              </a:ext>
            </a:extLst>
          </p:cNvPr>
          <p:cNvSpPr/>
          <p:nvPr/>
        </p:nvSpPr>
        <p:spPr>
          <a:xfrm>
            <a:off x="1397000" y="2260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EA7C3BDD-09EC-FE4A-A2DB-F0ED681DF6A7}"/>
              </a:ext>
            </a:extLst>
          </p:cNvPr>
          <p:cNvSpPr/>
          <p:nvPr/>
        </p:nvSpPr>
        <p:spPr>
          <a:xfrm>
            <a:off x="1778000" y="2260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FAD59272-EAAD-C749-8CA1-1A7D167F584E}"/>
              </a:ext>
            </a:extLst>
          </p:cNvPr>
          <p:cNvSpPr/>
          <p:nvPr/>
        </p:nvSpPr>
        <p:spPr>
          <a:xfrm>
            <a:off x="2159000" y="2260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55797CF2-5CD6-0342-A489-5A0DD4B5E391}"/>
              </a:ext>
            </a:extLst>
          </p:cNvPr>
          <p:cNvSpPr/>
          <p:nvPr/>
        </p:nvSpPr>
        <p:spPr>
          <a:xfrm>
            <a:off x="2540000" y="2260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BB012647-0996-894B-8252-46AA70AEED99}"/>
              </a:ext>
            </a:extLst>
          </p:cNvPr>
          <p:cNvSpPr/>
          <p:nvPr/>
        </p:nvSpPr>
        <p:spPr>
          <a:xfrm>
            <a:off x="2921000" y="2260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66B510D4-7E27-4241-8C0F-086227465B89}"/>
              </a:ext>
            </a:extLst>
          </p:cNvPr>
          <p:cNvSpPr/>
          <p:nvPr/>
        </p:nvSpPr>
        <p:spPr>
          <a:xfrm>
            <a:off x="3302000" y="2260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ectangle 22">
            <a:extLst>
              <a:ext uri="{FF2B5EF4-FFF2-40B4-BE49-F238E27FC236}">
                <a16:creationId xmlns:a16="http://schemas.microsoft.com/office/drawing/2014/main" id="{C8185860-FF89-404F-8F0E-1080178BCF93}"/>
              </a:ext>
            </a:extLst>
          </p:cNvPr>
          <p:cNvSpPr/>
          <p:nvPr/>
        </p:nvSpPr>
        <p:spPr>
          <a:xfrm>
            <a:off x="3683000" y="2260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0E32E73B-D46B-7F40-96DD-A4D9A3E50C06}"/>
              </a:ext>
            </a:extLst>
          </p:cNvPr>
          <p:cNvSpPr/>
          <p:nvPr/>
        </p:nvSpPr>
        <p:spPr>
          <a:xfrm>
            <a:off x="4064000" y="2260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24">
            <a:extLst>
              <a:ext uri="{FF2B5EF4-FFF2-40B4-BE49-F238E27FC236}">
                <a16:creationId xmlns:a16="http://schemas.microsoft.com/office/drawing/2014/main" id="{09CB42F6-215C-5C4D-8494-61BA7180246B}"/>
              </a:ext>
            </a:extLst>
          </p:cNvPr>
          <p:cNvSpPr/>
          <p:nvPr/>
        </p:nvSpPr>
        <p:spPr>
          <a:xfrm>
            <a:off x="635000" y="2641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27A13E4B-5A24-A94F-97F0-9FDD099C932A}"/>
              </a:ext>
            </a:extLst>
          </p:cNvPr>
          <p:cNvSpPr/>
          <p:nvPr/>
        </p:nvSpPr>
        <p:spPr>
          <a:xfrm>
            <a:off x="1016000" y="2641600"/>
            <a:ext cx="330200" cy="3302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26">
            <a:extLst>
              <a:ext uri="{FF2B5EF4-FFF2-40B4-BE49-F238E27FC236}">
                <a16:creationId xmlns:a16="http://schemas.microsoft.com/office/drawing/2014/main" id="{575894EE-0B5F-444B-8735-63FC51218CB6}"/>
              </a:ext>
            </a:extLst>
          </p:cNvPr>
          <p:cNvSpPr/>
          <p:nvPr/>
        </p:nvSpPr>
        <p:spPr>
          <a:xfrm>
            <a:off x="1397000" y="2641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Rectangle 27">
            <a:extLst>
              <a:ext uri="{FF2B5EF4-FFF2-40B4-BE49-F238E27FC236}">
                <a16:creationId xmlns:a16="http://schemas.microsoft.com/office/drawing/2014/main" id="{E4D0F19B-83FA-134D-A411-CA65DBA7D2BE}"/>
              </a:ext>
            </a:extLst>
          </p:cNvPr>
          <p:cNvSpPr/>
          <p:nvPr/>
        </p:nvSpPr>
        <p:spPr>
          <a:xfrm>
            <a:off x="1778000" y="2641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Rectangle 28">
            <a:extLst>
              <a:ext uri="{FF2B5EF4-FFF2-40B4-BE49-F238E27FC236}">
                <a16:creationId xmlns:a16="http://schemas.microsoft.com/office/drawing/2014/main" id="{B9B6B526-25EB-C34F-B479-6EB8011AF63E}"/>
              </a:ext>
            </a:extLst>
          </p:cNvPr>
          <p:cNvSpPr/>
          <p:nvPr/>
        </p:nvSpPr>
        <p:spPr>
          <a:xfrm>
            <a:off x="2159000" y="2641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29">
            <a:extLst>
              <a:ext uri="{FF2B5EF4-FFF2-40B4-BE49-F238E27FC236}">
                <a16:creationId xmlns:a16="http://schemas.microsoft.com/office/drawing/2014/main" id="{2BE35466-7CBB-B64F-AC20-4853E5AD32BD}"/>
              </a:ext>
            </a:extLst>
          </p:cNvPr>
          <p:cNvSpPr/>
          <p:nvPr/>
        </p:nvSpPr>
        <p:spPr>
          <a:xfrm>
            <a:off x="2540000" y="2641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Rectangle 30">
            <a:extLst>
              <a:ext uri="{FF2B5EF4-FFF2-40B4-BE49-F238E27FC236}">
                <a16:creationId xmlns:a16="http://schemas.microsoft.com/office/drawing/2014/main" id="{E535947F-2BC2-FF4F-A835-C63BC638E2BA}"/>
              </a:ext>
            </a:extLst>
          </p:cNvPr>
          <p:cNvSpPr/>
          <p:nvPr/>
        </p:nvSpPr>
        <p:spPr>
          <a:xfrm>
            <a:off x="2921000" y="2641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Rectangle 31">
            <a:extLst>
              <a:ext uri="{FF2B5EF4-FFF2-40B4-BE49-F238E27FC236}">
                <a16:creationId xmlns:a16="http://schemas.microsoft.com/office/drawing/2014/main" id="{84C83753-60E4-134E-A3CC-5CFE11388287}"/>
              </a:ext>
            </a:extLst>
          </p:cNvPr>
          <p:cNvSpPr/>
          <p:nvPr/>
        </p:nvSpPr>
        <p:spPr>
          <a:xfrm>
            <a:off x="3302000" y="2641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Rectangle 32">
            <a:extLst>
              <a:ext uri="{FF2B5EF4-FFF2-40B4-BE49-F238E27FC236}">
                <a16:creationId xmlns:a16="http://schemas.microsoft.com/office/drawing/2014/main" id="{8F4C146B-EAB1-A841-BA38-7FF5074A7ECF}"/>
              </a:ext>
            </a:extLst>
          </p:cNvPr>
          <p:cNvSpPr/>
          <p:nvPr/>
        </p:nvSpPr>
        <p:spPr>
          <a:xfrm>
            <a:off x="3683000" y="2641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Rectangle 33">
            <a:extLst>
              <a:ext uri="{FF2B5EF4-FFF2-40B4-BE49-F238E27FC236}">
                <a16:creationId xmlns:a16="http://schemas.microsoft.com/office/drawing/2014/main" id="{9854C232-3484-B14F-AB51-475A9A935DEE}"/>
              </a:ext>
            </a:extLst>
          </p:cNvPr>
          <p:cNvSpPr/>
          <p:nvPr/>
        </p:nvSpPr>
        <p:spPr>
          <a:xfrm>
            <a:off x="4064000" y="2641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Rectangle 34">
            <a:extLst>
              <a:ext uri="{FF2B5EF4-FFF2-40B4-BE49-F238E27FC236}">
                <a16:creationId xmlns:a16="http://schemas.microsoft.com/office/drawing/2014/main" id="{A8C97880-FE66-0E4C-BB7E-15DF3D90F575}"/>
              </a:ext>
            </a:extLst>
          </p:cNvPr>
          <p:cNvSpPr/>
          <p:nvPr/>
        </p:nvSpPr>
        <p:spPr>
          <a:xfrm>
            <a:off x="635000" y="3022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Rectangle 35">
            <a:extLst>
              <a:ext uri="{FF2B5EF4-FFF2-40B4-BE49-F238E27FC236}">
                <a16:creationId xmlns:a16="http://schemas.microsoft.com/office/drawing/2014/main" id="{9248625B-B316-4B45-B104-D7CB7F32C350}"/>
              </a:ext>
            </a:extLst>
          </p:cNvPr>
          <p:cNvSpPr/>
          <p:nvPr/>
        </p:nvSpPr>
        <p:spPr>
          <a:xfrm>
            <a:off x="1016000" y="3022600"/>
            <a:ext cx="330200" cy="3302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Rectangle 36">
            <a:extLst>
              <a:ext uri="{FF2B5EF4-FFF2-40B4-BE49-F238E27FC236}">
                <a16:creationId xmlns:a16="http://schemas.microsoft.com/office/drawing/2014/main" id="{88F10BBF-28ED-A74F-A3FE-3F5DA1EFA8F2}"/>
              </a:ext>
            </a:extLst>
          </p:cNvPr>
          <p:cNvSpPr/>
          <p:nvPr/>
        </p:nvSpPr>
        <p:spPr>
          <a:xfrm>
            <a:off x="1397000" y="3022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Rectangle 37">
            <a:extLst>
              <a:ext uri="{FF2B5EF4-FFF2-40B4-BE49-F238E27FC236}">
                <a16:creationId xmlns:a16="http://schemas.microsoft.com/office/drawing/2014/main" id="{D0462A1B-E53E-4D4F-93D6-08CDE6DDCFFA}"/>
              </a:ext>
            </a:extLst>
          </p:cNvPr>
          <p:cNvSpPr/>
          <p:nvPr/>
        </p:nvSpPr>
        <p:spPr>
          <a:xfrm>
            <a:off x="1778000" y="3022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9" name="Rectangle 38">
            <a:extLst>
              <a:ext uri="{FF2B5EF4-FFF2-40B4-BE49-F238E27FC236}">
                <a16:creationId xmlns:a16="http://schemas.microsoft.com/office/drawing/2014/main" id="{A215ECF6-1833-6D40-B58E-C434D7234562}"/>
              </a:ext>
            </a:extLst>
          </p:cNvPr>
          <p:cNvSpPr/>
          <p:nvPr/>
        </p:nvSpPr>
        <p:spPr>
          <a:xfrm>
            <a:off x="2159000" y="3022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311BF150-F897-5547-8624-26BA937796CE}"/>
              </a:ext>
            </a:extLst>
          </p:cNvPr>
          <p:cNvSpPr/>
          <p:nvPr/>
        </p:nvSpPr>
        <p:spPr>
          <a:xfrm>
            <a:off x="2540000" y="3022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Rectangle 40">
            <a:extLst>
              <a:ext uri="{FF2B5EF4-FFF2-40B4-BE49-F238E27FC236}">
                <a16:creationId xmlns:a16="http://schemas.microsoft.com/office/drawing/2014/main" id="{F4FB551E-6526-5844-83E5-4D67880C8C4B}"/>
              </a:ext>
            </a:extLst>
          </p:cNvPr>
          <p:cNvSpPr/>
          <p:nvPr/>
        </p:nvSpPr>
        <p:spPr>
          <a:xfrm>
            <a:off x="2921000" y="3022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Rectangle 41">
            <a:extLst>
              <a:ext uri="{FF2B5EF4-FFF2-40B4-BE49-F238E27FC236}">
                <a16:creationId xmlns:a16="http://schemas.microsoft.com/office/drawing/2014/main" id="{7AA6164B-687C-4B46-B160-96301318259A}"/>
              </a:ext>
            </a:extLst>
          </p:cNvPr>
          <p:cNvSpPr/>
          <p:nvPr/>
        </p:nvSpPr>
        <p:spPr>
          <a:xfrm>
            <a:off x="3302000" y="3022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3" name="Rectangle 42">
            <a:extLst>
              <a:ext uri="{FF2B5EF4-FFF2-40B4-BE49-F238E27FC236}">
                <a16:creationId xmlns:a16="http://schemas.microsoft.com/office/drawing/2014/main" id="{F74C3738-39C1-D040-A43C-E56ADD29CDB7}"/>
              </a:ext>
            </a:extLst>
          </p:cNvPr>
          <p:cNvSpPr/>
          <p:nvPr/>
        </p:nvSpPr>
        <p:spPr>
          <a:xfrm>
            <a:off x="3683000" y="3022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Rectangle 43">
            <a:extLst>
              <a:ext uri="{FF2B5EF4-FFF2-40B4-BE49-F238E27FC236}">
                <a16:creationId xmlns:a16="http://schemas.microsoft.com/office/drawing/2014/main" id="{00C3BFB5-D6BF-594B-B6FC-147092C4705D}"/>
              </a:ext>
            </a:extLst>
          </p:cNvPr>
          <p:cNvSpPr/>
          <p:nvPr/>
        </p:nvSpPr>
        <p:spPr>
          <a:xfrm>
            <a:off x="4064000" y="3022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Rectangle 44">
            <a:extLst>
              <a:ext uri="{FF2B5EF4-FFF2-40B4-BE49-F238E27FC236}">
                <a16:creationId xmlns:a16="http://schemas.microsoft.com/office/drawing/2014/main" id="{4DD300C1-D971-5342-8B2B-64C54F03F1A9}"/>
              </a:ext>
            </a:extLst>
          </p:cNvPr>
          <p:cNvSpPr/>
          <p:nvPr/>
        </p:nvSpPr>
        <p:spPr>
          <a:xfrm>
            <a:off x="635000" y="3403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Rectangle 45">
            <a:extLst>
              <a:ext uri="{FF2B5EF4-FFF2-40B4-BE49-F238E27FC236}">
                <a16:creationId xmlns:a16="http://schemas.microsoft.com/office/drawing/2014/main" id="{CEBD4BF9-3F36-E346-8EB7-7B0502F58431}"/>
              </a:ext>
            </a:extLst>
          </p:cNvPr>
          <p:cNvSpPr/>
          <p:nvPr/>
        </p:nvSpPr>
        <p:spPr>
          <a:xfrm>
            <a:off x="1016000" y="3403600"/>
            <a:ext cx="330200" cy="3302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7" name="Rectangle 46">
            <a:extLst>
              <a:ext uri="{FF2B5EF4-FFF2-40B4-BE49-F238E27FC236}">
                <a16:creationId xmlns:a16="http://schemas.microsoft.com/office/drawing/2014/main" id="{C1D70BCB-55F5-6347-9D8C-884EE4108DFC}"/>
              </a:ext>
            </a:extLst>
          </p:cNvPr>
          <p:cNvSpPr/>
          <p:nvPr/>
        </p:nvSpPr>
        <p:spPr>
          <a:xfrm>
            <a:off x="1397000" y="3403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Rectangle 47">
            <a:extLst>
              <a:ext uri="{FF2B5EF4-FFF2-40B4-BE49-F238E27FC236}">
                <a16:creationId xmlns:a16="http://schemas.microsoft.com/office/drawing/2014/main" id="{098C4807-4EED-B94C-B18D-B73E66880D5B}"/>
              </a:ext>
            </a:extLst>
          </p:cNvPr>
          <p:cNvSpPr/>
          <p:nvPr/>
        </p:nvSpPr>
        <p:spPr>
          <a:xfrm>
            <a:off x="1778000" y="3403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9" name="Rectangle 48">
            <a:extLst>
              <a:ext uri="{FF2B5EF4-FFF2-40B4-BE49-F238E27FC236}">
                <a16:creationId xmlns:a16="http://schemas.microsoft.com/office/drawing/2014/main" id="{1957D998-E37C-6543-A2A6-1650028F8689}"/>
              </a:ext>
            </a:extLst>
          </p:cNvPr>
          <p:cNvSpPr/>
          <p:nvPr/>
        </p:nvSpPr>
        <p:spPr>
          <a:xfrm>
            <a:off x="2159000" y="3403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0" name="Rectangle 49">
            <a:extLst>
              <a:ext uri="{FF2B5EF4-FFF2-40B4-BE49-F238E27FC236}">
                <a16:creationId xmlns:a16="http://schemas.microsoft.com/office/drawing/2014/main" id="{882064DA-D8F3-9443-85FA-62131631DB74}"/>
              </a:ext>
            </a:extLst>
          </p:cNvPr>
          <p:cNvSpPr/>
          <p:nvPr/>
        </p:nvSpPr>
        <p:spPr>
          <a:xfrm>
            <a:off x="2540000" y="3403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1" name="Rectangle 50">
            <a:extLst>
              <a:ext uri="{FF2B5EF4-FFF2-40B4-BE49-F238E27FC236}">
                <a16:creationId xmlns:a16="http://schemas.microsoft.com/office/drawing/2014/main" id="{BA06A201-23B6-4B45-A2C3-CCB72F39605C}"/>
              </a:ext>
            </a:extLst>
          </p:cNvPr>
          <p:cNvSpPr/>
          <p:nvPr/>
        </p:nvSpPr>
        <p:spPr>
          <a:xfrm>
            <a:off x="2921000" y="3403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2" name="Rectangle 51">
            <a:extLst>
              <a:ext uri="{FF2B5EF4-FFF2-40B4-BE49-F238E27FC236}">
                <a16:creationId xmlns:a16="http://schemas.microsoft.com/office/drawing/2014/main" id="{7312C1B0-C0DD-624B-A11E-96E0FF5346F2}"/>
              </a:ext>
            </a:extLst>
          </p:cNvPr>
          <p:cNvSpPr/>
          <p:nvPr/>
        </p:nvSpPr>
        <p:spPr>
          <a:xfrm>
            <a:off x="3302000" y="3403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3" name="Rectangle 52">
            <a:extLst>
              <a:ext uri="{FF2B5EF4-FFF2-40B4-BE49-F238E27FC236}">
                <a16:creationId xmlns:a16="http://schemas.microsoft.com/office/drawing/2014/main" id="{305EC40F-E0A8-9D41-B825-1210291ED53E}"/>
              </a:ext>
            </a:extLst>
          </p:cNvPr>
          <p:cNvSpPr/>
          <p:nvPr/>
        </p:nvSpPr>
        <p:spPr>
          <a:xfrm>
            <a:off x="3683000" y="3403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4" name="Rectangle 53">
            <a:extLst>
              <a:ext uri="{FF2B5EF4-FFF2-40B4-BE49-F238E27FC236}">
                <a16:creationId xmlns:a16="http://schemas.microsoft.com/office/drawing/2014/main" id="{4374EB9C-3715-A640-870D-84107BEDBA2B}"/>
              </a:ext>
            </a:extLst>
          </p:cNvPr>
          <p:cNvSpPr/>
          <p:nvPr/>
        </p:nvSpPr>
        <p:spPr>
          <a:xfrm>
            <a:off x="4064000" y="3403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5" name="Rectangle 54">
            <a:extLst>
              <a:ext uri="{FF2B5EF4-FFF2-40B4-BE49-F238E27FC236}">
                <a16:creationId xmlns:a16="http://schemas.microsoft.com/office/drawing/2014/main" id="{2E7FD5B3-BBF4-3E45-AD2D-38E78EACF6E8}"/>
              </a:ext>
            </a:extLst>
          </p:cNvPr>
          <p:cNvSpPr/>
          <p:nvPr/>
        </p:nvSpPr>
        <p:spPr>
          <a:xfrm>
            <a:off x="635000" y="3784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6" name="Rectangle 55">
            <a:extLst>
              <a:ext uri="{FF2B5EF4-FFF2-40B4-BE49-F238E27FC236}">
                <a16:creationId xmlns:a16="http://schemas.microsoft.com/office/drawing/2014/main" id="{60BD9C45-C532-A34C-B610-410F8015DFB1}"/>
              </a:ext>
            </a:extLst>
          </p:cNvPr>
          <p:cNvSpPr/>
          <p:nvPr/>
        </p:nvSpPr>
        <p:spPr>
          <a:xfrm>
            <a:off x="1016000" y="3784600"/>
            <a:ext cx="330200" cy="3302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7" name="Rectangle 56">
            <a:extLst>
              <a:ext uri="{FF2B5EF4-FFF2-40B4-BE49-F238E27FC236}">
                <a16:creationId xmlns:a16="http://schemas.microsoft.com/office/drawing/2014/main" id="{DB5B7B8D-DB2D-4140-93CE-4E6A63352597}"/>
              </a:ext>
            </a:extLst>
          </p:cNvPr>
          <p:cNvSpPr/>
          <p:nvPr/>
        </p:nvSpPr>
        <p:spPr>
          <a:xfrm>
            <a:off x="1397000" y="3784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8" name="Rectangle 57">
            <a:extLst>
              <a:ext uri="{FF2B5EF4-FFF2-40B4-BE49-F238E27FC236}">
                <a16:creationId xmlns:a16="http://schemas.microsoft.com/office/drawing/2014/main" id="{89A10B1D-0163-6844-8469-AEB8040B7532}"/>
              </a:ext>
            </a:extLst>
          </p:cNvPr>
          <p:cNvSpPr/>
          <p:nvPr/>
        </p:nvSpPr>
        <p:spPr>
          <a:xfrm>
            <a:off x="1778000" y="3784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9" name="Rectangle 58">
            <a:extLst>
              <a:ext uri="{FF2B5EF4-FFF2-40B4-BE49-F238E27FC236}">
                <a16:creationId xmlns:a16="http://schemas.microsoft.com/office/drawing/2014/main" id="{E9A81558-B3DE-EB4F-8C03-65296CA552AC}"/>
              </a:ext>
            </a:extLst>
          </p:cNvPr>
          <p:cNvSpPr/>
          <p:nvPr/>
        </p:nvSpPr>
        <p:spPr>
          <a:xfrm>
            <a:off x="2159000" y="3784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0" name="Rectangle 59">
            <a:extLst>
              <a:ext uri="{FF2B5EF4-FFF2-40B4-BE49-F238E27FC236}">
                <a16:creationId xmlns:a16="http://schemas.microsoft.com/office/drawing/2014/main" id="{0D9ABA79-8B9C-2A4C-BFB2-21FEE8CF2F54}"/>
              </a:ext>
            </a:extLst>
          </p:cNvPr>
          <p:cNvSpPr/>
          <p:nvPr/>
        </p:nvSpPr>
        <p:spPr>
          <a:xfrm>
            <a:off x="2540000" y="3784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1" name="Rectangle 60">
            <a:extLst>
              <a:ext uri="{FF2B5EF4-FFF2-40B4-BE49-F238E27FC236}">
                <a16:creationId xmlns:a16="http://schemas.microsoft.com/office/drawing/2014/main" id="{F647EC87-EE47-DC45-89FF-35075591B25E}"/>
              </a:ext>
            </a:extLst>
          </p:cNvPr>
          <p:cNvSpPr/>
          <p:nvPr/>
        </p:nvSpPr>
        <p:spPr>
          <a:xfrm>
            <a:off x="2921000" y="3784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2" name="Rectangle 61">
            <a:extLst>
              <a:ext uri="{FF2B5EF4-FFF2-40B4-BE49-F238E27FC236}">
                <a16:creationId xmlns:a16="http://schemas.microsoft.com/office/drawing/2014/main" id="{261C1A7C-2166-6644-9316-4E9CBAB30C5D}"/>
              </a:ext>
            </a:extLst>
          </p:cNvPr>
          <p:cNvSpPr/>
          <p:nvPr/>
        </p:nvSpPr>
        <p:spPr>
          <a:xfrm>
            <a:off x="3302000" y="3784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3" name="Rectangle 62">
            <a:extLst>
              <a:ext uri="{FF2B5EF4-FFF2-40B4-BE49-F238E27FC236}">
                <a16:creationId xmlns:a16="http://schemas.microsoft.com/office/drawing/2014/main" id="{1DF2E635-89B0-084E-A189-DC9CD8BDAC96}"/>
              </a:ext>
            </a:extLst>
          </p:cNvPr>
          <p:cNvSpPr/>
          <p:nvPr/>
        </p:nvSpPr>
        <p:spPr>
          <a:xfrm>
            <a:off x="3683000" y="3784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4" name="Rectangle 63">
            <a:extLst>
              <a:ext uri="{FF2B5EF4-FFF2-40B4-BE49-F238E27FC236}">
                <a16:creationId xmlns:a16="http://schemas.microsoft.com/office/drawing/2014/main" id="{949F17D5-1862-DD45-B3CF-C98D3A530329}"/>
              </a:ext>
            </a:extLst>
          </p:cNvPr>
          <p:cNvSpPr/>
          <p:nvPr/>
        </p:nvSpPr>
        <p:spPr>
          <a:xfrm>
            <a:off x="4064000" y="3784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5" name="Rectangle 64">
            <a:extLst>
              <a:ext uri="{FF2B5EF4-FFF2-40B4-BE49-F238E27FC236}">
                <a16:creationId xmlns:a16="http://schemas.microsoft.com/office/drawing/2014/main" id="{7B4B00BF-466F-454B-AC78-606F80F20E1C}"/>
              </a:ext>
            </a:extLst>
          </p:cNvPr>
          <p:cNvSpPr/>
          <p:nvPr/>
        </p:nvSpPr>
        <p:spPr>
          <a:xfrm>
            <a:off x="635000" y="4165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6" name="Rectangle 65">
            <a:extLst>
              <a:ext uri="{FF2B5EF4-FFF2-40B4-BE49-F238E27FC236}">
                <a16:creationId xmlns:a16="http://schemas.microsoft.com/office/drawing/2014/main" id="{16C839F4-9AC6-5C46-8493-7FE4DC249B8E}"/>
              </a:ext>
            </a:extLst>
          </p:cNvPr>
          <p:cNvSpPr/>
          <p:nvPr/>
        </p:nvSpPr>
        <p:spPr>
          <a:xfrm>
            <a:off x="1016000" y="4165600"/>
            <a:ext cx="330200" cy="3302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7" name="Rectangle 66">
            <a:extLst>
              <a:ext uri="{FF2B5EF4-FFF2-40B4-BE49-F238E27FC236}">
                <a16:creationId xmlns:a16="http://schemas.microsoft.com/office/drawing/2014/main" id="{54427645-2A26-214D-B6A5-9FE3168F296D}"/>
              </a:ext>
            </a:extLst>
          </p:cNvPr>
          <p:cNvSpPr/>
          <p:nvPr/>
        </p:nvSpPr>
        <p:spPr>
          <a:xfrm>
            <a:off x="1397000" y="4165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8" name="Rectangle 67">
            <a:extLst>
              <a:ext uri="{FF2B5EF4-FFF2-40B4-BE49-F238E27FC236}">
                <a16:creationId xmlns:a16="http://schemas.microsoft.com/office/drawing/2014/main" id="{A5DA26B5-9BE3-CE4F-AE96-D2737E86EDE4}"/>
              </a:ext>
            </a:extLst>
          </p:cNvPr>
          <p:cNvSpPr/>
          <p:nvPr/>
        </p:nvSpPr>
        <p:spPr>
          <a:xfrm>
            <a:off x="1778000" y="4165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9" name="Rectangle 68">
            <a:extLst>
              <a:ext uri="{FF2B5EF4-FFF2-40B4-BE49-F238E27FC236}">
                <a16:creationId xmlns:a16="http://schemas.microsoft.com/office/drawing/2014/main" id="{1397B22F-7B4E-0A49-AD74-7B2917A5C7F7}"/>
              </a:ext>
            </a:extLst>
          </p:cNvPr>
          <p:cNvSpPr/>
          <p:nvPr/>
        </p:nvSpPr>
        <p:spPr>
          <a:xfrm>
            <a:off x="2159000" y="4165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0" name="Rectangle 69">
            <a:extLst>
              <a:ext uri="{FF2B5EF4-FFF2-40B4-BE49-F238E27FC236}">
                <a16:creationId xmlns:a16="http://schemas.microsoft.com/office/drawing/2014/main" id="{3D0A3B78-E9B8-2446-9CD6-82875F00DF98}"/>
              </a:ext>
            </a:extLst>
          </p:cNvPr>
          <p:cNvSpPr/>
          <p:nvPr/>
        </p:nvSpPr>
        <p:spPr>
          <a:xfrm>
            <a:off x="2540000" y="4165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1" name="Rectangle 70">
            <a:extLst>
              <a:ext uri="{FF2B5EF4-FFF2-40B4-BE49-F238E27FC236}">
                <a16:creationId xmlns:a16="http://schemas.microsoft.com/office/drawing/2014/main" id="{52BB8D7F-E5A9-4A44-86EA-196E17C0752C}"/>
              </a:ext>
            </a:extLst>
          </p:cNvPr>
          <p:cNvSpPr/>
          <p:nvPr/>
        </p:nvSpPr>
        <p:spPr>
          <a:xfrm>
            <a:off x="2921000" y="4165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2" name="Rectangle 71">
            <a:extLst>
              <a:ext uri="{FF2B5EF4-FFF2-40B4-BE49-F238E27FC236}">
                <a16:creationId xmlns:a16="http://schemas.microsoft.com/office/drawing/2014/main" id="{8EF08031-2777-B84A-BF71-44D096C2A7B0}"/>
              </a:ext>
            </a:extLst>
          </p:cNvPr>
          <p:cNvSpPr/>
          <p:nvPr/>
        </p:nvSpPr>
        <p:spPr>
          <a:xfrm>
            <a:off x="3302000" y="4165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3" name="Rectangle 72">
            <a:extLst>
              <a:ext uri="{FF2B5EF4-FFF2-40B4-BE49-F238E27FC236}">
                <a16:creationId xmlns:a16="http://schemas.microsoft.com/office/drawing/2014/main" id="{AF872C9C-1313-DB4A-951B-757501E649DA}"/>
              </a:ext>
            </a:extLst>
          </p:cNvPr>
          <p:cNvSpPr/>
          <p:nvPr/>
        </p:nvSpPr>
        <p:spPr>
          <a:xfrm>
            <a:off x="3683000" y="4165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4" name="Rectangle 73">
            <a:extLst>
              <a:ext uri="{FF2B5EF4-FFF2-40B4-BE49-F238E27FC236}">
                <a16:creationId xmlns:a16="http://schemas.microsoft.com/office/drawing/2014/main" id="{E89AB268-0E08-C842-A561-3D8E896D14AA}"/>
              </a:ext>
            </a:extLst>
          </p:cNvPr>
          <p:cNvSpPr/>
          <p:nvPr/>
        </p:nvSpPr>
        <p:spPr>
          <a:xfrm>
            <a:off x="4064000" y="4165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5" name="Rectangle 74">
            <a:extLst>
              <a:ext uri="{FF2B5EF4-FFF2-40B4-BE49-F238E27FC236}">
                <a16:creationId xmlns:a16="http://schemas.microsoft.com/office/drawing/2014/main" id="{23F7D1D9-ED78-DA45-AF9F-21C43E16B198}"/>
              </a:ext>
            </a:extLst>
          </p:cNvPr>
          <p:cNvSpPr/>
          <p:nvPr/>
        </p:nvSpPr>
        <p:spPr>
          <a:xfrm>
            <a:off x="635000" y="4546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6" name="Rectangle 75">
            <a:extLst>
              <a:ext uri="{FF2B5EF4-FFF2-40B4-BE49-F238E27FC236}">
                <a16:creationId xmlns:a16="http://schemas.microsoft.com/office/drawing/2014/main" id="{B6F0D551-E53F-5C4A-ACCC-F1CA62E44F30}"/>
              </a:ext>
            </a:extLst>
          </p:cNvPr>
          <p:cNvSpPr/>
          <p:nvPr/>
        </p:nvSpPr>
        <p:spPr>
          <a:xfrm>
            <a:off x="1016000" y="4546600"/>
            <a:ext cx="330200" cy="3302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7" name="Rectangle 76">
            <a:extLst>
              <a:ext uri="{FF2B5EF4-FFF2-40B4-BE49-F238E27FC236}">
                <a16:creationId xmlns:a16="http://schemas.microsoft.com/office/drawing/2014/main" id="{CAEF8CA9-6C7A-4644-88AB-CE9F8E40CBDD}"/>
              </a:ext>
            </a:extLst>
          </p:cNvPr>
          <p:cNvSpPr/>
          <p:nvPr/>
        </p:nvSpPr>
        <p:spPr>
          <a:xfrm>
            <a:off x="1397000" y="4546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8" name="Rectangle 77">
            <a:extLst>
              <a:ext uri="{FF2B5EF4-FFF2-40B4-BE49-F238E27FC236}">
                <a16:creationId xmlns:a16="http://schemas.microsoft.com/office/drawing/2014/main" id="{CDF3A5CA-C594-7B44-8EE6-5B3AF0FC8880}"/>
              </a:ext>
            </a:extLst>
          </p:cNvPr>
          <p:cNvSpPr/>
          <p:nvPr/>
        </p:nvSpPr>
        <p:spPr>
          <a:xfrm>
            <a:off x="1778000" y="4546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9" name="Rectangle 78">
            <a:extLst>
              <a:ext uri="{FF2B5EF4-FFF2-40B4-BE49-F238E27FC236}">
                <a16:creationId xmlns:a16="http://schemas.microsoft.com/office/drawing/2014/main" id="{15B7DE59-420D-4844-AAE3-47E5DBEF3852}"/>
              </a:ext>
            </a:extLst>
          </p:cNvPr>
          <p:cNvSpPr/>
          <p:nvPr/>
        </p:nvSpPr>
        <p:spPr>
          <a:xfrm>
            <a:off x="2159000" y="4546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0" name="Rectangle 79">
            <a:extLst>
              <a:ext uri="{FF2B5EF4-FFF2-40B4-BE49-F238E27FC236}">
                <a16:creationId xmlns:a16="http://schemas.microsoft.com/office/drawing/2014/main" id="{14BB27EB-2F95-BD45-BC0D-11439D837F25}"/>
              </a:ext>
            </a:extLst>
          </p:cNvPr>
          <p:cNvSpPr/>
          <p:nvPr/>
        </p:nvSpPr>
        <p:spPr>
          <a:xfrm>
            <a:off x="2540000" y="4546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1" name="Rectangle 80">
            <a:extLst>
              <a:ext uri="{FF2B5EF4-FFF2-40B4-BE49-F238E27FC236}">
                <a16:creationId xmlns:a16="http://schemas.microsoft.com/office/drawing/2014/main" id="{190C2003-BFEC-3247-8AE7-3361678B14A5}"/>
              </a:ext>
            </a:extLst>
          </p:cNvPr>
          <p:cNvSpPr/>
          <p:nvPr/>
        </p:nvSpPr>
        <p:spPr>
          <a:xfrm>
            <a:off x="2921000" y="4546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2" name="Rectangle 81">
            <a:extLst>
              <a:ext uri="{FF2B5EF4-FFF2-40B4-BE49-F238E27FC236}">
                <a16:creationId xmlns:a16="http://schemas.microsoft.com/office/drawing/2014/main" id="{9074BB07-2BAE-1042-B916-606C23E79227}"/>
              </a:ext>
            </a:extLst>
          </p:cNvPr>
          <p:cNvSpPr/>
          <p:nvPr/>
        </p:nvSpPr>
        <p:spPr>
          <a:xfrm>
            <a:off x="3302000" y="4546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3" name="Rectangle 82">
            <a:extLst>
              <a:ext uri="{FF2B5EF4-FFF2-40B4-BE49-F238E27FC236}">
                <a16:creationId xmlns:a16="http://schemas.microsoft.com/office/drawing/2014/main" id="{A0F5C781-DDBB-5047-AF26-539ACD1009D3}"/>
              </a:ext>
            </a:extLst>
          </p:cNvPr>
          <p:cNvSpPr/>
          <p:nvPr/>
        </p:nvSpPr>
        <p:spPr>
          <a:xfrm>
            <a:off x="3683000" y="4546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4" name="Rectangle 83">
            <a:extLst>
              <a:ext uri="{FF2B5EF4-FFF2-40B4-BE49-F238E27FC236}">
                <a16:creationId xmlns:a16="http://schemas.microsoft.com/office/drawing/2014/main" id="{286A95C0-616C-434D-9F35-E300458EE555}"/>
              </a:ext>
            </a:extLst>
          </p:cNvPr>
          <p:cNvSpPr/>
          <p:nvPr/>
        </p:nvSpPr>
        <p:spPr>
          <a:xfrm>
            <a:off x="4064000" y="4546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5" name="Rectangle 84">
            <a:extLst>
              <a:ext uri="{FF2B5EF4-FFF2-40B4-BE49-F238E27FC236}">
                <a16:creationId xmlns:a16="http://schemas.microsoft.com/office/drawing/2014/main" id="{E15EF2D5-C71B-BD45-8C74-E9008C85E398}"/>
              </a:ext>
            </a:extLst>
          </p:cNvPr>
          <p:cNvSpPr/>
          <p:nvPr/>
        </p:nvSpPr>
        <p:spPr>
          <a:xfrm>
            <a:off x="635000" y="4927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6" name="Rectangle 85">
            <a:extLst>
              <a:ext uri="{FF2B5EF4-FFF2-40B4-BE49-F238E27FC236}">
                <a16:creationId xmlns:a16="http://schemas.microsoft.com/office/drawing/2014/main" id="{8246BC74-B8CE-2845-8E96-DABDB4B9F2D1}"/>
              </a:ext>
            </a:extLst>
          </p:cNvPr>
          <p:cNvSpPr/>
          <p:nvPr/>
        </p:nvSpPr>
        <p:spPr>
          <a:xfrm>
            <a:off x="1016000" y="4927600"/>
            <a:ext cx="330200" cy="3302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7" name="Rectangle 86">
            <a:extLst>
              <a:ext uri="{FF2B5EF4-FFF2-40B4-BE49-F238E27FC236}">
                <a16:creationId xmlns:a16="http://schemas.microsoft.com/office/drawing/2014/main" id="{D2A01C1B-331D-9A44-8EDC-C1079753E0EF}"/>
              </a:ext>
            </a:extLst>
          </p:cNvPr>
          <p:cNvSpPr/>
          <p:nvPr/>
        </p:nvSpPr>
        <p:spPr>
          <a:xfrm>
            <a:off x="1397000" y="4927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8" name="Rectangle 87">
            <a:extLst>
              <a:ext uri="{FF2B5EF4-FFF2-40B4-BE49-F238E27FC236}">
                <a16:creationId xmlns:a16="http://schemas.microsoft.com/office/drawing/2014/main" id="{BDDDDF3D-B6E1-AF44-8F90-FF3A748A4886}"/>
              </a:ext>
            </a:extLst>
          </p:cNvPr>
          <p:cNvSpPr/>
          <p:nvPr/>
        </p:nvSpPr>
        <p:spPr>
          <a:xfrm>
            <a:off x="1778000" y="4927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9" name="Rectangle 88">
            <a:extLst>
              <a:ext uri="{FF2B5EF4-FFF2-40B4-BE49-F238E27FC236}">
                <a16:creationId xmlns:a16="http://schemas.microsoft.com/office/drawing/2014/main" id="{AF13C89F-41FD-E54A-9F64-BC81B0207A7C}"/>
              </a:ext>
            </a:extLst>
          </p:cNvPr>
          <p:cNvSpPr/>
          <p:nvPr/>
        </p:nvSpPr>
        <p:spPr>
          <a:xfrm>
            <a:off x="2159000" y="4927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0" name="Rectangle 89">
            <a:extLst>
              <a:ext uri="{FF2B5EF4-FFF2-40B4-BE49-F238E27FC236}">
                <a16:creationId xmlns:a16="http://schemas.microsoft.com/office/drawing/2014/main" id="{EE9CF231-585A-B84E-9139-816F15EDF402}"/>
              </a:ext>
            </a:extLst>
          </p:cNvPr>
          <p:cNvSpPr/>
          <p:nvPr/>
        </p:nvSpPr>
        <p:spPr>
          <a:xfrm>
            <a:off x="2540000" y="4927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1" name="Rectangle 90">
            <a:extLst>
              <a:ext uri="{FF2B5EF4-FFF2-40B4-BE49-F238E27FC236}">
                <a16:creationId xmlns:a16="http://schemas.microsoft.com/office/drawing/2014/main" id="{759B0C3F-83F4-9F49-AD8A-BAEE0CF8451D}"/>
              </a:ext>
            </a:extLst>
          </p:cNvPr>
          <p:cNvSpPr/>
          <p:nvPr/>
        </p:nvSpPr>
        <p:spPr>
          <a:xfrm>
            <a:off x="2921000" y="4927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2" name="Rectangle 91">
            <a:extLst>
              <a:ext uri="{FF2B5EF4-FFF2-40B4-BE49-F238E27FC236}">
                <a16:creationId xmlns:a16="http://schemas.microsoft.com/office/drawing/2014/main" id="{54B46D8F-41A8-A248-BD16-9D1792325B61}"/>
              </a:ext>
            </a:extLst>
          </p:cNvPr>
          <p:cNvSpPr/>
          <p:nvPr/>
        </p:nvSpPr>
        <p:spPr>
          <a:xfrm>
            <a:off x="3302000" y="4927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3" name="Rectangle 92">
            <a:extLst>
              <a:ext uri="{FF2B5EF4-FFF2-40B4-BE49-F238E27FC236}">
                <a16:creationId xmlns:a16="http://schemas.microsoft.com/office/drawing/2014/main" id="{EDE5CD58-F5A7-524D-BCB8-6C55F58E250F}"/>
              </a:ext>
            </a:extLst>
          </p:cNvPr>
          <p:cNvSpPr/>
          <p:nvPr/>
        </p:nvSpPr>
        <p:spPr>
          <a:xfrm>
            <a:off x="3683000" y="4927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4" name="Rectangle 93">
            <a:extLst>
              <a:ext uri="{FF2B5EF4-FFF2-40B4-BE49-F238E27FC236}">
                <a16:creationId xmlns:a16="http://schemas.microsoft.com/office/drawing/2014/main" id="{ED502059-0121-1A48-AB0E-EBF3CB0AE2E2}"/>
              </a:ext>
            </a:extLst>
          </p:cNvPr>
          <p:cNvSpPr/>
          <p:nvPr/>
        </p:nvSpPr>
        <p:spPr>
          <a:xfrm>
            <a:off x="4064000" y="4927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5" name="Rectangle 94">
            <a:extLst>
              <a:ext uri="{FF2B5EF4-FFF2-40B4-BE49-F238E27FC236}">
                <a16:creationId xmlns:a16="http://schemas.microsoft.com/office/drawing/2014/main" id="{50542BEC-58CC-E04A-8520-D9FF072697A4}"/>
              </a:ext>
            </a:extLst>
          </p:cNvPr>
          <p:cNvSpPr/>
          <p:nvPr/>
        </p:nvSpPr>
        <p:spPr>
          <a:xfrm>
            <a:off x="635000" y="5308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6" name="Rectangle 95">
            <a:extLst>
              <a:ext uri="{FF2B5EF4-FFF2-40B4-BE49-F238E27FC236}">
                <a16:creationId xmlns:a16="http://schemas.microsoft.com/office/drawing/2014/main" id="{FA052133-7EFC-3947-B40D-690309E48E3F}"/>
              </a:ext>
            </a:extLst>
          </p:cNvPr>
          <p:cNvSpPr/>
          <p:nvPr/>
        </p:nvSpPr>
        <p:spPr>
          <a:xfrm>
            <a:off x="1016000" y="5308600"/>
            <a:ext cx="330200" cy="3302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7" name="Rectangle 96">
            <a:extLst>
              <a:ext uri="{FF2B5EF4-FFF2-40B4-BE49-F238E27FC236}">
                <a16:creationId xmlns:a16="http://schemas.microsoft.com/office/drawing/2014/main" id="{AF4FBF61-F8A3-0240-A51B-18F4948A013D}"/>
              </a:ext>
            </a:extLst>
          </p:cNvPr>
          <p:cNvSpPr/>
          <p:nvPr/>
        </p:nvSpPr>
        <p:spPr>
          <a:xfrm>
            <a:off x="1397000" y="5308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8" name="Rectangle 97">
            <a:extLst>
              <a:ext uri="{FF2B5EF4-FFF2-40B4-BE49-F238E27FC236}">
                <a16:creationId xmlns:a16="http://schemas.microsoft.com/office/drawing/2014/main" id="{D0421656-3874-A34B-98D7-BFB36A7C3320}"/>
              </a:ext>
            </a:extLst>
          </p:cNvPr>
          <p:cNvSpPr/>
          <p:nvPr/>
        </p:nvSpPr>
        <p:spPr>
          <a:xfrm>
            <a:off x="1778000" y="5308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9" name="Rectangle 98">
            <a:extLst>
              <a:ext uri="{FF2B5EF4-FFF2-40B4-BE49-F238E27FC236}">
                <a16:creationId xmlns:a16="http://schemas.microsoft.com/office/drawing/2014/main" id="{4A69B9E8-DB86-0A41-9A15-04EFDF35ABF8}"/>
              </a:ext>
            </a:extLst>
          </p:cNvPr>
          <p:cNvSpPr/>
          <p:nvPr/>
        </p:nvSpPr>
        <p:spPr>
          <a:xfrm>
            <a:off x="2159000" y="5308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0" name="Rectangle 99">
            <a:extLst>
              <a:ext uri="{FF2B5EF4-FFF2-40B4-BE49-F238E27FC236}">
                <a16:creationId xmlns:a16="http://schemas.microsoft.com/office/drawing/2014/main" id="{301AD195-A49F-B140-9042-38D6317E33D0}"/>
              </a:ext>
            </a:extLst>
          </p:cNvPr>
          <p:cNvSpPr/>
          <p:nvPr/>
        </p:nvSpPr>
        <p:spPr>
          <a:xfrm>
            <a:off x="2540000" y="5308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1" name="Rectangle 100">
            <a:extLst>
              <a:ext uri="{FF2B5EF4-FFF2-40B4-BE49-F238E27FC236}">
                <a16:creationId xmlns:a16="http://schemas.microsoft.com/office/drawing/2014/main" id="{CA698327-7F19-744A-B7C4-0800AAC8645F}"/>
              </a:ext>
            </a:extLst>
          </p:cNvPr>
          <p:cNvSpPr/>
          <p:nvPr/>
        </p:nvSpPr>
        <p:spPr>
          <a:xfrm>
            <a:off x="2921000" y="5308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2" name="Rectangle 101">
            <a:extLst>
              <a:ext uri="{FF2B5EF4-FFF2-40B4-BE49-F238E27FC236}">
                <a16:creationId xmlns:a16="http://schemas.microsoft.com/office/drawing/2014/main" id="{89D370DB-09F3-2547-95F9-88BE721BB89B}"/>
              </a:ext>
            </a:extLst>
          </p:cNvPr>
          <p:cNvSpPr/>
          <p:nvPr/>
        </p:nvSpPr>
        <p:spPr>
          <a:xfrm>
            <a:off x="3302000" y="5308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3" name="Rectangle 102">
            <a:extLst>
              <a:ext uri="{FF2B5EF4-FFF2-40B4-BE49-F238E27FC236}">
                <a16:creationId xmlns:a16="http://schemas.microsoft.com/office/drawing/2014/main" id="{B8DF9CCF-A22F-D94C-9716-6D1A6CD4B84A}"/>
              </a:ext>
            </a:extLst>
          </p:cNvPr>
          <p:cNvSpPr/>
          <p:nvPr/>
        </p:nvSpPr>
        <p:spPr>
          <a:xfrm>
            <a:off x="3683000" y="5308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4" name="Rectangle 103">
            <a:extLst>
              <a:ext uri="{FF2B5EF4-FFF2-40B4-BE49-F238E27FC236}">
                <a16:creationId xmlns:a16="http://schemas.microsoft.com/office/drawing/2014/main" id="{E237575B-AEF6-EF47-ADA0-0AF683B51EFB}"/>
              </a:ext>
            </a:extLst>
          </p:cNvPr>
          <p:cNvSpPr/>
          <p:nvPr/>
        </p:nvSpPr>
        <p:spPr>
          <a:xfrm>
            <a:off x="4064000" y="5308600"/>
            <a:ext cx="330200" cy="3302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5" name="TextBox 104">
            <a:extLst>
              <a:ext uri="{FF2B5EF4-FFF2-40B4-BE49-F238E27FC236}">
                <a16:creationId xmlns:a16="http://schemas.microsoft.com/office/drawing/2014/main" id="{C06B23F2-591B-3B44-AAE5-E635D5E1434A}"/>
              </a:ext>
            </a:extLst>
          </p:cNvPr>
          <p:cNvSpPr txBox="1"/>
          <p:nvPr/>
        </p:nvSpPr>
        <p:spPr>
          <a:xfrm>
            <a:off x="4978400" y="1879600"/>
            <a:ext cx="65786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8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Two attributes, four groups</a:t>
            </a:r>
          </a:p>
        </p:txBody>
      </p:sp>
      <p:sp>
        <p:nvSpPr>
          <p:cNvPr id="106" name="Rectangle 105">
            <a:extLst>
              <a:ext uri="{FF2B5EF4-FFF2-40B4-BE49-F238E27FC236}">
                <a16:creationId xmlns:a16="http://schemas.microsoft.com/office/drawing/2014/main" id="{8D7A9466-40A6-AB45-BC02-634BB7B88557}"/>
              </a:ext>
            </a:extLst>
          </p:cNvPr>
          <p:cNvSpPr/>
          <p:nvPr/>
        </p:nvSpPr>
        <p:spPr>
          <a:xfrm>
            <a:off x="4978400" y="2362200"/>
            <a:ext cx="254000" cy="254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7" name="TextBox 106">
            <a:extLst>
              <a:ext uri="{FF2B5EF4-FFF2-40B4-BE49-F238E27FC236}">
                <a16:creationId xmlns:a16="http://schemas.microsoft.com/office/drawing/2014/main" id="{1BBE7E6C-F6BA-864C-A6E7-969E5FDBA247}"/>
              </a:ext>
            </a:extLst>
          </p:cNvPr>
          <p:cNvSpPr txBox="1"/>
          <p:nvPr/>
        </p:nvSpPr>
        <p:spPr>
          <a:xfrm>
            <a:off x="5384800" y="2336800"/>
            <a:ext cx="26162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Both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A</a:t>
            </a: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 and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B</a:t>
            </a:r>
          </a:p>
        </p:txBody>
      </p:sp>
      <p:sp>
        <p:nvSpPr>
          <p:cNvPr id="108" name="TextBox 107">
            <a:extLst>
              <a:ext uri="{FF2B5EF4-FFF2-40B4-BE49-F238E27FC236}">
                <a16:creationId xmlns:a16="http://schemas.microsoft.com/office/drawing/2014/main" id="{1E7AE5B6-C62B-D44C-B187-9B18D4D35EBB}"/>
              </a:ext>
            </a:extLst>
          </p:cNvPr>
          <p:cNvSpPr txBox="1"/>
          <p:nvPr/>
        </p:nvSpPr>
        <p:spPr>
          <a:xfrm>
            <a:off x="8128000" y="2336800"/>
            <a:ext cx="635000" cy="304800"/>
          </a:xfrm>
          <a:prstGeom prst="rect">
            <a:avLst/>
          </a:prstGeom>
          <a:noFill/>
        </p:spPr>
        <p:txBody>
          <a:bodyPr vertOverflow="overflow" vert="horz" wrap="none" rtlCol="0" anchor="t"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12%</a:t>
            </a:r>
          </a:p>
        </p:txBody>
      </p:sp>
      <p:sp>
        <p:nvSpPr>
          <p:cNvPr id="109" name="TextBox 108">
            <a:extLst>
              <a:ext uri="{FF2B5EF4-FFF2-40B4-BE49-F238E27FC236}">
                <a16:creationId xmlns:a16="http://schemas.microsoft.com/office/drawing/2014/main" id="{7B481C6F-ABDC-4744-8CDD-41EE0F5A92B1}"/>
              </a:ext>
            </a:extLst>
          </p:cNvPr>
          <p:cNvSpPr txBox="1"/>
          <p:nvPr/>
        </p:nvSpPr>
        <p:spPr>
          <a:xfrm>
            <a:off x="8839200" y="2362200"/>
            <a:ext cx="20320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of the population</a:t>
            </a:r>
          </a:p>
        </p:txBody>
      </p:sp>
      <p:sp>
        <p:nvSpPr>
          <p:cNvPr id="110" name="Rectangle 109">
            <a:extLst>
              <a:ext uri="{FF2B5EF4-FFF2-40B4-BE49-F238E27FC236}">
                <a16:creationId xmlns:a16="http://schemas.microsoft.com/office/drawing/2014/main" id="{541A0012-DBDC-FC48-B6E8-716B20588186}"/>
              </a:ext>
            </a:extLst>
          </p:cNvPr>
          <p:cNvSpPr/>
          <p:nvPr/>
        </p:nvSpPr>
        <p:spPr>
          <a:xfrm>
            <a:off x="4978400" y="2794000"/>
            <a:ext cx="254000" cy="2540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1" name="TextBox 110">
            <a:extLst>
              <a:ext uri="{FF2B5EF4-FFF2-40B4-BE49-F238E27FC236}">
                <a16:creationId xmlns:a16="http://schemas.microsoft.com/office/drawing/2014/main" id="{E7000FC0-4E00-9C48-894B-050E31622505}"/>
              </a:ext>
            </a:extLst>
          </p:cNvPr>
          <p:cNvSpPr txBox="1"/>
          <p:nvPr/>
        </p:nvSpPr>
        <p:spPr>
          <a:xfrm>
            <a:off x="5384800" y="2768600"/>
            <a:ext cx="26162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A</a:t>
            </a: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 only</a:t>
            </a:r>
          </a:p>
        </p:txBody>
      </p:sp>
      <p:sp>
        <p:nvSpPr>
          <p:cNvPr id="112" name="TextBox 111">
            <a:extLst>
              <a:ext uri="{FF2B5EF4-FFF2-40B4-BE49-F238E27FC236}">
                <a16:creationId xmlns:a16="http://schemas.microsoft.com/office/drawing/2014/main" id="{F1A8B30B-D024-CF4E-9F3A-5BDA2E3C393F}"/>
              </a:ext>
            </a:extLst>
          </p:cNvPr>
          <p:cNvSpPr txBox="1"/>
          <p:nvPr/>
        </p:nvSpPr>
        <p:spPr>
          <a:xfrm>
            <a:off x="8128000" y="2768600"/>
            <a:ext cx="635000" cy="304800"/>
          </a:xfrm>
          <a:prstGeom prst="rect">
            <a:avLst/>
          </a:prstGeom>
          <a:noFill/>
        </p:spPr>
        <p:txBody>
          <a:bodyPr vertOverflow="overflow" vert="horz" wrap="none" rtlCol="0" anchor="t"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8%</a:t>
            </a:r>
          </a:p>
        </p:txBody>
      </p:sp>
      <p:sp>
        <p:nvSpPr>
          <p:cNvPr id="113" name="TextBox 112">
            <a:extLst>
              <a:ext uri="{FF2B5EF4-FFF2-40B4-BE49-F238E27FC236}">
                <a16:creationId xmlns:a16="http://schemas.microsoft.com/office/drawing/2014/main" id="{F770C116-9CC0-FC4D-8538-D24FF7D79FE2}"/>
              </a:ext>
            </a:extLst>
          </p:cNvPr>
          <p:cNvSpPr txBox="1"/>
          <p:nvPr/>
        </p:nvSpPr>
        <p:spPr>
          <a:xfrm>
            <a:off x="8839200" y="2794000"/>
            <a:ext cx="20320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of the population</a:t>
            </a:r>
          </a:p>
        </p:txBody>
      </p:sp>
      <p:sp>
        <p:nvSpPr>
          <p:cNvPr id="114" name="Rectangle 113">
            <a:extLst>
              <a:ext uri="{FF2B5EF4-FFF2-40B4-BE49-F238E27FC236}">
                <a16:creationId xmlns:a16="http://schemas.microsoft.com/office/drawing/2014/main" id="{39637ED4-0645-D845-9A0D-514FCC238DA5}"/>
              </a:ext>
            </a:extLst>
          </p:cNvPr>
          <p:cNvSpPr/>
          <p:nvPr/>
        </p:nvSpPr>
        <p:spPr>
          <a:xfrm>
            <a:off x="4978400" y="3225800"/>
            <a:ext cx="254000" cy="254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5" name="TextBox 114">
            <a:extLst>
              <a:ext uri="{FF2B5EF4-FFF2-40B4-BE49-F238E27FC236}">
                <a16:creationId xmlns:a16="http://schemas.microsoft.com/office/drawing/2014/main" id="{6FCA6B3D-2F53-9D4B-A779-945503DCB593}"/>
              </a:ext>
            </a:extLst>
          </p:cNvPr>
          <p:cNvSpPr txBox="1"/>
          <p:nvPr/>
        </p:nvSpPr>
        <p:spPr>
          <a:xfrm>
            <a:off x="5384800" y="3200400"/>
            <a:ext cx="26162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B</a:t>
            </a: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 only</a:t>
            </a:r>
          </a:p>
        </p:txBody>
      </p:sp>
      <p:sp>
        <p:nvSpPr>
          <p:cNvPr id="116" name="TextBox 115">
            <a:extLst>
              <a:ext uri="{FF2B5EF4-FFF2-40B4-BE49-F238E27FC236}">
                <a16:creationId xmlns:a16="http://schemas.microsoft.com/office/drawing/2014/main" id="{37E24AF1-CEA5-D74F-9878-2FB2BE1E1F59}"/>
              </a:ext>
            </a:extLst>
          </p:cNvPr>
          <p:cNvSpPr txBox="1"/>
          <p:nvPr/>
        </p:nvSpPr>
        <p:spPr>
          <a:xfrm>
            <a:off x="8128000" y="3200400"/>
            <a:ext cx="635000" cy="304800"/>
          </a:xfrm>
          <a:prstGeom prst="rect">
            <a:avLst/>
          </a:prstGeom>
          <a:noFill/>
        </p:spPr>
        <p:txBody>
          <a:bodyPr vertOverflow="overflow" vert="horz" wrap="none" rtlCol="0" anchor="t"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20%</a:t>
            </a:r>
          </a:p>
        </p:txBody>
      </p:sp>
      <p:sp>
        <p:nvSpPr>
          <p:cNvPr id="117" name="TextBox 116">
            <a:extLst>
              <a:ext uri="{FF2B5EF4-FFF2-40B4-BE49-F238E27FC236}">
                <a16:creationId xmlns:a16="http://schemas.microsoft.com/office/drawing/2014/main" id="{68FE9752-5C4A-BE43-B3B3-983D420ACF09}"/>
              </a:ext>
            </a:extLst>
          </p:cNvPr>
          <p:cNvSpPr txBox="1"/>
          <p:nvPr/>
        </p:nvSpPr>
        <p:spPr>
          <a:xfrm>
            <a:off x="8839200" y="3225800"/>
            <a:ext cx="20320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of the population</a:t>
            </a:r>
          </a:p>
        </p:txBody>
      </p:sp>
      <p:sp>
        <p:nvSpPr>
          <p:cNvPr id="118" name="Rectangle 117">
            <a:extLst>
              <a:ext uri="{FF2B5EF4-FFF2-40B4-BE49-F238E27FC236}">
                <a16:creationId xmlns:a16="http://schemas.microsoft.com/office/drawing/2014/main" id="{818B5D93-2A3D-3D40-95FB-C1298C366EF5}"/>
              </a:ext>
            </a:extLst>
          </p:cNvPr>
          <p:cNvSpPr/>
          <p:nvPr/>
        </p:nvSpPr>
        <p:spPr>
          <a:xfrm>
            <a:off x="4978400" y="3657600"/>
            <a:ext cx="254000" cy="254000"/>
          </a:xfrm>
          <a:prstGeom prst="rect">
            <a:avLst/>
          </a:prstGeom>
          <a:solidFill>
            <a:srgbClr val="9C9C9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9" name="TextBox 118">
            <a:extLst>
              <a:ext uri="{FF2B5EF4-FFF2-40B4-BE49-F238E27FC236}">
                <a16:creationId xmlns:a16="http://schemas.microsoft.com/office/drawing/2014/main" id="{B64BDD63-DFE6-D141-A4A7-ED2FF2AF6637}"/>
              </a:ext>
            </a:extLst>
          </p:cNvPr>
          <p:cNvSpPr txBox="1"/>
          <p:nvPr/>
        </p:nvSpPr>
        <p:spPr>
          <a:xfrm>
            <a:off x="5384800" y="3632200"/>
            <a:ext cx="26162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Neither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A</a:t>
            </a: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 nor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B</a:t>
            </a:r>
          </a:p>
        </p:txBody>
      </p:sp>
      <p:sp>
        <p:nvSpPr>
          <p:cNvPr id="120" name="TextBox 119">
            <a:extLst>
              <a:ext uri="{FF2B5EF4-FFF2-40B4-BE49-F238E27FC236}">
                <a16:creationId xmlns:a16="http://schemas.microsoft.com/office/drawing/2014/main" id="{D780A036-9714-3B4A-A3CB-81427BC33EC6}"/>
              </a:ext>
            </a:extLst>
          </p:cNvPr>
          <p:cNvSpPr txBox="1"/>
          <p:nvPr/>
        </p:nvSpPr>
        <p:spPr>
          <a:xfrm>
            <a:off x="8128000" y="3632200"/>
            <a:ext cx="635000" cy="304800"/>
          </a:xfrm>
          <a:prstGeom prst="rect">
            <a:avLst/>
          </a:prstGeom>
          <a:noFill/>
        </p:spPr>
        <p:txBody>
          <a:bodyPr vertOverflow="overflow" vert="horz" wrap="none" rtlCol="0" anchor="t"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60%</a:t>
            </a:r>
          </a:p>
        </p:txBody>
      </p:sp>
      <p:sp>
        <p:nvSpPr>
          <p:cNvPr id="121" name="TextBox 120">
            <a:extLst>
              <a:ext uri="{FF2B5EF4-FFF2-40B4-BE49-F238E27FC236}">
                <a16:creationId xmlns:a16="http://schemas.microsoft.com/office/drawing/2014/main" id="{27EA3682-EC54-664F-8A7E-B45DD1B1A3F1}"/>
              </a:ext>
            </a:extLst>
          </p:cNvPr>
          <p:cNvSpPr txBox="1"/>
          <p:nvPr/>
        </p:nvSpPr>
        <p:spPr>
          <a:xfrm>
            <a:off x="8839200" y="3657600"/>
            <a:ext cx="20320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of the population</a:t>
            </a:r>
          </a:p>
        </p:txBody>
      </p:sp>
      <p:sp>
        <p:nvSpPr>
          <p:cNvPr id="122" name="Rectangle 121">
            <a:extLst>
              <a:ext uri="{FF2B5EF4-FFF2-40B4-BE49-F238E27FC236}">
                <a16:creationId xmlns:a16="http://schemas.microsoft.com/office/drawing/2014/main" id="{D528020E-58B3-3C46-B6B0-FC4B21C17998}"/>
              </a:ext>
            </a:extLst>
          </p:cNvPr>
          <p:cNvSpPr/>
          <p:nvPr/>
        </p:nvSpPr>
        <p:spPr>
          <a:xfrm>
            <a:off x="4978400" y="4267200"/>
            <a:ext cx="6578600" cy="25400"/>
          </a:xfrm>
          <a:prstGeom prst="rect">
            <a:avLst/>
          </a:prstGeom>
          <a:solidFill>
            <a:srgbClr val="D8DCE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0" name="TextBox 129">
            <a:extLst>
              <a:ext uri="{FF2B5EF4-FFF2-40B4-BE49-F238E27FC236}">
                <a16:creationId xmlns:a16="http://schemas.microsoft.com/office/drawing/2014/main" id="{8BD81F47-134E-704F-A548-470CFCC3D651}"/>
              </a:ext>
            </a:extLst>
          </p:cNvPr>
          <p:cNvSpPr txBox="1"/>
          <p:nvPr/>
        </p:nvSpPr>
        <p:spPr>
          <a:xfrm>
            <a:off x="635000" y="6172200"/>
            <a:ext cx="10922000" cy="279400"/>
          </a:xfrm>
          <a:prstGeom prst="rect">
            <a:avLst/>
          </a:prstGeom>
          <a:noFill/>
        </p:spPr>
        <p:txBody>
          <a:bodyPr vertOverflow="overflow" vert="horz" wrap="square" rtlCol="0" anchor="t" anchorCtr="0">
            <a:noAutofit/>
          </a:bodyPr>
          <a:lstStyle/>
          <a:p>
            <a:pPr marL="0" marR="0" lvl="0" indent="0" algn="ctr" defTabSz="914400" rtl="0" eaLnBrk="1" fontAlgn="auto" latinLnBrk="0" hangingPunct="1">
              <a:lnSpc>
                <a:spcPct val="100000"/>
              </a:lnSpc>
              <a:spcBef>
                <a:spcPts val="0"/>
              </a:spcBef>
              <a:spcAft>
                <a:spcPts val="0"/>
              </a:spcAft>
              <a:buNone/>
              <a:tabLst/>
              <a:defRPr/>
            </a:pPr>
            <a:r>
              <a:rPr kumimoji="0" lang="en-US" sz="1400" b="0" i="1"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P(...) is just a name for a percentage of the grid. The four add to 100%: every square is counted once.</a:t>
            </a:r>
          </a:p>
        </p:txBody>
      </p:sp>
      <p:sp>
        <p:nvSpPr>
          <p:cNvPr id="131" name="PHead">
            <a:extLst>
              <a:ext uri="{FF2B5EF4-FFF2-40B4-BE49-F238E27FC236}">
                <a16:creationId xmlns:a16="http://schemas.microsoft.com/office/drawing/2014/main" id="{381E89AB-24FE-144D-8F3D-0217AEA3FFF7}"/>
              </a:ext>
            </a:extLst>
          </p:cNvPr>
          <p:cNvSpPr txBox="1"/>
          <p:nvPr/>
        </p:nvSpPr>
        <p:spPr>
          <a:xfrm>
            <a:off x="4978400" y="4368800"/>
            <a:ext cx="6578600" cy="304800"/>
          </a:xfrm>
          <a:prstGeom prst="rect">
            <a:avLst/>
          </a:prstGeom>
          <a:noFill/>
        </p:spPr>
        <p:txBody>
          <a:bodyPr vertOverflow="overflow" vert="horz" wrap="square" rtlCol="0" anchor="ctr"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8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Writing it as a probability</a:t>
            </a:r>
          </a:p>
        </p:txBody>
      </p:sp>
      <p:sp>
        <p:nvSpPr>
          <p:cNvPr id="132" name="PRow1Tick">
            <a:extLst>
              <a:ext uri="{FF2B5EF4-FFF2-40B4-BE49-F238E27FC236}">
                <a16:creationId xmlns:a16="http://schemas.microsoft.com/office/drawing/2014/main" id="{ED09E149-A4DC-3A43-AFA4-982F3DF852DA}"/>
              </a:ext>
            </a:extLst>
          </p:cNvPr>
          <p:cNvSpPr/>
          <p:nvPr/>
        </p:nvSpPr>
        <p:spPr>
          <a:xfrm>
            <a:off x="4978400" y="4737100"/>
            <a:ext cx="254000" cy="254000"/>
          </a:xfrm>
          <a:prstGeom prst="rect">
            <a:avLst/>
          </a:prstGeom>
          <a:solidFill>
            <a:srgbClr val="15686B"/>
          </a:solidFill>
          <a:ln w="9525" cap="flat" cmpd="sng" algn="ctr">
            <a:solidFill>
              <a:srgbClr val="B9BFC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3" name="PRow1Expr">
            <a:extLst>
              <a:ext uri="{FF2B5EF4-FFF2-40B4-BE49-F238E27FC236}">
                <a16:creationId xmlns:a16="http://schemas.microsoft.com/office/drawing/2014/main" id="{10A3B7E8-42E7-8141-BB45-4E655D8DA03E}"/>
              </a:ext>
            </a:extLst>
          </p:cNvPr>
          <p:cNvSpPr txBox="1"/>
          <p:nvPr/>
        </p:nvSpPr>
        <p:spPr>
          <a:xfrm>
            <a:off x="5384800" y="4724400"/>
            <a:ext cx="1905000" cy="279400"/>
          </a:xfrm>
          <a:prstGeom prst="rect">
            <a:avLst/>
          </a:prstGeom>
          <a:noFill/>
        </p:spPr>
        <p:txBody>
          <a:bodyPr vertOverflow="overflow" vert="horz" wrap="none" rtlCol="0" anchor="ctr" anchorCtr="0">
            <a:noAutofit/>
          </a:bodyPr>
          <a:lstStyle/>
          <a:p>
            <a:pPr algn="l"/>
            <a:r>
              <a:rPr lang="en-US" sz="1600" b="1">
                <a:solidFill>
                  <a:srgbClr val="1F3864"/>
                </a:solidFill>
                <a:latin typeface="Calibri"/>
                <a:cs typeface="Calibri"/>
              </a:rPr>
              <a:t>P(A and B)</a:t>
            </a:r>
          </a:p>
        </p:txBody>
      </p:sp>
      <p:sp>
        <p:nvSpPr>
          <p:cNvPr id="134" name="PRow1Eq">
            <a:extLst>
              <a:ext uri="{FF2B5EF4-FFF2-40B4-BE49-F238E27FC236}">
                <a16:creationId xmlns:a16="http://schemas.microsoft.com/office/drawing/2014/main" id="{AC710F43-E3D6-6A48-B0C2-2D412C1A5868}"/>
              </a:ext>
            </a:extLst>
          </p:cNvPr>
          <p:cNvSpPr txBox="1"/>
          <p:nvPr/>
        </p:nvSpPr>
        <p:spPr>
          <a:xfrm>
            <a:off x="7569200" y="4724400"/>
            <a:ext cx="177800" cy="279400"/>
          </a:xfrm>
          <a:prstGeom prst="rect">
            <a:avLst/>
          </a:prstGeom>
          <a:noFill/>
        </p:spPr>
        <p:txBody>
          <a:bodyPr vertOverflow="overflow" vert="horz" wrap="none" rtlCol="0" anchor="ctr" anchorCtr="0">
            <a:noAutofit/>
          </a:bodyPr>
          <a:lstStyle/>
          <a:p>
            <a:pPr algn="l"/>
            <a:r>
              <a:rPr lang="en-US" sz="1600">
                <a:solidFill>
                  <a:srgbClr val="374151"/>
                </a:solidFill>
                <a:latin typeface="Calibri"/>
                <a:cs typeface="Calibri"/>
              </a:rPr>
              <a:t>=</a:t>
            </a:r>
          </a:p>
        </p:txBody>
      </p:sp>
      <p:sp>
        <p:nvSpPr>
          <p:cNvPr id="135" name="PRow1Pct">
            <a:extLst>
              <a:ext uri="{FF2B5EF4-FFF2-40B4-BE49-F238E27FC236}">
                <a16:creationId xmlns:a16="http://schemas.microsoft.com/office/drawing/2014/main" id="{F35B71DD-902D-F24B-AE0E-0A3F5473F132}"/>
              </a:ext>
            </a:extLst>
          </p:cNvPr>
          <p:cNvSpPr txBox="1"/>
          <p:nvPr/>
        </p:nvSpPr>
        <p:spPr>
          <a:xfrm>
            <a:off x="7823200" y="4724400"/>
            <a:ext cx="939800" cy="279400"/>
          </a:xfrm>
          <a:prstGeom prst="rect">
            <a:avLst/>
          </a:prstGeom>
          <a:noFill/>
        </p:spPr>
        <p:txBody>
          <a:bodyPr vertOverflow="overflow" vert="horz" wrap="none" lIns="0" rIns="0" rtlCol="0" anchor="ctr"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12%</a:t>
            </a:r>
          </a:p>
        </p:txBody>
      </p:sp>
      <p:sp>
        <p:nvSpPr>
          <p:cNvPr id="136" name="PRow2Tick">
            <a:extLst>
              <a:ext uri="{FF2B5EF4-FFF2-40B4-BE49-F238E27FC236}">
                <a16:creationId xmlns:a16="http://schemas.microsoft.com/office/drawing/2014/main" id="{C0306A21-B6BC-DD4F-A6DD-349EE84316BF}"/>
              </a:ext>
            </a:extLst>
          </p:cNvPr>
          <p:cNvSpPr/>
          <p:nvPr/>
        </p:nvSpPr>
        <p:spPr>
          <a:xfrm>
            <a:off x="4978400" y="5092700"/>
            <a:ext cx="254000" cy="254000"/>
          </a:xfrm>
          <a:prstGeom prst="rect">
            <a:avLst/>
          </a:prstGeom>
          <a:solidFill>
            <a:srgbClr val="48ACAF"/>
          </a:solidFill>
          <a:ln w="9525" cap="flat" cmpd="sng" algn="ctr">
            <a:solidFill>
              <a:srgbClr val="B9BFC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7" name="PRow2Expr">
            <a:extLst>
              <a:ext uri="{FF2B5EF4-FFF2-40B4-BE49-F238E27FC236}">
                <a16:creationId xmlns:a16="http://schemas.microsoft.com/office/drawing/2014/main" id="{41384403-3DB8-0F4A-914E-99F31792C9C3}"/>
              </a:ext>
            </a:extLst>
          </p:cNvPr>
          <p:cNvSpPr txBox="1"/>
          <p:nvPr/>
        </p:nvSpPr>
        <p:spPr>
          <a:xfrm>
            <a:off x="5384800" y="5080000"/>
            <a:ext cx="1905000" cy="279400"/>
          </a:xfrm>
          <a:prstGeom prst="rect">
            <a:avLst/>
          </a:prstGeom>
          <a:noFill/>
        </p:spPr>
        <p:txBody>
          <a:bodyPr vertOverflow="overflow" vert="horz" wrap="none" rtlCol="0" anchor="ctr" anchorCtr="0">
            <a:noAutofit/>
          </a:bodyPr>
          <a:lstStyle/>
          <a:p>
            <a:pPr algn="l"/>
            <a:r>
              <a:rPr lang="en-US" sz="1600" b="1">
                <a:solidFill>
                  <a:srgbClr val="1F3864"/>
                </a:solidFill>
                <a:latin typeface="Calibri"/>
                <a:cs typeface="Calibri"/>
              </a:rPr>
              <a:t>P(A only)</a:t>
            </a:r>
          </a:p>
        </p:txBody>
      </p:sp>
      <p:sp>
        <p:nvSpPr>
          <p:cNvPr id="138" name="PRow2Eq">
            <a:extLst>
              <a:ext uri="{FF2B5EF4-FFF2-40B4-BE49-F238E27FC236}">
                <a16:creationId xmlns:a16="http://schemas.microsoft.com/office/drawing/2014/main" id="{F4731C38-C816-B448-BE8E-34ADFC0D3123}"/>
              </a:ext>
            </a:extLst>
          </p:cNvPr>
          <p:cNvSpPr txBox="1"/>
          <p:nvPr/>
        </p:nvSpPr>
        <p:spPr>
          <a:xfrm>
            <a:off x="7569200" y="5080000"/>
            <a:ext cx="177800" cy="279400"/>
          </a:xfrm>
          <a:prstGeom prst="rect">
            <a:avLst/>
          </a:prstGeom>
          <a:noFill/>
        </p:spPr>
        <p:txBody>
          <a:bodyPr vertOverflow="overflow" vert="horz" wrap="none" rtlCol="0" anchor="ctr" anchorCtr="0">
            <a:noAutofit/>
          </a:bodyPr>
          <a:lstStyle/>
          <a:p>
            <a:pPr algn="l"/>
            <a:r>
              <a:rPr lang="en-US" sz="1600">
                <a:solidFill>
                  <a:srgbClr val="374151"/>
                </a:solidFill>
                <a:latin typeface="Calibri"/>
                <a:cs typeface="Calibri"/>
              </a:rPr>
              <a:t>=</a:t>
            </a:r>
          </a:p>
        </p:txBody>
      </p:sp>
      <p:sp>
        <p:nvSpPr>
          <p:cNvPr id="139" name="PRow2Pct">
            <a:extLst>
              <a:ext uri="{FF2B5EF4-FFF2-40B4-BE49-F238E27FC236}">
                <a16:creationId xmlns:a16="http://schemas.microsoft.com/office/drawing/2014/main" id="{9E9C280A-6CBF-6F4F-AEA7-84AD85FCBC26}"/>
              </a:ext>
            </a:extLst>
          </p:cNvPr>
          <p:cNvSpPr txBox="1"/>
          <p:nvPr/>
        </p:nvSpPr>
        <p:spPr>
          <a:xfrm>
            <a:off x="7823200" y="5080000"/>
            <a:ext cx="939800" cy="279400"/>
          </a:xfrm>
          <a:prstGeom prst="rect">
            <a:avLst/>
          </a:prstGeom>
          <a:noFill/>
        </p:spPr>
        <p:txBody>
          <a:bodyPr vertOverflow="overflow" vert="horz" wrap="none" lIns="0" rIns="0" rtlCol="0" anchor="ctr"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8%</a:t>
            </a:r>
          </a:p>
        </p:txBody>
      </p:sp>
      <p:sp>
        <p:nvSpPr>
          <p:cNvPr id="140" name="PRow3Tick">
            <a:extLst>
              <a:ext uri="{FF2B5EF4-FFF2-40B4-BE49-F238E27FC236}">
                <a16:creationId xmlns:a16="http://schemas.microsoft.com/office/drawing/2014/main" id="{8CBFFD13-F59D-0841-8C3E-AD45B2AB15B5}"/>
              </a:ext>
            </a:extLst>
          </p:cNvPr>
          <p:cNvSpPr/>
          <p:nvPr/>
        </p:nvSpPr>
        <p:spPr>
          <a:xfrm>
            <a:off x="4978400" y="5448300"/>
            <a:ext cx="254000" cy="254000"/>
          </a:xfrm>
          <a:prstGeom prst="rect">
            <a:avLst/>
          </a:prstGeom>
          <a:solidFill>
            <a:srgbClr val="C6A15B"/>
          </a:solidFill>
          <a:ln w="9525" cap="flat" cmpd="sng" algn="ctr">
            <a:solidFill>
              <a:srgbClr val="B9BFC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1" name="PRow3Expr">
            <a:extLst>
              <a:ext uri="{FF2B5EF4-FFF2-40B4-BE49-F238E27FC236}">
                <a16:creationId xmlns:a16="http://schemas.microsoft.com/office/drawing/2014/main" id="{E93466C7-D82F-F14D-BC68-9A4C94A3DAA9}"/>
              </a:ext>
            </a:extLst>
          </p:cNvPr>
          <p:cNvSpPr txBox="1"/>
          <p:nvPr/>
        </p:nvSpPr>
        <p:spPr>
          <a:xfrm>
            <a:off x="5384800" y="5435600"/>
            <a:ext cx="1905000" cy="279400"/>
          </a:xfrm>
          <a:prstGeom prst="rect">
            <a:avLst/>
          </a:prstGeom>
          <a:noFill/>
        </p:spPr>
        <p:txBody>
          <a:bodyPr vertOverflow="overflow" vert="horz" wrap="none" rtlCol="0" anchor="ctr" anchorCtr="0">
            <a:noAutofit/>
          </a:bodyPr>
          <a:lstStyle/>
          <a:p>
            <a:pPr algn="l"/>
            <a:r>
              <a:rPr lang="en-US" sz="1600" b="1">
                <a:solidFill>
                  <a:srgbClr val="1F3864"/>
                </a:solidFill>
                <a:latin typeface="Calibri"/>
                <a:cs typeface="Calibri"/>
              </a:rPr>
              <a:t>P(B only)</a:t>
            </a:r>
          </a:p>
        </p:txBody>
      </p:sp>
      <p:sp>
        <p:nvSpPr>
          <p:cNvPr id="142" name="PRow3Eq">
            <a:extLst>
              <a:ext uri="{FF2B5EF4-FFF2-40B4-BE49-F238E27FC236}">
                <a16:creationId xmlns:a16="http://schemas.microsoft.com/office/drawing/2014/main" id="{98C36AE4-B994-904D-8FD1-CE32367EA194}"/>
              </a:ext>
            </a:extLst>
          </p:cNvPr>
          <p:cNvSpPr txBox="1"/>
          <p:nvPr/>
        </p:nvSpPr>
        <p:spPr>
          <a:xfrm>
            <a:off x="7569200" y="5435600"/>
            <a:ext cx="177800" cy="279400"/>
          </a:xfrm>
          <a:prstGeom prst="rect">
            <a:avLst/>
          </a:prstGeom>
          <a:noFill/>
        </p:spPr>
        <p:txBody>
          <a:bodyPr vertOverflow="overflow" vert="horz" wrap="none" rtlCol="0" anchor="ctr" anchorCtr="0">
            <a:noAutofit/>
          </a:bodyPr>
          <a:lstStyle/>
          <a:p>
            <a:pPr algn="l"/>
            <a:r>
              <a:rPr lang="en-US" sz="1600">
                <a:solidFill>
                  <a:srgbClr val="374151"/>
                </a:solidFill>
                <a:latin typeface="Calibri"/>
                <a:cs typeface="Calibri"/>
              </a:rPr>
              <a:t>=</a:t>
            </a:r>
          </a:p>
        </p:txBody>
      </p:sp>
      <p:sp>
        <p:nvSpPr>
          <p:cNvPr id="143" name="PRow3Pct">
            <a:extLst>
              <a:ext uri="{FF2B5EF4-FFF2-40B4-BE49-F238E27FC236}">
                <a16:creationId xmlns:a16="http://schemas.microsoft.com/office/drawing/2014/main" id="{5755D342-6D57-6048-8152-0CACB695B8C8}"/>
              </a:ext>
            </a:extLst>
          </p:cNvPr>
          <p:cNvSpPr txBox="1"/>
          <p:nvPr/>
        </p:nvSpPr>
        <p:spPr>
          <a:xfrm>
            <a:off x="7823200" y="5435600"/>
            <a:ext cx="939800" cy="279400"/>
          </a:xfrm>
          <a:prstGeom prst="rect">
            <a:avLst/>
          </a:prstGeom>
          <a:noFill/>
        </p:spPr>
        <p:txBody>
          <a:bodyPr vertOverflow="overflow" vert="horz" wrap="none" lIns="0" rIns="0" rtlCol="0" anchor="ctr"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20%</a:t>
            </a:r>
          </a:p>
        </p:txBody>
      </p:sp>
      <p:sp>
        <p:nvSpPr>
          <p:cNvPr id="144" name="PRow4Tick">
            <a:extLst>
              <a:ext uri="{FF2B5EF4-FFF2-40B4-BE49-F238E27FC236}">
                <a16:creationId xmlns:a16="http://schemas.microsoft.com/office/drawing/2014/main" id="{E910EC29-0571-1248-92AA-646BBAB78722}"/>
              </a:ext>
            </a:extLst>
          </p:cNvPr>
          <p:cNvSpPr/>
          <p:nvPr/>
        </p:nvSpPr>
        <p:spPr>
          <a:xfrm>
            <a:off x="4978400" y="5803900"/>
            <a:ext cx="254000" cy="254000"/>
          </a:xfrm>
          <a:prstGeom prst="rect">
            <a:avLst/>
          </a:prstGeom>
          <a:solidFill>
            <a:srgbClr val="9C9C9C"/>
          </a:solidFill>
          <a:ln w="9525" cap="flat" cmpd="sng" algn="ctr">
            <a:solidFill>
              <a:srgbClr val="B9BFC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5" name="PRow4Expr">
            <a:extLst>
              <a:ext uri="{FF2B5EF4-FFF2-40B4-BE49-F238E27FC236}">
                <a16:creationId xmlns:a16="http://schemas.microsoft.com/office/drawing/2014/main" id="{57B63644-95CA-3543-97E8-81E50F53F35F}"/>
              </a:ext>
            </a:extLst>
          </p:cNvPr>
          <p:cNvSpPr txBox="1"/>
          <p:nvPr/>
        </p:nvSpPr>
        <p:spPr>
          <a:xfrm>
            <a:off x="5384800" y="5791200"/>
            <a:ext cx="1905000" cy="279400"/>
          </a:xfrm>
          <a:prstGeom prst="rect">
            <a:avLst/>
          </a:prstGeom>
          <a:noFill/>
        </p:spPr>
        <p:txBody>
          <a:bodyPr vertOverflow="overflow" vert="horz" wrap="none" rtlCol="0" anchor="ctr" anchorCtr="0">
            <a:noAutofit/>
          </a:bodyPr>
          <a:lstStyle/>
          <a:p>
            <a:pPr algn="l"/>
            <a:r>
              <a:rPr lang="en-US" sz="1600" b="1">
                <a:solidFill>
                  <a:srgbClr val="1F3864"/>
                </a:solidFill>
                <a:latin typeface="Calibri"/>
                <a:cs typeface="Calibri"/>
              </a:rPr>
              <a:t>P(neither)</a:t>
            </a:r>
          </a:p>
        </p:txBody>
      </p:sp>
      <p:sp>
        <p:nvSpPr>
          <p:cNvPr id="146" name="PRow4Eq">
            <a:extLst>
              <a:ext uri="{FF2B5EF4-FFF2-40B4-BE49-F238E27FC236}">
                <a16:creationId xmlns:a16="http://schemas.microsoft.com/office/drawing/2014/main" id="{66235757-47B1-3B49-98E8-5A13952667DE}"/>
              </a:ext>
            </a:extLst>
          </p:cNvPr>
          <p:cNvSpPr txBox="1"/>
          <p:nvPr/>
        </p:nvSpPr>
        <p:spPr>
          <a:xfrm>
            <a:off x="7569200" y="5791200"/>
            <a:ext cx="177800" cy="279400"/>
          </a:xfrm>
          <a:prstGeom prst="rect">
            <a:avLst/>
          </a:prstGeom>
          <a:noFill/>
        </p:spPr>
        <p:txBody>
          <a:bodyPr vertOverflow="overflow" vert="horz" wrap="none" rtlCol="0" anchor="ctr" anchorCtr="0">
            <a:noAutofit/>
          </a:bodyPr>
          <a:lstStyle/>
          <a:p>
            <a:pPr algn="l"/>
            <a:r>
              <a:rPr lang="en-US" sz="1600">
                <a:solidFill>
                  <a:srgbClr val="374151"/>
                </a:solidFill>
                <a:latin typeface="Calibri"/>
                <a:cs typeface="Calibri"/>
              </a:rPr>
              <a:t>=</a:t>
            </a:r>
          </a:p>
        </p:txBody>
      </p:sp>
      <p:sp>
        <p:nvSpPr>
          <p:cNvPr id="147" name="PRow4Pct">
            <a:extLst>
              <a:ext uri="{FF2B5EF4-FFF2-40B4-BE49-F238E27FC236}">
                <a16:creationId xmlns:a16="http://schemas.microsoft.com/office/drawing/2014/main" id="{5470B241-0873-F149-8CB4-9A5F25330875}"/>
              </a:ext>
            </a:extLst>
          </p:cNvPr>
          <p:cNvSpPr txBox="1"/>
          <p:nvPr/>
        </p:nvSpPr>
        <p:spPr>
          <a:xfrm>
            <a:off x="7823200" y="5791200"/>
            <a:ext cx="939800" cy="279400"/>
          </a:xfrm>
          <a:prstGeom prst="rect">
            <a:avLst/>
          </a:prstGeom>
          <a:noFill/>
        </p:spPr>
        <p:txBody>
          <a:bodyPr vertOverflow="overflow" vert="horz" wrap="none" lIns="0" rIns="0" rtlCol="0" anchor="ctr"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60%</a:t>
            </a:r>
          </a:p>
        </p:txBody>
      </p:sp>
    </p:spTree>
    <p:extLst>
      <p:ext uri="{BB962C8B-B14F-4D97-AF65-F5344CB8AC3E}">
        <p14:creationId xmlns:p14="http://schemas.microsoft.com/office/powerpoint/2010/main" val="717444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CaseBBox">
            <a:extLst>
              <a:ext uri="{FF2B5EF4-FFF2-40B4-BE49-F238E27FC236}">
                <a16:creationId xmlns:a16="http://schemas.microsoft.com/office/drawing/2014/main" id="{897235DB-D08A-E442-AB1C-BC085A713B10}"/>
              </a:ext>
            </a:extLst>
          </p:cNvPr>
          <p:cNvSpPr/>
          <p:nvPr/>
        </p:nvSpPr>
        <p:spPr>
          <a:xfrm>
            <a:off x="635000" y="2235200"/>
            <a:ext cx="5334000" cy="3733800"/>
          </a:xfrm>
          <a:prstGeom prst="rect">
            <a:avLst/>
          </a:prstGeom>
          <a:solidFill>
            <a:srgbClr val="FDFAF2"/>
          </a:solidFill>
          <a:ln w="19050" cap="flat" cmpd="sng" algn="ctr">
            <a:solidFill>
              <a:srgbClr val="C6A15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7" name="CaseBBar">
            <a:extLst>
              <a:ext uri="{FF2B5EF4-FFF2-40B4-BE49-F238E27FC236}">
                <a16:creationId xmlns:a16="http://schemas.microsoft.com/office/drawing/2014/main" id="{EE88F514-A40D-2C4B-AF77-BA7BEED34EE5}"/>
              </a:ext>
            </a:extLst>
          </p:cNvPr>
          <p:cNvSpPr/>
          <p:nvPr/>
        </p:nvSpPr>
        <p:spPr>
          <a:xfrm>
            <a:off x="6223000" y="2235200"/>
            <a:ext cx="5334000" cy="3733800"/>
          </a:xfrm>
          <a:prstGeom prst="rect">
            <a:avLst/>
          </a:prstGeom>
          <a:solidFill>
            <a:srgbClr val="F2FAFA"/>
          </a:solidFill>
          <a:ln w="19050" cap="flat" cmpd="sng" algn="ctr">
            <a:solidFill>
              <a:srgbClr val="48ACA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CB22A3E0-18E0-DB47-93C6-7ED2263ABCBF}"/>
              </a:ext>
            </a:extLst>
          </p:cNvPr>
          <p:cNvSpPr txBox="1"/>
          <p:nvPr/>
        </p:nvSpPr>
        <p:spPr>
          <a:xfrm>
            <a:off x="635000" y="457200"/>
            <a:ext cx="109728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RESTRICTION OF ATTENTION, NOT SHRINKAGE</a:t>
            </a:r>
          </a:p>
        </p:txBody>
      </p:sp>
      <p:sp>
        <p:nvSpPr>
          <p:cNvPr id="3" name="TextBox 2">
            <a:extLst>
              <a:ext uri="{FF2B5EF4-FFF2-40B4-BE49-F238E27FC236}">
                <a16:creationId xmlns:a16="http://schemas.microsoft.com/office/drawing/2014/main" id="{D646DA3B-EA33-3944-B047-BF52925927D9}"/>
              </a:ext>
            </a:extLst>
          </p:cNvPr>
          <p:cNvSpPr txBox="1"/>
          <p:nvPr/>
        </p:nvSpPr>
        <p:spPr>
          <a:xfrm>
            <a:off x="635000" y="749300"/>
            <a:ext cx="10972800" cy="558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What P(A | B) Actually Means</a:t>
            </a:r>
          </a:p>
        </p:txBody>
      </p:sp>
      <p:sp>
        <p:nvSpPr>
          <p:cNvPr id="4" name="TextBox 3">
            <a:extLst>
              <a:ext uri="{FF2B5EF4-FFF2-40B4-BE49-F238E27FC236}">
                <a16:creationId xmlns:a16="http://schemas.microsoft.com/office/drawing/2014/main" id="{6134C786-6BCC-6848-A924-161BF2B14E0C}"/>
              </a:ext>
            </a:extLst>
          </p:cNvPr>
          <p:cNvSpPr txBox="1"/>
          <p:nvPr/>
        </p:nvSpPr>
        <p:spPr>
          <a:xfrm>
            <a:off x="635000" y="1346200"/>
            <a:ext cx="10972800" cy="660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5000"/>
              </a:lnSpc>
              <a:spcBef>
                <a:spcPts val="0"/>
              </a:spcBef>
              <a:spcAft>
                <a:spcPts val="0"/>
              </a:spcAft>
              <a:buNone/>
              <a:tabLst/>
              <a:defRPr/>
            </a:pPr>
            <a:r>
              <a:rPr kumimoji="0" lang="en-US" sz="20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P(A | B) </a:t>
            </a:r>
            <a:r>
              <a:rPr kumimoji="0" lang="en-US" sz="2000" b="0" i="0"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reads “A given B.” Because we are </a:t>
            </a:r>
            <a:r>
              <a:rPr kumimoji="0" lang="en-US" sz="20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assuming B is true</a:t>
            </a:r>
            <a:r>
              <a:rPr kumimoji="0" lang="en-US" sz="2000" b="0" i="0"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 the question becomes: of the B population, what percentage are A?</a:t>
            </a:r>
          </a:p>
        </p:txBody>
      </p:sp>
      <p:sp>
        <p:nvSpPr>
          <p:cNvPr id="5" name="Rectangle 4">
            <a:extLst>
              <a:ext uri="{FF2B5EF4-FFF2-40B4-BE49-F238E27FC236}">
                <a16:creationId xmlns:a16="http://schemas.microsoft.com/office/drawing/2014/main" id="{9A9E3B53-8C41-0743-ACCD-9CFC0AB88F87}"/>
              </a:ext>
            </a:extLst>
          </p:cNvPr>
          <p:cNvSpPr/>
          <p:nvPr/>
        </p:nvSpPr>
        <p:spPr>
          <a:xfrm>
            <a:off x="838200" y="27432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FAEB3744-36A1-294D-AED7-A841C17CC6E6}"/>
              </a:ext>
            </a:extLst>
          </p:cNvPr>
          <p:cNvSpPr/>
          <p:nvPr/>
        </p:nvSpPr>
        <p:spPr>
          <a:xfrm>
            <a:off x="1397000" y="27432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045496E0-AAF5-8040-A930-5210D62EBF08}"/>
              </a:ext>
            </a:extLst>
          </p:cNvPr>
          <p:cNvSpPr/>
          <p:nvPr/>
        </p:nvSpPr>
        <p:spPr>
          <a:xfrm>
            <a:off x="1955800" y="27432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ctangle 7">
            <a:extLst>
              <a:ext uri="{FF2B5EF4-FFF2-40B4-BE49-F238E27FC236}">
                <a16:creationId xmlns:a16="http://schemas.microsoft.com/office/drawing/2014/main" id="{3EDAA86F-FFA4-3844-A300-30DAA81BCD46}"/>
              </a:ext>
            </a:extLst>
          </p:cNvPr>
          <p:cNvSpPr/>
          <p:nvPr/>
        </p:nvSpPr>
        <p:spPr>
          <a:xfrm>
            <a:off x="2514600" y="27432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8">
            <a:extLst>
              <a:ext uri="{FF2B5EF4-FFF2-40B4-BE49-F238E27FC236}">
                <a16:creationId xmlns:a16="http://schemas.microsoft.com/office/drawing/2014/main" id="{4A2FDA31-51A2-D64E-B32D-17581659F069}"/>
              </a:ext>
            </a:extLst>
          </p:cNvPr>
          <p:cNvSpPr/>
          <p:nvPr/>
        </p:nvSpPr>
        <p:spPr>
          <a:xfrm>
            <a:off x="3073400" y="27432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F5F82279-9D6C-024B-9942-558607CBED15}"/>
              </a:ext>
            </a:extLst>
          </p:cNvPr>
          <p:cNvSpPr/>
          <p:nvPr/>
        </p:nvSpPr>
        <p:spPr>
          <a:xfrm>
            <a:off x="3632200" y="27432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03DE3A4B-5A18-184C-98E5-49C21B57010C}"/>
              </a:ext>
            </a:extLst>
          </p:cNvPr>
          <p:cNvSpPr/>
          <p:nvPr/>
        </p:nvSpPr>
        <p:spPr>
          <a:xfrm>
            <a:off x="4191000" y="27432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99C1C645-3368-3A45-AA8D-DEDA5B7EAB98}"/>
              </a:ext>
            </a:extLst>
          </p:cNvPr>
          <p:cNvSpPr/>
          <p:nvPr/>
        </p:nvSpPr>
        <p:spPr>
          <a:xfrm>
            <a:off x="4749800" y="27432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33532073-B3F3-0740-A25C-3C51197EDFEB}"/>
              </a:ext>
            </a:extLst>
          </p:cNvPr>
          <p:cNvSpPr/>
          <p:nvPr/>
        </p:nvSpPr>
        <p:spPr>
          <a:xfrm>
            <a:off x="838200" y="33020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12CABEBD-EE98-6849-BB78-2DB30642FE07}"/>
              </a:ext>
            </a:extLst>
          </p:cNvPr>
          <p:cNvSpPr/>
          <p:nvPr/>
        </p:nvSpPr>
        <p:spPr>
          <a:xfrm>
            <a:off x="1397000" y="33020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0323B13B-1267-6349-A5CC-012E1A13F734}"/>
              </a:ext>
            </a:extLst>
          </p:cNvPr>
          <p:cNvSpPr/>
          <p:nvPr/>
        </p:nvSpPr>
        <p:spPr>
          <a:xfrm>
            <a:off x="1955800" y="33020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3E1CA80A-EA32-CE4F-A539-0764E6B3E79C}"/>
              </a:ext>
            </a:extLst>
          </p:cNvPr>
          <p:cNvSpPr/>
          <p:nvPr/>
        </p:nvSpPr>
        <p:spPr>
          <a:xfrm>
            <a:off x="2514600" y="33020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2E082B9F-E0A3-3F4E-A7BD-79319A013C28}"/>
              </a:ext>
            </a:extLst>
          </p:cNvPr>
          <p:cNvSpPr/>
          <p:nvPr/>
        </p:nvSpPr>
        <p:spPr>
          <a:xfrm>
            <a:off x="3073400" y="33020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EA7C3BDD-09EC-FE4A-A2DB-F0ED681DF6A7}"/>
              </a:ext>
            </a:extLst>
          </p:cNvPr>
          <p:cNvSpPr/>
          <p:nvPr/>
        </p:nvSpPr>
        <p:spPr>
          <a:xfrm>
            <a:off x="3632200" y="33020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FAD59272-EAAD-C749-8CA1-1A7D167F584E}"/>
              </a:ext>
            </a:extLst>
          </p:cNvPr>
          <p:cNvSpPr/>
          <p:nvPr/>
        </p:nvSpPr>
        <p:spPr>
          <a:xfrm>
            <a:off x="4191000" y="33020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55797CF2-5CD6-0342-A489-5A0DD4B5E391}"/>
              </a:ext>
            </a:extLst>
          </p:cNvPr>
          <p:cNvSpPr/>
          <p:nvPr/>
        </p:nvSpPr>
        <p:spPr>
          <a:xfrm>
            <a:off x="4749800" y="33020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BB012647-0996-894B-8252-46AA70AEED99}"/>
              </a:ext>
            </a:extLst>
          </p:cNvPr>
          <p:cNvSpPr/>
          <p:nvPr/>
        </p:nvSpPr>
        <p:spPr>
          <a:xfrm>
            <a:off x="838200" y="38608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66B510D4-7E27-4241-8C0F-086227465B89}"/>
              </a:ext>
            </a:extLst>
          </p:cNvPr>
          <p:cNvSpPr/>
          <p:nvPr/>
        </p:nvSpPr>
        <p:spPr>
          <a:xfrm>
            <a:off x="1397000" y="38608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ectangle 22">
            <a:extLst>
              <a:ext uri="{FF2B5EF4-FFF2-40B4-BE49-F238E27FC236}">
                <a16:creationId xmlns:a16="http://schemas.microsoft.com/office/drawing/2014/main" id="{C8185860-FF89-404F-8F0E-1080178BCF93}"/>
              </a:ext>
            </a:extLst>
          </p:cNvPr>
          <p:cNvSpPr/>
          <p:nvPr/>
        </p:nvSpPr>
        <p:spPr>
          <a:xfrm>
            <a:off x="1955800" y="38608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0E32E73B-D46B-7F40-96DD-A4D9A3E50C06}"/>
              </a:ext>
            </a:extLst>
          </p:cNvPr>
          <p:cNvSpPr/>
          <p:nvPr/>
        </p:nvSpPr>
        <p:spPr>
          <a:xfrm>
            <a:off x="2514600" y="38608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24">
            <a:extLst>
              <a:ext uri="{FF2B5EF4-FFF2-40B4-BE49-F238E27FC236}">
                <a16:creationId xmlns:a16="http://schemas.microsoft.com/office/drawing/2014/main" id="{09CB42F6-215C-5C4D-8494-61BA7180246B}"/>
              </a:ext>
            </a:extLst>
          </p:cNvPr>
          <p:cNvSpPr/>
          <p:nvPr/>
        </p:nvSpPr>
        <p:spPr>
          <a:xfrm>
            <a:off x="3073400" y="38608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27A13E4B-5A24-A94F-97F0-9FDD099C932A}"/>
              </a:ext>
            </a:extLst>
          </p:cNvPr>
          <p:cNvSpPr/>
          <p:nvPr/>
        </p:nvSpPr>
        <p:spPr>
          <a:xfrm>
            <a:off x="3632200" y="38608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26">
            <a:extLst>
              <a:ext uri="{FF2B5EF4-FFF2-40B4-BE49-F238E27FC236}">
                <a16:creationId xmlns:a16="http://schemas.microsoft.com/office/drawing/2014/main" id="{575894EE-0B5F-444B-8735-63FC51218CB6}"/>
              </a:ext>
            </a:extLst>
          </p:cNvPr>
          <p:cNvSpPr/>
          <p:nvPr/>
        </p:nvSpPr>
        <p:spPr>
          <a:xfrm>
            <a:off x="4191000" y="38608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Rectangle 27">
            <a:extLst>
              <a:ext uri="{FF2B5EF4-FFF2-40B4-BE49-F238E27FC236}">
                <a16:creationId xmlns:a16="http://schemas.microsoft.com/office/drawing/2014/main" id="{E4D0F19B-83FA-134D-A411-CA65DBA7D2BE}"/>
              </a:ext>
            </a:extLst>
          </p:cNvPr>
          <p:cNvSpPr/>
          <p:nvPr/>
        </p:nvSpPr>
        <p:spPr>
          <a:xfrm>
            <a:off x="4749800" y="38608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Rectangle 28">
            <a:extLst>
              <a:ext uri="{FF2B5EF4-FFF2-40B4-BE49-F238E27FC236}">
                <a16:creationId xmlns:a16="http://schemas.microsoft.com/office/drawing/2014/main" id="{B9B6B526-25EB-C34F-B479-6EB8011AF63E}"/>
              </a:ext>
            </a:extLst>
          </p:cNvPr>
          <p:cNvSpPr/>
          <p:nvPr/>
        </p:nvSpPr>
        <p:spPr>
          <a:xfrm>
            <a:off x="838200" y="44196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29">
            <a:extLst>
              <a:ext uri="{FF2B5EF4-FFF2-40B4-BE49-F238E27FC236}">
                <a16:creationId xmlns:a16="http://schemas.microsoft.com/office/drawing/2014/main" id="{2BE35466-7CBB-B64F-AC20-4853E5AD32BD}"/>
              </a:ext>
            </a:extLst>
          </p:cNvPr>
          <p:cNvSpPr/>
          <p:nvPr/>
        </p:nvSpPr>
        <p:spPr>
          <a:xfrm>
            <a:off x="1397000" y="44196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Rectangle 30">
            <a:extLst>
              <a:ext uri="{FF2B5EF4-FFF2-40B4-BE49-F238E27FC236}">
                <a16:creationId xmlns:a16="http://schemas.microsoft.com/office/drawing/2014/main" id="{E535947F-2BC2-FF4F-A835-C63BC638E2BA}"/>
              </a:ext>
            </a:extLst>
          </p:cNvPr>
          <p:cNvSpPr/>
          <p:nvPr/>
        </p:nvSpPr>
        <p:spPr>
          <a:xfrm>
            <a:off x="1955800" y="44196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Rectangle 31">
            <a:extLst>
              <a:ext uri="{FF2B5EF4-FFF2-40B4-BE49-F238E27FC236}">
                <a16:creationId xmlns:a16="http://schemas.microsoft.com/office/drawing/2014/main" id="{84C83753-60E4-134E-A3CC-5CFE11388287}"/>
              </a:ext>
            </a:extLst>
          </p:cNvPr>
          <p:cNvSpPr/>
          <p:nvPr/>
        </p:nvSpPr>
        <p:spPr>
          <a:xfrm>
            <a:off x="2514600" y="44196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Rectangle 32">
            <a:extLst>
              <a:ext uri="{FF2B5EF4-FFF2-40B4-BE49-F238E27FC236}">
                <a16:creationId xmlns:a16="http://schemas.microsoft.com/office/drawing/2014/main" id="{8F4C146B-EAB1-A841-BA38-7FF5074A7ECF}"/>
              </a:ext>
            </a:extLst>
          </p:cNvPr>
          <p:cNvSpPr/>
          <p:nvPr/>
        </p:nvSpPr>
        <p:spPr>
          <a:xfrm>
            <a:off x="3073400" y="44196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Rectangle 33">
            <a:extLst>
              <a:ext uri="{FF2B5EF4-FFF2-40B4-BE49-F238E27FC236}">
                <a16:creationId xmlns:a16="http://schemas.microsoft.com/office/drawing/2014/main" id="{9854C232-3484-B14F-AB51-475A9A935DEE}"/>
              </a:ext>
            </a:extLst>
          </p:cNvPr>
          <p:cNvSpPr/>
          <p:nvPr/>
        </p:nvSpPr>
        <p:spPr>
          <a:xfrm>
            <a:off x="3632200" y="44196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Rectangle 34">
            <a:extLst>
              <a:ext uri="{FF2B5EF4-FFF2-40B4-BE49-F238E27FC236}">
                <a16:creationId xmlns:a16="http://schemas.microsoft.com/office/drawing/2014/main" id="{A8C97880-FE66-0E4C-BB7E-15DF3D90F575}"/>
              </a:ext>
            </a:extLst>
          </p:cNvPr>
          <p:cNvSpPr/>
          <p:nvPr/>
        </p:nvSpPr>
        <p:spPr>
          <a:xfrm>
            <a:off x="4191000" y="44196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Rectangle 35">
            <a:extLst>
              <a:ext uri="{FF2B5EF4-FFF2-40B4-BE49-F238E27FC236}">
                <a16:creationId xmlns:a16="http://schemas.microsoft.com/office/drawing/2014/main" id="{9248625B-B316-4B45-B104-D7CB7F32C350}"/>
              </a:ext>
            </a:extLst>
          </p:cNvPr>
          <p:cNvSpPr/>
          <p:nvPr/>
        </p:nvSpPr>
        <p:spPr>
          <a:xfrm>
            <a:off x="4749800" y="4419600"/>
            <a:ext cx="508000" cy="508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Rectangle 36">
            <a:extLst>
              <a:ext uri="{FF2B5EF4-FFF2-40B4-BE49-F238E27FC236}">
                <a16:creationId xmlns:a16="http://schemas.microsoft.com/office/drawing/2014/main" id="{88F10BBF-28ED-A74F-A3FE-3F5DA1EFA8F2}"/>
              </a:ext>
            </a:extLst>
          </p:cNvPr>
          <p:cNvSpPr/>
          <p:nvPr/>
        </p:nvSpPr>
        <p:spPr>
          <a:xfrm>
            <a:off x="6426200" y="27432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Rectangle 37">
            <a:extLst>
              <a:ext uri="{FF2B5EF4-FFF2-40B4-BE49-F238E27FC236}">
                <a16:creationId xmlns:a16="http://schemas.microsoft.com/office/drawing/2014/main" id="{D0462A1B-E53E-4D4F-93D6-08CDE6DDCFFA}"/>
              </a:ext>
            </a:extLst>
          </p:cNvPr>
          <p:cNvSpPr/>
          <p:nvPr/>
        </p:nvSpPr>
        <p:spPr>
          <a:xfrm>
            <a:off x="6985000" y="27432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9" name="Rectangle 38">
            <a:extLst>
              <a:ext uri="{FF2B5EF4-FFF2-40B4-BE49-F238E27FC236}">
                <a16:creationId xmlns:a16="http://schemas.microsoft.com/office/drawing/2014/main" id="{A215ECF6-1833-6D40-B58E-C434D7234562}"/>
              </a:ext>
            </a:extLst>
          </p:cNvPr>
          <p:cNvSpPr/>
          <p:nvPr/>
        </p:nvSpPr>
        <p:spPr>
          <a:xfrm>
            <a:off x="7543800" y="27432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311BF150-F897-5547-8624-26BA937796CE}"/>
              </a:ext>
            </a:extLst>
          </p:cNvPr>
          <p:cNvSpPr/>
          <p:nvPr/>
        </p:nvSpPr>
        <p:spPr>
          <a:xfrm>
            <a:off x="8102600" y="2743200"/>
            <a:ext cx="508000" cy="5080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Rectangle 40">
            <a:extLst>
              <a:ext uri="{FF2B5EF4-FFF2-40B4-BE49-F238E27FC236}">
                <a16:creationId xmlns:a16="http://schemas.microsoft.com/office/drawing/2014/main" id="{F4FB551E-6526-5844-83E5-4D67880C8C4B}"/>
              </a:ext>
            </a:extLst>
          </p:cNvPr>
          <p:cNvSpPr/>
          <p:nvPr/>
        </p:nvSpPr>
        <p:spPr>
          <a:xfrm>
            <a:off x="8661400" y="2743200"/>
            <a:ext cx="508000" cy="5080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Rectangle 41">
            <a:extLst>
              <a:ext uri="{FF2B5EF4-FFF2-40B4-BE49-F238E27FC236}">
                <a16:creationId xmlns:a16="http://schemas.microsoft.com/office/drawing/2014/main" id="{7AA6164B-687C-4B46-B160-96301318259A}"/>
              </a:ext>
            </a:extLst>
          </p:cNvPr>
          <p:cNvSpPr/>
          <p:nvPr/>
        </p:nvSpPr>
        <p:spPr>
          <a:xfrm>
            <a:off x="6426200" y="33020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3" name="Rectangle 42">
            <a:extLst>
              <a:ext uri="{FF2B5EF4-FFF2-40B4-BE49-F238E27FC236}">
                <a16:creationId xmlns:a16="http://schemas.microsoft.com/office/drawing/2014/main" id="{F74C3738-39C1-D040-A43C-E56ADD29CDB7}"/>
              </a:ext>
            </a:extLst>
          </p:cNvPr>
          <p:cNvSpPr/>
          <p:nvPr/>
        </p:nvSpPr>
        <p:spPr>
          <a:xfrm>
            <a:off x="6985000" y="33020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Rectangle 43">
            <a:extLst>
              <a:ext uri="{FF2B5EF4-FFF2-40B4-BE49-F238E27FC236}">
                <a16:creationId xmlns:a16="http://schemas.microsoft.com/office/drawing/2014/main" id="{00C3BFB5-D6BF-594B-B6FC-147092C4705D}"/>
              </a:ext>
            </a:extLst>
          </p:cNvPr>
          <p:cNvSpPr/>
          <p:nvPr/>
        </p:nvSpPr>
        <p:spPr>
          <a:xfrm>
            <a:off x="7543800" y="33020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Rectangle 44">
            <a:extLst>
              <a:ext uri="{FF2B5EF4-FFF2-40B4-BE49-F238E27FC236}">
                <a16:creationId xmlns:a16="http://schemas.microsoft.com/office/drawing/2014/main" id="{4DD300C1-D971-5342-8B2B-64C54F03F1A9}"/>
              </a:ext>
            </a:extLst>
          </p:cNvPr>
          <p:cNvSpPr/>
          <p:nvPr/>
        </p:nvSpPr>
        <p:spPr>
          <a:xfrm>
            <a:off x="8102600" y="3302000"/>
            <a:ext cx="508000" cy="5080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Rectangle 45">
            <a:extLst>
              <a:ext uri="{FF2B5EF4-FFF2-40B4-BE49-F238E27FC236}">
                <a16:creationId xmlns:a16="http://schemas.microsoft.com/office/drawing/2014/main" id="{CEBD4BF9-3F36-E346-8EB7-7B0502F58431}"/>
              </a:ext>
            </a:extLst>
          </p:cNvPr>
          <p:cNvSpPr/>
          <p:nvPr/>
        </p:nvSpPr>
        <p:spPr>
          <a:xfrm>
            <a:off x="8661400" y="3302000"/>
            <a:ext cx="508000" cy="5080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7" name="Rectangle 46">
            <a:extLst>
              <a:ext uri="{FF2B5EF4-FFF2-40B4-BE49-F238E27FC236}">
                <a16:creationId xmlns:a16="http://schemas.microsoft.com/office/drawing/2014/main" id="{C1D70BCB-55F5-6347-9D8C-884EE4108DFC}"/>
              </a:ext>
            </a:extLst>
          </p:cNvPr>
          <p:cNvSpPr/>
          <p:nvPr/>
        </p:nvSpPr>
        <p:spPr>
          <a:xfrm>
            <a:off x="6426200" y="38608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Rectangle 47">
            <a:extLst>
              <a:ext uri="{FF2B5EF4-FFF2-40B4-BE49-F238E27FC236}">
                <a16:creationId xmlns:a16="http://schemas.microsoft.com/office/drawing/2014/main" id="{098C4807-4EED-B94C-B18D-B73E66880D5B}"/>
              </a:ext>
            </a:extLst>
          </p:cNvPr>
          <p:cNvSpPr/>
          <p:nvPr/>
        </p:nvSpPr>
        <p:spPr>
          <a:xfrm>
            <a:off x="6985000" y="38608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9" name="Rectangle 48">
            <a:extLst>
              <a:ext uri="{FF2B5EF4-FFF2-40B4-BE49-F238E27FC236}">
                <a16:creationId xmlns:a16="http://schemas.microsoft.com/office/drawing/2014/main" id="{1957D998-E37C-6543-A2A6-1650028F8689}"/>
              </a:ext>
            </a:extLst>
          </p:cNvPr>
          <p:cNvSpPr/>
          <p:nvPr/>
        </p:nvSpPr>
        <p:spPr>
          <a:xfrm>
            <a:off x="7543800" y="38608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0" name="Rectangle 49">
            <a:extLst>
              <a:ext uri="{FF2B5EF4-FFF2-40B4-BE49-F238E27FC236}">
                <a16:creationId xmlns:a16="http://schemas.microsoft.com/office/drawing/2014/main" id="{882064DA-D8F3-9443-85FA-62131631DB74}"/>
              </a:ext>
            </a:extLst>
          </p:cNvPr>
          <p:cNvSpPr/>
          <p:nvPr/>
        </p:nvSpPr>
        <p:spPr>
          <a:xfrm>
            <a:off x="8102600" y="3860800"/>
            <a:ext cx="508000" cy="5080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1" name="Rectangle 50">
            <a:extLst>
              <a:ext uri="{FF2B5EF4-FFF2-40B4-BE49-F238E27FC236}">
                <a16:creationId xmlns:a16="http://schemas.microsoft.com/office/drawing/2014/main" id="{BA06A201-23B6-4B45-A2C3-CCB72F39605C}"/>
              </a:ext>
            </a:extLst>
          </p:cNvPr>
          <p:cNvSpPr/>
          <p:nvPr/>
        </p:nvSpPr>
        <p:spPr>
          <a:xfrm>
            <a:off x="8661400" y="3860800"/>
            <a:ext cx="508000" cy="5080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2" name="Rectangle 51">
            <a:extLst>
              <a:ext uri="{FF2B5EF4-FFF2-40B4-BE49-F238E27FC236}">
                <a16:creationId xmlns:a16="http://schemas.microsoft.com/office/drawing/2014/main" id="{7312C1B0-C0DD-624B-A11E-96E0FF5346F2}"/>
              </a:ext>
            </a:extLst>
          </p:cNvPr>
          <p:cNvSpPr/>
          <p:nvPr/>
        </p:nvSpPr>
        <p:spPr>
          <a:xfrm>
            <a:off x="6426200" y="44196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3" name="Rectangle 52">
            <a:extLst>
              <a:ext uri="{FF2B5EF4-FFF2-40B4-BE49-F238E27FC236}">
                <a16:creationId xmlns:a16="http://schemas.microsoft.com/office/drawing/2014/main" id="{305EC40F-E0A8-9D41-B825-1210291ED53E}"/>
              </a:ext>
            </a:extLst>
          </p:cNvPr>
          <p:cNvSpPr/>
          <p:nvPr/>
        </p:nvSpPr>
        <p:spPr>
          <a:xfrm>
            <a:off x="6985000" y="44196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4" name="Rectangle 53">
            <a:extLst>
              <a:ext uri="{FF2B5EF4-FFF2-40B4-BE49-F238E27FC236}">
                <a16:creationId xmlns:a16="http://schemas.microsoft.com/office/drawing/2014/main" id="{4374EB9C-3715-A640-870D-84107BEDBA2B}"/>
              </a:ext>
            </a:extLst>
          </p:cNvPr>
          <p:cNvSpPr/>
          <p:nvPr/>
        </p:nvSpPr>
        <p:spPr>
          <a:xfrm>
            <a:off x="7543800" y="4419600"/>
            <a:ext cx="508000" cy="50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5" name="Rectangle 54">
            <a:extLst>
              <a:ext uri="{FF2B5EF4-FFF2-40B4-BE49-F238E27FC236}">
                <a16:creationId xmlns:a16="http://schemas.microsoft.com/office/drawing/2014/main" id="{2E7FD5B3-BBF4-3E45-AD2D-38E78EACF6E8}"/>
              </a:ext>
            </a:extLst>
          </p:cNvPr>
          <p:cNvSpPr/>
          <p:nvPr/>
        </p:nvSpPr>
        <p:spPr>
          <a:xfrm>
            <a:off x="8102600" y="4419600"/>
            <a:ext cx="508000" cy="5080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6" name="Rectangle 55">
            <a:extLst>
              <a:ext uri="{FF2B5EF4-FFF2-40B4-BE49-F238E27FC236}">
                <a16:creationId xmlns:a16="http://schemas.microsoft.com/office/drawing/2014/main" id="{60BD9C45-C532-A34C-B610-410F8015DFB1}"/>
              </a:ext>
            </a:extLst>
          </p:cNvPr>
          <p:cNvSpPr/>
          <p:nvPr/>
        </p:nvSpPr>
        <p:spPr>
          <a:xfrm>
            <a:off x="8661400" y="4419600"/>
            <a:ext cx="508000" cy="508000"/>
          </a:xfrm>
          <a:prstGeom prst="rect">
            <a:avLst/>
          </a:prstGeom>
          <a:solidFill>
            <a:srgbClr val="48ACA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0" name="TextBox 129">
            <a:extLst>
              <a:ext uri="{FF2B5EF4-FFF2-40B4-BE49-F238E27FC236}">
                <a16:creationId xmlns:a16="http://schemas.microsoft.com/office/drawing/2014/main" id="{8BD81F47-134E-704F-A548-470CFCC3D651}"/>
              </a:ext>
            </a:extLst>
          </p:cNvPr>
          <p:cNvSpPr txBox="1"/>
          <p:nvPr/>
        </p:nvSpPr>
        <p:spPr>
          <a:xfrm>
            <a:off x="635000" y="6172200"/>
            <a:ext cx="109728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Dark teal = in both A and B  ·  Gold = B only  ·  Light teal = A only.  </a:t>
            </a:r>
            <a:r>
              <a:rPr kumimoji="0" lang="en-US" sz="1400" b="0" i="1"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Same 12 in the middle, two different answers.</a:t>
            </a:r>
          </a:p>
        </p:txBody>
      </p:sp>
      <p:sp>
        <p:nvSpPr>
          <p:cNvPr id="133" name="PCondHead">
            <a:extLst>
              <a:ext uri="{FF2B5EF4-FFF2-40B4-BE49-F238E27FC236}">
                <a16:creationId xmlns:a16="http://schemas.microsoft.com/office/drawing/2014/main" id="{211C45E5-B917-2546-AFA6-D5639059BE43}"/>
              </a:ext>
            </a:extLst>
          </p:cNvPr>
          <p:cNvSpPr txBox="1"/>
          <p:nvPr/>
        </p:nvSpPr>
        <p:spPr>
          <a:xfrm>
            <a:off x="838200" y="2336800"/>
            <a:ext cx="4927600" cy="330200"/>
          </a:xfrm>
          <a:prstGeom prst="rect">
            <a:avLst/>
          </a:prstGeom>
          <a:noFill/>
        </p:spPr>
        <p:txBody>
          <a:bodyPr vertOverflow="overflow" vert="horz" wrap="non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800" b="1" i="0" u="none" strike="noStrike" kern="1200" cap="none" spc="0" normalizeH="0" baseline="0" noProof="0" dirty="0">
                <a:ln>
                  <a:noFill/>
                </a:ln>
                <a:solidFill>
                  <a:srgbClr val="C6A15B"/>
                </a:solidFill>
                <a:effectLst/>
                <a:uLnTx/>
                <a:uFillTx/>
                <a:latin typeface="Calibri" pitchFamily="34" charset="0"/>
                <a:ea typeface="Calibri" pitchFamily="34" charset="-122"/>
                <a:cs typeface="Calibri" pitchFamily="34" charset="-120"/>
              </a:rPr>
              <a:t>Given B — attend only to the 32 B’s</a:t>
            </a:r>
          </a:p>
        </p:txBody>
      </p:sp>
      <p:sp>
        <p:nvSpPr>
          <p:cNvPr id="138" name="C1Expr">
            <a:extLst>
              <a:ext uri="{FF2B5EF4-FFF2-40B4-BE49-F238E27FC236}">
                <a16:creationId xmlns:a16="http://schemas.microsoft.com/office/drawing/2014/main" id="{1F895045-82FD-024F-B222-72A2C040234D}"/>
              </a:ext>
            </a:extLst>
          </p:cNvPr>
          <p:cNvSpPr txBox="1"/>
          <p:nvPr/>
        </p:nvSpPr>
        <p:spPr>
          <a:xfrm>
            <a:off x="838200" y="5080000"/>
            <a:ext cx="49276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2000" b="1" i="0" u="none" strike="noStrike" kern="1200" cap="none" spc="0" normalizeH="0" baseline="0" noProof="0" dirty="0">
                <a:ln>
                  <a:noFill/>
                </a:ln>
                <a:solidFill>
                  <a:srgbClr val="C6A15B"/>
                </a:solidFill>
                <a:effectLst/>
                <a:uLnTx/>
                <a:uFillTx/>
                <a:latin typeface="Calibri" pitchFamily="34" charset="0"/>
                <a:ea typeface="Calibri" pitchFamily="34" charset="-122"/>
                <a:cs typeface="Calibri" pitchFamily="34" charset="-120"/>
              </a:rPr>
              <a:t>P(A | B) = 12 of 32 = 37.5%</a:t>
            </a:r>
          </a:p>
        </p:txBody>
      </p:sp>
      <p:sp>
        <p:nvSpPr>
          <p:cNvPr id="139" name="C1Frac">
            <a:extLst>
              <a:ext uri="{FF2B5EF4-FFF2-40B4-BE49-F238E27FC236}">
                <a16:creationId xmlns:a16="http://schemas.microsoft.com/office/drawing/2014/main" id="{CEF130A8-3326-C94D-8051-27B2B00E04AE}"/>
              </a:ext>
            </a:extLst>
          </p:cNvPr>
          <p:cNvSpPr txBox="1"/>
          <p:nvPr/>
        </p:nvSpPr>
        <p:spPr>
          <a:xfrm>
            <a:off x="838200" y="5461000"/>
            <a:ext cx="4927600" cy="2794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Denominator = 32, the size of the B population.</a:t>
            </a:r>
          </a:p>
        </p:txBody>
      </p:sp>
      <p:sp>
        <p:nvSpPr>
          <p:cNvPr id="141" name="C2Expr">
            <a:extLst>
              <a:ext uri="{FF2B5EF4-FFF2-40B4-BE49-F238E27FC236}">
                <a16:creationId xmlns:a16="http://schemas.microsoft.com/office/drawing/2014/main" id="{72E23C24-14B5-AC45-8F2D-0049357E9A74}"/>
              </a:ext>
            </a:extLst>
          </p:cNvPr>
          <p:cNvSpPr txBox="1"/>
          <p:nvPr/>
        </p:nvSpPr>
        <p:spPr>
          <a:xfrm>
            <a:off x="6426200" y="2336800"/>
            <a:ext cx="4927600" cy="3302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800" b="1" i="0" u="none" strike="noStrike" kern="1200" cap="none" spc="0" normalizeH="0" baseline="0" noProof="0" dirty="0">
                <a:ln>
                  <a:noFill/>
                </a:ln>
                <a:solidFill>
                  <a:srgbClr val="48ACAF"/>
                </a:solidFill>
                <a:effectLst/>
                <a:uLnTx/>
                <a:uFillTx/>
                <a:latin typeface="Calibri" pitchFamily="34" charset="0"/>
                <a:ea typeface="Calibri" pitchFamily="34" charset="-122"/>
                <a:cs typeface="Calibri" pitchFamily="34" charset="-120"/>
              </a:rPr>
              <a:t>Given A — attend only to the 20 A’s</a:t>
            </a:r>
          </a:p>
        </p:txBody>
      </p:sp>
      <p:sp>
        <p:nvSpPr>
          <p:cNvPr id="142" name="C2Frac">
            <a:extLst>
              <a:ext uri="{FF2B5EF4-FFF2-40B4-BE49-F238E27FC236}">
                <a16:creationId xmlns:a16="http://schemas.microsoft.com/office/drawing/2014/main" id="{417D223C-8D35-A54E-9293-67989AAD33E8}"/>
              </a:ext>
            </a:extLst>
          </p:cNvPr>
          <p:cNvSpPr txBox="1"/>
          <p:nvPr/>
        </p:nvSpPr>
        <p:spPr>
          <a:xfrm>
            <a:off x="6426200" y="5080000"/>
            <a:ext cx="4927600" cy="3556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20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P(B | A) = 12 of 20 = 60%</a:t>
            </a:r>
          </a:p>
        </p:txBody>
      </p:sp>
      <p:sp>
        <p:nvSpPr>
          <p:cNvPr id="143" name="C2Ans">
            <a:extLst>
              <a:ext uri="{FF2B5EF4-FFF2-40B4-BE49-F238E27FC236}">
                <a16:creationId xmlns:a16="http://schemas.microsoft.com/office/drawing/2014/main" id="{BA81D76C-07BA-EE4F-BD19-951AEBB6288F}"/>
              </a:ext>
            </a:extLst>
          </p:cNvPr>
          <p:cNvSpPr txBox="1"/>
          <p:nvPr/>
        </p:nvSpPr>
        <p:spPr>
          <a:xfrm>
            <a:off x="6426200" y="5461000"/>
            <a:ext cx="4927600" cy="2794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Denominator = 20, the size of the A population.</a:t>
            </a:r>
          </a:p>
        </p:txBody>
      </p:sp>
    </p:spTree>
    <p:extLst>
      <p:ext uri="{BB962C8B-B14F-4D97-AF65-F5344CB8AC3E}">
        <p14:creationId xmlns:p14="http://schemas.microsoft.com/office/powerpoint/2010/main" val="994237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Punchline">
            <a:extLst>
              <a:ext uri="{FF2B5EF4-FFF2-40B4-BE49-F238E27FC236}">
                <a16:creationId xmlns:a16="http://schemas.microsoft.com/office/drawing/2014/main" id="{0D54D877-D3D2-FC47-BD7E-DA3897E7E3C6}"/>
              </a:ext>
            </a:extLst>
          </p:cNvPr>
          <p:cNvSpPr/>
          <p:nvPr/>
        </p:nvSpPr>
        <p:spPr>
          <a:xfrm>
            <a:off x="635000" y="5435600"/>
            <a:ext cx="10922000" cy="1016000"/>
          </a:xfrm>
          <a:prstGeom prst="rect">
            <a:avLst/>
          </a:prstGeom>
          <a:solidFill>
            <a:srgbClr val="EEF6F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Kicker">
            <a:extLst>
              <a:ext uri="{FF2B5EF4-FFF2-40B4-BE49-F238E27FC236}">
                <a16:creationId xmlns:a16="http://schemas.microsoft.com/office/drawing/2014/main" id="{573F270D-8CE1-7049-947C-A142955A7206}"/>
              </a:ext>
            </a:extLst>
          </p:cNvPr>
          <p:cNvSpPr txBox="1"/>
          <p:nvPr/>
        </p:nvSpPr>
        <p:spPr>
          <a:xfrm>
            <a:off x="635000" y="457200"/>
            <a:ext cx="10972800" cy="2794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 TEST RESULT TELLS YOU WHICH POPULATION YOU ARE NOW STANDING IN</a:t>
            </a:r>
          </a:p>
        </p:txBody>
      </p:sp>
      <p:sp>
        <p:nvSpPr>
          <p:cNvPr id="3" name="Headline">
            <a:extLst>
              <a:ext uri="{FF2B5EF4-FFF2-40B4-BE49-F238E27FC236}">
                <a16:creationId xmlns:a16="http://schemas.microsoft.com/office/drawing/2014/main" id="{58441540-CA10-D84E-956B-9357B1380DF8}"/>
              </a:ext>
            </a:extLst>
          </p:cNvPr>
          <p:cNvSpPr txBox="1"/>
          <p:nvPr/>
        </p:nvSpPr>
        <p:spPr>
          <a:xfrm>
            <a:off x="635000" y="749300"/>
            <a:ext cx="10972800" cy="5588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28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Test Results Are Examples of Conditional Probability</a:t>
            </a:r>
          </a:p>
        </p:txBody>
      </p:sp>
      <p:sp>
        <p:nvSpPr>
          <p:cNvPr id="4" name="DefLine">
            <a:extLst>
              <a:ext uri="{FF2B5EF4-FFF2-40B4-BE49-F238E27FC236}">
                <a16:creationId xmlns:a16="http://schemas.microsoft.com/office/drawing/2014/main" id="{1AD580B1-270B-1B42-A26E-202098EE8ABC}"/>
              </a:ext>
            </a:extLst>
          </p:cNvPr>
          <p:cNvSpPr txBox="1"/>
          <p:nvPr/>
        </p:nvSpPr>
        <p:spPr>
          <a:xfrm>
            <a:off x="635000" y="1371600"/>
            <a:ext cx="10972800" cy="635000"/>
          </a:xfrm>
          <a:prstGeom prst="rect">
            <a:avLst/>
          </a:prstGeom>
          <a:noFill/>
        </p:spPr>
        <p:txBody>
          <a:bodyPr vertOverflow="overflow" vert="horz" wrap="square" rtlCol="0" anchor="t">
            <a:noAutofit/>
          </a:bodyPr>
          <a:lstStyle/>
          <a:p>
            <a:pPr algn="l"/>
            <a:r>
              <a:rPr lang="en-US">
                <a:solidFill>
                  <a:srgbClr val="4B5563"/>
                </a:solidFill>
                <a:latin typeface="Calibri"/>
                <a:cs typeface="Calibri"/>
              </a:rPr>
              <a:t>Let A = “the test says positive” and B = “the person actually has the condition.” Sensitivity and predictive value are two different conditionals — and they are not close.</a:t>
            </a:r>
          </a:p>
        </p:txBody>
      </p:sp>
      <p:sp>
        <p:nvSpPr>
          <p:cNvPr id="5" name="AssumeStrip">
            <a:extLst>
              <a:ext uri="{FF2B5EF4-FFF2-40B4-BE49-F238E27FC236}">
                <a16:creationId xmlns:a16="http://schemas.microsoft.com/office/drawing/2014/main" id="{D74BFCDF-3CC8-C44C-B5F3-1E9232E73D21}"/>
              </a:ext>
            </a:extLst>
          </p:cNvPr>
          <p:cNvSpPr/>
          <p:nvPr/>
        </p:nvSpPr>
        <p:spPr>
          <a:xfrm>
            <a:off x="635000" y="2108200"/>
            <a:ext cx="10972800" cy="406400"/>
          </a:xfrm>
          <a:prstGeom prst="rect">
            <a:avLst/>
          </a:prstGeom>
          <a:solidFill>
            <a:srgbClr val="EEF6F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15686B"/>
                </a:solidFill>
                <a:latin typeface="Calibri"/>
                <a:cs typeface="Calibri"/>
              </a:rPr>
              <a:t>Prevalence P(B) = 3%     ·     Sensitivity P(A | B) = 96%     ·     Specificity P(not A | not B) = 95%     ·     10,000 people</a:t>
            </a:r>
          </a:p>
        </p:txBody>
      </p:sp>
      <p:graphicFrame>
        <p:nvGraphicFramePr>
          <p:cNvPr id="7" name="OutcomeTable">
            <a:extLst>
              <a:ext uri="{FF2B5EF4-FFF2-40B4-BE49-F238E27FC236}">
                <a16:creationId xmlns:a16="http://schemas.microsoft.com/office/drawing/2014/main" id="{78BE07ED-123F-614F-ADA5-3976B1A312F3}"/>
              </a:ext>
            </a:extLst>
          </p:cNvPr>
          <p:cNvGraphicFramePr>
            <a:graphicFrameLocks noGrp="1"/>
          </p:cNvGraphicFramePr>
          <p:nvPr/>
        </p:nvGraphicFramePr>
        <p:xfrm>
          <a:off x="635000" y="2616200"/>
          <a:ext cx="5334000" cy="172720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169765535"/>
                    </a:ext>
                  </a:extLst>
                </a:gridCol>
                <a:gridCol w="1498600">
                  <a:extLst>
                    <a:ext uri="{9D8B030D-6E8A-4147-A177-3AD203B41FA5}">
                      <a16:colId xmlns:a16="http://schemas.microsoft.com/office/drawing/2014/main" val="833796564"/>
                    </a:ext>
                  </a:extLst>
                </a:gridCol>
                <a:gridCol w="1422400">
                  <a:extLst>
                    <a:ext uri="{9D8B030D-6E8A-4147-A177-3AD203B41FA5}">
                      <a16:colId xmlns:a16="http://schemas.microsoft.com/office/drawing/2014/main" val="2807191345"/>
                    </a:ext>
                  </a:extLst>
                </a:gridCol>
                <a:gridCol w="1270000">
                  <a:extLst>
                    <a:ext uri="{9D8B030D-6E8A-4147-A177-3AD203B41FA5}">
                      <a16:colId xmlns:a16="http://schemas.microsoft.com/office/drawing/2014/main" val="4263975874"/>
                    </a:ext>
                  </a:extLst>
                </a:gridCol>
              </a:tblGrid>
              <a:tr h="431800">
                <a:tc>
                  <a:txBody>
                    <a:bodyPr/>
                    <a:lstStyle/>
                    <a:p>
                      <a:pPr algn="l"/>
                      <a:endParaRPr lang="en-US" sz="1500" b="1">
                        <a:solidFill>
                          <a:srgbClr val="FFFFFF"/>
                        </a:solidFill>
                        <a:latin typeface="Calibri"/>
                        <a:cs typeface="Calibri"/>
                      </a:endParaRPr>
                    </a:p>
                  </a:txBody>
                  <a:tcPr anchor="ctr">
                    <a:solidFill>
                      <a:srgbClr val="15686B"/>
                    </a:solidFill>
                  </a:tcPr>
                </a:tc>
                <a:tc>
                  <a:txBody>
                    <a:bodyPr/>
                    <a:lstStyle/>
                    <a:p>
                      <a:pPr algn="r"/>
                      <a:r>
                        <a:rPr lang="en-US" sz="1500" b="1">
                          <a:solidFill>
                            <a:srgbClr val="FFFFFF"/>
                          </a:solidFill>
                          <a:latin typeface="Calibri"/>
                          <a:cs typeface="Calibri"/>
                        </a:rPr>
                        <a:t>Has condition</a:t>
                      </a:r>
                    </a:p>
                  </a:txBody>
                  <a:tcPr anchor="ctr">
                    <a:solidFill>
                      <a:srgbClr val="15686B"/>
                    </a:solidFill>
                  </a:tcPr>
                </a:tc>
                <a:tc>
                  <a:txBody>
                    <a:bodyPr/>
                    <a:lstStyle/>
                    <a:p>
                      <a:pPr algn="r"/>
                      <a:r>
                        <a:rPr lang="en-US" sz="1500" b="1">
                          <a:solidFill>
                            <a:srgbClr val="FFFFFF"/>
                          </a:solidFill>
                          <a:latin typeface="Calibri"/>
                          <a:cs typeface="Calibri"/>
                        </a:rPr>
                        <a:t>No condition</a:t>
                      </a:r>
                    </a:p>
                  </a:txBody>
                  <a:tcPr anchor="ctr">
                    <a:solidFill>
                      <a:srgbClr val="15686B"/>
                    </a:solidFill>
                  </a:tcPr>
                </a:tc>
                <a:tc>
                  <a:txBody>
                    <a:bodyPr/>
                    <a:lstStyle/>
                    <a:p>
                      <a:pPr algn="r"/>
                      <a:r>
                        <a:rPr lang="en-US" sz="1500" b="1">
                          <a:solidFill>
                            <a:srgbClr val="FFFFFF"/>
                          </a:solidFill>
                          <a:latin typeface="Calibri"/>
                          <a:cs typeface="Calibri"/>
                        </a:rPr>
                        <a:t>Total</a:t>
                      </a:r>
                    </a:p>
                  </a:txBody>
                  <a:tcPr anchor="ctr">
                    <a:solidFill>
                      <a:srgbClr val="15686B"/>
                    </a:solidFill>
                  </a:tcPr>
                </a:tc>
                <a:extLst>
                  <a:ext uri="{0D108BD9-81ED-4DB2-BD59-A6C34878D82A}">
                    <a16:rowId xmlns:a16="http://schemas.microsoft.com/office/drawing/2014/main" val="3689271239"/>
                  </a:ext>
                </a:extLst>
              </a:tr>
              <a:tr h="431800">
                <a:tc>
                  <a:txBody>
                    <a:bodyPr/>
                    <a:lstStyle/>
                    <a:p>
                      <a:pPr algn="l"/>
                      <a:r>
                        <a:rPr lang="en-US" sz="1500" b="1">
                          <a:solidFill>
                            <a:srgbClr val="374151"/>
                          </a:solidFill>
                          <a:latin typeface="Calibri"/>
                          <a:cs typeface="Calibri"/>
                        </a:rPr>
                        <a:t>Test +</a:t>
                      </a:r>
                    </a:p>
                  </a:txBody>
                  <a:tcPr anchor="ctr">
                    <a:solidFill>
                      <a:srgbClr val="FFFFFF"/>
                    </a:solidFill>
                  </a:tcPr>
                </a:tc>
                <a:tc>
                  <a:txBody>
                    <a:bodyPr/>
                    <a:lstStyle/>
                    <a:p>
                      <a:pPr algn="r"/>
                      <a:r>
                        <a:rPr lang="en-US" sz="1500" b="1">
                          <a:solidFill>
                            <a:srgbClr val="FFFFFF"/>
                          </a:solidFill>
                          <a:latin typeface="Calibri"/>
                          <a:cs typeface="Calibri"/>
                        </a:rPr>
                        <a:t>288</a:t>
                      </a:r>
                    </a:p>
                  </a:txBody>
                  <a:tcPr anchor="ctr">
                    <a:solidFill>
                      <a:srgbClr val="15686B"/>
                    </a:solidFill>
                  </a:tcPr>
                </a:tc>
                <a:tc>
                  <a:txBody>
                    <a:bodyPr/>
                    <a:lstStyle/>
                    <a:p>
                      <a:pPr algn="r"/>
                      <a:r>
                        <a:rPr lang="en-US" sz="1500" b="0">
                          <a:solidFill>
                            <a:srgbClr val="374151"/>
                          </a:solidFill>
                          <a:latin typeface="Calibri"/>
                          <a:cs typeface="Calibri"/>
                        </a:rPr>
                        <a:t>485</a:t>
                      </a:r>
                    </a:p>
                  </a:txBody>
                  <a:tcPr anchor="ctr">
                    <a:solidFill>
                      <a:srgbClr val="FFFFFF"/>
                    </a:solidFill>
                  </a:tcPr>
                </a:tc>
                <a:tc>
                  <a:txBody>
                    <a:bodyPr/>
                    <a:lstStyle/>
                    <a:p>
                      <a:pPr algn="r"/>
                      <a:r>
                        <a:rPr lang="en-US" sz="1500" b="1">
                          <a:solidFill>
                            <a:srgbClr val="FFFFFF"/>
                          </a:solidFill>
                          <a:latin typeface="Calibri"/>
                          <a:cs typeface="Calibri"/>
                        </a:rPr>
                        <a:t>773</a:t>
                      </a:r>
                    </a:p>
                  </a:txBody>
                  <a:tcPr anchor="ctr">
                    <a:solidFill>
                      <a:srgbClr val="C6A15B"/>
                    </a:solidFill>
                  </a:tcPr>
                </a:tc>
                <a:extLst>
                  <a:ext uri="{0D108BD9-81ED-4DB2-BD59-A6C34878D82A}">
                    <a16:rowId xmlns:a16="http://schemas.microsoft.com/office/drawing/2014/main" val="1963019495"/>
                  </a:ext>
                </a:extLst>
              </a:tr>
              <a:tr h="431800">
                <a:tc>
                  <a:txBody>
                    <a:bodyPr/>
                    <a:lstStyle/>
                    <a:p>
                      <a:pPr algn="l"/>
                      <a:r>
                        <a:rPr lang="en-US" sz="1500" b="1">
                          <a:solidFill>
                            <a:srgbClr val="374151"/>
                          </a:solidFill>
                          <a:latin typeface="Calibri"/>
                          <a:cs typeface="Calibri"/>
                        </a:rPr>
                        <a:t>Test −</a:t>
                      </a:r>
                    </a:p>
                  </a:txBody>
                  <a:tcPr anchor="ctr">
                    <a:solidFill>
                      <a:srgbClr val="FFFFFF"/>
                    </a:solidFill>
                  </a:tcPr>
                </a:tc>
                <a:tc>
                  <a:txBody>
                    <a:bodyPr/>
                    <a:lstStyle/>
                    <a:p>
                      <a:pPr algn="r"/>
                      <a:r>
                        <a:rPr lang="en-US" sz="1500" b="0">
                          <a:solidFill>
                            <a:srgbClr val="374151"/>
                          </a:solidFill>
                          <a:latin typeface="Calibri"/>
                          <a:cs typeface="Calibri"/>
                        </a:rPr>
                        <a:t>12</a:t>
                      </a:r>
                    </a:p>
                  </a:txBody>
                  <a:tcPr anchor="ctr">
                    <a:solidFill>
                      <a:srgbClr val="FFFFFF"/>
                    </a:solidFill>
                  </a:tcPr>
                </a:tc>
                <a:tc>
                  <a:txBody>
                    <a:bodyPr/>
                    <a:lstStyle/>
                    <a:p>
                      <a:pPr algn="r"/>
                      <a:r>
                        <a:rPr lang="en-US" sz="1500" b="0">
                          <a:solidFill>
                            <a:srgbClr val="374151"/>
                          </a:solidFill>
                          <a:latin typeface="Calibri"/>
                          <a:cs typeface="Calibri"/>
                        </a:rPr>
                        <a:t>9,215</a:t>
                      </a:r>
                    </a:p>
                  </a:txBody>
                  <a:tcPr anchor="ctr">
                    <a:solidFill>
                      <a:srgbClr val="FFFFFF"/>
                    </a:solidFill>
                  </a:tcPr>
                </a:tc>
                <a:tc>
                  <a:txBody>
                    <a:bodyPr/>
                    <a:lstStyle/>
                    <a:p>
                      <a:pPr algn="r"/>
                      <a:r>
                        <a:rPr lang="en-US" sz="1500" b="0">
                          <a:solidFill>
                            <a:srgbClr val="374151"/>
                          </a:solidFill>
                          <a:latin typeface="Calibri"/>
                          <a:cs typeface="Calibri"/>
                        </a:rPr>
                        <a:t>9,227</a:t>
                      </a:r>
                    </a:p>
                  </a:txBody>
                  <a:tcPr anchor="ctr">
                    <a:solidFill>
                      <a:srgbClr val="FFFFFF"/>
                    </a:solidFill>
                  </a:tcPr>
                </a:tc>
                <a:extLst>
                  <a:ext uri="{0D108BD9-81ED-4DB2-BD59-A6C34878D82A}">
                    <a16:rowId xmlns:a16="http://schemas.microsoft.com/office/drawing/2014/main" val="358747338"/>
                  </a:ext>
                </a:extLst>
              </a:tr>
              <a:tr h="431800">
                <a:tc>
                  <a:txBody>
                    <a:bodyPr/>
                    <a:lstStyle/>
                    <a:p>
                      <a:pPr algn="l"/>
                      <a:r>
                        <a:rPr lang="en-US" sz="1500" b="1">
                          <a:solidFill>
                            <a:srgbClr val="1F3864"/>
                          </a:solidFill>
                          <a:latin typeface="Calibri"/>
                          <a:cs typeface="Calibri"/>
                        </a:rPr>
                        <a:t>Total</a:t>
                      </a:r>
                    </a:p>
                  </a:txBody>
                  <a:tcPr anchor="ctr">
                    <a:solidFill>
                      <a:srgbClr val="EEF6F6"/>
                    </a:solidFill>
                  </a:tcPr>
                </a:tc>
                <a:tc>
                  <a:txBody>
                    <a:bodyPr/>
                    <a:lstStyle/>
                    <a:p>
                      <a:pPr algn="r"/>
                      <a:r>
                        <a:rPr lang="en-US" sz="1500" b="1">
                          <a:solidFill>
                            <a:srgbClr val="1F3864"/>
                          </a:solidFill>
                          <a:latin typeface="Calibri"/>
                          <a:cs typeface="Calibri"/>
                        </a:rPr>
                        <a:t>300</a:t>
                      </a:r>
                    </a:p>
                  </a:txBody>
                  <a:tcPr anchor="ctr">
                    <a:solidFill>
                      <a:srgbClr val="EEF6F6"/>
                    </a:solidFill>
                  </a:tcPr>
                </a:tc>
                <a:tc>
                  <a:txBody>
                    <a:bodyPr/>
                    <a:lstStyle/>
                    <a:p>
                      <a:pPr algn="r"/>
                      <a:r>
                        <a:rPr lang="en-US" sz="1500" b="1">
                          <a:solidFill>
                            <a:srgbClr val="1F3864"/>
                          </a:solidFill>
                          <a:latin typeface="Calibri"/>
                          <a:cs typeface="Calibri"/>
                        </a:rPr>
                        <a:t>9,700</a:t>
                      </a:r>
                    </a:p>
                  </a:txBody>
                  <a:tcPr anchor="ctr">
                    <a:solidFill>
                      <a:srgbClr val="EEF6F6"/>
                    </a:solidFill>
                  </a:tcPr>
                </a:tc>
                <a:tc>
                  <a:txBody>
                    <a:bodyPr/>
                    <a:lstStyle/>
                    <a:p>
                      <a:pPr algn="r"/>
                      <a:r>
                        <a:rPr lang="en-US" sz="1500" b="1">
                          <a:solidFill>
                            <a:srgbClr val="1F3864"/>
                          </a:solidFill>
                          <a:latin typeface="Calibri"/>
                          <a:cs typeface="Calibri"/>
                        </a:rPr>
                        <a:t>10,000</a:t>
                      </a:r>
                    </a:p>
                  </a:txBody>
                  <a:tcPr anchor="ctr">
                    <a:solidFill>
                      <a:srgbClr val="EEF6F6"/>
                    </a:solidFill>
                  </a:tcPr>
                </a:tc>
                <a:extLst>
                  <a:ext uri="{0D108BD9-81ED-4DB2-BD59-A6C34878D82A}">
                    <a16:rowId xmlns:a16="http://schemas.microsoft.com/office/drawing/2014/main" val="456772850"/>
                  </a:ext>
                </a:extLst>
              </a:tr>
            </a:tbl>
          </a:graphicData>
        </a:graphic>
      </p:graphicFrame>
      <p:sp>
        <p:nvSpPr>
          <p:cNvPr id="8" name="CardB">
            <a:extLst>
              <a:ext uri="{FF2B5EF4-FFF2-40B4-BE49-F238E27FC236}">
                <a16:creationId xmlns:a16="http://schemas.microsoft.com/office/drawing/2014/main" id="{3D9835E0-2727-DB40-883E-31F48CA1B6FB}"/>
              </a:ext>
            </a:extLst>
          </p:cNvPr>
          <p:cNvSpPr/>
          <p:nvPr/>
        </p:nvSpPr>
        <p:spPr>
          <a:xfrm>
            <a:off x="6273800" y="2616200"/>
            <a:ext cx="5283200" cy="1346200"/>
          </a:xfrm>
          <a:prstGeom prst="rect">
            <a:avLst/>
          </a:prstGeom>
          <a:solidFill>
            <a:srgbClr val="F2FAFA"/>
          </a:solidFill>
          <a:ln w="19050" cap="flat" cmpd="sng" algn="ctr">
            <a:solidFill>
              <a:srgbClr val="1568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CardBHead">
            <a:extLst>
              <a:ext uri="{FF2B5EF4-FFF2-40B4-BE49-F238E27FC236}">
                <a16:creationId xmlns:a16="http://schemas.microsoft.com/office/drawing/2014/main" id="{EA1969C0-3990-1840-A117-8FA64C3AE9ED}"/>
              </a:ext>
            </a:extLst>
          </p:cNvPr>
          <p:cNvSpPr txBox="1"/>
          <p:nvPr/>
        </p:nvSpPr>
        <p:spPr>
          <a:xfrm>
            <a:off x="6502400" y="2743200"/>
            <a:ext cx="4826000" cy="279400"/>
          </a:xfrm>
          <a:prstGeom prst="rect">
            <a:avLst/>
          </a:prstGeom>
          <a:noFill/>
        </p:spPr>
        <p:txBody>
          <a:bodyPr vertOverflow="overflow" vert="horz" wrap="square" rtlCol="0" anchor="t">
            <a:noAutofit/>
          </a:bodyPr>
          <a:lstStyle/>
          <a:p>
            <a:pPr algn="l"/>
            <a:r>
              <a:rPr lang="en-US" sz="1600" b="1">
                <a:solidFill>
                  <a:srgbClr val="15686B"/>
                </a:solidFill>
                <a:latin typeface="Calibri"/>
                <a:cs typeface="Calibri"/>
              </a:rPr>
              <a:t>Given B — restrict to the 300 who have it</a:t>
            </a:r>
          </a:p>
        </p:txBody>
      </p:sp>
      <p:sp>
        <p:nvSpPr>
          <p:cNvPr id="10" name="CardBMath">
            <a:extLst>
              <a:ext uri="{FF2B5EF4-FFF2-40B4-BE49-F238E27FC236}">
                <a16:creationId xmlns:a16="http://schemas.microsoft.com/office/drawing/2014/main" id="{5B7BD333-0CA8-4F4B-94C2-B3228FBC2A02}"/>
              </a:ext>
            </a:extLst>
          </p:cNvPr>
          <p:cNvSpPr txBox="1"/>
          <p:nvPr/>
        </p:nvSpPr>
        <p:spPr>
          <a:xfrm>
            <a:off x="6502400" y="3048000"/>
            <a:ext cx="4826000" cy="355600"/>
          </a:xfrm>
          <a:prstGeom prst="rect">
            <a:avLst/>
          </a:prstGeom>
          <a:noFill/>
        </p:spPr>
        <p:txBody>
          <a:bodyPr vertOverflow="overflow" vert="horz" wrap="square" rtlCol="0" anchor="t">
            <a:noAutofit/>
          </a:bodyPr>
          <a:lstStyle/>
          <a:p>
            <a:pPr algn="l"/>
            <a:r>
              <a:rPr lang="en-US" sz="2100" b="1">
                <a:solidFill>
                  <a:srgbClr val="15686B"/>
                </a:solidFill>
                <a:latin typeface="Calibri"/>
                <a:cs typeface="Calibri"/>
              </a:rPr>
              <a:t>P(A | B) = 288 / 300 = 96%</a:t>
            </a:r>
          </a:p>
        </p:txBody>
      </p:sp>
      <p:sp>
        <p:nvSpPr>
          <p:cNvPr id="11" name="CardBName">
            <a:extLst>
              <a:ext uri="{FF2B5EF4-FFF2-40B4-BE49-F238E27FC236}">
                <a16:creationId xmlns:a16="http://schemas.microsoft.com/office/drawing/2014/main" id="{6A2D0C07-A077-A945-81CD-042BA6E96ABE}"/>
              </a:ext>
            </a:extLst>
          </p:cNvPr>
          <p:cNvSpPr txBox="1"/>
          <p:nvPr/>
        </p:nvSpPr>
        <p:spPr>
          <a:xfrm>
            <a:off x="6502400" y="3454400"/>
            <a:ext cx="4826000" cy="279400"/>
          </a:xfrm>
          <a:prstGeom prst="rect">
            <a:avLst/>
          </a:prstGeom>
          <a:noFill/>
        </p:spPr>
        <p:txBody>
          <a:bodyPr vertOverflow="overflow" vert="horz" wrap="square" rtlCol="0" anchor="t">
            <a:noAutofit/>
          </a:bodyPr>
          <a:lstStyle/>
          <a:p>
            <a:pPr algn="l"/>
            <a:r>
              <a:rPr lang="en-US" sz="1500">
                <a:solidFill>
                  <a:srgbClr val="4B5563"/>
                </a:solidFill>
                <a:latin typeface="Calibri"/>
                <a:cs typeface="Calibri"/>
              </a:rPr>
              <a:t>Sensitivity — a property of the test</a:t>
            </a:r>
          </a:p>
        </p:txBody>
      </p:sp>
      <p:sp>
        <p:nvSpPr>
          <p:cNvPr id="12" name="CardA">
            <a:extLst>
              <a:ext uri="{FF2B5EF4-FFF2-40B4-BE49-F238E27FC236}">
                <a16:creationId xmlns:a16="http://schemas.microsoft.com/office/drawing/2014/main" id="{FC51C269-85C6-D447-8373-3A8113EC83BD}"/>
              </a:ext>
            </a:extLst>
          </p:cNvPr>
          <p:cNvSpPr/>
          <p:nvPr/>
        </p:nvSpPr>
        <p:spPr>
          <a:xfrm>
            <a:off x="6273800" y="4013200"/>
            <a:ext cx="5283200" cy="1346200"/>
          </a:xfrm>
          <a:prstGeom prst="rect">
            <a:avLst/>
          </a:prstGeom>
          <a:solidFill>
            <a:srgbClr val="FDFAF2"/>
          </a:solidFill>
          <a:ln w="19050" cap="flat" cmpd="sng" algn="ctr">
            <a:solidFill>
              <a:srgbClr val="C6A15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CardAHead">
            <a:extLst>
              <a:ext uri="{FF2B5EF4-FFF2-40B4-BE49-F238E27FC236}">
                <a16:creationId xmlns:a16="http://schemas.microsoft.com/office/drawing/2014/main" id="{F7F4181D-00A4-504B-A60E-6C131C1A2414}"/>
              </a:ext>
            </a:extLst>
          </p:cNvPr>
          <p:cNvSpPr txBox="1"/>
          <p:nvPr/>
        </p:nvSpPr>
        <p:spPr>
          <a:xfrm>
            <a:off x="6502400" y="4140200"/>
            <a:ext cx="4826000" cy="279400"/>
          </a:xfrm>
          <a:prstGeom prst="rect">
            <a:avLst/>
          </a:prstGeom>
          <a:noFill/>
        </p:spPr>
        <p:txBody>
          <a:bodyPr vertOverflow="overflow" vert="horz" wrap="square" rtlCol="0" anchor="t">
            <a:noAutofit/>
          </a:bodyPr>
          <a:lstStyle/>
          <a:p>
            <a:pPr algn="l"/>
            <a:r>
              <a:rPr lang="en-US" sz="1600" b="1">
                <a:solidFill>
                  <a:srgbClr val="C6A15B"/>
                </a:solidFill>
                <a:latin typeface="Calibri"/>
                <a:cs typeface="Calibri"/>
              </a:rPr>
              <a:t>Given A — restrict to the 773 who test positive</a:t>
            </a:r>
          </a:p>
        </p:txBody>
      </p:sp>
      <p:sp>
        <p:nvSpPr>
          <p:cNvPr id="14" name="CardAMath">
            <a:extLst>
              <a:ext uri="{FF2B5EF4-FFF2-40B4-BE49-F238E27FC236}">
                <a16:creationId xmlns:a16="http://schemas.microsoft.com/office/drawing/2014/main" id="{7A9E847D-503A-1846-9AF9-4CDF1334F911}"/>
              </a:ext>
            </a:extLst>
          </p:cNvPr>
          <p:cNvSpPr txBox="1"/>
          <p:nvPr/>
        </p:nvSpPr>
        <p:spPr>
          <a:xfrm>
            <a:off x="6502400" y="4445000"/>
            <a:ext cx="4826000" cy="355600"/>
          </a:xfrm>
          <a:prstGeom prst="rect">
            <a:avLst/>
          </a:prstGeom>
          <a:noFill/>
        </p:spPr>
        <p:txBody>
          <a:bodyPr vertOverflow="overflow" vert="horz" wrap="square" rtlCol="0" anchor="t">
            <a:noAutofit/>
          </a:bodyPr>
          <a:lstStyle/>
          <a:p>
            <a:pPr algn="l"/>
            <a:r>
              <a:rPr lang="en-US" sz="2100" b="1">
                <a:solidFill>
                  <a:srgbClr val="C6A15B"/>
                </a:solidFill>
                <a:latin typeface="Calibri"/>
                <a:cs typeface="Calibri"/>
              </a:rPr>
              <a:t>P(B | A) = 288 / 773 = 37%</a:t>
            </a:r>
          </a:p>
        </p:txBody>
      </p:sp>
      <p:sp>
        <p:nvSpPr>
          <p:cNvPr id="15" name="CardAName">
            <a:extLst>
              <a:ext uri="{FF2B5EF4-FFF2-40B4-BE49-F238E27FC236}">
                <a16:creationId xmlns:a16="http://schemas.microsoft.com/office/drawing/2014/main" id="{0B6685E2-3172-5440-99FB-E5939F73895D}"/>
              </a:ext>
            </a:extLst>
          </p:cNvPr>
          <p:cNvSpPr txBox="1"/>
          <p:nvPr/>
        </p:nvSpPr>
        <p:spPr>
          <a:xfrm>
            <a:off x="6502400" y="4851400"/>
            <a:ext cx="4826000" cy="279400"/>
          </a:xfrm>
          <a:prstGeom prst="rect">
            <a:avLst/>
          </a:prstGeom>
          <a:noFill/>
        </p:spPr>
        <p:txBody>
          <a:bodyPr vertOverflow="overflow" vert="horz" wrap="square" rtlCol="0" anchor="t">
            <a:noAutofit/>
          </a:bodyPr>
          <a:lstStyle/>
          <a:p>
            <a:pPr algn="l"/>
            <a:r>
              <a:rPr lang="en-US" sz="1500">
                <a:solidFill>
                  <a:srgbClr val="4B5563"/>
                </a:solidFill>
                <a:latin typeface="Calibri"/>
                <a:cs typeface="Calibri"/>
              </a:rPr>
              <a:t>Positive predictive value — what the patient asks</a:t>
            </a:r>
          </a:p>
        </p:txBody>
      </p:sp>
      <p:sp>
        <p:nvSpPr>
          <p:cNvPr id="17" name="PunchBar">
            <a:extLst>
              <a:ext uri="{FF2B5EF4-FFF2-40B4-BE49-F238E27FC236}">
                <a16:creationId xmlns:a16="http://schemas.microsoft.com/office/drawing/2014/main" id="{3E29D144-0163-D148-BAB7-D3A1B014E1B9}"/>
              </a:ext>
            </a:extLst>
          </p:cNvPr>
          <p:cNvSpPr/>
          <p:nvPr/>
        </p:nvSpPr>
        <p:spPr>
          <a:xfrm>
            <a:off x="635000" y="5435600"/>
            <a:ext cx="63500" cy="1016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PunchText">
            <a:extLst>
              <a:ext uri="{FF2B5EF4-FFF2-40B4-BE49-F238E27FC236}">
                <a16:creationId xmlns:a16="http://schemas.microsoft.com/office/drawing/2014/main" id="{15FF426D-D3CD-1142-9FF0-4ACB0813C60F}"/>
              </a:ext>
            </a:extLst>
          </p:cNvPr>
          <p:cNvSpPr txBox="1"/>
          <p:nvPr/>
        </p:nvSpPr>
        <p:spPr>
          <a:xfrm>
            <a:off x="889000" y="5588000"/>
            <a:ext cx="10236200" cy="812800"/>
          </a:xfrm>
          <a:prstGeom prst="rect">
            <a:avLst/>
          </a:prstGeom>
          <a:noFill/>
        </p:spPr>
        <p:txBody>
          <a:bodyPr vertOverflow="overflow" vert="horz" wrap="square" rtlCol="0" anchor="t">
            <a:noAutofit/>
          </a:bodyPr>
          <a:lstStyle/>
          <a:p>
            <a:pPr algn="l">
              <a:lnSpc>
                <a:spcPct val="100000"/>
              </a:lnSpc>
              <a:spcAft>
                <a:spcPts val="400"/>
              </a:spcAft>
              <a:buNone/>
            </a:pPr>
            <a:r>
              <a:rPr lang="en-US" sz="2400" b="1" dirty="0">
                <a:solidFill>
                  <a:srgbClr val="15686B"/>
                </a:solidFill>
                <a:latin typeface="Calibri"/>
                <a:cs typeface="Calibri"/>
              </a:rPr>
              <a:t>More than half of all positive results are false alarms: 485 of 773.</a:t>
            </a:r>
          </a:p>
          <a:p>
            <a:pPr algn="l">
              <a:lnSpc>
                <a:spcPct val="100000"/>
              </a:lnSpc>
              <a:buNone/>
            </a:pPr>
            <a:r>
              <a:rPr lang="en-US" sz="2000" b="0" dirty="0">
                <a:solidFill>
                  <a:srgbClr val="4B5563"/>
                </a:solidFill>
                <a:latin typeface="Calibri"/>
                <a:cs typeface="Calibri"/>
              </a:rPr>
              <a:t>A positive result sends you for a second, more specific test — not to treatment.</a:t>
            </a:r>
          </a:p>
        </p:txBody>
      </p:sp>
      <p:sp>
        <p:nvSpPr>
          <p:cNvPr id="19" name="HowToRead">
            <a:extLst>
              <a:ext uri="{FF2B5EF4-FFF2-40B4-BE49-F238E27FC236}">
                <a16:creationId xmlns:a16="http://schemas.microsoft.com/office/drawing/2014/main" id="{7DA5CD35-3EB2-5345-8310-2D21546F18DE}"/>
              </a:ext>
            </a:extLst>
          </p:cNvPr>
          <p:cNvSpPr txBox="1"/>
          <p:nvPr/>
        </p:nvSpPr>
        <p:spPr>
          <a:xfrm>
            <a:off x="635000" y="4470400"/>
            <a:ext cx="5334000" cy="558800"/>
          </a:xfrm>
          <a:prstGeom prst="rect">
            <a:avLst/>
          </a:prstGeom>
          <a:noFill/>
        </p:spPr>
        <p:txBody>
          <a:bodyPr vertOverflow="overflow" vert="horz" wrap="square" rtlCol="0" anchor="t">
            <a:noAutofit/>
          </a:bodyPr>
          <a:lstStyle/>
          <a:p>
            <a:pPr algn="l">
              <a:lnSpc>
                <a:spcPct val="100000"/>
              </a:lnSpc>
              <a:spcAft>
                <a:spcPts val="400"/>
              </a:spcAft>
              <a:buNone/>
            </a:pPr>
            <a:r>
              <a:rPr lang="en-US" sz="1500" dirty="0">
                <a:solidFill>
                  <a:srgbClr val="4B5563"/>
                </a:solidFill>
                <a:latin typeface="Calibri"/>
                <a:cs typeface="Calibri"/>
              </a:rPr>
              <a:t>Read down the “Has condition” column for sensitivity: 288 of 300.</a:t>
            </a:r>
          </a:p>
          <a:p>
            <a:pPr algn="l">
              <a:lnSpc>
                <a:spcPct val="100000"/>
              </a:lnSpc>
              <a:buNone/>
            </a:pPr>
            <a:r>
              <a:rPr lang="en-US" sz="1500" dirty="0">
                <a:solidFill>
                  <a:srgbClr val="4B5563"/>
                </a:solidFill>
                <a:latin typeface="Calibri"/>
                <a:cs typeface="Calibri"/>
              </a:rPr>
              <a:t>Read across the “Test +” row for predictive value: 288 of 773.</a:t>
            </a:r>
          </a:p>
        </p:txBody>
      </p:sp>
    </p:spTree>
    <p:extLst>
      <p:ext uri="{BB962C8B-B14F-4D97-AF65-F5344CB8AC3E}">
        <p14:creationId xmlns:p14="http://schemas.microsoft.com/office/powerpoint/2010/main" val="3200358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THE TWO EXAMPLES</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lang="en-US" sz="3100" b="1" dirty="0">
                <a:solidFill>
                  <a:srgbClr val="1F3864"/>
                </a:solidFill>
                <a:latin typeface="Bookman Old Style" pitchFamily="34" charset="0"/>
                <a:ea typeface="Bookman Old Style" pitchFamily="34" charset="-122"/>
                <a:cs typeface="Bookman Old Style" pitchFamily="34" charset="-120"/>
              </a:rPr>
              <a:t>Two Real World Examples</a:t>
            </a:r>
            <a:endPar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endParaRPr>
          </a:p>
        </p:txBody>
      </p:sp>
      <p:sp>
        <p:nvSpPr>
          <p:cNvPr id="20" name="card20"/>
          <p:cNvSpPr/>
          <p:nvPr/>
        </p:nvSpPr>
        <p:spPr>
          <a:xfrm>
            <a:off x="640080" y="2011680"/>
            <a:ext cx="5303520" cy="2743200"/>
          </a:xfrm>
          <a:prstGeom prst="roundRect">
            <a:avLst>
              <a:gd name="adj" fmla="val 5000"/>
            </a:avLst>
          </a:prstGeom>
          <a:solidFill>
            <a:srgbClr val="F4F6F8"/>
          </a:solidFill>
          <a:ln w="12700">
            <a:solidFill>
              <a:srgbClr val="15686B"/>
            </a:solidFill>
            <a:prstDash val="solid"/>
          </a:ln>
        </p:spPr>
        <p:txBody>
          <a:bodyPr/>
          <a:lstStyle/>
          <a:p>
            <a:endParaRPr/>
          </a:p>
        </p:txBody>
      </p:sp>
      <p:sp>
        <p:nvSpPr>
          <p:cNvPr id="21" name="h20"/>
          <p:cNvSpPr/>
          <p:nvPr/>
        </p:nvSpPr>
        <p:spPr>
          <a:xfrm>
            <a:off x="914400" y="2217420"/>
            <a:ext cx="4754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250" normalizeH="0" baseline="0" noProof="0" dirty="0">
                <a:ln>
                  <a:noFill/>
                </a:ln>
                <a:solidFill>
                  <a:srgbClr val="15686B"/>
                </a:solidFill>
                <a:effectLst/>
                <a:uLnTx/>
                <a:uFillTx/>
                <a:latin typeface="Calibri" pitchFamily="34" charset="0"/>
                <a:ea typeface="Calibri" pitchFamily="34" charset="-122"/>
                <a:cs typeface="Calibri" pitchFamily="34" charset="-120"/>
              </a:rPr>
              <a:t>A SCREENING MAMMOGRAM</a:t>
            </a:r>
          </a:p>
        </p:txBody>
      </p:sp>
      <p:sp>
        <p:nvSpPr>
          <p:cNvPr id="22" name="g20"/>
          <p:cNvSpPr/>
          <p:nvPr/>
        </p:nvSpPr>
        <p:spPr>
          <a:xfrm>
            <a:off x="914400" y="2606040"/>
            <a:ext cx="4754880" cy="70000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8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P(test + | has cancer) is high</a:t>
            </a:r>
          </a:p>
        </p:txBody>
      </p:sp>
      <p:sp>
        <p:nvSpPr>
          <p:cNvPr id="23" name="gl20"/>
          <p:cNvSpPr/>
          <p:nvPr/>
        </p:nvSpPr>
        <p:spPr>
          <a:xfrm>
            <a:off x="914400" y="3322320"/>
            <a:ext cx="475488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4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sensitivity — the number the test is sold on</a:t>
            </a:r>
          </a:p>
        </p:txBody>
      </p:sp>
      <p:sp>
        <p:nvSpPr>
          <p:cNvPr id="24" name="q20"/>
          <p:cNvSpPr/>
          <p:nvPr/>
        </p:nvSpPr>
        <p:spPr>
          <a:xfrm>
            <a:off x="914400" y="3749040"/>
            <a:ext cx="475488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4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BUT THE REVERSED CONDITIONAL</a:t>
            </a:r>
          </a:p>
        </p:txBody>
      </p:sp>
      <p:sp>
        <p:nvSpPr>
          <p:cNvPr id="25" name="a20"/>
          <p:cNvSpPr/>
          <p:nvPr/>
        </p:nvSpPr>
        <p:spPr>
          <a:xfrm>
            <a:off x="914400" y="4023360"/>
            <a:ext cx="4754880" cy="64008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P(has cancer | test +) is low — the false positives outnumber the real cancers.</a:t>
            </a:r>
          </a:p>
        </p:txBody>
      </p:sp>
      <p:sp>
        <p:nvSpPr>
          <p:cNvPr id="50" name="card50"/>
          <p:cNvSpPr/>
          <p:nvPr/>
        </p:nvSpPr>
        <p:spPr>
          <a:xfrm>
            <a:off x="6248400" y="2011680"/>
            <a:ext cx="5303520" cy="2743200"/>
          </a:xfrm>
          <a:prstGeom prst="roundRect">
            <a:avLst>
              <a:gd name="adj" fmla="val 5000"/>
            </a:avLst>
          </a:prstGeom>
          <a:solidFill>
            <a:srgbClr val="FBF1EA"/>
          </a:solidFill>
          <a:ln w="12700">
            <a:solidFill>
              <a:srgbClr val="F4B740"/>
            </a:solidFill>
            <a:prstDash val="solid"/>
          </a:ln>
        </p:spPr>
        <p:txBody>
          <a:bodyPr/>
          <a:lstStyle/>
          <a:p>
            <a:endParaRPr/>
          </a:p>
        </p:txBody>
      </p:sp>
      <p:sp>
        <p:nvSpPr>
          <p:cNvPr id="51" name="h50"/>
          <p:cNvSpPr/>
          <p:nvPr/>
        </p:nvSpPr>
        <p:spPr>
          <a:xfrm>
            <a:off x="6522720" y="2217420"/>
            <a:ext cx="4754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250" normalizeH="0" baseline="0" noProof="0" dirty="0">
                <a:ln>
                  <a:noFill/>
                </a:ln>
                <a:solidFill>
                  <a:srgbClr val="B8860B"/>
                </a:solidFill>
                <a:effectLst/>
                <a:uLnTx/>
                <a:uFillTx/>
                <a:latin typeface="Calibri" pitchFamily="34" charset="0"/>
                <a:ea typeface="Calibri" pitchFamily="34" charset="-122"/>
                <a:cs typeface="Calibri" pitchFamily="34" charset="-120"/>
              </a:rPr>
              <a:t>A COVID RAPID TEST</a:t>
            </a:r>
          </a:p>
        </p:txBody>
      </p:sp>
      <p:sp>
        <p:nvSpPr>
          <p:cNvPr id="52" name="g50"/>
          <p:cNvSpPr/>
          <p:nvPr/>
        </p:nvSpPr>
        <p:spPr>
          <a:xfrm>
            <a:off x="6522720" y="2606040"/>
            <a:ext cx="4754880" cy="70000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8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P(test − | not infected) is high</a:t>
            </a:r>
          </a:p>
        </p:txBody>
      </p:sp>
      <p:sp>
        <p:nvSpPr>
          <p:cNvPr id="53" name="gl50"/>
          <p:cNvSpPr/>
          <p:nvPr/>
        </p:nvSpPr>
        <p:spPr>
          <a:xfrm>
            <a:off x="6522720" y="3322320"/>
            <a:ext cx="475488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4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specificity — the number the test is sold on</a:t>
            </a:r>
          </a:p>
        </p:txBody>
      </p:sp>
      <p:sp>
        <p:nvSpPr>
          <p:cNvPr id="54" name="q50"/>
          <p:cNvSpPr/>
          <p:nvPr/>
        </p:nvSpPr>
        <p:spPr>
          <a:xfrm>
            <a:off x="6522720" y="3749040"/>
            <a:ext cx="475488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400" b="1" i="0" u="none" strike="noStrike" kern="1200" cap="none" spc="300" normalizeH="0" baseline="0" noProof="0" dirty="0">
                <a:ln>
                  <a:noFill/>
                </a:ln>
                <a:solidFill>
                  <a:srgbClr val="8C6D1F"/>
                </a:solidFill>
                <a:effectLst/>
                <a:uLnTx/>
                <a:uFillTx/>
                <a:latin typeface="Calibri" pitchFamily="34" charset="0"/>
                <a:ea typeface="Calibri" pitchFamily="34" charset="-122"/>
                <a:cs typeface="Calibri" pitchFamily="34" charset="-120"/>
              </a:rPr>
              <a:t>BUT THE REVERSED CONDITIONAL</a:t>
            </a:r>
          </a:p>
        </p:txBody>
      </p:sp>
      <p:sp>
        <p:nvSpPr>
          <p:cNvPr id="55" name="a50"/>
          <p:cNvSpPr/>
          <p:nvPr/>
        </p:nvSpPr>
        <p:spPr>
          <a:xfrm>
            <a:off x="6522720" y="4023360"/>
            <a:ext cx="4754880" cy="64008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600" b="1" i="0" u="none" strike="noStrike" kern="1200" cap="none" spc="0" normalizeH="0" baseline="0" noProof="0" dirty="0">
                <a:ln>
                  <a:noFill/>
                </a:ln>
                <a:solidFill>
                  <a:srgbClr val="8C6D1F"/>
                </a:solidFill>
                <a:effectLst/>
                <a:uLnTx/>
                <a:uFillTx/>
                <a:latin typeface="Calibri" pitchFamily="34" charset="0"/>
                <a:ea typeface="Calibri" pitchFamily="34" charset="-122"/>
                <a:cs typeface="Calibri" pitchFamily="34" charset="-120"/>
              </a:rPr>
              <a:t>P(not infected | test −) is not high enough — false negatives walk out infectious.</a:t>
            </a:r>
          </a:p>
        </p:txBody>
      </p:sp>
      <p:sp>
        <p:nvSpPr>
          <p:cNvPr id="80" name="Foot"/>
          <p:cNvSpPr/>
          <p:nvPr/>
        </p:nvSpPr>
        <p:spPr>
          <a:xfrm>
            <a:off x="640080" y="5181600"/>
            <a:ext cx="10911840" cy="80010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Both tests report P(result | condition). </a:t>
            </a:r>
            <a:r>
              <a:rPr kumimoji="0" lang="en-US" sz="1600" b="0" i="0"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What you need is P(condition | result) — and reversing it fails in opposite directions: the mammogram floods you with false positives, the rapid test sends you home with a false negative.</a:t>
            </a:r>
          </a:p>
        </p:txBody>
      </p:sp>
    </p:spTree>
    <p:extLst>
      <p:ext uri="{BB962C8B-B14F-4D97-AF65-F5344CB8AC3E}">
        <p14:creationId xmlns:p14="http://schemas.microsoft.com/office/powerpoint/2010/main" val="1813752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ividerEyebrow"/>
          <p:cNvSpPr/>
          <p:nvPr/>
        </p:nvSpPr>
        <p:spPr>
          <a:xfrm>
            <a:off x="1066800" y="1905000"/>
            <a:ext cx="5080000" cy="43088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22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THE FIRST REVERSAL</a:t>
            </a:r>
          </a:p>
        </p:txBody>
      </p:sp>
      <p:sp>
        <p:nvSpPr>
          <p:cNvPr id="20" name="DividerNum"/>
          <p:cNvSpPr/>
          <p:nvPr/>
        </p:nvSpPr>
        <p:spPr>
          <a:xfrm>
            <a:off x="1041400" y="2349500"/>
            <a:ext cx="9652000" cy="1905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54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A Screening Mammogram</a:t>
            </a:r>
          </a:p>
        </p:txBody>
      </p:sp>
      <p:sp>
        <p:nvSpPr>
          <p:cNvPr id="30" name="DividerRule"/>
          <p:cNvSpPr/>
          <p:nvPr/>
        </p:nvSpPr>
        <p:spPr>
          <a:xfrm>
            <a:off x="1066800" y="4445000"/>
            <a:ext cx="1143000" cy="63500"/>
          </a:xfrm>
          <a:prstGeom prst="rect">
            <a:avLst/>
          </a:prstGeom>
          <a:solidFill>
            <a:srgbClr val="15686B"/>
          </a:solidFill>
          <a:ln>
            <a:noFill/>
          </a:ln>
        </p:spPr>
        <p:txBody>
          <a:bodyPr/>
          <a:lstStyle/>
          <a:p>
            <a:endParaRPr/>
          </a:p>
        </p:txBody>
      </p:sp>
      <p:sp>
        <p:nvSpPr>
          <p:cNvPr id="40" name="DividerTitle"/>
          <p:cNvSpPr/>
          <p:nvPr/>
        </p:nvSpPr>
        <p:spPr>
          <a:xfrm>
            <a:off x="1016000" y="4762500"/>
            <a:ext cx="10160000" cy="70788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40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If it is positive, do I have cancer?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 REAL TEST, REAL NUMBERS</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What the mammogram is measured on</a:t>
            </a:r>
          </a:p>
        </p:txBody>
      </p:sp>
      <p:sp>
        <p:nvSpPr>
          <p:cNvPr id="20" name="card"/>
          <p:cNvSpPr/>
          <p:nvPr/>
        </p:nvSpPr>
        <p:spPr>
          <a:xfrm>
            <a:off x="640080" y="2209800"/>
            <a:ext cx="4876800" cy="2103120"/>
          </a:xfrm>
          <a:prstGeom prst="roundRect">
            <a:avLst>
              <a:gd name="adj" fmla="val 5000"/>
            </a:avLst>
          </a:prstGeom>
          <a:solidFill>
            <a:srgbClr val="F4F6F8"/>
          </a:solidFill>
          <a:ln w="12700">
            <a:solidFill>
              <a:srgbClr val="15686B"/>
            </a:solidFill>
            <a:prstDash val="solid"/>
          </a:ln>
        </p:spPr>
        <p:txBody>
          <a:bodyPr/>
          <a:lstStyle/>
          <a:p>
            <a:endParaRPr/>
          </a:p>
        </p:txBody>
      </p:sp>
      <p:sp>
        <p:nvSpPr>
          <p:cNvPr id="21" name="h"/>
          <p:cNvSpPr/>
          <p:nvPr/>
        </p:nvSpPr>
        <p:spPr>
          <a:xfrm>
            <a:off x="914400" y="2438400"/>
            <a:ext cx="43281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250" normalizeH="0" baseline="0" noProof="0" dirty="0">
                <a:ln>
                  <a:noFill/>
                </a:ln>
                <a:solidFill>
                  <a:srgbClr val="15686B"/>
                </a:solidFill>
                <a:effectLst/>
                <a:uLnTx/>
                <a:uFillTx/>
                <a:latin typeface="Calibri" pitchFamily="34" charset="0"/>
                <a:ea typeface="Calibri" pitchFamily="34" charset="-122"/>
                <a:cs typeface="Calibri" pitchFamily="34" charset="-120"/>
              </a:rPr>
              <a:t>SENSITIVITY</a:t>
            </a:r>
          </a:p>
        </p:txBody>
      </p:sp>
      <p:sp>
        <p:nvSpPr>
          <p:cNvPr id="22" name="n"/>
          <p:cNvSpPr/>
          <p:nvPr/>
        </p:nvSpPr>
        <p:spPr>
          <a:xfrm>
            <a:off x="914400" y="2849880"/>
            <a:ext cx="432816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20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 called back | cancer )</a:t>
            </a:r>
          </a:p>
        </p:txBody>
      </p:sp>
      <p:sp>
        <p:nvSpPr>
          <p:cNvPr id="23" name="c"/>
          <p:cNvSpPr/>
          <p:nvPr/>
        </p:nvSpPr>
        <p:spPr>
          <a:xfrm>
            <a:off x="914400" y="3398520"/>
            <a:ext cx="4328160" cy="45720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7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87 of every 100 women with cancer</a:t>
            </a:r>
          </a:p>
        </p:txBody>
      </p:sp>
      <p:sp>
        <p:nvSpPr>
          <p:cNvPr id="24" name="r"/>
          <p:cNvSpPr/>
          <p:nvPr/>
        </p:nvSpPr>
        <p:spPr>
          <a:xfrm>
            <a:off x="914400" y="3901440"/>
            <a:ext cx="432816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3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the other 13 are missed</a:t>
            </a:r>
          </a:p>
        </p:txBody>
      </p:sp>
      <p:sp>
        <p:nvSpPr>
          <p:cNvPr id="40" name="R1"/>
          <p:cNvSpPr/>
          <p:nvPr/>
        </p:nvSpPr>
        <p:spPr>
          <a:xfrm>
            <a:off x="5943600" y="1874520"/>
            <a:ext cx="5608320" cy="9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A positive mammogram is a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callback</a:t>
            </a: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The radiologist wants more pictures. It is not a diagnosis, and nothing has been found yet.</a:t>
            </a:r>
          </a:p>
        </p:txBody>
      </p:sp>
      <p:sp>
        <p:nvSpPr>
          <p:cNvPr id="50" name="R2"/>
          <p:cNvSpPr/>
          <p:nvPr/>
        </p:nvSpPr>
        <p:spPr>
          <a:xfrm>
            <a:off x="5943600" y="3017520"/>
            <a:ext cx="5608320" cy="12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This is the number the mammogram is judged on, and it is a good one. But notice where it starts: from already knowing she has cancer. That is the only direction a test can be measured in.</a:t>
            </a:r>
          </a:p>
        </p:txBody>
      </p:sp>
      <p:sp>
        <p:nvSpPr>
          <p:cNvPr id="60" name="Target"/>
          <p:cNvSpPr/>
          <p:nvPr/>
        </p:nvSpPr>
        <p:spPr>
          <a:xfrm>
            <a:off x="5943600" y="4800600"/>
            <a:ext cx="5608320" cy="941070"/>
          </a:xfrm>
          <a:prstGeom prst="roundRect">
            <a:avLst>
              <a:gd name="adj" fmla="val 4000"/>
            </a:avLst>
          </a:prstGeom>
          <a:solidFill>
            <a:srgbClr val="15686B"/>
          </a:solidFill>
          <a:ln>
            <a:noFill/>
          </a:ln>
        </p:spPr>
        <p:txBody>
          <a:bodyPr/>
          <a:lstStyle/>
          <a:p>
            <a:endParaRPr/>
          </a:p>
        </p:txBody>
      </p:sp>
      <p:sp>
        <p:nvSpPr>
          <p:cNvPr id="61" name="TargetTx"/>
          <p:cNvSpPr/>
          <p:nvPr/>
        </p:nvSpPr>
        <p:spPr>
          <a:xfrm>
            <a:off x="6195060" y="4975860"/>
            <a:ext cx="5105400" cy="59055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we want is P( cancer | called back ):  4.4%</a:t>
            </a:r>
          </a:p>
          <a:p>
            <a:pPr marL="0" marR="0" lvl="0" indent="0" algn="l" defTabSz="914400" rtl="0" eaLnBrk="1" fontAlgn="auto" latinLnBrk="0" hangingPunct="1">
              <a:lnSpc>
                <a:spcPct val="100000"/>
              </a:lnSpc>
              <a:spcBef>
                <a:spcPts val="0"/>
              </a:spcBef>
              <a:spcAft>
                <a:spcPts val="0"/>
              </a:spcAft>
              <a:buNone/>
              <a:tabLst/>
              <a:defRPr/>
            </a:pPr>
            <a:r>
              <a:rPr kumimoji="0" lang="en-US" sz="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C9DCDC"/>
                </a:solidFill>
                <a:effectLst/>
                <a:uLnTx/>
                <a:uFillTx/>
                <a:latin typeface="Calibri" pitchFamily="34" charset="0"/>
                <a:ea typeface="Calibri" pitchFamily="34" charset="-122"/>
                <a:cs typeface="Calibri" pitchFamily="34" charset="-120"/>
              </a:rPr>
              <a:t>Same test, same day. Now we walk the reversal.</a:t>
            </a:r>
          </a:p>
        </p:txBody>
      </p:sp>
      <p:sp>
        <p:nvSpPr>
          <p:cNvPr id="7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Sensitivity 86.9%. Lehman CD et al. National performance benchmarks for modern screening digital mammography, Breast Cancer Surveillance Consortium. Radiology 2017;283(1):49-58. 1,682,504 screens, 2007-2013.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AN ILLUSTRATIVE COHORT OF 10,000 WOMEN</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Six in a thousand have it</a:t>
            </a:r>
          </a:p>
        </p:txBody>
      </p:sp>
      <p:pic>
        <p:nvPicPr>
          <p:cNvPr id="19" name="Waffle"/>
          <p:cNvPicPr/>
          <p:nvPr/>
        </p:nvPicPr>
        <p:blipFill>
          <a:blip/>
          <a:stretch>
            <a:fillRect/>
          </a:stretch>
        </p:blipFill>
        <p:spPr>
          <a:xfrm>
            <a:off x="640080" y="1874520"/>
            <a:ext cx="4114800" cy="4114800"/>
          </a:xfrm>
          <a:prstGeom prst="rect">
            <a:avLst/>
          </a:prstGeom>
        </p:spPr>
      </p:pic>
      <p:sp>
        <p:nvSpPr>
          <p:cNvPr id="20" name="Lead"/>
          <p:cNvSpPr/>
          <p:nvPr/>
        </p:nvSpPr>
        <p:spPr>
          <a:xfrm>
            <a:off x="5486400" y="1874520"/>
            <a:ext cx="6096000" cy="118872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Every square is one woman screened once. The teal sliver at the top is everyone who has cancer.</a:t>
            </a:r>
          </a:p>
          <a:p>
            <a:pPr marL="0" marR="0" lvl="0" indent="0" algn="l" defTabSz="914400" rtl="0" eaLnBrk="1" fontAlgn="auto" latinLnBrk="0" hangingPunct="1">
              <a:lnSpc>
                <a:spcPct val="140000"/>
              </a:lnSpc>
              <a:spcBef>
                <a:spcPts val="0"/>
              </a:spcBef>
              <a:spcAft>
                <a:spcPts val="0"/>
              </a:spcAft>
              <a:buNone/>
              <a:tabLst/>
              <a:defRPr/>
            </a:pPr>
            <a:r>
              <a:rPr kumimoji="0" lang="en-US" sz="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40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That is an average across ages 40 to 89. It climbs with age: nearer 4 per 1,000 in the fifties, 6 or 7 in the sixties.</a:t>
            </a:r>
          </a:p>
        </p:txBody>
      </p:sp>
      <p:sp>
        <p:nvSpPr>
          <p:cNvPr id="30" name="sw30"/>
          <p:cNvSpPr/>
          <p:nvPr/>
        </p:nvSpPr>
        <p:spPr>
          <a:xfrm>
            <a:off x="5486400" y="3474720"/>
            <a:ext cx="274320" cy="274320"/>
          </a:xfrm>
          <a:prstGeom prst="rect">
            <a:avLst/>
          </a:prstGeom>
          <a:solidFill>
            <a:srgbClr val="15686B"/>
          </a:solidFill>
          <a:ln w="12700">
            <a:solidFill>
              <a:srgbClr val="FFFFFF"/>
            </a:solidFill>
            <a:prstDash val="solid"/>
          </a:ln>
        </p:spPr>
        <p:txBody>
          <a:bodyPr/>
          <a:lstStyle/>
          <a:p>
            <a:endParaRPr/>
          </a:p>
        </p:txBody>
      </p:sp>
      <p:sp>
        <p:nvSpPr>
          <p:cNvPr id="31" name="lg30"/>
          <p:cNvSpPr/>
          <p:nvPr/>
        </p:nvSpPr>
        <p:spPr>
          <a:xfrm>
            <a:off x="5882640" y="344424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has cancer, called back: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51</a:t>
            </a:r>
          </a:p>
        </p:txBody>
      </p:sp>
      <p:sp>
        <p:nvSpPr>
          <p:cNvPr id="40" name="sw40"/>
          <p:cNvSpPr/>
          <p:nvPr/>
        </p:nvSpPr>
        <p:spPr>
          <a:xfrm>
            <a:off x="5486400" y="3954780"/>
            <a:ext cx="274320" cy="274320"/>
          </a:xfrm>
          <a:prstGeom prst="rect">
            <a:avLst/>
          </a:prstGeom>
          <a:solidFill>
            <a:srgbClr val="5E9B9D"/>
          </a:solidFill>
          <a:ln w="12700">
            <a:solidFill>
              <a:srgbClr val="FFFFFF"/>
            </a:solidFill>
            <a:prstDash val="solid"/>
          </a:ln>
        </p:spPr>
        <p:txBody>
          <a:bodyPr/>
          <a:lstStyle/>
          <a:p>
            <a:endParaRPr/>
          </a:p>
        </p:txBody>
      </p:sp>
      <p:sp>
        <p:nvSpPr>
          <p:cNvPr id="41" name="lg40"/>
          <p:cNvSpPr/>
          <p:nvPr/>
        </p:nvSpPr>
        <p:spPr>
          <a:xfrm>
            <a:off x="5882640" y="392430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has cancer, not called back: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8</a:t>
            </a:r>
          </a:p>
        </p:txBody>
      </p:sp>
      <p:sp>
        <p:nvSpPr>
          <p:cNvPr id="50" name="sw50"/>
          <p:cNvSpPr/>
          <p:nvPr/>
        </p:nvSpPr>
        <p:spPr>
          <a:xfrm>
            <a:off x="5486400" y="4434840"/>
            <a:ext cx="274320" cy="274320"/>
          </a:xfrm>
          <a:prstGeom prst="rect">
            <a:avLst/>
          </a:prstGeom>
          <a:solidFill>
            <a:srgbClr val="F4B740"/>
          </a:solidFill>
          <a:ln w="12700">
            <a:solidFill>
              <a:srgbClr val="FFFFFF"/>
            </a:solidFill>
            <a:prstDash val="solid"/>
          </a:ln>
        </p:spPr>
        <p:txBody>
          <a:bodyPr/>
          <a:lstStyle/>
          <a:p>
            <a:endParaRPr/>
          </a:p>
        </p:txBody>
      </p:sp>
      <p:sp>
        <p:nvSpPr>
          <p:cNvPr id="51" name="lg50"/>
          <p:cNvSpPr/>
          <p:nvPr/>
        </p:nvSpPr>
        <p:spPr>
          <a:xfrm>
            <a:off x="5882640" y="440436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no cancer, called back anyway: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1,103</a:t>
            </a:r>
          </a:p>
        </p:txBody>
      </p:sp>
      <p:sp>
        <p:nvSpPr>
          <p:cNvPr id="60" name="sw60"/>
          <p:cNvSpPr/>
          <p:nvPr/>
        </p:nvSpPr>
        <p:spPr>
          <a:xfrm>
            <a:off x="5486400" y="4914900"/>
            <a:ext cx="274320" cy="274320"/>
          </a:xfrm>
          <a:prstGeom prst="rect">
            <a:avLst/>
          </a:prstGeom>
          <a:solidFill>
            <a:srgbClr val="F7DFA8"/>
          </a:solidFill>
          <a:ln w="12700">
            <a:solidFill>
              <a:srgbClr val="FFFFFF"/>
            </a:solidFill>
            <a:prstDash val="solid"/>
          </a:ln>
        </p:spPr>
        <p:txBody>
          <a:bodyPr/>
          <a:lstStyle/>
          <a:p>
            <a:endParaRPr/>
          </a:p>
        </p:txBody>
      </p:sp>
      <p:sp>
        <p:nvSpPr>
          <p:cNvPr id="61" name="lg60"/>
          <p:cNvSpPr/>
          <p:nvPr/>
        </p:nvSpPr>
        <p:spPr>
          <a:xfrm>
            <a:off x="5882640" y="488442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no cancer, all clear: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8,838</a:t>
            </a:r>
          </a:p>
        </p:txBody>
      </p:sp>
      <p:sp>
        <p:nvSpPr>
          <p:cNvPr id="80" name="Note"/>
          <p:cNvSpPr/>
          <p:nvPr/>
        </p:nvSpPr>
        <p:spPr>
          <a:xfrm>
            <a:off x="5486400" y="5486400"/>
            <a:ext cx="6096000" cy="8001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5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The amber band is eleven rows deep. It is more than twenty times the size of the group the test is looking for.</a:t>
            </a:r>
          </a:p>
        </p:txBody>
      </p:sp>
      <p:sp>
        <p:nvSpPr>
          <p:cNvPr id="9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BCSC benchmarks applied to a 10,000-woman cohort. Lehman CD et al. National performance benchmarks for modern screening digital mammography, Breast Cancer Surveillance Consortium. Radiology 2017;283(1):49-58. 1,682,504 screens, 359 radiologists, 95 facilities, 2007-2013.</a:t>
            </a:r>
          </a:p>
        </p:txBody>
      </p:sp>
      <p:pic>
        <p:nvPicPr>
          <p:cNvPr id="900" name="Waffle"/>
          <p:cNvPicPr/>
          <p:nvPr/>
        </p:nvPicPr>
        <p:blipFill>
          <a:blip r:embed="rId2"/>
          <a:stretch>
            <a:fillRect/>
          </a:stretch>
        </p:blipFill>
        <p:spPr>
          <a:xfrm>
            <a:off x="640080" y="1874520"/>
            <a:ext cx="4114800" cy="411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FIRST QUESTION</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If you have cancer, how likely is a callback?</a:t>
            </a:r>
          </a:p>
        </p:txBody>
      </p:sp>
      <p:sp>
        <p:nvSpPr>
          <p:cNvPr id="600" name="q0"/>
          <p:cNvSpPr/>
          <p:nvPr/>
        </p:nvSpPr>
        <p:spPr>
          <a:xfrm>
            <a:off x="640080" y="1874520"/>
            <a:ext cx="325120" cy="325120"/>
          </a:xfrm>
          <a:prstGeom prst="rect">
            <a:avLst/>
          </a:prstGeom>
          <a:solidFill>
            <a:srgbClr val="15686B"/>
          </a:solidFill>
          <a:ln w="12700">
            <a:solidFill>
              <a:srgbClr val="FFFFFF"/>
            </a:solidFill>
            <a:prstDash val="solid"/>
          </a:ln>
        </p:spPr>
        <p:txBody>
          <a:bodyPr/>
          <a:lstStyle/>
          <a:p>
            <a:endParaRPr/>
          </a:p>
        </p:txBody>
      </p:sp>
      <p:sp>
        <p:nvSpPr>
          <p:cNvPr id="601" name="q1"/>
          <p:cNvSpPr/>
          <p:nvPr/>
        </p:nvSpPr>
        <p:spPr>
          <a:xfrm>
            <a:off x="1005840" y="1874520"/>
            <a:ext cx="325120" cy="325120"/>
          </a:xfrm>
          <a:prstGeom prst="rect">
            <a:avLst/>
          </a:prstGeom>
          <a:solidFill>
            <a:srgbClr val="15686B"/>
          </a:solidFill>
          <a:ln w="12700">
            <a:solidFill>
              <a:srgbClr val="FFFFFF"/>
            </a:solidFill>
            <a:prstDash val="solid"/>
          </a:ln>
        </p:spPr>
        <p:txBody>
          <a:bodyPr/>
          <a:lstStyle/>
          <a:p>
            <a:endParaRPr/>
          </a:p>
        </p:txBody>
      </p:sp>
      <p:sp>
        <p:nvSpPr>
          <p:cNvPr id="602" name="q2"/>
          <p:cNvSpPr/>
          <p:nvPr/>
        </p:nvSpPr>
        <p:spPr>
          <a:xfrm>
            <a:off x="1371600" y="1874520"/>
            <a:ext cx="325120" cy="325120"/>
          </a:xfrm>
          <a:prstGeom prst="rect">
            <a:avLst/>
          </a:prstGeom>
          <a:solidFill>
            <a:srgbClr val="15686B"/>
          </a:solidFill>
          <a:ln w="12700">
            <a:solidFill>
              <a:srgbClr val="FFFFFF"/>
            </a:solidFill>
            <a:prstDash val="solid"/>
          </a:ln>
        </p:spPr>
        <p:txBody>
          <a:bodyPr/>
          <a:lstStyle/>
          <a:p>
            <a:endParaRPr/>
          </a:p>
        </p:txBody>
      </p:sp>
      <p:sp>
        <p:nvSpPr>
          <p:cNvPr id="603" name="q3"/>
          <p:cNvSpPr/>
          <p:nvPr/>
        </p:nvSpPr>
        <p:spPr>
          <a:xfrm>
            <a:off x="1737360" y="1874520"/>
            <a:ext cx="325120" cy="325120"/>
          </a:xfrm>
          <a:prstGeom prst="rect">
            <a:avLst/>
          </a:prstGeom>
          <a:solidFill>
            <a:srgbClr val="15686B"/>
          </a:solidFill>
          <a:ln w="12700">
            <a:solidFill>
              <a:srgbClr val="FFFFFF"/>
            </a:solidFill>
            <a:prstDash val="solid"/>
          </a:ln>
        </p:spPr>
        <p:txBody>
          <a:bodyPr/>
          <a:lstStyle/>
          <a:p>
            <a:endParaRPr/>
          </a:p>
        </p:txBody>
      </p:sp>
      <p:sp>
        <p:nvSpPr>
          <p:cNvPr id="604" name="q4"/>
          <p:cNvSpPr/>
          <p:nvPr/>
        </p:nvSpPr>
        <p:spPr>
          <a:xfrm>
            <a:off x="2103120" y="1874520"/>
            <a:ext cx="325120" cy="325120"/>
          </a:xfrm>
          <a:prstGeom prst="rect">
            <a:avLst/>
          </a:prstGeom>
          <a:solidFill>
            <a:srgbClr val="15686B"/>
          </a:solidFill>
          <a:ln w="12700">
            <a:solidFill>
              <a:srgbClr val="FFFFFF"/>
            </a:solidFill>
            <a:prstDash val="solid"/>
          </a:ln>
        </p:spPr>
        <p:txBody>
          <a:bodyPr/>
          <a:lstStyle/>
          <a:p>
            <a:endParaRPr/>
          </a:p>
        </p:txBody>
      </p:sp>
      <p:sp>
        <p:nvSpPr>
          <p:cNvPr id="605" name="q5"/>
          <p:cNvSpPr/>
          <p:nvPr/>
        </p:nvSpPr>
        <p:spPr>
          <a:xfrm>
            <a:off x="2468880" y="1874520"/>
            <a:ext cx="325120" cy="325120"/>
          </a:xfrm>
          <a:prstGeom prst="rect">
            <a:avLst/>
          </a:prstGeom>
          <a:solidFill>
            <a:srgbClr val="15686B"/>
          </a:solidFill>
          <a:ln w="12700">
            <a:solidFill>
              <a:srgbClr val="FFFFFF"/>
            </a:solidFill>
            <a:prstDash val="solid"/>
          </a:ln>
        </p:spPr>
        <p:txBody>
          <a:bodyPr/>
          <a:lstStyle/>
          <a:p>
            <a:endParaRPr/>
          </a:p>
        </p:txBody>
      </p:sp>
      <p:sp>
        <p:nvSpPr>
          <p:cNvPr id="606" name="q6"/>
          <p:cNvSpPr/>
          <p:nvPr/>
        </p:nvSpPr>
        <p:spPr>
          <a:xfrm>
            <a:off x="2834640" y="1874520"/>
            <a:ext cx="325120" cy="325120"/>
          </a:xfrm>
          <a:prstGeom prst="rect">
            <a:avLst/>
          </a:prstGeom>
          <a:solidFill>
            <a:srgbClr val="15686B"/>
          </a:solidFill>
          <a:ln w="12700">
            <a:solidFill>
              <a:srgbClr val="FFFFFF"/>
            </a:solidFill>
            <a:prstDash val="solid"/>
          </a:ln>
        </p:spPr>
        <p:txBody>
          <a:bodyPr/>
          <a:lstStyle/>
          <a:p>
            <a:endParaRPr/>
          </a:p>
        </p:txBody>
      </p:sp>
      <p:sp>
        <p:nvSpPr>
          <p:cNvPr id="607" name="q7"/>
          <p:cNvSpPr/>
          <p:nvPr/>
        </p:nvSpPr>
        <p:spPr>
          <a:xfrm>
            <a:off x="3200400" y="1874520"/>
            <a:ext cx="325120" cy="325120"/>
          </a:xfrm>
          <a:prstGeom prst="rect">
            <a:avLst/>
          </a:prstGeom>
          <a:solidFill>
            <a:srgbClr val="15686B"/>
          </a:solidFill>
          <a:ln w="12700">
            <a:solidFill>
              <a:srgbClr val="FFFFFF"/>
            </a:solidFill>
            <a:prstDash val="solid"/>
          </a:ln>
        </p:spPr>
        <p:txBody>
          <a:bodyPr/>
          <a:lstStyle/>
          <a:p>
            <a:endParaRPr/>
          </a:p>
        </p:txBody>
      </p:sp>
      <p:sp>
        <p:nvSpPr>
          <p:cNvPr id="608" name="q8"/>
          <p:cNvSpPr/>
          <p:nvPr/>
        </p:nvSpPr>
        <p:spPr>
          <a:xfrm>
            <a:off x="3566160" y="1874520"/>
            <a:ext cx="325120" cy="325120"/>
          </a:xfrm>
          <a:prstGeom prst="rect">
            <a:avLst/>
          </a:prstGeom>
          <a:solidFill>
            <a:srgbClr val="15686B"/>
          </a:solidFill>
          <a:ln w="12700">
            <a:solidFill>
              <a:srgbClr val="FFFFFF"/>
            </a:solidFill>
            <a:prstDash val="solid"/>
          </a:ln>
        </p:spPr>
        <p:txBody>
          <a:bodyPr/>
          <a:lstStyle/>
          <a:p>
            <a:endParaRPr/>
          </a:p>
        </p:txBody>
      </p:sp>
      <p:sp>
        <p:nvSpPr>
          <p:cNvPr id="609" name="q9"/>
          <p:cNvSpPr/>
          <p:nvPr/>
        </p:nvSpPr>
        <p:spPr>
          <a:xfrm>
            <a:off x="3931920" y="1874520"/>
            <a:ext cx="325120" cy="325120"/>
          </a:xfrm>
          <a:prstGeom prst="rect">
            <a:avLst/>
          </a:prstGeom>
          <a:solidFill>
            <a:srgbClr val="15686B"/>
          </a:solidFill>
          <a:ln w="12700">
            <a:solidFill>
              <a:srgbClr val="FFFFFF"/>
            </a:solidFill>
            <a:prstDash val="solid"/>
          </a:ln>
        </p:spPr>
        <p:txBody>
          <a:bodyPr/>
          <a:lstStyle/>
          <a:p>
            <a:endParaRPr/>
          </a:p>
        </p:txBody>
      </p:sp>
      <p:sp>
        <p:nvSpPr>
          <p:cNvPr id="610" name="q10"/>
          <p:cNvSpPr/>
          <p:nvPr/>
        </p:nvSpPr>
        <p:spPr>
          <a:xfrm>
            <a:off x="640080" y="2240280"/>
            <a:ext cx="325120" cy="325120"/>
          </a:xfrm>
          <a:prstGeom prst="rect">
            <a:avLst/>
          </a:prstGeom>
          <a:solidFill>
            <a:srgbClr val="15686B"/>
          </a:solidFill>
          <a:ln w="12700">
            <a:solidFill>
              <a:srgbClr val="FFFFFF"/>
            </a:solidFill>
            <a:prstDash val="solid"/>
          </a:ln>
        </p:spPr>
        <p:txBody>
          <a:bodyPr/>
          <a:lstStyle/>
          <a:p>
            <a:endParaRPr/>
          </a:p>
        </p:txBody>
      </p:sp>
      <p:sp>
        <p:nvSpPr>
          <p:cNvPr id="611" name="q11"/>
          <p:cNvSpPr/>
          <p:nvPr/>
        </p:nvSpPr>
        <p:spPr>
          <a:xfrm>
            <a:off x="1005840" y="2240280"/>
            <a:ext cx="325120" cy="325120"/>
          </a:xfrm>
          <a:prstGeom prst="rect">
            <a:avLst/>
          </a:prstGeom>
          <a:solidFill>
            <a:srgbClr val="15686B"/>
          </a:solidFill>
          <a:ln w="12700">
            <a:solidFill>
              <a:srgbClr val="FFFFFF"/>
            </a:solidFill>
            <a:prstDash val="solid"/>
          </a:ln>
        </p:spPr>
        <p:txBody>
          <a:bodyPr/>
          <a:lstStyle/>
          <a:p>
            <a:endParaRPr/>
          </a:p>
        </p:txBody>
      </p:sp>
      <p:sp>
        <p:nvSpPr>
          <p:cNvPr id="612" name="q12"/>
          <p:cNvSpPr/>
          <p:nvPr/>
        </p:nvSpPr>
        <p:spPr>
          <a:xfrm>
            <a:off x="1371600" y="2240280"/>
            <a:ext cx="325120" cy="325120"/>
          </a:xfrm>
          <a:prstGeom prst="rect">
            <a:avLst/>
          </a:prstGeom>
          <a:solidFill>
            <a:srgbClr val="15686B"/>
          </a:solidFill>
          <a:ln w="12700">
            <a:solidFill>
              <a:srgbClr val="FFFFFF"/>
            </a:solidFill>
            <a:prstDash val="solid"/>
          </a:ln>
        </p:spPr>
        <p:txBody>
          <a:bodyPr/>
          <a:lstStyle/>
          <a:p>
            <a:endParaRPr/>
          </a:p>
        </p:txBody>
      </p:sp>
      <p:sp>
        <p:nvSpPr>
          <p:cNvPr id="613" name="q13"/>
          <p:cNvSpPr/>
          <p:nvPr/>
        </p:nvSpPr>
        <p:spPr>
          <a:xfrm>
            <a:off x="1737360" y="2240280"/>
            <a:ext cx="325120" cy="325120"/>
          </a:xfrm>
          <a:prstGeom prst="rect">
            <a:avLst/>
          </a:prstGeom>
          <a:solidFill>
            <a:srgbClr val="15686B"/>
          </a:solidFill>
          <a:ln w="12700">
            <a:solidFill>
              <a:srgbClr val="FFFFFF"/>
            </a:solidFill>
            <a:prstDash val="solid"/>
          </a:ln>
        </p:spPr>
        <p:txBody>
          <a:bodyPr/>
          <a:lstStyle/>
          <a:p>
            <a:endParaRPr/>
          </a:p>
        </p:txBody>
      </p:sp>
      <p:sp>
        <p:nvSpPr>
          <p:cNvPr id="614" name="q14"/>
          <p:cNvSpPr/>
          <p:nvPr/>
        </p:nvSpPr>
        <p:spPr>
          <a:xfrm>
            <a:off x="2103120" y="2240280"/>
            <a:ext cx="325120" cy="325120"/>
          </a:xfrm>
          <a:prstGeom prst="rect">
            <a:avLst/>
          </a:prstGeom>
          <a:solidFill>
            <a:srgbClr val="15686B"/>
          </a:solidFill>
          <a:ln w="12700">
            <a:solidFill>
              <a:srgbClr val="FFFFFF"/>
            </a:solidFill>
            <a:prstDash val="solid"/>
          </a:ln>
        </p:spPr>
        <p:txBody>
          <a:bodyPr/>
          <a:lstStyle/>
          <a:p>
            <a:endParaRPr/>
          </a:p>
        </p:txBody>
      </p:sp>
      <p:sp>
        <p:nvSpPr>
          <p:cNvPr id="615" name="q15"/>
          <p:cNvSpPr/>
          <p:nvPr/>
        </p:nvSpPr>
        <p:spPr>
          <a:xfrm>
            <a:off x="2468880" y="2240280"/>
            <a:ext cx="325120" cy="325120"/>
          </a:xfrm>
          <a:prstGeom prst="rect">
            <a:avLst/>
          </a:prstGeom>
          <a:solidFill>
            <a:srgbClr val="15686B"/>
          </a:solidFill>
          <a:ln w="12700">
            <a:solidFill>
              <a:srgbClr val="FFFFFF"/>
            </a:solidFill>
            <a:prstDash val="solid"/>
          </a:ln>
        </p:spPr>
        <p:txBody>
          <a:bodyPr/>
          <a:lstStyle/>
          <a:p>
            <a:endParaRPr/>
          </a:p>
        </p:txBody>
      </p:sp>
      <p:sp>
        <p:nvSpPr>
          <p:cNvPr id="616" name="q16"/>
          <p:cNvSpPr/>
          <p:nvPr/>
        </p:nvSpPr>
        <p:spPr>
          <a:xfrm>
            <a:off x="2834640" y="2240280"/>
            <a:ext cx="325120" cy="325120"/>
          </a:xfrm>
          <a:prstGeom prst="rect">
            <a:avLst/>
          </a:prstGeom>
          <a:solidFill>
            <a:srgbClr val="15686B"/>
          </a:solidFill>
          <a:ln w="12700">
            <a:solidFill>
              <a:srgbClr val="FFFFFF"/>
            </a:solidFill>
            <a:prstDash val="solid"/>
          </a:ln>
        </p:spPr>
        <p:txBody>
          <a:bodyPr/>
          <a:lstStyle/>
          <a:p>
            <a:endParaRPr/>
          </a:p>
        </p:txBody>
      </p:sp>
      <p:sp>
        <p:nvSpPr>
          <p:cNvPr id="617" name="q17"/>
          <p:cNvSpPr/>
          <p:nvPr/>
        </p:nvSpPr>
        <p:spPr>
          <a:xfrm>
            <a:off x="3200400" y="2240280"/>
            <a:ext cx="325120" cy="325120"/>
          </a:xfrm>
          <a:prstGeom prst="rect">
            <a:avLst/>
          </a:prstGeom>
          <a:solidFill>
            <a:srgbClr val="15686B"/>
          </a:solidFill>
          <a:ln w="12700">
            <a:solidFill>
              <a:srgbClr val="FFFFFF"/>
            </a:solidFill>
            <a:prstDash val="solid"/>
          </a:ln>
        </p:spPr>
        <p:txBody>
          <a:bodyPr/>
          <a:lstStyle/>
          <a:p>
            <a:endParaRPr/>
          </a:p>
        </p:txBody>
      </p:sp>
      <p:sp>
        <p:nvSpPr>
          <p:cNvPr id="618" name="q18"/>
          <p:cNvSpPr/>
          <p:nvPr/>
        </p:nvSpPr>
        <p:spPr>
          <a:xfrm>
            <a:off x="3566160" y="2240280"/>
            <a:ext cx="325120" cy="325120"/>
          </a:xfrm>
          <a:prstGeom prst="rect">
            <a:avLst/>
          </a:prstGeom>
          <a:solidFill>
            <a:srgbClr val="15686B"/>
          </a:solidFill>
          <a:ln w="12700">
            <a:solidFill>
              <a:srgbClr val="FFFFFF"/>
            </a:solidFill>
            <a:prstDash val="solid"/>
          </a:ln>
        </p:spPr>
        <p:txBody>
          <a:bodyPr/>
          <a:lstStyle/>
          <a:p>
            <a:endParaRPr/>
          </a:p>
        </p:txBody>
      </p:sp>
      <p:sp>
        <p:nvSpPr>
          <p:cNvPr id="619" name="q19"/>
          <p:cNvSpPr/>
          <p:nvPr/>
        </p:nvSpPr>
        <p:spPr>
          <a:xfrm>
            <a:off x="3931920" y="2240280"/>
            <a:ext cx="325120" cy="325120"/>
          </a:xfrm>
          <a:prstGeom prst="rect">
            <a:avLst/>
          </a:prstGeom>
          <a:solidFill>
            <a:srgbClr val="15686B"/>
          </a:solidFill>
          <a:ln w="12700">
            <a:solidFill>
              <a:srgbClr val="FFFFFF"/>
            </a:solidFill>
            <a:prstDash val="solid"/>
          </a:ln>
        </p:spPr>
        <p:txBody>
          <a:bodyPr/>
          <a:lstStyle/>
          <a:p>
            <a:endParaRPr/>
          </a:p>
        </p:txBody>
      </p:sp>
      <p:sp>
        <p:nvSpPr>
          <p:cNvPr id="620" name="q20"/>
          <p:cNvSpPr/>
          <p:nvPr/>
        </p:nvSpPr>
        <p:spPr>
          <a:xfrm>
            <a:off x="640080" y="2606040"/>
            <a:ext cx="325120" cy="325120"/>
          </a:xfrm>
          <a:prstGeom prst="rect">
            <a:avLst/>
          </a:prstGeom>
          <a:solidFill>
            <a:srgbClr val="15686B"/>
          </a:solidFill>
          <a:ln w="12700">
            <a:solidFill>
              <a:srgbClr val="FFFFFF"/>
            </a:solidFill>
            <a:prstDash val="solid"/>
          </a:ln>
        </p:spPr>
        <p:txBody>
          <a:bodyPr/>
          <a:lstStyle/>
          <a:p>
            <a:endParaRPr/>
          </a:p>
        </p:txBody>
      </p:sp>
      <p:sp>
        <p:nvSpPr>
          <p:cNvPr id="621" name="q21"/>
          <p:cNvSpPr/>
          <p:nvPr/>
        </p:nvSpPr>
        <p:spPr>
          <a:xfrm>
            <a:off x="1005840" y="2606040"/>
            <a:ext cx="325120" cy="325120"/>
          </a:xfrm>
          <a:prstGeom prst="rect">
            <a:avLst/>
          </a:prstGeom>
          <a:solidFill>
            <a:srgbClr val="15686B"/>
          </a:solidFill>
          <a:ln w="12700">
            <a:solidFill>
              <a:srgbClr val="FFFFFF"/>
            </a:solidFill>
            <a:prstDash val="solid"/>
          </a:ln>
        </p:spPr>
        <p:txBody>
          <a:bodyPr/>
          <a:lstStyle/>
          <a:p>
            <a:endParaRPr/>
          </a:p>
        </p:txBody>
      </p:sp>
      <p:sp>
        <p:nvSpPr>
          <p:cNvPr id="622" name="q22"/>
          <p:cNvSpPr/>
          <p:nvPr/>
        </p:nvSpPr>
        <p:spPr>
          <a:xfrm>
            <a:off x="1371600" y="2606040"/>
            <a:ext cx="325120" cy="325120"/>
          </a:xfrm>
          <a:prstGeom prst="rect">
            <a:avLst/>
          </a:prstGeom>
          <a:solidFill>
            <a:srgbClr val="15686B"/>
          </a:solidFill>
          <a:ln w="12700">
            <a:solidFill>
              <a:srgbClr val="FFFFFF"/>
            </a:solidFill>
            <a:prstDash val="solid"/>
          </a:ln>
        </p:spPr>
        <p:txBody>
          <a:bodyPr/>
          <a:lstStyle/>
          <a:p>
            <a:endParaRPr/>
          </a:p>
        </p:txBody>
      </p:sp>
      <p:sp>
        <p:nvSpPr>
          <p:cNvPr id="623" name="q23"/>
          <p:cNvSpPr/>
          <p:nvPr/>
        </p:nvSpPr>
        <p:spPr>
          <a:xfrm>
            <a:off x="1737360" y="2606040"/>
            <a:ext cx="325120" cy="325120"/>
          </a:xfrm>
          <a:prstGeom prst="rect">
            <a:avLst/>
          </a:prstGeom>
          <a:solidFill>
            <a:srgbClr val="15686B"/>
          </a:solidFill>
          <a:ln w="12700">
            <a:solidFill>
              <a:srgbClr val="FFFFFF"/>
            </a:solidFill>
            <a:prstDash val="solid"/>
          </a:ln>
        </p:spPr>
        <p:txBody>
          <a:bodyPr/>
          <a:lstStyle/>
          <a:p>
            <a:endParaRPr/>
          </a:p>
        </p:txBody>
      </p:sp>
      <p:sp>
        <p:nvSpPr>
          <p:cNvPr id="624" name="q24"/>
          <p:cNvSpPr/>
          <p:nvPr/>
        </p:nvSpPr>
        <p:spPr>
          <a:xfrm>
            <a:off x="2103120" y="2606040"/>
            <a:ext cx="325120" cy="325120"/>
          </a:xfrm>
          <a:prstGeom prst="rect">
            <a:avLst/>
          </a:prstGeom>
          <a:solidFill>
            <a:srgbClr val="15686B"/>
          </a:solidFill>
          <a:ln w="12700">
            <a:solidFill>
              <a:srgbClr val="FFFFFF"/>
            </a:solidFill>
            <a:prstDash val="solid"/>
          </a:ln>
        </p:spPr>
        <p:txBody>
          <a:bodyPr/>
          <a:lstStyle/>
          <a:p>
            <a:endParaRPr/>
          </a:p>
        </p:txBody>
      </p:sp>
      <p:sp>
        <p:nvSpPr>
          <p:cNvPr id="625" name="q25"/>
          <p:cNvSpPr/>
          <p:nvPr/>
        </p:nvSpPr>
        <p:spPr>
          <a:xfrm>
            <a:off x="2468880" y="2606040"/>
            <a:ext cx="325120" cy="325120"/>
          </a:xfrm>
          <a:prstGeom prst="rect">
            <a:avLst/>
          </a:prstGeom>
          <a:solidFill>
            <a:srgbClr val="15686B"/>
          </a:solidFill>
          <a:ln w="12700">
            <a:solidFill>
              <a:srgbClr val="FFFFFF"/>
            </a:solidFill>
            <a:prstDash val="solid"/>
          </a:ln>
        </p:spPr>
        <p:txBody>
          <a:bodyPr/>
          <a:lstStyle/>
          <a:p>
            <a:endParaRPr/>
          </a:p>
        </p:txBody>
      </p:sp>
      <p:sp>
        <p:nvSpPr>
          <p:cNvPr id="626" name="q26"/>
          <p:cNvSpPr/>
          <p:nvPr/>
        </p:nvSpPr>
        <p:spPr>
          <a:xfrm>
            <a:off x="2834640" y="2606040"/>
            <a:ext cx="325120" cy="325120"/>
          </a:xfrm>
          <a:prstGeom prst="rect">
            <a:avLst/>
          </a:prstGeom>
          <a:solidFill>
            <a:srgbClr val="15686B"/>
          </a:solidFill>
          <a:ln w="12700">
            <a:solidFill>
              <a:srgbClr val="FFFFFF"/>
            </a:solidFill>
            <a:prstDash val="solid"/>
          </a:ln>
        </p:spPr>
        <p:txBody>
          <a:bodyPr/>
          <a:lstStyle/>
          <a:p>
            <a:endParaRPr/>
          </a:p>
        </p:txBody>
      </p:sp>
      <p:sp>
        <p:nvSpPr>
          <p:cNvPr id="627" name="q27"/>
          <p:cNvSpPr/>
          <p:nvPr/>
        </p:nvSpPr>
        <p:spPr>
          <a:xfrm>
            <a:off x="3200400" y="2606040"/>
            <a:ext cx="325120" cy="325120"/>
          </a:xfrm>
          <a:prstGeom prst="rect">
            <a:avLst/>
          </a:prstGeom>
          <a:solidFill>
            <a:srgbClr val="15686B"/>
          </a:solidFill>
          <a:ln w="12700">
            <a:solidFill>
              <a:srgbClr val="FFFFFF"/>
            </a:solidFill>
            <a:prstDash val="solid"/>
          </a:ln>
        </p:spPr>
        <p:txBody>
          <a:bodyPr/>
          <a:lstStyle/>
          <a:p>
            <a:endParaRPr/>
          </a:p>
        </p:txBody>
      </p:sp>
      <p:sp>
        <p:nvSpPr>
          <p:cNvPr id="628" name="q28"/>
          <p:cNvSpPr/>
          <p:nvPr/>
        </p:nvSpPr>
        <p:spPr>
          <a:xfrm>
            <a:off x="3566160" y="2606040"/>
            <a:ext cx="325120" cy="325120"/>
          </a:xfrm>
          <a:prstGeom prst="rect">
            <a:avLst/>
          </a:prstGeom>
          <a:solidFill>
            <a:srgbClr val="15686B"/>
          </a:solidFill>
          <a:ln w="12700">
            <a:solidFill>
              <a:srgbClr val="FFFFFF"/>
            </a:solidFill>
            <a:prstDash val="solid"/>
          </a:ln>
        </p:spPr>
        <p:txBody>
          <a:bodyPr/>
          <a:lstStyle/>
          <a:p>
            <a:endParaRPr/>
          </a:p>
        </p:txBody>
      </p:sp>
      <p:sp>
        <p:nvSpPr>
          <p:cNvPr id="629" name="q29"/>
          <p:cNvSpPr/>
          <p:nvPr/>
        </p:nvSpPr>
        <p:spPr>
          <a:xfrm>
            <a:off x="3931920" y="2606040"/>
            <a:ext cx="325120" cy="325120"/>
          </a:xfrm>
          <a:prstGeom prst="rect">
            <a:avLst/>
          </a:prstGeom>
          <a:solidFill>
            <a:srgbClr val="15686B"/>
          </a:solidFill>
          <a:ln w="12700">
            <a:solidFill>
              <a:srgbClr val="FFFFFF"/>
            </a:solidFill>
            <a:prstDash val="solid"/>
          </a:ln>
        </p:spPr>
        <p:txBody>
          <a:bodyPr/>
          <a:lstStyle/>
          <a:p>
            <a:endParaRPr/>
          </a:p>
        </p:txBody>
      </p:sp>
      <p:sp>
        <p:nvSpPr>
          <p:cNvPr id="630" name="q30"/>
          <p:cNvSpPr/>
          <p:nvPr/>
        </p:nvSpPr>
        <p:spPr>
          <a:xfrm>
            <a:off x="640080" y="2971800"/>
            <a:ext cx="325120" cy="325120"/>
          </a:xfrm>
          <a:prstGeom prst="rect">
            <a:avLst/>
          </a:prstGeom>
          <a:solidFill>
            <a:srgbClr val="15686B"/>
          </a:solidFill>
          <a:ln w="12700">
            <a:solidFill>
              <a:srgbClr val="FFFFFF"/>
            </a:solidFill>
            <a:prstDash val="solid"/>
          </a:ln>
        </p:spPr>
        <p:txBody>
          <a:bodyPr/>
          <a:lstStyle/>
          <a:p>
            <a:endParaRPr/>
          </a:p>
        </p:txBody>
      </p:sp>
      <p:sp>
        <p:nvSpPr>
          <p:cNvPr id="631" name="q31"/>
          <p:cNvSpPr/>
          <p:nvPr/>
        </p:nvSpPr>
        <p:spPr>
          <a:xfrm>
            <a:off x="1005840" y="2971800"/>
            <a:ext cx="325120" cy="325120"/>
          </a:xfrm>
          <a:prstGeom prst="rect">
            <a:avLst/>
          </a:prstGeom>
          <a:solidFill>
            <a:srgbClr val="15686B"/>
          </a:solidFill>
          <a:ln w="12700">
            <a:solidFill>
              <a:srgbClr val="FFFFFF"/>
            </a:solidFill>
            <a:prstDash val="solid"/>
          </a:ln>
        </p:spPr>
        <p:txBody>
          <a:bodyPr/>
          <a:lstStyle/>
          <a:p>
            <a:endParaRPr/>
          </a:p>
        </p:txBody>
      </p:sp>
      <p:sp>
        <p:nvSpPr>
          <p:cNvPr id="632" name="q32"/>
          <p:cNvSpPr/>
          <p:nvPr/>
        </p:nvSpPr>
        <p:spPr>
          <a:xfrm>
            <a:off x="1371600" y="2971800"/>
            <a:ext cx="325120" cy="325120"/>
          </a:xfrm>
          <a:prstGeom prst="rect">
            <a:avLst/>
          </a:prstGeom>
          <a:solidFill>
            <a:srgbClr val="15686B"/>
          </a:solidFill>
          <a:ln w="12700">
            <a:solidFill>
              <a:srgbClr val="FFFFFF"/>
            </a:solidFill>
            <a:prstDash val="solid"/>
          </a:ln>
        </p:spPr>
        <p:txBody>
          <a:bodyPr/>
          <a:lstStyle/>
          <a:p>
            <a:endParaRPr/>
          </a:p>
        </p:txBody>
      </p:sp>
      <p:sp>
        <p:nvSpPr>
          <p:cNvPr id="633" name="q33"/>
          <p:cNvSpPr/>
          <p:nvPr/>
        </p:nvSpPr>
        <p:spPr>
          <a:xfrm>
            <a:off x="1737360" y="2971800"/>
            <a:ext cx="325120" cy="325120"/>
          </a:xfrm>
          <a:prstGeom prst="rect">
            <a:avLst/>
          </a:prstGeom>
          <a:solidFill>
            <a:srgbClr val="15686B"/>
          </a:solidFill>
          <a:ln w="12700">
            <a:solidFill>
              <a:srgbClr val="FFFFFF"/>
            </a:solidFill>
            <a:prstDash val="solid"/>
          </a:ln>
        </p:spPr>
        <p:txBody>
          <a:bodyPr/>
          <a:lstStyle/>
          <a:p>
            <a:endParaRPr/>
          </a:p>
        </p:txBody>
      </p:sp>
      <p:sp>
        <p:nvSpPr>
          <p:cNvPr id="634" name="q34"/>
          <p:cNvSpPr/>
          <p:nvPr/>
        </p:nvSpPr>
        <p:spPr>
          <a:xfrm>
            <a:off x="2103120" y="2971800"/>
            <a:ext cx="325120" cy="325120"/>
          </a:xfrm>
          <a:prstGeom prst="rect">
            <a:avLst/>
          </a:prstGeom>
          <a:solidFill>
            <a:srgbClr val="15686B"/>
          </a:solidFill>
          <a:ln w="12700">
            <a:solidFill>
              <a:srgbClr val="FFFFFF"/>
            </a:solidFill>
            <a:prstDash val="solid"/>
          </a:ln>
        </p:spPr>
        <p:txBody>
          <a:bodyPr/>
          <a:lstStyle/>
          <a:p>
            <a:endParaRPr/>
          </a:p>
        </p:txBody>
      </p:sp>
      <p:sp>
        <p:nvSpPr>
          <p:cNvPr id="635" name="q35"/>
          <p:cNvSpPr/>
          <p:nvPr/>
        </p:nvSpPr>
        <p:spPr>
          <a:xfrm>
            <a:off x="2468880" y="2971800"/>
            <a:ext cx="325120" cy="325120"/>
          </a:xfrm>
          <a:prstGeom prst="rect">
            <a:avLst/>
          </a:prstGeom>
          <a:solidFill>
            <a:srgbClr val="15686B"/>
          </a:solidFill>
          <a:ln w="12700">
            <a:solidFill>
              <a:srgbClr val="FFFFFF"/>
            </a:solidFill>
            <a:prstDash val="solid"/>
          </a:ln>
        </p:spPr>
        <p:txBody>
          <a:bodyPr/>
          <a:lstStyle/>
          <a:p>
            <a:endParaRPr/>
          </a:p>
        </p:txBody>
      </p:sp>
      <p:sp>
        <p:nvSpPr>
          <p:cNvPr id="636" name="q36"/>
          <p:cNvSpPr/>
          <p:nvPr/>
        </p:nvSpPr>
        <p:spPr>
          <a:xfrm>
            <a:off x="2834640" y="2971800"/>
            <a:ext cx="325120" cy="325120"/>
          </a:xfrm>
          <a:prstGeom prst="rect">
            <a:avLst/>
          </a:prstGeom>
          <a:solidFill>
            <a:srgbClr val="15686B"/>
          </a:solidFill>
          <a:ln w="12700">
            <a:solidFill>
              <a:srgbClr val="FFFFFF"/>
            </a:solidFill>
            <a:prstDash val="solid"/>
          </a:ln>
        </p:spPr>
        <p:txBody>
          <a:bodyPr/>
          <a:lstStyle/>
          <a:p>
            <a:endParaRPr/>
          </a:p>
        </p:txBody>
      </p:sp>
      <p:sp>
        <p:nvSpPr>
          <p:cNvPr id="637" name="q37"/>
          <p:cNvSpPr/>
          <p:nvPr/>
        </p:nvSpPr>
        <p:spPr>
          <a:xfrm>
            <a:off x="3200400" y="2971800"/>
            <a:ext cx="325120" cy="325120"/>
          </a:xfrm>
          <a:prstGeom prst="rect">
            <a:avLst/>
          </a:prstGeom>
          <a:solidFill>
            <a:srgbClr val="15686B"/>
          </a:solidFill>
          <a:ln w="12700">
            <a:solidFill>
              <a:srgbClr val="FFFFFF"/>
            </a:solidFill>
            <a:prstDash val="solid"/>
          </a:ln>
        </p:spPr>
        <p:txBody>
          <a:bodyPr/>
          <a:lstStyle/>
          <a:p>
            <a:endParaRPr/>
          </a:p>
        </p:txBody>
      </p:sp>
      <p:sp>
        <p:nvSpPr>
          <p:cNvPr id="638" name="q38"/>
          <p:cNvSpPr/>
          <p:nvPr/>
        </p:nvSpPr>
        <p:spPr>
          <a:xfrm>
            <a:off x="3566160" y="2971800"/>
            <a:ext cx="325120" cy="325120"/>
          </a:xfrm>
          <a:prstGeom prst="rect">
            <a:avLst/>
          </a:prstGeom>
          <a:solidFill>
            <a:srgbClr val="15686B"/>
          </a:solidFill>
          <a:ln w="12700">
            <a:solidFill>
              <a:srgbClr val="FFFFFF"/>
            </a:solidFill>
            <a:prstDash val="solid"/>
          </a:ln>
        </p:spPr>
        <p:txBody>
          <a:bodyPr/>
          <a:lstStyle/>
          <a:p>
            <a:endParaRPr/>
          </a:p>
        </p:txBody>
      </p:sp>
      <p:sp>
        <p:nvSpPr>
          <p:cNvPr id="639" name="q39"/>
          <p:cNvSpPr/>
          <p:nvPr/>
        </p:nvSpPr>
        <p:spPr>
          <a:xfrm>
            <a:off x="3931920" y="2971800"/>
            <a:ext cx="325120" cy="325120"/>
          </a:xfrm>
          <a:prstGeom prst="rect">
            <a:avLst/>
          </a:prstGeom>
          <a:solidFill>
            <a:srgbClr val="15686B"/>
          </a:solidFill>
          <a:ln w="12700">
            <a:solidFill>
              <a:srgbClr val="FFFFFF"/>
            </a:solidFill>
            <a:prstDash val="solid"/>
          </a:ln>
        </p:spPr>
        <p:txBody>
          <a:bodyPr/>
          <a:lstStyle/>
          <a:p>
            <a:endParaRPr/>
          </a:p>
        </p:txBody>
      </p:sp>
      <p:sp>
        <p:nvSpPr>
          <p:cNvPr id="640" name="q40"/>
          <p:cNvSpPr/>
          <p:nvPr/>
        </p:nvSpPr>
        <p:spPr>
          <a:xfrm>
            <a:off x="640080" y="3337560"/>
            <a:ext cx="325120" cy="325120"/>
          </a:xfrm>
          <a:prstGeom prst="rect">
            <a:avLst/>
          </a:prstGeom>
          <a:solidFill>
            <a:srgbClr val="15686B"/>
          </a:solidFill>
          <a:ln w="12700">
            <a:solidFill>
              <a:srgbClr val="FFFFFF"/>
            </a:solidFill>
            <a:prstDash val="solid"/>
          </a:ln>
        </p:spPr>
        <p:txBody>
          <a:bodyPr/>
          <a:lstStyle/>
          <a:p>
            <a:endParaRPr/>
          </a:p>
        </p:txBody>
      </p:sp>
      <p:sp>
        <p:nvSpPr>
          <p:cNvPr id="641" name="q41"/>
          <p:cNvSpPr/>
          <p:nvPr/>
        </p:nvSpPr>
        <p:spPr>
          <a:xfrm>
            <a:off x="1005840" y="3337560"/>
            <a:ext cx="325120" cy="325120"/>
          </a:xfrm>
          <a:prstGeom prst="rect">
            <a:avLst/>
          </a:prstGeom>
          <a:solidFill>
            <a:srgbClr val="15686B"/>
          </a:solidFill>
          <a:ln w="12700">
            <a:solidFill>
              <a:srgbClr val="FFFFFF"/>
            </a:solidFill>
            <a:prstDash val="solid"/>
          </a:ln>
        </p:spPr>
        <p:txBody>
          <a:bodyPr/>
          <a:lstStyle/>
          <a:p>
            <a:endParaRPr/>
          </a:p>
        </p:txBody>
      </p:sp>
      <p:sp>
        <p:nvSpPr>
          <p:cNvPr id="642" name="q42"/>
          <p:cNvSpPr/>
          <p:nvPr/>
        </p:nvSpPr>
        <p:spPr>
          <a:xfrm>
            <a:off x="1371600" y="3337560"/>
            <a:ext cx="325120" cy="325120"/>
          </a:xfrm>
          <a:prstGeom prst="rect">
            <a:avLst/>
          </a:prstGeom>
          <a:solidFill>
            <a:srgbClr val="15686B"/>
          </a:solidFill>
          <a:ln w="12700">
            <a:solidFill>
              <a:srgbClr val="FFFFFF"/>
            </a:solidFill>
            <a:prstDash val="solid"/>
          </a:ln>
        </p:spPr>
        <p:txBody>
          <a:bodyPr/>
          <a:lstStyle/>
          <a:p>
            <a:endParaRPr/>
          </a:p>
        </p:txBody>
      </p:sp>
      <p:sp>
        <p:nvSpPr>
          <p:cNvPr id="643" name="q43"/>
          <p:cNvSpPr/>
          <p:nvPr/>
        </p:nvSpPr>
        <p:spPr>
          <a:xfrm>
            <a:off x="1737360" y="3337560"/>
            <a:ext cx="325120" cy="325120"/>
          </a:xfrm>
          <a:prstGeom prst="rect">
            <a:avLst/>
          </a:prstGeom>
          <a:solidFill>
            <a:srgbClr val="15686B"/>
          </a:solidFill>
          <a:ln w="12700">
            <a:solidFill>
              <a:srgbClr val="FFFFFF"/>
            </a:solidFill>
            <a:prstDash val="solid"/>
          </a:ln>
        </p:spPr>
        <p:txBody>
          <a:bodyPr/>
          <a:lstStyle/>
          <a:p>
            <a:endParaRPr/>
          </a:p>
        </p:txBody>
      </p:sp>
      <p:sp>
        <p:nvSpPr>
          <p:cNvPr id="644" name="q44"/>
          <p:cNvSpPr/>
          <p:nvPr/>
        </p:nvSpPr>
        <p:spPr>
          <a:xfrm>
            <a:off x="2103120" y="3337560"/>
            <a:ext cx="325120" cy="325120"/>
          </a:xfrm>
          <a:prstGeom prst="rect">
            <a:avLst/>
          </a:prstGeom>
          <a:solidFill>
            <a:srgbClr val="15686B"/>
          </a:solidFill>
          <a:ln w="12700">
            <a:solidFill>
              <a:srgbClr val="FFFFFF"/>
            </a:solidFill>
            <a:prstDash val="solid"/>
          </a:ln>
        </p:spPr>
        <p:txBody>
          <a:bodyPr/>
          <a:lstStyle/>
          <a:p>
            <a:endParaRPr/>
          </a:p>
        </p:txBody>
      </p:sp>
      <p:sp>
        <p:nvSpPr>
          <p:cNvPr id="645" name="q45"/>
          <p:cNvSpPr/>
          <p:nvPr/>
        </p:nvSpPr>
        <p:spPr>
          <a:xfrm>
            <a:off x="2468880" y="3337560"/>
            <a:ext cx="325120" cy="325120"/>
          </a:xfrm>
          <a:prstGeom prst="rect">
            <a:avLst/>
          </a:prstGeom>
          <a:solidFill>
            <a:srgbClr val="15686B"/>
          </a:solidFill>
          <a:ln w="12700">
            <a:solidFill>
              <a:srgbClr val="FFFFFF"/>
            </a:solidFill>
            <a:prstDash val="solid"/>
          </a:ln>
        </p:spPr>
        <p:txBody>
          <a:bodyPr/>
          <a:lstStyle/>
          <a:p>
            <a:endParaRPr/>
          </a:p>
        </p:txBody>
      </p:sp>
      <p:sp>
        <p:nvSpPr>
          <p:cNvPr id="646" name="q46"/>
          <p:cNvSpPr/>
          <p:nvPr/>
        </p:nvSpPr>
        <p:spPr>
          <a:xfrm>
            <a:off x="2834640" y="3337560"/>
            <a:ext cx="325120" cy="325120"/>
          </a:xfrm>
          <a:prstGeom prst="rect">
            <a:avLst/>
          </a:prstGeom>
          <a:solidFill>
            <a:srgbClr val="15686B"/>
          </a:solidFill>
          <a:ln w="12700">
            <a:solidFill>
              <a:srgbClr val="FFFFFF"/>
            </a:solidFill>
            <a:prstDash val="solid"/>
          </a:ln>
        </p:spPr>
        <p:txBody>
          <a:bodyPr/>
          <a:lstStyle/>
          <a:p>
            <a:endParaRPr/>
          </a:p>
        </p:txBody>
      </p:sp>
      <p:sp>
        <p:nvSpPr>
          <p:cNvPr id="647" name="q47"/>
          <p:cNvSpPr/>
          <p:nvPr/>
        </p:nvSpPr>
        <p:spPr>
          <a:xfrm>
            <a:off x="3200400" y="3337560"/>
            <a:ext cx="325120" cy="325120"/>
          </a:xfrm>
          <a:prstGeom prst="rect">
            <a:avLst/>
          </a:prstGeom>
          <a:solidFill>
            <a:srgbClr val="15686B"/>
          </a:solidFill>
          <a:ln w="12700">
            <a:solidFill>
              <a:srgbClr val="FFFFFF"/>
            </a:solidFill>
            <a:prstDash val="solid"/>
          </a:ln>
        </p:spPr>
        <p:txBody>
          <a:bodyPr/>
          <a:lstStyle/>
          <a:p>
            <a:endParaRPr/>
          </a:p>
        </p:txBody>
      </p:sp>
      <p:sp>
        <p:nvSpPr>
          <p:cNvPr id="648" name="q48"/>
          <p:cNvSpPr/>
          <p:nvPr/>
        </p:nvSpPr>
        <p:spPr>
          <a:xfrm>
            <a:off x="3566160" y="3337560"/>
            <a:ext cx="325120" cy="325120"/>
          </a:xfrm>
          <a:prstGeom prst="rect">
            <a:avLst/>
          </a:prstGeom>
          <a:solidFill>
            <a:srgbClr val="15686B"/>
          </a:solidFill>
          <a:ln w="12700">
            <a:solidFill>
              <a:srgbClr val="FFFFFF"/>
            </a:solidFill>
            <a:prstDash val="solid"/>
          </a:ln>
        </p:spPr>
        <p:txBody>
          <a:bodyPr/>
          <a:lstStyle/>
          <a:p>
            <a:endParaRPr/>
          </a:p>
        </p:txBody>
      </p:sp>
      <p:sp>
        <p:nvSpPr>
          <p:cNvPr id="649" name="q49"/>
          <p:cNvSpPr/>
          <p:nvPr/>
        </p:nvSpPr>
        <p:spPr>
          <a:xfrm>
            <a:off x="3931920" y="3337560"/>
            <a:ext cx="325120" cy="325120"/>
          </a:xfrm>
          <a:prstGeom prst="rect">
            <a:avLst/>
          </a:prstGeom>
          <a:solidFill>
            <a:srgbClr val="15686B"/>
          </a:solidFill>
          <a:ln w="12700">
            <a:solidFill>
              <a:srgbClr val="FFFFFF"/>
            </a:solidFill>
            <a:prstDash val="solid"/>
          </a:ln>
        </p:spPr>
        <p:txBody>
          <a:bodyPr/>
          <a:lstStyle/>
          <a:p>
            <a:endParaRPr/>
          </a:p>
        </p:txBody>
      </p:sp>
      <p:sp>
        <p:nvSpPr>
          <p:cNvPr id="650" name="q50"/>
          <p:cNvSpPr/>
          <p:nvPr/>
        </p:nvSpPr>
        <p:spPr>
          <a:xfrm>
            <a:off x="640080" y="3703320"/>
            <a:ext cx="325120" cy="325120"/>
          </a:xfrm>
          <a:prstGeom prst="rect">
            <a:avLst/>
          </a:prstGeom>
          <a:solidFill>
            <a:srgbClr val="15686B"/>
          </a:solidFill>
          <a:ln w="12700">
            <a:solidFill>
              <a:srgbClr val="FFFFFF"/>
            </a:solidFill>
            <a:prstDash val="solid"/>
          </a:ln>
        </p:spPr>
        <p:txBody>
          <a:bodyPr/>
          <a:lstStyle/>
          <a:p>
            <a:endParaRPr/>
          </a:p>
        </p:txBody>
      </p:sp>
      <p:sp>
        <p:nvSpPr>
          <p:cNvPr id="651" name="q51"/>
          <p:cNvSpPr/>
          <p:nvPr/>
        </p:nvSpPr>
        <p:spPr>
          <a:xfrm>
            <a:off x="1005840" y="3703320"/>
            <a:ext cx="325120" cy="325120"/>
          </a:xfrm>
          <a:prstGeom prst="rect">
            <a:avLst/>
          </a:prstGeom>
          <a:solidFill>
            <a:srgbClr val="5E9B9D"/>
          </a:solidFill>
          <a:ln w="12700">
            <a:solidFill>
              <a:srgbClr val="FFFFFF"/>
            </a:solidFill>
            <a:prstDash val="solid"/>
          </a:ln>
        </p:spPr>
        <p:txBody>
          <a:bodyPr/>
          <a:lstStyle/>
          <a:p>
            <a:endParaRPr/>
          </a:p>
        </p:txBody>
      </p:sp>
      <p:sp>
        <p:nvSpPr>
          <p:cNvPr id="652" name="q52"/>
          <p:cNvSpPr/>
          <p:nvPr/>
        </p:nvSpPr>
        <p:spPr>
          <a:xfrm>
            <a:off x="1371600" y="3703320"/>
            <a:ext cx="325120" cy="325120"/>
          </a:xfrm>
          <a:prstGeom prst="rect">
            <a:avLst/>
          </a:prstGeom>
          <a:solidFill>
            <a:srgbClr val="5E9B9D"/>
          </a:solidFill>
          <a:ln w="12700">
            <a:solidFill>
              <a:srgbClr val="FFFFFF"/>
            </a:solidFill>
            <a:prstDash val="solid"/>
          </a:ln>
        </p:spPr>
        <p:txBody>
          <a:bodyPr/>
          <a:lstStyle/>
          <a:p>
            <a:endParaRPr/>
          </a:p>
        </p:txBody>
      </p:sp>
      <p:sp>
        <p:nvSpPr>
          <p:cNvPr id="653" name="q53"/>
          <p:cNvSpPr/>
          <p:nvPr/>
        </p:nvSpPr>
        <p:spPr>
          <a:xfrm>
            <a:off x="1737360" y="3703320"/>
            <a:ext cx="325120" cy="325120"/>
          </a:xfrm>
          <a:prstGeom prst="rect">
            <a:avLst/>
          </a:prstGeom>
          <a:solidFill>
            <a:srgbClr val="5E9B9D"/>
          </a:solidFill>
          <a:ln w="12700">
            <a:solidFill>
              <a:srgbClr val="FFFFFF"/>
            </a:solidFill>
            <a:prstDash val="solid"/>
          </a:ln>
        </p:spPr>
        <p:txBody>
          <a:bodyPr/>
          <a:lstStyle/>
          <a:p>
            <a:endParaRPr/>
          </a:p>
        </p:txBody>
      </p:sp>
      <p:sp>
        <p:nvSpPr>
          <p:cNvPr id="654" name="q54"/>
          <p:cNvSpPr/>
          <p:nvPr/>
        </p:nvSpPr>
        <p:spPr>
          <a:xfrm>
            <a:off x="2103120" y="3703320"/>
            <a:ext cx="325120" cy="325120"/>
          </a:xfrm>
          <a:prstGeom prst="rect">
            <a:avLst/>
          </a:prstGeom>
          <a:solidFill>
            <a:srgbClr val="5E9B9D"/>
          </a:solidFill>
          <a:ln w="12700">
            <a:solidFill>
              <a:srgbClr val="FFFFFF"/>
            </a:solidFill>
            <a:prstDash val="solid"/>
          </a:ln>
        </p:spPr>
        <p:txBody>
          <a:bodyPr/>
          <a:lstStyle/>
          <a:p>
            <a:endParaRPr/>
          </a:p>
        </p:txBody>
      </p:sp>
      <p:sp>
        <p:nvSpPr>
          <p:cNvPr id="655" name="q55"/>
          <p:cNvSpPr/>
          <p:nvPr/>
        </p:nvSpPr>
        <p:spPr>
          <a:xfrm>
            <a:off x="2468880" y="3703320"/>
            <a:ext cx="325120" cy="325120"/>
          </a:xfrm>
          <a:prstGeom prst="rect">
            <a:avLst/>
          </a:prstGeom>
          <a:solidFill>
            <a:srgbClr val="5E9B9D"/>
          </a:solidFill>
          <a:ln w="12700">
            <a:solidFill>
              <a:srgbClr val="FFFFFF"/>
            </a:solidFill>
            <a:prstDash val="solid"/>
          </a:ln>
        </p:spPr>
        <p:txBody>
          <a:bodyPr/>
          <a:lstStyle/>
          <a:p>
            <a:endParaRPr/>
          </a:p>
        </p:txBody>
      </p:sp>
      <p:sp>
        <p:nvSpPr>
          <p:cNvPr id="656" name="q56"/>
          <p:cNvSpPr/>
          <p:nvPr/>
        </p:nvSpPr>
        <p:spPr>
          <a:xfrm>
            <a:off x="2834640" y="3703320"/>
            <a:ext cx="325120" cy="325120"/>
          </a:xfrm>
          <a:prstGeom prst="rect">
            <a:avLst/>
          </a:prstGeom>
          <a:solidFill>
            <a:srgbClr val="5E9B9D"/>
          </a:solidFill>
          <a:ln w="12700">
            <a:solidFill>
              <a:srgbClr val="FFFFFF"/>
            </a:solidFill>
            <a:prstDash val="solid"/>
          </a:ln>
        </p:spPr>
        <p:txBody>
          <a:bodyPr/>
          <a:lstStyle/>
          <a:p>
            <a:endParaRPr/>
          </a:p>
        </p:txBody>
      </p:sp>
      <p:sp>
        <p:nvSpPr>
          <p:cNvPr id="657" name="q57"/>
          <p:cNvSpPr/>
          <p:nvPr/>
        </p:nvSpPr>
        <p:spPr>
          <a:xfrm>
            <a:off x="3200400" y="3703320"/>
            <a:ext cx="325120" cy="325120"/>
          </a:xfrm>
          <a:prstGeom prst="rect">
            <a:avLst/>
          </a:prstGeom>
          <a:solidFill>
            <a:srgbClr val="5E9B9D"/>
          </a:solidFill>
          <a:ln w="12700">
            <a:solidFill>
              <a:srgbClr val="FFFFFF"/>
            </a:solidFill>
            <a:prstDash val="solid"/>
          </a:ln>
        </p:spPr>
        <p:txBody>
          <a:bodyPr/>
          <a:lstStyle/>
          <a:p>
            <a:endParaRPr/>
          </a:p>
        </p:txBody>
      </p:sp>
      <p:sp>
        <p:nvSpPr>
          <p:cNvPr id="658" name="q58"/>
          <p:cNvSpPr/>
          <p:nvPr/>
        </p:nvSpPr>
        <p:spPr>
          <a:xfrm>
            <a:off x="3566160" y="3703320"/>
            <a:ext cx="325120" cy="325120"/>
          </a:xfrm>
          <a:prstGeom prst="rect">
            <a:avLst/>
          </a:prstGeom>
          <a:solidFill>
            <a:srgbClr val="5E9B9D"/>
          </a:solidFill>
          <a:ln w="12700">
            <a:solidFill>
              <a:srgbClr val="FFFFFF"/>
            </a:solidFill>
            <a:prstDash val="solid"/>
          </a:ln>
        </p:spPr>
        <p:txBody>
          <a:bodyPr/>
          <a:lstStyle/>
          <a:p>
            <a:endParaRPr/>
          </a:p>
        </p:txBody>
      </p:sp>
      <p:sp>
        <p:nvSpPr>
          <p:cNvPr id="700" name="Cap"/>
          <p:cNvSpPr/>
          <p:nvPr/>
        </p:nvSpPr>
        <p:spPr>
          <a:xfrm>
            <a:off x="640080" y="4160520"/>
            <a:ext cx="4114800" cy="30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1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The 59 women who have cancer, enlarged from the 10,000.</a:t>
            </a:r>
          </a:p>
        </p:txBody>
      </p:sp>
      <p:sp>
        <p:nvSpPr>
          <p:cNvPr id="20" name="Lead"/>
          <p:cNvSpPr/>
          <p:nvPr/>
        </p:nvSpPr>
        <p:spPr>
          <a:xfrm>
            <a:off x="5486400" y="1874520"/>
            <a:ext cx="6096000" cy="8001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Look only at the 59 women who have cancer. Everyone else is set aside for now.</a:t>
            </a:r>
          </a:p>
        </p:txBody>
      </p:sp>
      <p:sp>
        <p:nvSpPr>
          <p:cNvPr id="30" name="card30"/>
          <p:cNvSpPr/>
          <p:nvPr/>
        </p:nvSpPr>
        <p:spPr>
          <a:xfrm>
            <a:off x="5486400" y="3048000"/>
            <a:ext cx="6096000" cy="1219200"/>
          </a:xfrm>
          <a:prstGeom prst="roundRect">
            <a:avLst>
              <a:gd name="adj" fmla="val 6000"/>
            </a:avLst>
          </a:prstGeom>
          <a:solidFill>
            <a:srgbClr val="F4F6F8"/>
          </a:solidFill>
          <a:ln w="12700">
            <a:solidFill>
              <a:srgbClr val="15686B"/>
            </a:solidFill>
            <a:prstDash val="solid"/>
          </a:ln>
        </p:spPr>
        <p:txBody>
          <a:bodyPr/>
          <a:lstStyle/>
          <a:p>
            <a:endParaRPr/>
          </a:p>
        </p:txBody>
      </p:sp>
      <p:sp>
        <p:nvSpPr>
          <p:cNvPr id="31" name="cardtx30"/>
          <p:cNvSpPr/>
          <p:nvPr/>
        </p:nvSpPr>
        <p:spPr>
          <a:xfrm>
            <a:off x="5715000" y="3238500"/>
            <a:ext cx="5638800" cy="838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Of those 59, the ones called back: </a:t>
            </a:r>
            <a:r>
              <a:rPr kumimoji="0" lang="en-US" sz="15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51</a:t>
            </a:r>
          </a:p>
          <a:p>
            <a:pPr marL="0" marR="0" lvl="0" indent="0" algn="l" defTabSz="914400" rtl="0" eaLnBrk="1" fontAlgn="auto" latinLnBrk="0" hangingPunct="1">
              <a:lnSpc>
                <a:spcPct val="100000"/>
              </a:lnSpc>
              <a:spcBef>
                <a:spcPts val="0"/>
              </a:spcBef>
              <a:spcAft>
                <a:spcPts val="0"/>
              </a:spcAft>
              <a:buNone/>
              <a:tabLst/>
              <a:defRPr/>
            </a:pPr>
            <a:r>
              <a:rPr kumimoji="0" lang="en-US" sz="8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00000"/>
              </a:lnSpc>
              <a:spcBef>
                <a:spcPts val="0"/>
              </a:spcBef>
              <a:spcAft>
                <a:spcPts val="0"/>
              </a:spcAft>
              <a:buNone/>
              <a:tabLst/>
              <a:defRPr/>
            </a:pPr>
            <a:r>
              <a:rPr kumimoji="0" lang="en-US" sz="17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P(callback | cancer) = 51 / 59 = </a:t>
            </a:r>
            <a:r>
              <a:rPr kumimoji="0" lang="en-US" sz="17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87%</a:t>
            </a:r>
          </a:p>
        </p:txBody>
      </p:sp>
      <p:sp>
        <p:nvSpPr>
          <p:cNvPr id="50" name="Note"/>
          <p:cNvSpPr/>
          <p:nvPr/>
        </p:nvSpPr>
        <p:spPr>
          <a:xfrm>
            <a:off x="5486400" y="4876800"/>
            <a:ext cx="6096000" cy="7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4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This is the number the mammogram is judged on, and it is a good one.</a:t>
            </a:r>
          </a:p>
        </p:txBody>
      </p:sp>
      <p:sp>
        <p:nvSpPr>
          <p:cNvPr id="6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Sensitivity 86.9%. Lehman CD et al. National performance benchmarks for modern screening digital mammography, Breast Cancer Surveillance Consortium. Radiology 2017;283(1):49-58. 1,682,504 screens, 359 radiologists, 95 facilities, 2007-2013.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SECOND QUESTION, THE ONE PEOPLE GET BACKWARDS</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If you get a callback, how likely is cancer?</a:t>
            </a:r>
          </a:p>
        </p:txBody>
      </p:sp>
      <p:pic>
        <p:nvPicPr>
          <p:cNvPr id="19" name="Waffle"/>
          <p:cNvPicPr/>
          <p:nvPr/>
        </p:nvPicPr>
        <p:blipFill>
          <a:blip/>
          <a:stretch>
            <a:fillRect/>
          </a:stretch>
        </p:blipFill>
        <p:spPr>
          <a:xfrm>
            <a:off x="640080" y="1874520"/>
            <a:ext cx="4114800" cy="4114800"/>
          </a:xfrm>
          <a:prstGeom prst="rect">
            <a:avLst/>
          </a:prstGeom>
        </p:spPr>
      </p:pic>
      <p:sp>
        <p:nvSpPr>
          <p:cNvPr id="20" name="Lead"/>
          <p:cNvSpPr/>
          <p:nvPr/>
        </p:nvSpPr>
        <p:spPr>
          <a:xfrm>
            <a:off x="5486400" y="1874520"/>
            <a:ext cx="6096000" cy="8001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Now look only at the women who get called back. Same picture, we just divide by a different group.</a:t>
            </a:r>
          </a:p>
        </p:txBody>
      </p:sp>
      <p:sp>
        <p:nvSpPr>
          <p:cNvPr id="30" name="card30"/>
          <p:cNvSpPr/>
          <p:nvPr/>
        </p:nvSpPr>
        <p:spPr>
          <a:xfrm>
            <a:off x="5486400" y="3048000"/>
            <a:ext cx="6096000" cy="1219200"/>
          </a:xfrm>
          <a:prstGeom prst="roundRect">
            <a:avLst>
              <a:gd name="adj" fmla="val 6000"/>
            </a:avLst>
          </a:prstGeom>
          <a:solidFill>
            <a:srgbClr val="FBF1EA"/>
          </a:solidFill>
          <a:ln w="12700">
            <a:solidFill>
              <a:srgbClr val="F4B740"/>
            </a:solidFill>
            <a:prstDash val="solid"/>
          </a:ln>
        </p:spPr>
        <p:txBody>
          <a:bodyPr/>
          <a:lstStyle/>
          <a:p>
            <a:endParaRPr/>
          </a:p>
        </p:txBody>
      </p:sp>
      <p:sp>
        <p:nvSpPr>
          <p:cNvPr id="31" name="cardtx30"/>
          <p:cNvSpPr/>
          <p:nvPr/>
        </p:nvSpPr>
        <p:spPr>
          <a:xfrm>
            <a:off x="5715000" y="3238500"/>
            <a:ext cx="5638800" cy="838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Of those 1,154, the ones who have cancer: </a:t>
            </a:r>
            <a:r>
              <a:rPr kumimoji="0" lang="en-US" sz="15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51</a:t>
            </a:r>
          </a:p>
          <a:p>
            <a:pPr marL="0" marR="0" lvl="0" indent="0" algn="l" defTabSz="914400" rtl="0" eaLnBrk="1" fontAlgn="auto" latinLnBrk="0" hangingPunct="1">
              <a:lnSpc>
                <a:spcPct val="100000"/>
              </a:lnSpc>
              <a:spcBef>
                <a:spcPts val="0"/>
              </a:spcBef>
              <a:spcAft>
                <a:spcPts val="0"/>
              </a:spcAft>
              <a:buNone/>
              <a:tabLst/>
              <a:defRPr/>
            </a:pPr>
            <a:r>
              <a:rPr kumimoji="0" lang="en-US" sz="8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00000"/>
              </a:lnSpc>
              <a:spcBef>
                <a:spcPts val="0"/>
              </a:spcBef>
              <a:spcAft>
                <a:spcPts val="0"/>
              </a:spcAft>
              <a:buNone/>
              <a:tabLst/>
              <a:defRPr/>
            </a:pPr>
            <a:r>
              <a:rPr kumimoji="0" lang="en-US" sz="17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P(cancer | callback) = 51 / 1,154 = </a:t>
            </a:r>
            <a:r>
              <a:rPr kumimoji="0" lang="en-US" sz="17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4.4%</a:t>
            </a:r>
          </a:p>
        </p:txBody>
      </p:sp>
      <p:sp>
        <p:nvSpPr>
          <p:cNvPr id="50" name="Note"/>
          <p:cNvSpPr/>
          <p:nvPr/>
        </p:nvSpPr>
        <p:spPr>
          <a:xfrm>
            <a:off x="5486400" y="4876800"/>
            <a:ext cx="6096000" cy="8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4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Twenty-two of every twenty-three callbacks are false alarms. This is the value the benchmark study itself publishes.</a:t>
            </a:r>
          </a:p>
        </p:txBody>
      </p:sp>
      <p:sp>
        <p:nvSpPr>
          <p:cNvPr id="6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Positive predictive value of an abnormal interpretation, 4.4%. Lehman CD et al. National performance benchmarks for modern screening digital mammography, Breast Cancer Surveillance Consortium. Radiology 2017;283(1):49-58. 1,682,504 screens, 359 radiologists, 95 facilities, 2007-2013.</a:t>
            </a:r>
          </a:p>
        </p:txBody>
      </p:sp>
      <p:pic>
        <p:nvPicPr>
          <p:cNvPr id="900" name="Waffle"/>
          <p:cNvPicPr/>
          <p:nvPr/>
        </p:nvPicPr>
        <p:blipFill>
          <a:blip r:embed="rId2"/>
          <a:stretch>
            <a:fillRect/>
          </a:stretch>
        </p:blipFill>
        <p:spPr>
          <a:xfrm>
            <a:off x="640080" y="1874520"/>
            <a:ext cx="4114800" cy="4114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THE REVERSAL, FOR ONE WOMAN</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Unlikely, but not ignorable</a:t>
            </a:r>
          </a:p>
        </p:txBody>
      </p:sp>
      <p:sp>
        <p:nvSpPr>
          <p:cNvPr id="20" name="flip"/>
          <p:cNvSpPr/>
          <p:nvPr/>
        </p:nvSpPr>
        <p:spPr>
          <a:xfrm>
            <a:off x="640080" y="2011680"/>
            <a:ext cx="10911840" cy="2103120"/>
          </a:xfrm>
          <a:prstGeom prst="roundRect">
            <a:avLst>
              <a:gd name="adj" fmla="val 4000"/>
            </a:avLst>
          </a:prstGeom>
          <a:solidFill>
            <a:srgbClr val="F4F6F8"/>
          </a:solidFill>
          <a:ln w="12700">
            <a:solidFill>
              <a:srgbClr val="15686B"/>
            </a:solidFill>
            <a:prstDash val="solid"/>
          </a:ln>
        </p:spPr>
        <p:txBody>
          <a:bodyPr/>
          <a:lstStyle/>
          <a:p>
            <a:endParaRPr/>
          </a:p>
        </p:txBody>
      </p:sp>
      <p:sp>
        <p:nvSpPr>
          <p:cNvPr id="21" name="f1"/>
          <p:cNvSpPr/>
          <p:nvPr/>
        </p:nvSpPr>
        <p:spPr>
          <a:xfrm>
            <a:off x="914400" y="2331720"/>
            <a:ext cx="10363200"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None/>
              <a:tabLst/>
              <a:defRPr/>
            </a:pPr>
            <a:r>
              <a:rPr kumimoji="0" lang="en-US" sz="2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P( called back | cancer )  =  87%</a:t>
            </a:r>
          </a:p>
        </p:txBody>
      </p:sp>
      <p:sp>
        <p:nvSpPr>
          <p:cNvPr id="22" name="f2"/>
          <p:cNvSpPr/>
          <p:nvPr/>
        </p:nvSpPr>
        <p:spPr>
          <a:xfrm>
            <a:off x="914400" y="2952750"/>
            <a:ext cx="10363200"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None/>
              <a:tabLst/>
              <a:defRPr/>
            </a:pPr>
            <a:r>
              <a:rPr kumimoji="0" lang="en-US" sz="15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   reversed becomes</a:t>
            </a:r>
          </a:p>
        </p:txBody>
      </p:sp>
      <p:sp>
        <p:nvSpPr>
          <p:cNvPr id="23" name="f3"/>
          <p:cNvSpPr/>
          <p:nvPr/>
        </p:nvSpPr>
        <p:spPr>
          <a:xfrm>
            <a:off x="914400" y="3383280"/>
            <a:ext cx="10363200"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None/>
              <a:tabLst/>
              <a:defRPr/>
            </a:pPr>
            <a:r>
              <a:rPr kumimoji="0" lang="en-US" sz="26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P( cancer | called back )  =  4%</a:t>
            </a:r>
          </a:p>
        </p:txBody>
      </p:sp>
      <p:sp>
        <p:nvSpPr>
          <p:cNvPr id="40" name="Close"/>
          <p:cNvSpPr/>
          <p:nvPr/>
        </p:nvSpPr>
        <p:spPr>
          <a:xfrm>
            <a:off x="640080" y="4632960"/>
            <a:ext cx="10911840" cy="12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87% is what the mammogram was measured on. 4% is what her letter means. Same test, same day, same woman.</a:t>
            </a:r>
          </a:p>
          <a:p>
            <a:pPr marL="0" marR="0" lvl="0" indent="0" algn="l" defTabSz="914400" rtl="0" eaLnBrk="1" fontAlgn="auto" latinLnBrk="0" hangingPunct="1">
              <a:lnSpc>
                <a:spcPct val="100000"/>
              </a:lnSpc>
              <a:spcBef>
                <a:spcPts val="0"/>
              </a:spcBef>
              <a:spcAft>
                <a:spcPts val="0"/>
              </a:spcAft>
              <a:buNone/>
              <a:tabLst/>
              <a:defRPr/>
            </a:pPr>
            <a:r>
              <a:rPr kumimoji="0" lang="en-US" sz="8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40000"/>
              </a:lnSpc>
              <a:spcBef>
                <a:spcPts val="0"/>
              </a:spcBef>
              <a:spcAft>
                <a:spcPts val="0"/>
              </a:spcAft>
              <a:buNone/>
              <a:tabLst/>
              <a:defRPr/>
            </a:pPr>
            <a:r>
              <a:rPr kumimoji="0" lang="en-US" sz="17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Unlikely is why she should not panic. Not ignorable is why the biopsy is warranted.</a:t>
            </a:r>
          </a:p>
        </p:txBody>
      </p:sp>
      <p:sp>
        <p:nvSpPr>
          <p:cNvPr id="5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Positive predictive value of an abnormal interpretation 4.4%, of a biopsy recommendation 25.6%. Lehman CD et al., Breast Cancer Surveillance Consortium. Radiology 2017;283(1):49-58.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THE BIGGER PICTURE</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Why reasonable people disagree</a:t>
            </a:r>
          </a:p>
        </p:txBody>
      </p:sp>
      <p:sp>
        <p:nvSpPr>
          <p:cNvPr id="20" name="Sub"/>
          <p:cNvSpPr/>
          <p:nvPr/>
        </p:nvSpPr>
        <p:spPr>
          <a:xfrm>
            <a:off x="640080" y="1783080"/>
            <a:ext cx="1091184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Of US women aged 50, screened every year for ten years:</a:t>
            </a:r>
          </a:p>
        </p:txBody>
      </p:sp>
      <p:sp>
        <p:nvSpPr>
          <p:cNvPr id="30" name="r30"/>
          <p:cNvSpPr/>
          <p:nvPr/>
        </p:nvSpPr>
        <p:spPr>
          <a:xfrm>
            <a:off x="640080" y="2209800"/>
            <a:ext cx="10911840" cy="594360"/>
          </a:xfrm>
          <a:prstGeom prst="roundRect">
            <a:avLst>
              <a:gd name="adj" fmla="val 4000"/>
            </a:avLst>
          </a:prstGeom>
          <a:solidFill>
            <a:srgbClr val="F4F6F8"/>
          </a:solidFill>
          <a:ln w="12700">
            <a:solidFill>
              <a:srgbClr val="15686B"/>
            </a:solidFill>
            <a:prstDash val="solid"/>
          </a:ln>
        </p:spPr>
        <p:txBody>
          <a:bodyPr/>
          <a:lstStyle/>
          <a:p>
            <a:endParaRPr/>
          </a:p>
        </p:txBody>
      </p:sp>
      <p:sp>
        <p:nvSpPr>
          <p:cNvPr id="31" name="l30"/>
          <p:cNvSpPr/>
          <p:nvPr/>
        </p:nvSpPr>
        <p:spPr>
          <a:xfrm>
            <a:off x="960120" y="2209800"/>
            <a:ext cx="68580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avoid a breast cancer death</a:t>
            </a:r>
          </a:p>
        </p:txBody>
      </p:sp>
      <p:sp>
        <p:nvSpPr>
          <p:cNvPr id="32" name="v30"/>
          <p:cNvSpPr/>
          <p:nvPr/>
        </p:nvSpPr>
        <p:spPr>
          <a:xfrm>
            <a:off x="7955280" y="2209800"/>
            <a:ext cx="327660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None/>
              <a:tabLst/>
              <a:defRPr/>
            </a:pPr>
            <a:r>
              <a:rPr kumimoji="0" lang="en-US" sz="2400" b="1" i="0" u="none" strike="noStrike" kern="1200" cap="none" spc="0" normalizeH="0" baseline="0" noProof="0" dirty="0">
                <a:ln>
                  <a:noFill/>
                </a:ln>
                <a:solidFill>
                  <a:srgbClr val="15686B"/>
                </a:solidFill>
                <a:effectLst/>
                <a:uLnTx/>
                <a:uFillTx/>
                <a:latin typeface="Bookman Old Style" pitchFamily="34" charset="0"/>
                <a:ea typeface="Bookman Old Style" pitchFamily="34" charset="-122"/>
                <a:cs typeface="Bookman Old Style" pitchFamily="34" charset="-120"/>
              </a:rPr>
              <a:t>0.03% to 0.32%</a:t>
            </a:r>
          </a:p>
        </p:txBody>
      </p:sp>
      <p:sp>
        <p:nvSpPr>
          <p:cNvPr id="40" name="r40"/>
          <p:cNvSpPr/>
          <p:nvPr/>
        </p:nvSpPr>
        <p:spPr>
          <a:xfrm>
            <a:off x="640080" y="2895600"/>
            <a:ext cx="10911840" cy="594360"/>
          </a:xfrm>
          <a:prstGeom prst="roundRect">
            <a:avLst>
              <a:gd name="adj" fmla="val 4000"/>
            </a:avLst>
          </a:prstGeom>
          <a:solidFill>
            <a:srgbClr val="FBF1EA"/>
          </a:solidFill>
          <a:ln w="12700">
            <a:solidFill>
              <a:srgbClr val="F4B740"/>
            </a:solidFill>
            <a:prstDash val="solid"/>
          </a:ln>
        </p:spPr>
        <p:txBody>
          <a:bodyPr/>
          <a:lstStyle/>
          <a:p>
            <a:endParaRPr/>
          </a:p>
        </p:txBody>
      </p:sp>
      <p:sp>
        <p:nvSpPr>
          <p:cNvPr id="41" name="l40"/>
          <p:cNvSpPr/>
          <p:nvPr/>
        </p:nvSpPr>
        <p:spPr>
          <a:xfrm>
            <a:off x="960120" y="2895600"/>
            <a:ext cx="68580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have at least one false alarm</a:t>
            </a:r>
          </a:p>
        </p:txBody>
      </p:sp>
      <p:sp>
        <p:nvSpPr>
          <p:cNvPr id="42" name="v40"/>
          <p:cNvSpPr/>
          <p:nvPr/>
        </p:nvSpPr>
        <p:spPr>
          <a:xfrm>
            <a:off x="7955280" y="2895600"/>
            <a:ext cx="327660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None/>
              <a:tabLst/>
              <a:defRPr/>
            </a:pPr>
            <a:r>
              <a:rPr kumimoji="0" lang="en-US" sz="2400" b="1" i="0" u="none" strike="noStrike" kern="1200" cap="none" spc="0" normalizeH="0" baseline="0" noProof="0" dirty="0">
                <a:ln>
                  <a:noFill/>
                </a:ln>
                <a:solidFill>
                  <a:srgbClr val="B8860B"/>
                </a:solidFill>
                <a:effectLst/>
                <a:uLnTx/>
                <a:uFillTx/>
                <a:latin typeface="Bookman Old Style" pitchFamily="34" charset="0"/>
                <a:ea typeface="Bookman Old Style" pitchFamily="34" charset="-122"/>
                <a:cs typeface="Bookman Old Style" pitchFamily="34" charset="-120"/>
              </a:rPr>
              <a:t>49% to 67%</a:t>
            </a:r>
          </a:p>
        </p:txBody>
      </p:sp>
      <p:sp>
        <p:nvSpPr>
          <p:cNvPr id="50" name="r50"/>
          <p:cNvSpPr/>
          <p:nvPr/>
        </p:nvSpPr>
        <p:spPr>
          <a:xfrm>
            <a:off x="640080" y="3581400"/>
            <a:ext cx="10911840" cy="594360"/>
          </a:xfrm>
          <a:prstGeom prst="roundRect">
            <a:avLst>
              <a:gd name="adj" fmla="val 4000"/>
            </a:avLst>
          </a:prstGeom>
          <a:solidFill>
            <a:srgbClr val="F4F6F8"/>
          </a:solidFill>
          <a:ln w="12700">
            <a:solidFill>
              <a:srgbClr val="C9D2DA"/>
            </a:solidFill>
            <a:prstDash val="solid"/>
          </a:ln>
        </p:spPr>
        <p:txBody>
          <a:bodyPr/>
          <a:lstStyle/>
          <a:p>
            <a:endParaRPr/>
          </a:p>
        </p:txBody>
      </p:sp>
      <p:sp>
        <p:nvSpPr>
          <p:cNvPr id="51" name="l50"/>
          <p:cNvSpPr/>
          <p:nvPr/>
        </p:nvSpPr>
        <p:spPr>
          <a:xfrm>
            <a:off x="960120" y="3581400"/>
            <a:ext cx="68580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are overdiagnosed, and treated for it</a:t>
            </a:r>
          </a:p>
        </p:txBody>
      </p:sp>
      <p:sp>
        <p:nvSpPr>
          <p:cNvPr id="52" name="v50"/>
          <p:cNvSpPr/>
          <p:nvPr/>
        </p:nvSpPr>
        <p:spPr>
          <a:xfrm>
            <a:off x="7955280" y="3581400"/>
            <a:ext cx="327660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None/>
              <a:tabLst/>
              <a:defRPr/>
            </a:pPr>
            <a:r>
              <a:rPr kumimoji="0" lang="en-US" sz="24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0.3% to 1.4%</a:t>
            </a:r>
          </a:p>
        </p:txBody>
      </p:sp>
      <p:sp>
        <p:nvSpPr>
          <p:cNvPr id="70" name="L1"/>
          <p:cNvSpPr/>
          <p:nvPr/>
        </p:nvSpPr>
        <p:spPr>
          <a:xfrm>
            <a:off x="640080" y="4419600"/>
            <a:ext cx="10911840" cy="7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Nobody in this argument disputes the sensitivity, the specificity, or the 4.4%. The disagreement is over how to weigh a false alarm for half of them against a death averted for a fraction of one percent.</a:t>
            </a:r>
          </a:p>
        </p:txBody>
      </p:sp>
      <p:sp>
        <p:nvSpPr>
          <p:cNvPr id="80" name="L2"/>
          <p:cNvSpPr/>
          <p:nvPr/>
        </p:nvSpPr>
        <p:spPr>
          <a:xfrm>
            <a:off x="640080" y="5257800"/>
            <a:ext cx="10911840" cy="9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So the guidance splits. The American College of Radiology recommends annual screening from 40. The Task Force says every two years from 40. The Nordic Cochrane group and the Swiss Medical Board have argued for not running screening programmes at all.</a:t>
            </a:r>
          </a:p>
        </p:txBody>
      </p:sp>
      <p:sp>
        <p:nvSpPr>
          <p:cNvPr id="90" name="Source"/>
          <p:cNvSpPr/>
          <p:nvPr/>
        </p:nvSpPr>
        <p:spPr>
          <a:xfrm>
            <a:off x="640080" y="632460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Ranges from published estimates for women aged 50 screened annually for a decade. Overdiagnosis is contested: the Canadian National Breast Screening Study's 25-year follow-up put 106 of 484 screen-detected cancers (21.9%) as overdiagnoses; Gotzsche and Jorgensen, Cochrane 2013 (CD001877), found no effect on overall mortality across ten trials. An 11.6% callback rate compounded over ten independent screens gives about 71%, near the top of the false-alarm range.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ividerEyebrow"/>
          <p:cNvSpPr/>
          <p:nvPr/>
        </p:nvSpPr>
        <p:spPr>
          <a:xfrm>
            <a:off x="1066800" y="1905000"/>
            <a:ext cx="5080000" cy="43088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22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THE SECOND REVERSAL</a:t>
            </a:r>
          </a:p>
        </p:txBody>
      </p:sp>
      <p:sp>
        <p:nvSpPr>
          <p:cNvPr id="20" name="DividerNum"/>
          <p:cNvSpPr/>
          <p:nvPr/>
        </p:nvSpPr>
        <p:spPr>
          <a:xfrm>
            <a:off x="1041400" y="2349500"/>
            <a:ext cx="9652000" cy="1905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54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A COVID Rapid Test</a:t>
            </a:r>
          </a:p>
        </p:txBody>
      </p:sp>
      <p:sp>
        <p:nvSpPr>
          <p:cNvPr id="30" name="DividerRule"/>
          <p:cNvSpPr/>
          <p:nvPr/>
        </p:nvSpPr>
        <p:spPr>
          <a:xfrm>
            <a:off x="1066800" y="4445000"/>
            <a:ext cx="1143000" cy="63500"/>
          </a:xfrm>
          <a:prstGeom prst="rect">
            <a:avLst/>
          </a:prstGeom>
          <a:solidFill>
            <a:srgbClr val="B8860B"/>
          </a:solidFill>
          <a:ln>
            <a:noFill/>
          </a:ln>
        </p:spPr>
        <p:txBody>
          <a:bodyPr/>
          <a:lstStyle/>
          <a:p>
            <a:endParaRPr/>
          </a:p>
        </p:txBody>
      </p:sp>
      <p:sp>
        <p:nvSpPr>
          <p:cNvPr id="40" name="DividerTitle"/>
          <p:cNvSpPr/>
          <p:nvPr/>
        </p:nvSpPr>
        <p:spPr>
          <a:xfrm>
            <a:off x="1016000" y="4762500"/>
            <a:ext cx="10160000" cy="70788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40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If it is negative, am I clear?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 REAL TEST, REAL NUMBERS</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What the swab is measured on</a:t>
            </a:r>
          </a:p>
        </p:txBody>
      </p:sp>
      <p:sp>
        <p:nvSpPr>
          <p:cNvPr id="20" name="card"/>
          <p:cNvSpPr/>
          <p:nvPr/>
        </p:nvSpPr>
        <p:spPr>
          <a:xfrm>
            <a:off x="640080" y="2209800"/>
            <a:ext cx="4876800" cy="2103120"/>
          </a:xfrm>
          <a:prstGeom prst="roundRect">
            <a:avLst>
              <a:gd name="adj" fmla="val 5000"/>
            </a:avLst>
          </a:prstGeom>
          <a:solidFill>
            <a:srgbClr val="FBF1EA"/>
          </a:solidFill>
          <a:ln w="12700">
            <a:solidFill>
              <a:srgbClr val="F4B740"/>
            </a:solidFill>
            <a:prstDash val="solid"/>
          </a:ln>
        </p:spPr>
        <p:txBody>
          <a:bodyPr/>
          <a:lstStyle/>
          <a:p>
            <a:endParaRPr/>
          </a:p>
        </p:txBody>
      </p:sp>
      <p:sp>
        <p:nvSpPr>
          <p:cNvPr id="21" name="h"/>
          <p:cNvSpPr/>
          <p:nvPr/>
        </p:nvSpPr>
        <p:spPr>
          <a:xfrm>
            <a:off x="914400" y="2438400"/>
            <a:ext cx="43281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250" normalizeH="0" baseline="0" noProof="0" dirty="0">
                <a:ln>
                  <a:noFill/>
                </a:ln>
                <a:solidFill>
                  <a:srgbClr val="B8860B"/>
                </a:solidFill>
                <a:effectLst/>
                <a:uLnTx/>
                <a:uFillTx/>
                <a:latin typeface="Calibri" pitchFamily="34" charset="0"/>
                <a:ea typeface="Calibri" pitchFamily="34" charset="-122"/>
                <a:cs typeface="Calibri" pitchFamily="34" charset="-120"/>
              </a:rPr>
              <a:t>SPECIFICITY</a:t>
            </a:r>
          </a:p>
        </p:txBody>
      </p:sp>
      <p:sp>
        <p:nvSpPr>
          <p:cNvPr id="22" name="n"/>
          <p:cNvSpPr/>
          <p:nvPr/>
        </p:nvSpPr>
        <p:spPr>
          <a:xfrm>
            <a:off x="914400" y="2849880"/>
            <a:ext cx="432816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20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 negative | no COVID )</a:t>
            </a:r>
          </a:p>
        </p:txBody>
      </p:sp>
      <p:sp>
        <p:nvSpPr>
          <p:cNvPr id="23" name="c"/>
          <p:cNvSpPr/>
          <p:nvPr/>
        </p:nvSpPr>
        <p:spPr>
          <a:xfrm>
            <a:off x="914400" y="3398520"/>
            <a:ext cx="4328160" cy="45720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7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99 of every 100 people who are well</a:t>
            </a:r>
          </a:p>
        </p:txBody>
      </p:sp>
      <p:sp>
        <p:nvSpPr>
          <p:cNvPr id="24" name="r"/>
          <p:cNvSpPr/>
          <p:nvPr/>
        </p:nvSpPr>
        <p:spPr>
          <a:xfrm>
            <a:off x="914400" y="3901440"/>
            <a:ext cx="432816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3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almost nobody healthy is wrongly flagged</a:t>
            </a:r>
          </a:p>
        </p:txBody>
      </p:sp>
      <p:sp>
        <p:nvSpPr>
          <p:cNvPr id="40" name="R1"/>
          <p:cNvSpPr/>
          <p:nvPr/>
        </p:nvSpPr>
        <p:spPr>
          <a:xfrm>
            <a:off x="5943600" y="1874520"/>
            <a:ext cx="5608320" cy="9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That is about as specific as any test in common use. It is why a positive swab is worth believing.</a:t>
            </a:r>
          </a:p>
        </p:txBody>
      </p:sp>
      <p:sp>
        <p:nvSpPr>
          <p:cNvPr id="50" name="R2"/>
          <p:cNvSpPr/>
          <p:nvPr/>
        </p:nvSpPr>
        <p:spPr>
          <a:xfrm>
            <a:off x="5943600" y="3017520"/>
            <a:ext cx="5608320" cy="12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But look where it starts: from already knowing the person is well. Nobody handed a negative result knows that.</a:t>
            </a:r>
          </a:p>
        </p:txBody>
      </p:sp>
      <p:sp>
        <p:nvSpPr>
          <p:cNvPr id="60" name="Target"/>
          <p:cNvSpPr/>
          <p:nvPr/>
        </p:nvSpPr>
        <p:spPr>
          <a:xfrm>
            <a:off x="5943600" y="4800600"/>
            <a:ext cx="5608320" cy="941070"/>
          </a:xfrm>
          <a:prstGeom prst="roundRect">
            <a:avLst>
              <a:gd name="adj" fmla="val 4000"/>
            </a:avLst>
          </a:prstGeom>
          <a:solidFill>
            <a:srgbClr val="B8860B"/>
          </a:solidFill>
          <a:ln>
            <a:noFill/>
          </a:ln>
        </p:spPr>
        <p:txBody>
          <a:bodyPr/>
          <a:lstStyle/>
          <a:p>
            <a:endParaRPr/>
          </a:p>
        </p:txBody>
      </p:sp>
      <p:sp>
        <p:nvSpPr>
          <p:cNvPr id="61" name="TargetTx"/>
          <p:cNvSpPr/>
          <p:nvPr/>
        </p:nvSpPr>
        <p:spPr>
          <a:xfrm>
            <a:off x="6195060" y="4975860"/>
            <a:ext cx="5105400" cy="59055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we want is P( no COVID | negative ):  85%</a:t>
            </a:r>
          </a:p>
          <a:p>
            <a:pPr marL="0" marR="0" lvl="0" indent="0" algn="l" defTabSz="914400" rtl="0" eaLnBrk="1" fontAlgn="auto" latinLnBrk="0" hangingPunct="1">
              <a:lnSpc>
                <a:spcPct val="100000"/>
              </a:lnSpc>
              <a:spcBef>
                <a:spcPts val="0"/>
              </a:spcBef>
              <a:spcAft>
                <a:spcPts val="0"/>
              </a:spcAft>
              <a:buNone/>
              <a:tabLst/>
              <a:defRPr/>
            </a:pPr>
            <a:r>
              <a:rPr kumimoji="0" lang="en-US" sz="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FBE9CF"/>
                </a:solidFill>
                <a:effectLst/>
                <a:uLnTx/>
                <a:uFillTx/>
                <a:latin typeface="Calibri" pitchFamily="34" charset="0"/>
                <a:ea typeface="Calibri" pitchFamily="34" charset="-122"/>
                <a:cs typeface="Calibri" pitchFamily="34" charset="-120"/>
              </a:rPr>
              <a:t>Nowhere near certainty. Now we walk the reversal.</a:t>
            </a:r>
          </a:p>
        </p:txBody>
      </p:sp>
      <p:sp>
        <p:nvSpPr>
          <p:cNvPr id="7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Rapid antigen tests in symptomatic people: specificity 99.1%, sensitivity 73.0% (95% CI 69.3 to 76.4). Dinnes et al., Cochrane Database of Systematic Reviews 2022;7:CD013705.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AN ILLUSTRATIVE COHORT OF 10,000 PEOPLE WITH SYMPTOMS</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Four in ten of them have it</a:t>
            </a:r>
          </a:p>
        </p:txBody>
      </p:sp>
      <p:pic>
        <p:nvPicPr>
          <p:cNvPr id="19" name="Waffle"/>
          <p:cNvPicPr/>
          <p:nvPr/>
        </p:nvPicPr>
        <p:blipFill>
          <a:blip/>
          <a:stretch>
            <a:fillRect/>
          </a:stretch>
        </p:blipFill>
        <p:spPr>
          <a:xfrm>
            <a:off x="640080" y="1874520"/>
            <a:ext cx="4114800" cy="4114800"/>
          </a:xfrm>
          <a:prstGeom prst="rect">
            <a:avLst/>
          </a:prstGeom>
        </p:spPr>
      </p:pic>
      <p:sp>
        <p:nvSpPr>
          <p:cNvPr id="20" name="Lead"/>
          <p:cNvSpPr/>
          <p:nvPr/>
        </p:nvSpPr>
        <p:spPr>
          <a:xfrm>
            <a:off x="5486400" y="1874520"/>
            <a:ext cx="6096000" cy="7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Everyone here feels ill during a wave, so the odds before testing are far higher than in the street outside.</a:t>
            </a:r>
          </a:p>
        </p:txBody>
      </p:sp>
      <p:sp>
        <p:nvSpPr>
          <p:cNvPr id="30" name="sw30"/>
          <p:cNvSpPr/>
          <p:nvPr/>
        </p:nvSpPr>
        <p:spPr>
          <a:xfrm>
            <a:off x="5486400" y="2735580"/>
            <a:ext cx="274320" cy="274320"/>
          </a:xfrm>
          <a:prstGeom prst="rect">
            <a:avLst/>
          </a:prstGeom>
          <a:solidFill>
            <a:srgbClr val="15686B"/>
          </a:solidFill>
          <a:ln w="12700">
            <a:solidFill>
              <a:srgbClr val="FFFFFF"/>
            </a:solidFill>
            <a:prstDash val="solid"/>
          </a:ln>
        </p:spPr>
        <p:txBody>
          <a:bodyPr/>
          <a:lstStyle/>
          <a:p>
            <a:endParaRPr/>
          </a:p>
        </p:txBody>
      </p:sp>
      <p:sp>
        <p:nvSpPr>
          <p:cNvPr id="31" name="lg30"/>
          <p:cNvSpPr/>
          <p:nvPr/>
        </p:nvSpPr>
        <p:spPr>
          <a:xfrm>
            <a:off x="5882640" y="270510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has COVID, tests positive: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2,920</a:t>
            </a:r>
          </a:p>
        </p:txBody>
      </p:sp>
      <p:sp>
        <p:nvSpPr>
          <p:cNvPr id="40" name="sw40"/>
          <p:cNvSpPr/>
          <p:nvPr/>
        </p:nvSpPr>
        <p:spPr>
          <a:xfrm>
            <a:off x="5486400" y="3215640"/>
            <a:ext cx="274320" cy="274320"/>
          </a:xfrm>
          <a:prstGeom prst="rect">
            <a:avLst/>
          </a:prstGeom>
          <a:solidFill>
            <a:srgbClr val="5E9B9D"/>
          </a:solidFill>
          <a:ln w="12700">
            <a:solidFill>
              <a:srgbClr val="FFFFFF"/>
            </a:solidFill>
            <a:prstDash val="solid"/>
          </a:ln>
        </p:spPr>
        <p:txBody>
          <a:bodyPr/>
          <a:lstStyle/>
          <a:p>
            <a:endParaRPr/>
          </a:p>
        </p:txBody>
      </p:sp>
      <p:sp>
        <p:nvSpPr>
          <p:cNvPr id="41" name="lg40"/>
          <p:cNvSpPr/>
          <p:nvPr/>
        </p:nvSpPr>
        <p:spPr>
          <a:xfrm>
            <a:off x="5882640" y="318516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has COVID, tests negative: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1,080</a:t>
            </a:r>
          </a:p>
        </p:txBody>
      </p:sp>
      <p:sp>
        <p:nvSpPr>
          <p:cNvPr id="50" name="sw50"/>
          <p:cNvSpPr/>
          <p:nvPr/>
        </p:nvSpPr>
        <p:spPr>
          <a:xfrm>
            <a:off x="5486400" y="3695700"/>
            <a:ext cx="274320" cy="274320"/>
          </a:xfrm>
          <a:prstGeom prst="rect">
            <a:avLst/>
          </a:prstGeom>
          <a:solidFill>
            <a:srgbClr val="F4B740"/>
          </a:solidFill>
          <a:ln w="12700">
            <a:solidFill>
              <a:srgbClr val="FFFFFF"/>
            </a:solidFill>
            <a:prstDash val="solid"/>
          </a:ln>
        </p:spPr>
        <p:txBody>
          <a:bodyPr/>
          <a:lstStyle/>
          <a:p>
            <a:endParaRPr/>
          </a:p>
        </p:txBody>
      </p:sp>
      <p:sp>
        <p:nvSpPr>
          <p:cNvPr id="51" name="lg50"/>
          <p:cNvSpPr/>
          <p:nvPr/>
        </p:nvSpPr>
        <p:spPr>
          <a:xfrm>
            <a:off x="5882640" y="366522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no COVID, tests positive: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54</a:t>
            </a:r>
          </a:p>
        </p:txBody>
      </p:sp>
      <p:sp>
        <p:nvSpPr>
          <p:cNvPr id="60" name="sw60"/>
          <p:cNvSpPr/>
          <p:nvPr/>
        </p:nvSpPr>
        <p:spPr>
          <a:xfrm>
            <a:off x="5486400" y="4175760"/>
            <a:ext cx="274320" cy="274320"/>
          </a:xfrm>
          <a:prstGeom prst="rect">
            <a:avLst/>
          </a:prstGeom>
          <a:solidFill>
            <a:srgbClr val="F7DFA8"/>
          </a:solidFill>
          <a:ln w="12700">
            <a:solidFill>
              <a:srgbClr val="FFFFFF"/>
            </a:solidFill>
            <a:prstDash val="solid"/>
          </a:ln>
        </p:spPr>
        <p:txBody>
          <a:bodyPr/>
          <a:lstStyle/>
          <a:p>
            <a:endParaRPr/>
          </a:p>
        </p:txBody>
      </p:sp>
      <p:sp>
        <p:nvSpPr>
          <p:cNvPr id="61" name="lg60"/>
          <p:cNvSpPr/>
          <p:nvPr/>
        </p:nvSpPr>
        <p:spPr>
          <a:xfrm>
            <a:off x="5882640" y="414528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no COVID, tests negative: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5,946</a:t>
            </a:r>
          </a:p>
        </p:txBody>
      </p:sp>
      <p:sp>
        <p:nvSpPr>
          <p:cNvPr id="80" name="Note"/>
          <p:cNvSpPr/>
          <p:nvPr/>
        </p:nvSpPr>
        <p:spPr>
          <a:xfrm>
            <a:off x="5486400" y="4876800"/>
            <a:ext cx="6096000" cy="10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5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The pale teal band is the one to watch. Eleven rows of people who have COVID and were told they did not.</a:t>
            </a:r>
          </a:p>
        </p:txBody>
      </p:sp>
      <p:sp>
        <p:nvSpPr>
          <p:cNvPr id="9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Pre-test probability of 4 in 10 is illustrative, chosen to represent symptomatic testing during a wave. Test figures: Rapid antigen tests in symptomatic people: sensitivity 73.0% (95% CI 69.3 to 76.4), specificity 99.1%. Dinnes et al., Cochrane Database of Systematic Reviews 2022;7:CD013705.</a:t>
            </a:r>
          </a:p>
        </p:txBody>
      </p:sp>
      <p:pic>
        <p:nvPicPr>
          <p:cNvPr id="900" name="Waffle"/>
          <p:cNvPicPr/>
          <p:nvPr/>
        </p:nvPicPr>
        <p:blipFill>
          <a:blip r:embed="rId2"/>
          <a:stretch>
            <a:fillRect/>
          </a:stretch>
        </p:blipFill>
        <p:spPr>
          <a:xfrm>
            <a:off x="640080" y="1874520"/>
            <a:ext cx="4114800" cy="4114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THE REVERSAL, FOR ONE PERSON</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A negative is not an all-clear</a:t>
            </a:r>
          </a:p>
        </p:txBody>
      </p:sp>
      <p:sp>
        <p:nvSpPr>
          <p:cNvPr id="20" name="flip"/>
          <p:cNvSpPr/>
          <p:nvPr/>
        </p:nvSpPr>
        <p:spPr>
          <a:xfrm>
            <a:off x="640080" y="2011680"/>
            <a:ext cx="10911840" cy="2103120"/>
          </a:xfrm>
          <a:prstGeom prst="roundRect">
            <a:avLst>
              <a:gd name="adj" fmla="val 4000"/>
            </a:avLst>
          </a:prstGeom>
          <a:solidFill>
            <a:srgbClr val="FBF1EA"/>
          </a:solidFill>
          <a:ln w="12700">
            <a:solidFill>
              <a:srgbClr val="F4B740"/>
            </a:solidFill>
            <a:prstDash val="solid"/>
          </a:ln>
        </p:spPr>
        <p:txBody>
          <a:bodyPr/>
          <a:lstStyle/>
          <a:p>
            <a:endParaRPr/>
          </a:p>
        </p:txBody>
      </p:sp>
      <p:sp>
        <p:nvSpPr>
          <p:cNvPr id="21" name="f1"/>
          <p:cNvSpPr/>
          <p:nvPr/>
        </p:nvSpPr>
        <p:spPr>
          <a:xfrm>
            <a:off x="914400" y="2331720"/>
            <a:ext cx="10363200"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None/>
              <a:tabLst/>
              <a:defRPr/>
            </a:pPr>
            <a:r>
              <a:rPr kumimoji="0" lang="en-US" sz="26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P( negative | no COVID )  =  99%</a:t>
            </a:r>
          </a:p>
        </p:txBody>
      </p:sp>
      <p:sp>
        <p:nvSpPr>
          <p:cNvPr id="22" name="f2"/>
          <p:cNvSpPr/>
          <p:nvPr/>
        </p:nvSpPr>
        <p:spPr>
          <a:xfrm>
            <a:off x="914400" y="2952750"/>
            <a:ext cx="10363200"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None/>
              <a:tabLst/>
              <a:defRPr/>
            </a:pPr>
            <a:r>
              <a:rPr kumimoji="0" lang="en-US" sz="15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   reversed becomes</a:t>
            </a:r>
          </a:p>
        </p:txBody>
      </p:sp>
      <p:sp>
        <p:nvSpPr>
          <p:cNvPr id="23" name="f3"/>
          <p:cNvSpPr/>
          <p:nvPr/>
        </p:nvSpPr>
        <p:spPr>
          <a:xfrm>
            <a:off x="914400" y="3383280"/>
            <a:ext cx="10363200"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None/>
              <a:tabLst/>
              <a:defRPr/>
            </a:pPr>
            <a:r>
              <a:rPr kumimoji="0" lang="en-US" sz="2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 no COVID | negative )  =  85%</a:t>
            </a:r>
          </a:p>
        </p:txBody>
      </p:sp>
      <p:sp>
        <p:nvSpPr>
          <p:cNvPr id="40" name="Close"/>
          <p:cNvSpPr/>
          <p:nvPr/>
        </p:nvSpPr>
        <p:spPr>
          <a:xfrm>
            <a:off x="640080" y="4632960"/>
            <a:ext cx="10911840" cy="13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99% is what the swab was measured on. 85% is what your negative means.</a:t>
            </a:r>
          </a:p>
          <a:p>
            <a:pPr marL="0" marR="0" lvl="0" indent="0" algn="l" defTabSz="914400" rtl="0" eaLnBrk="1" fontAlgn="auto" latinLnBrk="0" hangingPunct="1">
              <a:lnSpc>
                <a:spcPct val="100000"/>
              </a:lnSpc>
              <a:spcBef>
                <a:spcPts val="0"/>
              </a:spcBef>
              <a:spcAft>
                <a:spcPts val="0"/>
              </a:spcAft>
              <a:buNone/>
              <a:tabLst/>
              <a:defRPr/>
            </a:pPr>
            <a:r>
              <a:rPr kumimoji="0" lang="en-US" sz="8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40000"/>
              </a:lnSpc>
              <a:spcBef>
                <a:spcPts val="0"/>
              </a:spcBef>
              <a:spcAft>
                <a:spcPts val="0"/>
              </a:spcAft>
              <a:buNone/>
              <a:tabLst/>
              <a:defRPr/>
            </a:pPr>
            <a:r>
              <a:rPr kumimoji="0" lang="en-US" sz="17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More than one person in seven who was told they were negative had COVID and went out anyway. A negative narrows the odds. It does not clear you.</a:t>
            </a:r>
          </a:p>
        </p:txBody>
      </p:sp>
      <p:sp>
        <p:nvSpPr>
          <p:cNvPr id="50" name="Source"/>
          <p:cNvSpPr/>
          <p:nvPr/>
        </p:nvSpPr>
        <p:spPr>
          <a:xfrm>
            <a:off x="640080" y="6415088"/>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Counts carried from the previous slide: 7,026 negatives, of which 1,080 had COVID. Rapid antigen tests in symptomatic people: specificity 99.1%, sensitivity 73.0% (95% CI 69.3 to 76.4). Dinnes et al., Cochrane Database of Systematic Reviews 2022;7:CD013705.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ividerEyebrow"/>
          <p:cNvSpPr/>
          <p:nvPr/>
        </p:nvSpPr>
        <p:spPr>
          <a:xfrm>
            <a:off x="1066800" y="1905000"/>
            <a:ext cx="5080000" cy="43088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22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WHEN NOBODY CATCHES IT</a:t>
            </a:r>
          </a:p>
        </p:txBody>
      </p:sp>
      <p:sp>
        <p:nvSpPr>
          <p:cNvPr id="20" name="DividerNum"/>
          <p:cNvSpPr/>
          <p:nvPr/>
        </p:nvSpPr>
        <p:spPr>
          <a:xfrm>
            <a:off x="1041400" y="2349500"/>
            <a:ext cx="9652000" cy="1905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54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Courtrooms and Classrooms</a:t>
            </a:r>
          </a:p>
        </p:txBody>
      </p:sp>
      <p:sp>
        <p:nvSpPr>
          <p:cNvPr id="30" name="DividerRule"/>
          <p:cNvSpPr/>
          <p:nvPr/>
        </p:nvSpPr>
        <p:spPr>
          <a:xfrm>
            <a:off x="1066800" y="4445000"/>
            <a:ext cx="1143000" cy="63500"/>
          </a:xfrm>
          <a:prstGeom prst="rect">
            <a:avLst/>
          </a:prstGeom>
          <a:solidFill>
            <a:srgbClr val="1F3864"/>
          </a:solidFill>
          <a:ln>
            <a:noFill/>
          </a:ln>
        </p:spPr>
        <p:txBody>
          <a:bodyPr/>
          <a:lstStyle/>
          <a:p>
            <a:endParaRPr/>
          </a:p>
        </p:txBody>
      </p:sp>
      <p:sp>
        <p:nvSpPr>
          <p:cNvPr id="40" name="DividerTitle"/>
          <p:cNvSpPr/>
          <p:nvPr/>
        </p:nvSpPr>
        <p:spPr>
          <a:xfrm>
            <a:off x="1016000" y="4762500"/>
            <a:ext cx="10160000" cy="70788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40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What did the flip cost?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 CAUTIONARY TALE</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When the reversal reaches a verdict</a:t>
            </a:r>
          </a:p>
        </p:txBody>
      </p:sp>
      <p:sp>
        <p:nvSpPr>
          <p:cNvPr id="20" name="c20"/>
          <p:cNvSpPr/>
          <p:nvPr/>
        </p:nvSpPr>
        <p:spPr>
          <a:xfrm>
            <a:off x="640080" y="1752600"/>
            <a:ext cx="10911840" cy="1965960"/>
          </a:xfrm>
          <a:prstGeom prst="roundRect">
            <a:avLst>
              <a:gd name="adj" fmla="val 5000"/>
            </a:avLst>
          </a:prstGeom>
          <a:solidFill>
            <a:srgbClr val="F4F6F8"/>
          </a:solidFill>
          <a:ln w="12700">
            <a:solidFill>
              <a:srgbClr val="15686B"/>
            </a:solidFill>
            <a:prstDash val="solid"/>
          </a:ln>
        </p:spPr>
        <p:txBody>
          <a:bodyPr/>
          <a:lstStyle/>
          <a:p>
            <a:endParaRPr/>
          </a:p>
        </p:txBody>
      </p:sp>
      <p:sp>
        <p:nvSpPr>
          <p:cNvPr id="21" name="lbl20"/>
          <p:cNvSpPr/>
          <p:nvPr/>
        </p:nvSpPr>
        <p:spPr>
          <a:xfrm>
            <a:off x="914400" y="1958340"/>
            <a:ext cx="1036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 RAPE TRIAL IN ENGLAND, CONVICTION QUASHED 1994</a:t>
            </a:r>
          </a:p>
        </p:txBody>
      </p:sp>
      <p:sp>
        <p:nvSpPr>
          <p:cNvPr id="22" name="bd20"/>
          <p:cNvSpPr/>
          <p:nvPr/>
        </p:nvSpPr>
        <p:spPr>
          <a:xfrm>
            <a:off x="914400" y="2346960"/>
            <a:ext cx="10363200" cy="11658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The forensic expert told the court that the likelihood of the sample coming from any man other than the accused was one in three million.</a:t>
            </a:r>
          </a:p>
          <a:p>
            <a:pPr marL="0" marR="0" lvl="0" indent="0" algn="l" defTabSz="914400" rtl="0" eaLnBrk="1" fontAlgn="auto" latinLnBrk="0" hangingPunct="1">
              <a:lnSpc>
                <a:spcPct val="100000"/>
              </a:lnSpc>
              <a:spcBef>
                <a:spcPts val="0"/>
              </a:spcBef>
              <a:spcAft>
                <a:spcPts val="0"/>
              </a:spcAft>
              <a:buNone/>
              <a:tabLst/>
              <a:defRPr/>
            </a:pPr>
            <a:r>
              <a:rPr kumimoji="0" lang="en-US" sz="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3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That number describes how rare the profile is. It was offered as the chance he was innocent, the judge repeated it to the jury, and the Court of Appeal quashed the conviction.</a:t>
            </a:r>
          </a:p>
        </p:txBody>
      </p:sp>
      <p:sp>
        <p:nvSpPr>
          <p:cNvPr id="50" name="c50"/>
          <p:cNvSpPr/>
          <p:nvPr/>
        </p:nvSpPr>
        <p:spPr>
          <a:xfrm>
            <a:off x="640080" y="3840480"/>
            <a:ext cx="10911840" cy="1965960"/>
          </a:xfrm>
          <a:prstGeom prst="roundRect">
            <a:avLst>
              <a:gd name="adj" fmla="val 5000"/>
            </a:avLst>
          </a:prstGeom>
          <a:solidFill>
            <a:srgbClr val="FBF1EA"/>
          </a:solidFill>
          <a:ln w="12700">
            <a:solidFill>
              <a:srgbClr val="F4B740"/>
            </a:solidFill>
            <a:prstDash val="solid"/>
          </a:ln>
        </p:spPr>
        <p:txBody>
          <a:bodyPr/>
          <a:lstStyle/>
          <a:p>
            <a:endParaRPr/>
          </a:p>
        </p:txBody>
      </p:sp>
      <p:sp>
        <p:nvSpPr>
          <p:cNvPr id="51" name="lbl50"/>
          <p:cNvSpPr/>
          <p:nvPr/>
        </p:nvSpPr>
        <p:spPr>
          <a:xfrm>
            <a:off x="914400" y="4046220"/>
            <a:ext cx="1036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B8860B"/>
                </a:solidFill>
                <a:effectLst/>
                <a:uLnTx/>
                <a:uFillTx/>
                <a:latin typeface="Calibri" pitchFamily="34" charset="0"/>
                <a:ea typeface="Calibri" pitchFamily="34" charset="-122"/>
                <a:cs typeface="Calibri" pitchFamily="34" charset="-120"/>
              </a:rPr>
              <a:t>TRAFFIC STOPS IN HOUSTON, 2004 TO 2015</a:t>
            </a:r>
          </a:p>
        </p:txBody>
      </p:sp>
      <p:sp>
        <p:nvSpPr>
          <p:cNvPr id="52" name="bd50"/>
          <p:cNvSpPr/>
          <p:nvPr/>
        </p:nvSpPr>
        <p:spPr>
          <a:xfrm>
            <a:off x="914400" y="4434840"/>
            <a:ext cx="10363200" cy="11658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A two-dollar roadside kit turns blue for cocaine. It also turns blue for dozens of other things, which has been known since the 1970s.</a:t>
            </a:r>
          </a:p>
          <a:p>
            <a:pPr marL="0" marR="0" lvl="0" indent="0" algn="l" defTabSz="914400" rtl="0" eaLnBrk="1" fontAlgn="auto" latinLnBrk="0" hangingPunct="1">
              <a:lnSpc>
                <a:spcPct val="100000"/>
              </a:lnSpc>
              <a:spcBef>
                <a:spcPts val="0"/>
              </a:spcBef>
              <a:spcAft>
                <a:spcPts val="0"/>
              </a:spcAft>
              <a:buNone/>
              <a:tabLst/>
              <a:defRPr/>
            </a:pPr>
            <a:r>
              <a:rPr kumimoji="0" lang="en-US" sz="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3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Blue was taken to mean cocaine. The lab checked only afterwards, and found more than 250 people had already pleaded guilty to possessing nothing.</a:t>
            </a:r>
          </a:p>
        </p:txBody>
      </p:sp>
      <p:sp>
        <p:nvSpPr>
          <p:cNvPr id="80" name="Close"/>
          <p:cNvSpPr/>
          <p:nvPr/>
        </p:nvSpPr>
        <p:spPr>
          <a:xfrm>
            <a:off x="640080" y="5989320"/>
            <a:ext cx="1091184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5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Both times a number about how often this happens to the innocent was read as the chance of innocence.</a:t>
            </a:r>
          </a:p>
        </p:txBody>
      </p:sp>
      <p:sp>
        <p:nvSpPr>
          <p:cNvPr id="9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R v Deen, Court of Appeal, reported The Times 10 January 1994; rules on presenting DNA statistics were later set in Doheny and Adams [1997] 1 Cr App R 369. Houston: Houston Forensic Science Center and the Harris County conviction integrity unit, reported by ProPublica and The New York Times Magazine, 2016.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 THIRD CAUTIONARY TALE</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The detector that cannot tell</a:t>
            </a:r>
          </a:p>
        </p:txBody>
      </p:sp>
      <p:sp>
        <p:nvSpPr>
          <p:cNvPr id="20" name="c20"/>
          <p:cNvSpPr/>
          <p:nvPr/>
        </p:nvSpPr>
        <p:spPr>
          <a:xfrm>
            <a:off x="640080" y="1828800"/>
            <a:ext cx="5303520" cy="2377440"/>
          </a:xfrm>
          <a:prstGeom prst="roundRect">
            <a:avLst>
              <a:gd name="adj" fmla="val 5000"/>
            </a:avLst>
          </a:prstGeom>
          <a:solidFill>
            <a:srgbClr val="F4F6F8"/>
          </a:solidFill>
          <a:ln w="12700">
            <a:solidFill>
              <a:srgbClr val="15686B"/>
            </a:solidFill>
            <a:prstDash val="solid"/>
          </a:ln>
        </p:spPr>
        <p:txBody>
          <a:bodyPr/>
          <a:lstStyle/>
          <a:p>
            <a:endParaRPr/>
          </a:p>
        </p:txBody>
      </p:sp>
      <p:sp>
        <p:nvSpPr>
          <p:cNvPr id="21" name="h20"/>
          <p:cNvSpPr/>
          <p:nvPr/>
        </p:nvSpPr>
        <p:spPr>
          <a:xfrm>
            <a:off x="914400" y="2034540"/>
            <a:ext cx="4754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50" b="1" i="0" u="none" strike="noStrike" kern="1200" cap="none" spc="220" normalizeH="0" baseline="0" noProof="0" dirty="0">
                <a:ln>
                  <a:noFill/>
                </a:ln>
                <a:solidFill>
                  <a:srgbClr val="15686B"/>
                </a:solidFill>
                <a:effectLst/>
                <a:uLnTx/>
                <a:uFillTx/>
                <a:latin typeface="Calibri" pitchFamily="34" charset="0"/>
                <a:ea typeface="Calibri" pitchFamily="34" charset="-122"/>
                <a:cs typeface="Calibri" pitchFamily="34" charset="-120"/>
              </a:rPr>
              <a:t>WHAT THE VENDORS ADVERTISE</a:t>
            </a:r>
          </a:p>
        </p:txBody>
      </p:sp>
      <p:sp>
        <p:nvSpPr>
          <p:cNvPr id="22" name="b20"/>
          <p:cNvSpPr/>
          <p:nvPr/>
        </p:nvSpPr>
        <p:spPr>
          <a:xfrm>
            <a:off x="914400" y="2423160"/>
            <a:ext cx="4754880" cy="1554480"/>
          </a:xfrm>
          <a:prstGeom prst="rect">
            <a:avLst/>
          </a:prstGeom>
          <a:noFill/>
          <a:ln/>
        </p:spPr>
        <p:txBody>
          <a:bodyPr wrap="square" lIns="0" tIns="0" rIns="0" bIns="0" rtlCol="0" anchor="t"/>
          <a:lstStyle/>
          <a:p>
            <a:pPr marL="0" marR="0" lvl="0" indent="0" algn="l" defTabSz="914400" rtl="0" eaLnBrk="1" fontAlgn="auto" latinLnBrk="0" hangingPunct="1">
              <a:lnSpc>
                <a:spcPct val="135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Turnitin has claimed 98%. Copyleaks 99.1%. GPTZero 99%. Winston AI 99.98%.</a:t>
            </a:r>
          </a:p>
          <a:p>
            <a:pPr marL="0" marR="0" lvl="0" indent="0" algn="l" defTabSz="914400" rtl="0" eaLnBrk="1" fontAlgn="auto" latinLnBrk="0" hangingPunct="1">
              <a:lnSpc>
                <a:spcPct val="100000"/>
              </a:lnSpc>
              <a:spcBef>
                <a:spcPts val="0"/>
              </a:spcBef>
              <a:spcAft>
                <a:spcPts val="0"/>
              </a:spcAft>
              <a:buNone/>
              <a:tabLst/>
              <a:defRPr/>
            </a:pPr>
            <a:r>
              <a:rPr kumimoji="0" lang="en-US" sz="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35000"/>
              </a:lnSpc>
              <a:spcBef>
                <a:spcPts val="0"/>
              </a:spcBef>
              <a:spcAft>
                <a:spcPts val="0"/>
              </a:spcAft>
              <a:buNone/>
              <a:tabLst/>
              <a:defRPr/>
            </a:pPr>
            <a:r>
              <a:rPr kumimoji="0" lang="en-US" sz="15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Every one of those is a statement about machines: if this text came from an AI, we will flag it.</a:t>
            </a:r>
          </a:p>
        </p:txBody>
      </p:sp>
      <p:sp>
        <p:nvSpPr>
          <p:cNvPr id="50" name="c50"/>
          <p:cNvSpPr/>
          <p:nvPr/>
        </p:nvSpPr>
        <p:spPr>
          <a:xfrm>
            <a:off x="6248400" y="1828800"/>
            <a:ext cx="5303520" cy="2377440"/>
          </a:xfrm>
          <a:prstGeom prst="roundRect">
            <a:avLst>
              <a:gd name="adj" fmla="val 5000"/>
            </a:avLst>
          </a:prstGeom>
          <a:solidFill>
            <a:srgbClr val="FBF1EA"/>
          </a:solidFill>
          <a:ln w="12700">
            <a:solidFill>
              <a:srgbClr val="F4B740"/>
            </a:solidFill>
            <a:prstDash val="solid"/>
          </a:ln>
        </p:spPr>
        <p:txBody>
          <a:bodyPr/>
          <a:lstStyle/>
          <a:p>
            <a:endParaRPr/>
          </a:p>
        </p:txBody>
      </p:sp>
      <p:sp>
        <p:nvSpPr>
          <p:cNvPr id="51" name="h50"/>
          <p:cNvSpPr/>
          <p:nvPr/>
        </p:nvSpPr>
        <p:spPr>
          <a:xfrm>
            <a:off x="6522720" y="2034540"/>
            <a:ext cx="4754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50" b="1" i="0" u="none" strike="noStrike" kern="1200" cap="none" spc="220" normalizeH="0" baseline="0" noProof="0" dirty="0">
                <a:ln>
                  <a:noFill/>
                </a:ln>
                <a:solidFill>
                  <a:srgbClr val="B8860B"/>
                </a:solidFill>
                <a:effectLst/>
                <a:uLnTx/>
                <a:uFillTx/>
                <a:latin typeface="Calibri" pitchFamily="34" charset="0"/>
                <a:ea typeface="Calibri" pitchFamily="34" charset="-122"/>
                <a:cs typeface="Calibri" pitchFamily="34" charset="-120"/>
              </a:rPr>
              <a:t>WHAT A FLAGGED STUDENT NEEDS</a:t>
            </a:r>
          </a:p>
        </p:txBody>
      </p:sp>
      <p:sp>
        <p:nvSpPr>
          <p:cNvPr id="52" name="b50"/>
          <p:cNvSpPr/>
          <p:nvPr/>
        </p:nvSpPr>
        <p:spPr>
          <a:xfrm>
            <a:off x="6522720" y="2423160"/>
            <a:ext cx="4754880" cy="1554480"/>
          </a:xfrm>
          <a:prstGeom prst="rect">
            <a:avLst/>
          </a:prstGeom>
          <a:noFill/>
          <a:ln/>
        </p:spPr>
        <p:txBody>
          <a:bodyPr wrap="square" lIns="0" tIns="0" rIns="0" bIns="0" rtlCol="0" anchor="t"/>
          <a:lstStyle/>
          <a:p>
            <a:pPr marL="0" marR="0" lvl="0" indent="0" algn="l" defTabSz="914400" rtl="0" eaLnBrk="1" fontAlgn="auto" latinLnBrk="0" hangingPunct="1">
              <a:lnSpc>
                <a:spcPct val="135000"/>
              </a:lnSpc>
              <a:spcBef>
                <a:spcPts val="0"/>
              </a:spcBef>
              <a:spcAft>
                <a:spcPts val="0"/>
              </a:spcAft>
              <a:buNone/>
              <a:tabLst/>
              <a:defRPr/>
            </a:pPr>
            <a:r>
              <a:rPr kumimoji="0" lang="en-US" sz="15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Of the essays you flag, how many were actually written by an AI?</a:t>
            </a:r>
          </a:p>
          <a:p>
            <a:pPr marL="0" marR="0" lvl="0" indent="0" algn="l" defTabSz="914400" rtl="0" eaLnBrk="1" fontAlgn="auto" latinLnBrk="0" hangingPunct="1">
              <a:lnSpc>
                <a:spcPct val="100000"/>
              </a:lnSpc>
              <a:spcBef>
                <a:spcPts val="0"/>
              </a:spcBef>
              <a:spcAft>
                <a:spcPts val="0"/>
              </a:spcAft>
              <a:buNone/>
              <a:tabLst/>
              <a:defRPr/>
            </a:pPr>
            <a:r>
              <a:rPr kumimoji="0" lang="en-US" sz="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35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Vanderbilt ran that number. Even at a 1% false positive rate, their 75,000 submissions a year would falsely accuse 750 students. They switched the tool off in August 2023.</a:t>
            </a:r>
          </a:p>
        </p:txBody>
      </p:sp>
      <p:sp>
        <p:nvSpPr>
          <p:cNvPr id="80" name="Evidence"/>
          <p:cNvSpPr/>
          <p:nvPr/>
        </p:nvSpPr>
        <p:spPr>
          <a:xfrm>
            <a:off x="640080" y="4419600"/>
            <a:ext cx="10911840" cy="9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And 1% is generous. Stanford researchers ran seven detectors over 91 TOEFL essays, every one written by a human: 61.3% were flagged as machine-written, and about one in five was flagged by all seven. On essays by native English speakers the same detectors almost never erred.</a:t>
            </a:r>
          </a:p>
        </p:txBody>
      </p:sp>
      <p:sp>
        <p:nvSpPr>
          <p:cNvPr id="90" name="Close"/>
          <p:cNvSpPr/>
          <p:nvPr/>
        </p:nvSpPr>
        <p:spPr>
          <a:xfrm>
            <a:off x="640080" y="5486400"/>
            <a:ext cx="10911840" cy="7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The same flip, with a transcript at the end of it. A number about how often the tool catches machines, read as the chance that a student cheated.</a:t>
            </a:r>
          </a:p>
        </p:txBody>
      </p:sp>
      <p:sp>
        <p:nvSpPr>
          <p:cNvPr id="100" name="Source"/>
          <p:cNvSpPr/>
          <p:nvPr/>
        </p:nvSpPr>
        <p:spPr>
          <a:xfrm>
            <a:off x="640080" y="632460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Liang W, Yuksekgonul M, Mao Y, Wu E, Zou J. GPT detectors are biased against non-native English writers. Patterns 2023. Vanderbilt University disabled Turnitin's AI detection in August 2023. Johns Hopkins and international-student false positives reported by The Markup, 14 August 2023. Vendor accuracy figures are the vendors' own marketing claims.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EAE2">
            <a:alpha val="100000"/>
          </a:srgbClr>
        </a:solidFill>
        <a:effectLst/>
      </p:bgPr>
    </p:bg>
    <p:spTree>
      <p:nvGrpSpPr>
        <p:cNvPr id="1" name=""/>
        <p:cNvGrpSpPr/>
        <p:nvPr/>
      </p:nvGrpSpPr>
      <p:grpSpPr>
        <a:xfrm>
          <a:off x="0" y="0"/>
          <a:ext cx="0" cy="0"/>
          <a:chOff x="0" y="0"/>
          <a:chExt cx="0" cy="0"/>
        </a:xfrm>
      </p:grpSpPr>
      <p:sp>
        <p:nvSpPr>
          <p:cNvPr id="7" name="LessonRow2">
            <a:extLst>
              <a:ext uri="{FF2B5EF4-FFF2-40B4-BE49-F238E27FC236}">
                <a16:creationId xmlns:a16="http://schemas.microsoft.com/office/drawing/2014/main" id="{52F63C0D-4A73-0F4E-AD7D-EA91119928AA}"/>
              </a:ext>
            </a:extLst>
          </p:cNvPr>
          <p:cNvSpPr/>
          <p:nvPr/>
        </p:nvSpPr>
        <p:spPr>
          <a:xfrm>
            <a:off x="1016000" y="4749800"/>
            <a:ext cx="10160000" cy="1778000"/>
          </a:xfrm>
          <a:prstGeom prst="roundRect">
            <a:avLst/>
          </a:prstGeom>
          <a:solidFill>
            <a:srgbClr val="FFFFFF"/>
          </a:solidFill>
          <a:ln w="15875" cap="flat" cmpd="sng" algn="ctr">
            <a:solidFill>
              <a:srgbClr val="1568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LessonRow1">
            <a:extLst>
              <a:ext uri="{FF2B5EF4-FFF2-40B4-BE49-F238E27FC236}">
                <a16:creationId xmlns:a16="http://schemas.microsoft.com/office/drawing/2014/main" id="{A5DD4986-05B4-ED4B-8B06-D6C217012104}"/>
              </a:ext>
            </a:extLst>
          </p:cNvPr>
          <p:cNvSpPr/>
          <p:nvPr/>
        </p:nvSpPr>
        <p:spPr>
          <a:xfrm>
            <a:off x="1016000" y="2692400"/>
            <a:ext cx="10160000" cy="1778000"/>
          </a:xfrm>
          <a:prstGeom prst="roundRect">
            <a:avLst/>
          </a:prstGeom>
          <a:solidFill>
            <a:srgbClr val="FFFFFF"/>
          </a:solidFill>
          <a:ln w="15875" cap="flat" cmpd="sng" algn="ctr">
            <a:solidFill>
              <a:srgbClr val="1568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DividerNum">
            <a:extLst>
              <a:ext uri="{FF2B5EF4-FFF2-40B4-BE49-F238E27FC236}">
                <a16:creationId xmlns:a16="http://schemas.microsoft.com/office/drawing/2014/main" id="{4F5C199A-9D23-694A-B32A-BEF550796026}"/>
              </a:ext>
            </a:extLst>
          </p:cNvPr>
          <p:cNvSpPr txBox="1"/>
          <p:nvPr/>
        </p:nvSpPr>
        <p:spPr>
          <a:xfrm>
            <a:off x="1016000" y="889000"/>
            <a:ext cx="9144000" cy="889000"/>
          </a:xfrm>
          <a:prstGeom prst="rect">
            <a:avLst/>
          </a:prstGeom>
          <a:noFill/>
        </p:spPr>
        <p:txBody>
          <a:bodyPr vertOverflow="overflow" vert="horz" wrap="square" rtlCol="0" anchor="ctr" anchorCtr="0">
            <a:spAutoFit/>
          </a:bodyPr>
          <a:lstStyle/>
          <a:p>
            <a:pPr algn="l"/>
            <a:r>
              <a:rPr lang="en-US" sz="4400" b="1" dirty="0">
                <a:solidFill>
                  <a:srgbClr val="15686B"/>
                </a:solidFill>
              </a:rPr>
              <a:t>What we’ve learned</a:t>
            </a:r>
          </a:p>
        </p:txBody>
      </p:sp>
      <p:sp>
        <p:nvSpPr>
          <p:cNvPr id="4" name="DividerRule">
            <a:extLst>
              <a:ext uri="{FF2B5EF4-FFF2-40B4-BE49-F238E27FC236}">
                <a16:creationId xmlns:a16="http://schemas.microsoft.com/office/drawing/2014/main" id="{40908AA8-D266-8145-9246-0E6135A5D2B5}"/>
              </a:ext>
            </a:extLst>
          </p:cNvPr>
          <p:cNvSpPr/>
          <p:nvPr/>
        </p:nvSpPr>
        <p:spPr>
          <a:xfrm>
            <a:off x="1066800" y="1905000"/>
            <a:ext cx="1143000" cy="635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DividerTitle">
            <a:extLst>
              <a:ext uri="{FF2B5EF4-FFF2-40B4-BE49-F238E27FC236}">
                <a16:creationId xmlns:a16="http://schemas.microsoft.com/office/drawing/2014/main" id="{C1F7EE2F-254B-F247-8EFC-DAB681104AF6}"/>
              </a:ext>
            </a:extLst>
          </p:cNvPr>
          <p:cNvSpPr txBox="1"/>
          <p:nvPr/>
        </p:nvSpPr>
        <p:spPr>
          <a:xfrm>
            <a:off x="1016000" y="2057400"/>
            <a:ext cx="9652000" cy="431800"/>
          </a:xfrm>
          <a:prstGeom prst="rect">
            <a:avLst/>
          </a:prstGeom>
          <a:noFill/>
        </p:spPr>
        <p:txBody>
          <a:bodyPr vertOverflow="overflow" vert="horz" wrap="square" rtlCol="0" anchor="t" anchorCtr="0">
            <a:spAutoFit/>
          </a:bodyPr>
          <a:lstStyle/>
          <a:p>
            <a:pPr algn="l"/>
            <a:r>
              <a:rPr lang="en-US" sz="1800" dirty="0">
                <a:solidFill>
                  <a:srgbClr val="1F3864"/>
                </a:solidFill>
                <a:latin typeface="Calibri" pitchFamily="34" charset="0"/>
              </a:rPr>
              <a:t>One way a true number can mislead you, and a look ahead.</a:t>
            </a:r>
          </a:p>
        </p:txBody>
      </p:sp>
      <p:sp>
        <p:nvSpPr>
          <p:cNvPr id="11" name="TextBox 10">
            <a:extLst>
              <a:ext uri="{FF2B5EF4-FFF2-40B4-BE49-F238E27FC236}">
                <a16:creationId xmlns:a16="http://schemas.microsoft.com/office/drawing/2014/main" id="{FCD81A89-49D7-7C4E-8D71-2C7441676222}"/>
              </a:ext>
            </a:extLst>
          </p:cNvPr>
          <p:cNvSpPr txBox="1"/>
          <p:nvPr/>
        </p:nvSpPr>
        <p:spPr>
          <a:xfrm>
            <a:off x="2768600" y="2870200"/>
            <a:ext cx="8229600" cy="355600"/>
          </a:xfrm>
          <a:prstGeom prst="rect">
            <a:avLst/>
          </a:prstGeom>
          <a:noFill/>
        </p:spPr>
        <p:txBody>
          <a:bodyPr vertOverflow="overflow" vert="horz" wrap="square" rtlCol="0" anchor="t">
            <a:noAutofit/>
          </a:bodyPr>
          <a:lstStyle/>
          <a:p>
            <a:pPr algn="l"/>
            <a:r>
              <a:rPr lang="en-US" b="1">
                <a:solidFill>
                  <a:srgbClr val="15686B"/>
                </a:solidFill>
                <a:latin typeface="Bookman Old Style"/>
              </a:rPr>
              <a:t>1  ·  Probability reversal</a:t>
            </a:r>
          </a:p>
        </p:txBody>
      </p:sp>
      <p:sp>
        <p:nvSpPr>
          <p:cNvPr id="12" name="TextBox 11">
            <a:extLst>
              <a:ext uri="{FF2B5EF4-FFF2-40B4-BE49-F238E27FC236}">
                <a16:creationId xmlns:a16="http://schemas.microsoft.com/office/drawing/2014/main" id="{295A494C-1575-024E-9422-649FF425005E}"/>
              </a:ext>
            </a:extLst>
          </p:cNvPr>
          <p:cNvSpPr txBox="1"/>
          <p:nvPr/>
        </p:nvSpPr>
        <p:spPr>
          <a:xfrm>
            <a:off x="2768600" y="3276600"/>
            <a:ext cx="8229600" cy="508000"/>
          </a:xfrm>
          <a:prstGeom prst="rect">
            <a:avLst/>
          </a:prstGeom>
          <a:noFill/>
        </p:spPr>
        <p:txBody>
          <a:bodyPr vertOverflow="overflow" vert="horz" wrap="square" rtlCol="0" anchor="t">
            <a:noAutofit/>
          </a:bodyPr>
          <a:lstStyle/>
          <a:p>
            <a:pPr algn="l"/>
            <a:r>
              <a:rPr lang="en-US" sz="1400">
                <a:solidFill>
                  <a:srgbClr val="1F3864"/>
                </a:solidFill>
                <a:latin typeface="Calibri"/>
                <a:cs typeface="Calibri"/>
              </a:rPr>
              <a:t>The trap:  What the test reports gets flipped into what you asked. A positive is read as proof, a negative as the all-clear.</a:t>
            </a:r>
          </a:p>
        </p:txBody>
      </p:sp>
      <p:sp>
        <p:nvSpPr>
          <p:cNvPr id="13" name="TextBox 12">
            <a:extLst>
              <a:ext uri="{FF2B5EF4-FFF2-40B4-BE49-F238E27FC236}">
                <a16:creationId xmlns:a16="http://schemas.microsoft.com/office/drawing/2014/main" id="{2EDDD215-9415-154A-B2E2-330108F0AD4B}"/>
              </a:ext>
            </a:extLst>
          </p:cNvPr>
          <p:cNvSpPr txBox="1"/>
          <p:nvPr/>
        </p:nvSpPr>
        <p:spPr>
          <a:xfrm>
            <a:off x="2768600" y="3835400"/>
            <a:ext cx="8229600" cy="457200"/>
          </a:xfrm>
          <a:prstGeom prst="rect">
            <a:avLst/>
          </a:prstGeom>
          <a:noFill/>
        </p:spPr>
        <p:txBody>
          <a:bodyPr vertOverflow="overflow" vert="horz" wrap="square" rtlCol="0" anchor="t">
            <a:noAutofit/>
          </a:bodyPr>
          <a:lstStyle/>
          <a:p>
            <a:pPr algn="l"/>
            <a:r>
              <a:rPr lang="en-US" sz="1400" b="1" i="1">
                <a:solidFill>
                  <a:srgbClr val="15686B"/>
                </a:solidFill>
                <a:latin typeface="Calibri"/>
                <a:cs typeface="Calibri"/>
              </a:rPr>
              <a:t>Ask: out of everyone who got this result, how many actually have it?</a:t>
            </a:r>
          </a:p>
        </p:txBody>
      </p:sp>
      <p:sp>
        <p:nvSpPr>
          <p:cNvPr id="14" name="TextBox 13">
            <a:extLst>
              <a:ext uri="{FF2B5EF4-FFF2-40B4-BE49-F238E27FC236}">
                <a16:creationId xmlns:a16="http://schemas.microsoft.com/office/drawing/2014/main" id="{0CFEF917-D127-B54B-A3E9-E18AA7793178}"/>
              </a:ext>
            </a:extLst>
          </p:cNvPr>
          <p:cNvSpPr txBox="1"/>
          <p:nvPr/>
        </p:nvSpPr>
        <p:spPr>
          <a:xfrm>
            <a:off x="2768600" y="4927600"/>
            <a:ext cx="8229600" cy="355600"/>
          </a:xfrm>
          <a:prstGeom prst="rect">
            <a:avLst/>
          </a:prstGeom>
          <a:noFill/>
        </p:spPr>
        <p:txBody>
          <a:bodyPr vertOverflow="overflow" vert="horz" wrap="square" rtlCol="0" anchor="t">
            <a:noAutofit/>
          </a:bodyPr>
          <a:lstStyle/>
          <a:p>
            <a:pPr algn="l"/>
            <a:r>
              <a:rPr lang="en-US" b="1">
                <a:solidFill>
                  <a:srgbClr val="15686B"/>
                </a:solidFill>
                <a:latin typeface="Bookman Old Style"/>
              </a:rPr>
              <a:t>2  ·  Next week: Arbitrary categories</a:t>
            </a:r>
          </a:p>
        </p:txBody>
      </p:sp>
      <p:sp>
        <p:nvSpPr>
          <p:cNvPr id="15" name="TextBox 14">
            <a:extLst>
              <a:ext uri="{FF2B5EF4-FFF2-40B4-BE49-F238E27FC236}">
                <a16:creationId xmlns:a16="http://schemas.microsoft.com/office/drawing/2014/main" id="{4C6B5D73-CED0-924B-845A-70E448D1D2F4}"/>
              </a:ext>
            </a:extLst>
          </p:cNvPr>
          <p:cNvSpPr txBox="1"/>
          <p:nvPr/>
        </p:nvSpPr>
        <p:spPr>
          <a:xfrm>
            <a:off x="2768600" y="5334000"/>
            <a:ext cx="8229600" cy="508000"/>
          </a:xfrm>
          <a:prstGeom prst="rect">
            <a:avLst/>
          </a:prstGeom>
          <a:noFill/>
        </p:spPr>
        <p:txBody>
          <a:bodyPr vertOverflow="overflow" vert="horz" wrap="square" rtlCol="0" anchor="t">
            <a:noAutofit/>
          </a:bodyPr>
          <a:lstStyle/>
          <a:p>
            <a:r>
              <a:rPr lang="en-US" sz="1400" dirty="0">
                <a:solidFill>
                  <a:srgbClr val="1F3864"/>
                </a:solidFill>
                <a:latin typeface="Calibri" pitchFamily="34" charset="0"/>
              </a:rPr>
              <a:t>The trap:  A line drawn across a continuous measurement is read as a fact about your body.</a:t>
            </a:r>
          </a:p>
        </p:txBody>
      </p:sp>
      <p:sp>
        <p:nvSpPr>
          <p:cNvPr id="16" name="TextBox 15">
            <a:extLst>
              <a:ext uri="{FF2B5EF4-FFF2-40B4-BE49-F238E27FC236}">
                <a16:creationId xmlns:a16="http://schemas.microsoft.com/office/drawing/2014/main" id="{71D5EEE8-70C1-0748-B0E2-1CBE76AD0958}"/>
              </a:ext>
            </a:extLst>
          </p:cNvPr>
          <p:cNvSpPr txBox="1"/>
          <p:nvPr/>
        </p:nvSpPr>
        <p:spPr>
          <a:xfrm>
            <a:off x="2768600" y="5892800"/>
            <a:ext cx="8229600" cy="457200"/>
          </a:xfrm>
          <a:prstGeom prst="rect">
            <a:avLst/>
          </a:prstGeom>
          <a:noFill/>
        </p:spPr>
        <p:txBody>
          <a:bodyPr vertOverflow="overflow" vert="horz" wrap="square" rtlCol="0" anchor="t">
            <a:noAutofit/>
          </a:bodyPr>
          <a:lstStyle/>
          <a:p>
            <a:pPr algn="l"/>
            <a:r>
              <a:rPr lang="en-US" sz="1400" b="1" i="1">
                <a:solidFill>
                  <a:srgbClr val="15686B"/>
                </a:solidFill>
                <a:latin typeface="Calibri"/>
                <a:cs typeface="Calibri"/>
              </a:rPr>
              <a:t>Ask: where do I sit on the curve, not which side of the line?</a:t>
            </a:r>
          </a:p>
        </p:txBody>
      </p:sp>
      <p:sp>
        <p:nvSpPr>
          <p:cNvPr id="17" name="LessonAccentFlat1">
            <a:extLst>
              <a:ext uri="{FF2B5EF4-FFF2-40B4-BE49-F238E27FC236}">
                <a16:creationId xmlns:a16="http://schemas.microsoft.com/office/drawing/2014/main" id="{BC46039A-11FC-9143-93B0-4D9939B633C1}"/>
              </a:ext>
            </a:extLst>
          </p:cNvPr>
          <p:cNvSpPr/>
          <p:nvPr/>
        </p:nvSpPr>
        <p:spPr>
          <a:xfrm>
            <a:off x="1066800" y="2692400"/>
            <a:ext cx="1473200" cy="177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LessonAccentFlat2">
            <a:extLst>
              <a:ext uri="{FF2B5EF4-FFF2-40B4-BE49-F238E27FC236}">
                <a16:creationId xmlns:a16="http://schemas.microsoft.com/office/drawing/2014/main" id="{34C22567-0407-DB4F-8110-CCA7D935D3EB}"/>
              </a:ext>
            </a:extLst>
          </p:cNvPr>
          <p:cNvSpPr/>
          <p:nvPr/>
        </p:nvSpPr>
        <p:spPr>
          <a:xfrm>
            <a:off x="1066800" y="4749800"/>
            <a:ext cx="1473200" cy="177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9" name="Graphic 9" descr="Scales icon for relative vs absolute risk"/>
          <p:cNvPicPr>
            <a:picLocks noChangeAspect="1"/>
          </p:cNvPicPr>
          <p:nvPr/>
        </p:nvPicPr>
        <p:blipFill>
          <a:blip/>
          <a:stretch>
            <a:fillRect/>
          </a:stretch>
        </p:blipFill>
        <p:spPr>
          <a:xfrm>
            <a:off x="1397000" y="3149600"/>
            <a:ext cx="863600" cy="863600"/>
          </a:xfrm>
          <a:prstGeom prst="rect">
            <a:avLst/>
          </a:prstGeom>
        </p:spPr>
      </p:pic>
      <p:pic>
        <p:nvPicPr>
          <p:cNvPr id="10" name="Graphic 10" descr="Dice icon for expected values hide the truth"/>
          <p:cNvPicPr>
            <a:picLocks noChangeAspect="1"/>
          </p:cNvPicPr>
          <p:nvPr/>
        </p:nvPicPr>
        <p:blipFill>
          <a:blip/>
          <a:stretch>
            <a:fillRect/>
          </a:stretch>
        </p:blipFill>
        <p:spPr>
          <a:xfrm>
            <a:off x="1397000" y="5207000"/>
            <a:ext cx="863600" cy="863600"/>
          </a:xfrm>
          <a:prstGeom prst="rect">
            <a:avLst/>
          </a:prstGeom>
        </p:spPr>
      </p:pic>
      <p:pic>
        <p:nvPicPr>
          <p:cNvPr id="6" name="Graphic 9" descr="Scales icon for relative vs absolute risk"/>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7000" y="3149600"/>
            <a:ext cx="863600" cy="863600"/>
          </a:xfrm>
          <a:prstGeom prst="rect">
            <a:avLst/>
          </a:prstGeom>
        </p:spPr>
      </p:pic>
      <p:pic>
        <p:nvPicPr>
          <p:cNvPr id="8" name="Graphic 10" descr="Dice icon for expected values hide the truth"/>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7000" y="5207000"/>
            <a:ext cx="863600" cy="863600"/>
          </a:xfrm>
          <a:prstGeom prst="rect">
            <a:avLst/>
          </a:prstGeom>
        </p:spPr>
      </p:pic>
    </p:spTree>
    <p:extLst>
      <p:ext uri="{BB962C8B-B14F-4D97-AF65-F5344CB8AC3E}">
        <p14:creationId xmlns:p14="http://schemas.microsoft.com/office/powerpoint/2010/main" val="1485787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9079992" y="3749040"/>
            <a:ext cx="4572000" cy="4572000"/>
          </a:xfrm>
          <a:prstGeom prst="ellipse">
            <a:avLst/>
          </a:prstGeom>
          <a:solidFill>
            <a:srgbClr val="C2683F">
              <a:alpha val="10000"/>
            </a:srgbClr>
          </a:solidFill>
          <a:ln/>
        </p:spPr>
        <p:txBody>
          <a:bodyPr/>
          <a:lstStyle/>
          <a:p>
            <a:endParaRPr lang="en-US"/>
          </a:p>
        </p:txBody>
      </p:sp>
      <p:sp>
        <p:nvSpPr>
          <p:cNvPr id="3" name="Shape 1"/>
          <p:cNvSpPr/>
          <p:nvPr/>
        </p:nvSpPr>
        <p:spPr>
          <a:xfrm>
            <a:off x="10360152" y="2834640"/>
            <a:ext cx="2011680" cy="2011680"/>
          </a:xfrm>
          <a:prstGeom prst="ellipse">
            <a:avLst/>
          </a:prstGeom>
          <a:solidFill>
            <a:srgbClr val="15686B">
              <a:alpha val="8000"/>
            </a:srgbClr>
          </a:solidFill>
          <a:ln/>
        </p:spPr>
        <p:txBody>
          <a:bodyPr/>
          <a:lstStyle/>
          <a:p>
            <a:endParaRPr lang="en-US"/>
          </a:p>
        </p:txBody>
      </p:sp>
      <p:sp>
        <p:nvSpPr>
          <p:cNvPr id="4" name="Shape 2"/>
          <p:cNvSpPr/>
          <p:nvPr/>
        </p:nvSpPr>
        <p:spPr>
          <a:xfrm>
            <a:off x="685800" y="1371600"/>
            <a:ext cx="868680" cy="868680"/>
          </a:xfrm>
          <a:prstGeom prst="ellipse">
            <a:avLst/>
          </a:prstGeom>
          <a:solidFill>
            <a:srgbClr val="C2683F"/>
          </a:solidFill>
          <a:ln/>
        </p:spPr>
        <p:txBody>
          <a:bodyPr/>
          <a:lstStyle/>
          <a:p>
            <a:endParaRPr lang="en-US"/>
          </a:p>
        </p:txBody>
      </p:sp>
      <p:pic>
        <p:nvPicPr>
          <p:cNvPr id="5" name="Image 0" descr="/home/claude/assets/emblem.svg"/>
          <p:cNvPicPr>
            <a:picLocks noChangeAspect="1"/>
          </p:cNvPicPr>
          <p:nvPr/>
        </p:nvPicPr>
        <p:blipFill>
          <a:blip/>
          <a:stretch>
            <a:fillRect/>
          </a:stretch>
        </p:blipFill>
        <p:spPr>
          <a:xfrm>
            <a:off x="850849" y="1536649"/>
            <a:ext cx="538582" cy="538582"/>
          </a:xfrm>
          <a:prstGeom prst="rect">
            <a:avLst/>
          </a:prstGeom>
        </p:spPr>
      </p:pic>
      <p:sp>
        <p:nvSpPr>
          <p:cNvPr id="6" name="Text 3"/>
          <p:cNvSpPr/>
          <p:nvPr/>
        </p:nvSpPr>
        <p:spPr>
          <a:xfrm>
            <a:off x="685800" y="2514600"/>
            <a:ext cx="9875520" cy="1371600"/>
          </a:xfrm>
          <a:prstGeom prst="rect">
            <a:avLst/>
          </a:prstGeom>
          <a:noFill/>
          <a:ln/>
        </p:spPr>
        <p:txBody>
          <a:bodyPr wrap="square" lIns="0" tIns="0" rIns="0" bIns="0" rtlCol="0" anchor="ctr"/>
          <a:lstStyle/>
          <a:p>
            <a:pPr marL="0" indent="0" algn="l">
              <a:buNone/>
            </a:pPr>
            <a:r>
              <a:rPr lang="en-US" sz="5000" b="1" dirty="0">
                <a:solidFill>
                  <a:srgbClr val="262320"/>
                </a:solidFill>
                <a:latin typeface="Bookman Old Style" pitchFamily="34" charset="0"/>
                <a:ea typeface="Bookman Old Style" pitchFamily="34" charset="-122"/>
                <a:cs typeface="Bookman Old Style" pitchFamily="34" charset="-120"/>
              </a:rPr>
              <a:t>Questions, and a conversation</a:t>
            </a:r>
            <a:endParaRPr lang="en-US" sz="5000" dirty="0"/>
          </a:p>
        </p:txBody>
      </p:sp>
      <p:sp>
        <p:nvSpPr>
          <p:cNvPr id="7" name="Text 4"/>
          <p:cNvSpPr/>
          <p:nvPr/>
        </p:nvSpPr>
        <p:spPr>
          <a:xfrm>
            <a:off x="685800" y="4114800"/>
            <a:ext cx="10058400" cy="457200"/>
          </a:xfrm>
          <a:prstGeom prst="rect">
            <a:avLst/>
          </a:prstGeom>
          <a:noFill/>
          <a:ln/>
        </p:spPr>
        <p:txBody>
          <a:bodyPr wrap="square" lIns="0" tIns="0" rIns="0" bIns="0" rtlCol="0" anchor="ctr"/>
          <a:lstStyle/>
          <a:p>
            <a:pPr marL="0" indent="0" algn="l">
              <a:buNone/>
            </a:pPr>
            <a:r>
              <a:rPr lang="en-US" sz="2200" b="1" dirty="0">
                <a:solidFill>
                  <a:srgbClr val="262320"/>
                </a:solidFill>
                <a:latin typeface="Calibri" pitchFamily="34" charset="0"/>
                <a:ea typeface="Calibri" pitchFamily="34" charset="-122"/>
                <a:cs typeface="Calibri" pitchFamily="34" charset="-120"/>
              </a:rPr>
              <a:t>Murray Cantor PhD</a:t>
            </a:r>
            <a:r>
              <a:rPr lang="en-US" sz="2200" dirty="0">
                <a:solidFill>
                  <a:srgbClr val="8A8076"/>
                </a:solidFill>
                <a:latin typeface="Calibri" pitchFamily="34" charset="0"/>
                <a:ea typeface="Calibri" pitchFamily="34" charset="-122"/>
                <a:cs typeface="Calibri" pitchFamily="34" charset="-120"/>
              </a:rPr>
              <a:t>      </a:t>
            </a:r>
            <a:r>
              <a:rPr lang="en-US" sz="2200" dirty="0" err="1">
                <a:solidFill>
                  <a:srgbClr val="8A8076"/>
                </a:solidFill>
                <a:latin typeface="Calibri" pitchFamily="34" charset="0"/>
                <a:ea typeface="Calibri" pitchFamily="34" charset="-122"/>
                <a:cs typeface="Calibri" pitchFamily="34" charset="-120"/>
              </a:rPr>
              <a:t>murray@murraycantor.com</a:t>
            </a:r>
            <a:endParaRPr lang="en-US" sz="2200" dirty="0"/>
          </a:p>
        </p:txBody>
      </p:sp>
      <p:sp>
        <p:nvSpPr>
          <p:cNvPr id="8" name="Text 4">
            <a:extLst>
              <a:ext uri="{FF2B5EF4-FFF2-40B4-BE49-F238E27FC236}">
                <a16:creationId xmlns:a16="http://schemas.microsoft.com/office/drawing/2014/main" id="{525C5454-4728-2B5E-FBFD-5DD5FF3624A4}"/>
              </a:ext>
            </a:extLst>
          </p:cNvPr>
          <p:cNvSpPr/>
          <p:nvPr/>
        </p:nvSpPr>
        <p:spPr>
          <a:xfrm>
            <a:off x="685800" y="4800600"/>
            <a:ext cx="10058400" cy="457200"/>
          </a:xfrm>
          <a:prstGeom prst="rect">
            <a:avLst/>
          </a:prstGeom>
          <a:noFill/>
          <a:ln/>
        </p:spPr>
        <p:txBody>
          <a:bodyPr wrap="square" lIns="0" tIns="0" rIns="0" bIns="0" rtlCol="0" anchor="ctr"/>
          <a:lstStyle/>
          <a:p>
            <a:r>
              <a:rPr lang="en-US" sz="2200" b="1" dirty="0">
                <a:solidFill>
                  <a:srgbClr val="262320"/>
                </a:solidFill>
                <a:latin typeface="Calibri" pitchFamily="34" charset="0"/>
                <a:ea typeface="Calibri" pitchFamily="34" charset="-122"/>
                <a:cs typeface="Calibri" pitchFamily="34" charset="-120"/>
              </a:rPr>
              <a:t>Joel Keenan MD </a:t>
            </a:r>
            <a:r>
              <a:rPr lang="en-US" sz="2200" dirty="0">
                <a:solidFill>
                  <a:srgbClr val="8A8076"/>
                </a:solidFill>
                <a:latin typeface="Calibri" pitchFamily="34" charset="0"/>
                <a:ea typeface="Calibri" pitchFamily="34" charset="-122"/>
                <a:cs typeface="Calibri" pitchFamily="34" charset="-120"/>
              </a:rPr>
              <a:t>	</a:t>
            </a:r>
            <a:r>
              <a:rPr lang="en-US" sz="2200" dirty="0" err="1">
                <a:solidFill>
                  <a:srgbClr val="8A8076"/>
                </a:solidFill>
                <a:latin typeface="Calibri" pitchFamily="34" charset="0"/>
                <a:ea typeface="Calibri" pitchFamily="34" charset="-122"/>
                <a:cs typeface="Calibri" pitchFamily="34" charset="-120"/>
              </a:rPr>
              <a:t>drkeenan@mdvip.com</a:t>
            </a:r>
            <a:endParaRPr lang="en-US" sz="2200" dirty="0"/>
          </a:p>
        </p:txBody>
      </p:sp>
      <p:pic>
        <p:nvPicPr>
          <p:cNvPr id="9" name="Image 0" descr="/home/claude/assets/emblem.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0849" y="1536649"/>
            <a:ext cx="538582" cy="538582"/>
          </a:xfrm>
          <a:prstGeom prst="rect">
            <a:avLst/>
          </a:prstGeom>
        </p:spPr>
      </p:pic>
    </p:spTree>
  </p:cSld>
  <p:clrMapOvr>
    <a:masterClrMapping/>
  </p:clrMapOvr>
</p:sld>
</file>

<file path=ppt/theme/theme1.xml><?xml version="1.0" encoding="utf-8"?>
<a:theme xmlns:a="http://schemas.openxmlformats.org/drawingml/2006/main" name="Office Theme [1786994344768]">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lthy_Skepticism_template" id="{A475EFBF-EC16-804F-804C-E378F4DD18F0}" vid="{6A4D0C99-FC8E-6640-8839-28A56828CE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4ECEDE5C-0805-304A-84E1-7603506FB6F1}">
  <we:reference id="wa200010001" version="1.0.0.1" store="en-US" storeType="OMEX"/>
  <we:alternateReferences>
    <we:reference id="WA200010001" version="1.0.0.1" store="WA200010001" storeType="OMEX"/>
  </we:alternateReferences>
  <we:properties>
    <we:property name="claude.fileId" value="&quot;a7861329-2e06-4a86-8236-388c24162ff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CABE5228-6524-D842-87AA-5C952B802F1B}">
  <we:reference id="wa200010725" version="1.0.0.1" store="en-US" storeType="OMEX"/>
  <we:alternateReferences>
    <we:reference id="WA200010725" version="1.0.0.1" store="WA200010725" storeType="OMEX"/>
  </we:alternateReferences>
  <we:properties>
    <we:property name="claude.fileId" value="&quot;0b178ad5-e822-4235-a146-3078cc0329d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19121</TotalTime>
  <Words>2820</Words>
  <Application>Microsoft Macintosh PowerPoint</Application>
  <PresentationFormat>Widescreen</PresentationFormat>
  <Paragraphs>239</Paragraphs>
  <Slides>22</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Bookman Old Style</vt:lpstr>
      <vt:lpstr>Calibri</vt:lpstr>
      <vt:lpstr>Office Theme [1786994344768]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Murray Cantor</dc:creator>
  <cp:lastModifiedBy>Murray Cantor</cp:lastModifiedBy>
  <cp:revision>54</cp:revision>
  <cp:lastPrinted>2026-08-21T17:15:14Z</cp:lastPrinted>
  <dcterms:created xsi:type="dcterms:W3CDTF">2026-06-10T15:36:34Z</dcterms:created>
  <dcterms:modified xsi:type="dcterms:W3CDTF">2026-08-21T17:15:53Z</dcterms:modified>
</cp:coreProperties>
</file>