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375" r:id="rId2"/>
    <p:sldId id="378" r:id="rId3"/>
    <p:sldId id="414" r:id="rId4"/>
    <p:sldId id="442" r:id="rId5"/>
    <p:sldId id="456" r:id="rId6"/>
    <p:sldId id="544" r:id="rId7"/>
    <p:sldId id="545" r:id="rId8"/>
    <p:sldId id="477" r:id="rId9"/>
    <p:sldId id="546" r:id="rId10"/>
    <p:sldId id="475" r:id="rId11"/>
    <p:sldId id="476" r:id="rId12"/>
    <p:sldId id="506" r:id="rId13"/>
    <p:sldId id="547" r:id="rId14"/>
    <p:sldId id="550" r:id="rId15"/>
    <p:sldId id="548" r:id="rId16"/>
    <p:sldId id="551" r:id="rId17"/>
    <p:sldId id="549" r:id="rId18"/>
    <p:sldId id="455" r:id="rId19"/>
    <p:sldId id="508" r:id="rId20"/>
    <p:sldId id="553" r:id="rId21"/>
    <p:sldId id="554" r:id="rId22"/>
    <p:sldId id="555" r:id="rId23"/>
    <p:sldId id="509" r:id="rId24"/>
    <p:sldId id="510" r:id="rId25"/>
    <p:sldId id="534" r:id="rId26"/>
    <p:sldId id="556" r:id="rId27"/>
    <p:sldId id="557" r:id="rId28"/>
    <p:sldId id="522" r:id="rId29"/>
    <p:sldId id="521" r:id="rId30"/>
    <p:sldId id="262"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9DDD94B-1509-DCC6-97CA-BFFAFB482CC6}" name="Murray Cantor" initials="MC" userId="S::contact@murraycantor.com::4c14c09f-f573-4990-929e-1c221c9daca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86712"/>
  </p:normalViewPr>
  <p:slideViewPr>
    <p:cSldViewPr snapToGrid="0" snapToObjects="1">
      <p:cViewPr varScale="1">
        <p:scale>
          <a:sx n="93" d="100"/>
          <a:sy n="93" d="100"/>
        </p:scale>
        <p:origin x="216" y="55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pPr>
              <a:defRPr sz="1600" b="1"/>
            </a:pPr>
            <a:r>
              <a:rPr lang="en-US" sz="1600" b="1"/>
              <a:t>Two Series Moving Together</a:t>
            </a:r>
          </a:p>
        </c:rich>
      </c:tx>
      <c:overlay val="0"/>
    </c:title>
    <c:autoTitleDeleted val="0"/>
    <c:plotArea>
      <c:layout/>
      <c:lineChart>
        <c:grouping val="standard"/>
        <c:varyColors val="0"/>
        <c:ser>
          <c:idx val="0"/>
          <c:order val="0"/>
          <c:tx>
            <c:strRef>
              <c:f>A</c:f>
              <c:strCache>
                <c:ptCount val="1"/>
                <c:pt idx="0">
                  <c:v>Measure A</c:v>
                </c:pt>
              </c:strCache>
            </c:strRef>
          </c:tx>
          <c:spPr>
            <a:ln w="28575" cap="rnd">
              <a:solidFill>
                <a:srgbClr val="C2683F"/>
              </a:solidFill>
              <a:round/>
            </a:ln>
            <a:effectLst/>
          </c:spPr>
          <c:marker>
            <c:symbol val="circle"/>
            <c:size val="6"/>
            <c:spPr>
              <a:solidFill>
                <a:srgbClr val="C2683F"/>
              </a:solidFill>
              <a:ln>
                <a:solidFill>
                  <a:srgbClr val="C2683F"/>
                </a:solidFill>
              </a:ln>
            </c:spPr>
          </c:marker>
          <c:cat>
            <c:strLit>
              <c:ptCount val="10"/>
              <c:pt idx="0">
                <c:v>1</c:v>
              </c:pt>
              <c:pt idx="1">
                <c:v>2</c:v>
              </c:pt>
              <c:pt idx="2">
                <c:v>3</c:v>
              </c:pt>
              <c:pt idx="3">
                <c:v>4</c:v>
              </c:pt>
              <c:pt idx="4">
                <c:v>5</c:v>
              </c:pt>
              <c:pt idx="5">
                <c:v>6</c:v>
              </c:pt>
              <c:pt idx="6">
                <c:v>7</c:v>
              </c:pt>
              <c:pt idx="7">
                <c:v>8</c:v>
              </c:pt>
              <c:pt idx="8">
                <c:v>9</c:v>
              </c:pt>
              <c:pt idx="9">
                <c:v>10</c:v>
              </c:pt>
            </c:strLit>
          </c:cat>
          <c:val>
            <c:numLit>
              <c:formatCode>General</c:formatCode>
              <c:ptCount val="10"/>
              <c:pt idx="0">
                <c:v>22</c:v>
              </c:pt>
              <c:pt idx="1">
                <c:v>28</c:v>
              </c:pt>
              <c:pt idx="2">
                <c:v>26</c:v>
              </c:pt>
              <c:pt idx="3">
                <c:v>34</c:v>
              </c:pt>
              <c:pt idx="4">
                <c:v>39</c:v>
              </c:pt>
              <c:pt idx="5">
                <c:v>37</c:v>
              </c:pt>
              <c:pt idx="6">
                <c:v>45</c:v>
              </c:pt>
              <c:pt idx="7">
                <c:v>49</c:v>
              </c:pt>
              <c:pt idx="8">
                <c:v>47</c:v>
              </c:pt>
              <c:pt idx="9">
                <c:v>54</c:v>
              </c:pt>
            </c:numLit>
          </c:val>
          <c:smooth val="0"/>
          <c:extLst>
            <c:ext xmlns:c16="http://schemas.microsoft.com/office/drawing/2014/chart" uri="{C3380CC4-5D6E-409C-BE32-E72D297353CC}">
              <c16:uniqueId val="{00000000-2FC4-7A45-AD67-8C966B5C0DB4}"/>
            </c:ext>
          </c:extLst>
        </c:ser>
        <c:ser>
          <c:idx val="1"/>
          <c:order val="1"/>
          <c:tx>
            <c:strRef>
              <c:f>B</c:f>
              <c:strCache>
                <c:ptCount val="1"/>
                <c:pt idx="0">
                  <c:v>Measure B</c:v>
                </c:pt>
              </c:strCache>
            </c:strRef>
          </c:tx>
          <c:spPr>
            <a:ln w="28575" cap="rnd">
              <a:solidFill>
                <a:srgbClr val="1F3864"/>
              </a:solidFill>
              <a:round/>
            </a:ln>
            <a:effectLst/>
          </c:spPr>
          <c:marker>
            <c:symbol val="circle"/>
            <c:size val="6"/>
            <c:spPr>
              <a:solidFill>
                <a:srgbClr val="1F3864"/>
              </a:solidFill>
              <a:ln>
                <a:solidFill>
                  <a:srgbClr val="1F3864"/>
                </a:solidFill>
              </a:ln>
            </c:spPr>
          </c:marker>
          <c:cat>
            <c:strLit>
              <c:ptCount val="10"/>
              <c:pt idx="0">
                <c:v>1</c:v>
              </c:pt>
              <c:pt idx="1">
                <c:v>2</c:v>
              </c:pt>
              <c:pt idx="2">
                <c:v>3</c:v>
              </c:pt>
              <c:pt idx="3">
                <c:v>4</c:v>
              </c:pt>
              <c:pt idx="4">
                <c:v>5</c:v>
              </c:pt>
              <c:pt idx="5">
                <c:v>6</c:v>
              </c:pt>
              <c:pt idx="6">
                <c:v>7</c:v>
              </c:pt>
              <c:pt idx="7">
                <c:v>8</c:v>
              </c:pt>
              <c:pt idx="8">
                <c:v>9</c:v>
              </c:pt>
              <c:pt idx="9">
                <c:v>10</c:v>
              </c:pt>
            </c:strLit>
          </c:cat>
          <c:val>
            <c:numLit>
              <c:formatCode>General</c:formatCode>
              <c:ptCount val="10"/>
              <c:pt idx="0">
                <c:v>31</c:v>
              </c:pt>
              <c:pt idx="1">
                <c:v>35</c:v>
              </c:pt>
              <c:pt idx="2">
                <c:v>34</c:v>
              </c:pt>
              <c:pt idx="3">
                <c:v>42</c:v>
              </c:pt>
              <c:pt idx="4">
                <c:v>48</c:v>
              </c:pt>
              <c:pt idx="5">
                <c:v>45</c:v>
              </c:pt>
              <c:pt idx="6">
                <c:v>52</c:v>
              </c:pt>
              <c:pt idx="7">
                <c:v>58</c:v>
              </c:pt>
              <c:pt idx="8">
                <c:v>55</c:v>
              </c:pt>
              <c:pt idx="9">
                <c:v>63</c:v>
              </c:pt>
            </c:numLit>
          </c:val>
          <c:smooth val="0"/>
          <c:extLst>
            <c:ext xmlns:c16="http://schemas.microsoft.com/office/drawing/2014/chart" uri="{C3380CC4-5D6E-409C-BE32-E72D297353CC}">
              <c16:uniqueId val="{00000001-2FC4-7A45-AD67-8C966B5C0DB4}"/>
            </c:ext>
          </c:extLst>
        </c:ser>
        <c:dLbls>
          <c:showLegendKey val="0"/>
          <c:showVal val="0"/>
          <c:showCatName val="0"/>
          <c:showSerName val="0"/>
          <c:showPercent val="0"/>
          <c:showBubbleSize val="0"/>
        </c:dLbls>
        <c:marker val="1"/>
        <c:smooth val="0"/>
        <c:axId val="111111111"/>
        <c:axId val="222222222"/>
      </c:lineChart>
      <c:catAx>
        <c:axId val="111111111"/>
        <c:scaling>
          <c:orientation val="minMax"/>
        </c:scaling>
        <c:delete val="0"/>
        <c:axPos val="b"/>
        <c:title>
          <c:tx>
            <c:rich>
              <a:bodyPr/>
              <a:lstStyle/>
              <a:p>
                <a:pPr>
                  <a:defRPr sz="1400"/>
                </a:pPr>
                <a:r>
                  <a:rPr lang="en-US" sz="1400"/>
                  <a:t>Time period</a:t>
                </a:r>
              </a:p>
            </c:rich>
          </c:tx>
          <c:overlay val="0"/>
        </c:title>
        <c:numFmt formatCode="General" sourceLinked="0"/>
        <c:majorTickMark val="none"/>
        <c:minorTickMark val="none"/>
        <c:tickLblPos val="nextTo"/>
        <c:txPr>
          <a:bodyPr/>
          <a:lstStyle/>
          <a:p>
            <a:pPr>
              <a:defRPr sz="1400"/>
            </a:pPr>
            <a:endParaRPr lang="en-US"/>
          </a:p>
        </c:txPr>
        <c:crossAx val="222222222"/>
        <c:crosses val="autoZero"/>
        <c:auto val="1"/>
        <c:lblAlgn val="ctr"/>
        <c:lblOffset val="100"/>
        <c:noMultiLvlLbl val="1"/>
      </c:catAx>
      <c:valAx>
        <c:axId val="222222222"/>
        <c:scaling>
          <c:orientation val="minMax"/>
        </c:scaling>
        <c:delete val="0"/>
        <c:axPos val="l"/>
        <c:majorGridlines/>
        <c:numFmt formatCode="General" sourceLinked="1"/>
        <c:majorTickMark val="out"/>
        <c:minorTickMark val="none"/>
        <c:tickLblPos val="nextTo"/>
        <c:txPr>
          <a:bodyPr/>
          <a:lstStyle/>
          <a:p>
            <a:pPr>
              <a:defRPr sz="1400"/>
            </a:pPr>
            <a:endParaRPr lang="en-US"/>
          </a:p>
        </c:txPr>
        <c:crossAx val="111111111"/>
        <c:crosses val="autoZero"/>
        <c:crossBetween val="between"/>
      </c:valAx>
    </c:plotArea>
    <c:legend>
      <c:legendPos val="t"/>
      <c:overlay val="0"/>
      <c:txPr>
        <a:bodyPr/>
        <a:lstStyle/>
        <a:p>
          <a:pPr>
            <a:defRPr sz="1400"/>
          </a:pPr>
          <a:endParaRPr lang="en-US"/>
        </a:p>
      </c:txPr>
    </c:legend>
    <c:plotVisOnly val="1"/>
    <c:dispBlanksAs val="zero"/>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pPr algn="ctr">
              <a:defRPr sz="1600" b="1">
                <a:solidFill>
                  <a:srgbClr val="262320"/>
                </a:solidFill>
                <a:latin typeface="Calibri"/>
              </a:defRPr>
            </a:pPr>
            <a:r>
              <a:rPr lang="en-US" sz="1600" b="1">
                <a:solidFill>
                  <a:srgbClr val="262320"/>
                </a:solidFill>
                <a:latin typeface="Calibri"/>
              </a:rPr>
              <a:t>r = +0.99</a:t>
            </a:r>
          </a:p>
          <a:p>
            <a:pPr algn="ctr">
              <a:defRPr sz="1600" b="1">
                <a:solidFill>
                  <a:srgbClr val="262320"/>
                </a:solidFill>
                <a:latin typeface="Calibri"/>
              </a:defRPr>
            </a:pPr>
            <a:r>
              <a:rPr lang="en-US" sz="1400">
                <a:solidFill>
                  <a:srgbClr val="3F3B36"/>
                </a:solidFill>
                <a:latin typeface="Calibri"/>
              </a:rPr>
              <a:t>Strong positive</a:t>
            </a:r>
          </a:p>
        </c:rich>
      </c:tx>
      <c:overlay val="0"/>
    </c:title>
    <c:autoTitleDeleted val="0"/>
    <c:plotArea>
      <c:layout/>
      <c:lineChart>
        <c:grouping val="standard"/>
        <c:varyColors val="0"/>
        <c:ser>
          <c:idx val="0"/>
          <c:order val="0"/>
          <c:tx>
            <c:v>A</c:v>
          </c:tx>
          <c:spPr>
            <a:ln w="28575" cap="rnd">
              <a:solidFill>
                <a:srgbClr val="C2683F"/>
              </a:solidFill>
              <a:round/>
            </a:ln>
          </c:spPr>
          <c:marker>
            <c:symbol val="circle"/>
            <c:size val="5"/>
            <c:spPr>
              <a:solidFill>
                <a:srgbClr val="C2683F"/>
              </a:solidFill>
              <a:ln>
                <a:noFill/>
              </a:ln>
            </c:spPr>
          </c:marker>
          <c:cat>
            <c:strLit>
              <c:ptCount val="12"/>
              <c:pt idx="0">
                <c:v>1</c:v>
              </c:pt>
              <c:pt idx="1">
                <c:v>2</c:v>
              </c:pt>
              <c:pt idx="2">
                <c:v>3</c:v>
              </c:pt>
              <c:pt idx="3">
                <c:v>4</c:v>
              </c:pt>
              <c:pt idx="4">
                <c:v>5</c:v>
              </c:pt>
              <c:pt idx="5">
                <c:v>6</c:v>
              </c:pt>
              <c:pt idx="6">
                <c:v>7</c:v>
              </c:pt>
              <c:pt idx="7">
                <c:v>8</c:v>
              </c:pt>
              <c:pt idx="8">
                <c:v>9</c:v>
              </c:pt>
              <c:pt idx="9">
                <c:v>10</c:v>
              </c:pt>
              <c:pt idx="10">
                <c:v>11</c:v>
              </c:pt>
              <c:pt idx="11">
                <c:v>12</c:v>
              </c:pt>
            </c:strLit>
          </c:cat>
          <c:val>
            <c:numLit>
              <c:formatCode>General</c:formatCode>
              <c:ptCount val="12"/>
              <c:pt idx="0">
                <c:v>3</c:v>
              </c:pt>
              <c:pt idx="1">
                <c:v>4.2</c:v>
              </c:pt>
              <c:pt idx="2">
                <c:v>3.6</c:v>
              </c:pt>
              <c:pt idx="3">
                <c:v>5.5</c:v>
              </c:pt>
              <c:pt idx="4">
                <c:v>6.8</c:v>
              </c:pt>
              <c:pt idx="5">
                <c:v>6.1</c:v>
              </c:pt>
              <c:pt idx="6">
                <c:v>7.9</c:v>
              </c:pt>
              <c:pt idx="7">
                <c:v>8.6</c:v>
              </c:pt>
              <c:pt idx="8">
                <c:v>7.8</c:v>
              </c:pt>
              <c:pt idx="9">
                <c:v>9.5</c:v>
              </c:pt>
              <c:pt idx="10">
                <c:v>10.8</c:v>
              </c:pt>
              <c:pt idx="11">
                <c:v>10.199999999999999</c:v>
              </c:pt>
            </c:numLit>
          </c:val>
          <c:smooth val="0"/>
          <c:extLst>
            <c:ext xmlns:c16="http://schemas.microsoft.com/office/drawing/2014/chart" uri="{C3380CC4-5D6E-409C-BE32-E72D297353CC}">
              <c16:uniqueId val="{00000000-6A0F-CA4E-810A-512451A834C6}"/>
            </c:ext>
          </c:extLst>
        </c:ser>
        <c:ser>
          <c:idx val="1"/>
          <c:order val="1"/>
          <c:tx>
            <c:v>B</c:v>
          </c:tx>
          <c:spPr>
            <a:ln w="28575" cap="rnd">
              <a:solidFill>
                <a:srgbClr val="1F3864"/>
              </a:solidFill>
              <a:round/>
            </a:ln>
          </c:spPr>
          <c:marker>
            <c:symbol val="circle"/>
            <c:size val="5"/>
            <c:spPr>
              <a:solidFill>
                <a:srgbClr val="1F3864"/>
              </a:solidFill>
              <a:ln>
                <a:noFill/>
              </a:ln>
            </c:spPr>
          </c:marker>
          <c:cat>
            <c:strLit>
              <c:ptCount val="12"/>
              <c:pt idx="0">
                <c:v>1</c:v>
              </c:pt>
              <c:pt idx="1">
                <c:v>2</c:v>
              </c:pt>
              <c:pt idx="2">
                <c:v>3</c:v>
              </c:pt>
              <c:pt idx="3">
                <c:v>4</c:v>
              </c:pt>
              <c:pt idx="4">
                <c:v>5</c:v>
              </c:pt>
              <c:pt idx="5">
                <c:v>6</c:v>
              </c:pt>
              <c:pt idx="6">
                <c:v>7</c:v>
              </c:pt>
              <c:pt idx="7">
                <c:v>8</c:v>
              </c:pt>
              <c:pt idx="8">
                <c:v>9</c:v>
              </c:pt>
              <c:pt idx="9">
                <c:v>10</c:v>
              </c:pt>
              <c:pt idx="10">
                <c:v>11</c:v>
              </c:pt>
              <c:pt idx="11">
                <c:v>12</c:v>
              </c:pt>
            </c:strLit>
          </c:cat>
          <c:val>
            <c:numLit>
              <c:formatCode>General</c:formatCode>
              <c:ptCount val="12"/>
              <c:pt idx="0">
                <c:v>2.1</c:v>
              </c:pt>
              <c:pt idx="1">
                <c:v>2.8</c:v>
              </c:pt>
              <c:pt idx="2">
                <c:v>2.8</c:v>
              </c:pt>
              <c:pt idx="3">
                <c:v>4</c:v>
              </c:pt>
              <c:pt idx="4">
                <c:v>5.8</c:v>
              </c:pt>
              <c:pt idx="5">
                <c:v>5.2</c:v>
              </c:pt>
              <c:pt idx="6">
                <c:v>6.3</c:v>
              </c:pt>
              <c:pt idx="7">
                <c:v>7.6</c:v>
              </c:pt>
              <c:pt idx="8">
                <c:v>6.4</c:v>
              </c:pt>
              <c:pt idx="9">
                <c:v>8.6</c:v>
              </c:pt>
              <c:pt idx="10">
                <c:v>9.3000000000000007</c:v>
              </c:pt>
              <c:pt idx="11">
                <c:v>9.1999999999999993</c:v>
              </c:pt>
            </c:numLit>
          </c:val>
          <c:smooth val="0"/>
          <c:extLst>
            <c:ext xmlns:c16="http://schemas.microsoft.com/office/drawing/2014/chart" uri="{C3380CC4-5D6E-409C-BE32-E72D297353CC}">
              <c16:uniqueId val="{00000001-6A0F-CA4E-810A-512451A834C6}"/>
            </c:ext>
          </c:extLst>
        </c:ser>
        <c:dLbls>
          <c:showLegendKey val="0"/>
          <c:showVal val="0"/>
          <c:showCatName val="0"/>
          <c:showSerName val="0"/>
          <c:showPercent val="0"/>
          <c:showBubbleSize val="0"/>
        </c:dLbls>
        <c:marker val="1"/>
        <c:smooth val="0"/>
        <c:axId val="200"/>
        <c:axId val="201"/>
      </c:lineChart>
      <c:catAx>
        <c:axId val="200"/>
        <c:scaling>
          <c:orientation val="minMax"/>
        </c:scaling>
        <c:delete val="0"/>
        <c:axPos val="b"/>
        <c:numFmt formatCode="General" sourceLinked="0"/>
        <c:majorTickMark val="none"/>
        <c:minorTickMark val="none"/>
        <c:tickLblPos val="none"/>
        <c:spPr>
          <a:ln w="9525">
            <a:solidFill>
              <a:srgbClr val="A6A29C"/>
            </a:solidFill>
          </a:ln>
        </c:spPr>
        <c:crossAx val="201"/>
        <c:crosses val="autoZero"/>
        <c:auto val="1"/>
        <c:lblAlgn val="ctr"/>
        <c:lblOffset val="100"/>
        <c:noMultiLvlLbl val="1"/>
      </c:catAx>
      <c:valAx>
        <c:axId val="201"/>
        <c:scaling>
          <c:orientation val="minMax"/>
          <c:max val="13"/>
          <c:min val="0"/>
        </c:scaling>
        <c:delete val="0"/>
        <c:axPos val="l"/>
        <c:majorGridlines>
          <c:spPr>
            <a:ln w="9525">
              <a:solidFill>
                <a:srgbClr val="E6E3DF"/>
              </a:solidFill>
            </a:ln>
          </c:spPr>
        </c:majorGridlines>
        <c:numFmt formatCode="General" sourceLinked="1"/>
        <c:majorTickMark val="none"/>
        <c:minorTickMark val="none"/>
        <c:tickLblPos val="none"/>
        <c:spPr>
          <a:ln w="9525">
            <a:solidFill>
              <a:srgbClr val="A6A29C"/>
            </a:solidFill>
          </a:ln>
        </c:spPr>
        <c:crossAx val="200"/>
        <c:crosses val="autoZero"/>
        <c:crossBetween val="between"/>
      </c:valAx>
      <c:spPr>
        <a:noFill/>
        <a:ln>
          <a:noFill/>
        </a:ln>
      </c:spPr>
    </c:plotArea>
    <c:plotVisOnly val="1"/>
    <c:dispBlanksAs val="zero"/>
    <c:showDLblsOverMax val="1"/>
  </c:chart>
  <c:spPr>
    <a:no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pPr algn="ctr">
              <a:defRPr sz="1600" b="1">
                <a:solidFill>
                  <a:srgbClr val="262320"/>
                </a:solidFill>
                <a:latin typeface="Calibri"/>
              </a:defRPr>
            </a:pPr>
            <a:r>
              <a:rPr lang="en-US" sz="1600" b="1">
                <a:solidFill>
                  <a:srgbClr val="262320"/>
                </a:solidFill>
                <a:latin typeface="Calibri"/>
              </a:rPr>
              <a:t>r = +0.59</a:t>
            </a:r>
          </a:p>
          <a:p>
            <a:pPr algn="ctr">
              <a:defRPr sz="1600" b="1">
                <a:solidFill>
                  <a:srgbClr val="262320"/>
                </a:solidFill>
                <a:latin typeface="Calibri"/>
              </a:defRPr>
            </a:pPr>
            <a:r>
              <a:rPr lang="en-US" sz="1400">
                <a:solidFill>
                  <a:srgbClr val="3F3B36"/>
                </a:solidFill>
                <a:latin typeface="Calibri"/>
              </a:rPr>
              <a:t>Moderate positive</a:t>
            </a:r>
          </a:p>
        </c:rich>
      </c:tx>
      <c:overlay val="0"/>
    </c:title>
    <c:autoTitleDeleted val="0"/>
    <c:plotArea>
      <c:layout/>
      <c:lineChart>
        <c:grouping val="standard"/>
        <c:varyColors val="0"/>
        <c:ser>
          <c:idx val="0"/>
          <c:order val="0"/>
          <c:tx>
            <c:v>A</c:v>
          </c:tx>
          <c:spPr>
            <a:ln w="28575" cap="rnd">
              <a:solidFill>
                <a:srgbClr val="C2683F"/>
              </a:solidFill>
              <a:round/>
            </a:ln>
          </c:spPr>
          <c:marker>
            <c:symbol val="circle"/>
            <c:size val="5"/>
            <c:spPr>
              <a:solidFill>
                <a:srgbClr val="C2683F"/>
              </a:solidFill>
              <a:ln>
                <a:noFill/>
              </a:ln>
            </c:spPr>
          </c:marker>
          <c:cat>
            <c:strLit>
              <c:ptCount val="12"/>
              <c:pt idx="0">
                <c:v>1</c:v>
              </c:pt>
              <c:pt idx="1">
                <c:v>2</c:v>
              </c:pt>
              <c:pt idx="2">
                <c:v>3</c:v>
              </c:pt>
              <c:pt idx="3">
                <c:v>4</c:v>
              </c:pt>
              <c:pt idx="4">
                <c:v>5</c:v>
              </c:pt>
              <c:pt idx="5">
                <c:v>6</c:v>
              </c:pt>
              <c:pt idx="6">
                <c:v>7</c:v>
              </c:pt>
              <c:pt idx="7">
                <c:v>8</c:v>
              </c:pt>
              <c:pt idx="8">
                <c:v>9</c:v>
              </c:pt>
              <c:pt idx="9">
                <c:v>10</c:v>
              </c:pt>
              <c:pt idx="10">
                <c:v>11</c:v>
              </c:pt>
              <c:pt idx="11">
                <c:v>12</c:v>
              </c:pt>
            </c:strLit>
          </c:cat>
          <c:val>
            <c:numLit>
              <c:formatCode>General</c:formatCode>
              <c:ptCount val="12"/>
              <c:pt idx="0">
                <c:v>4</c:v>
              </c:pt>
              <c:pt idx="1">
                <c:v>5.2</c:v>
              </c:pt>
              <c:pt idx="2">
                <c:v>4.4000000000000004</c:v>
              </c:pt>
              <c:pt idx="3">
                <c:v>6</c:v>
              </c:pt>
              <c:pt idx="4">
                <c:v>5.0999999999999996</c:v>
              </c:pt>
              <c:pt idx="5">
                <c:v>7.2</c:v>
              </c:pt>
              <c:pt idx="6">
                <c:v>6</c:v>
              </c:pt>
              <c:pt idx="7">
                <c:v>8.1</c:v>
              </c:pt>
              <c:pt idx="8">
                <c:v>7</c:v>
              </c:pt>
              <c:pt idx="9">
                <c:v>8.8000000000000007</c:v>
              </c:pt>
              <c:pt idx="10">
                <c:v>7.6</c:v>
              </c:pt>
              <c:pt idx="11">
                <c:v>9.6</c:v>
              </c:pt>
            </c:numLit>
          </c:val>
          <c:smooth val="0"/>
          <c:extLst>
            <c:ext xmlns:c16="http://schemas.microsoft.com/office/drawing/2014/chart" uri="{C3380CC4-5D6E-409C-BE32-E72D297353CC}">
              <c16:uniqueId val="{00000000-F1C6-B042-A170-8509B8F1C3B8}"/>
            </c:ext>
          </c:extLst>
        </c:ser>
        <c:ser>
          <c:idx val="1"/>
          <c:order val="1"/>
          <c:tx>
            <c:v>B</c:v>
          </c:tx>
          <c:spPr>
            <a:ln w="28575" cap="rnd">
              <a:solidFill>
                <a:srgbClr val="1F3864"/>
              </a:solidFill>
              <a:round/>
            </a:ln>
          </c:spPr>
          <c:marker>
            <c:symbol val="circle"/>
            <c:size val="5"/>
            <c:spPr>
              <a:solidFill>
                <a:srgbClr val="1F3864"/>
              </a:solidFill>
              <a:ln>
                <a:noFill/>
              </a:ln>
            </c:spPr>
          </c:marker>
          <c:cat>
            <c:strLit>
              <c:ptCount val="12"/>
              <c:pt idx="0">
                <c:v>1</c:v>
              </c:pt>
              <c:pt idx="1">
                <c:v>2</c:v>
              </c:pt>
              <c:pt idx="2">
                <c:v>3</c:v>
              </c:pt>
              <c:pt idx="3">
                <c:v>4</c:v>
              </c:pt>
              <c:pt idx="4">
                <c:v>5</c:v>
              </c:pt>
              <c:pt idx="5">
                <c:v>6</c:v>
              </c:pt>
              <c:pt idx="6">
                <c:v>7</c:v>
              </c:pt>
              <c:pt idx="7">
                <c:v>8</c:v>
              </c:pt>
              <c:pt idx="8">
                <c:v>9</c:v>
              </c:pt>
              <c:pt idx="9">
                <c:v>10</c:v>
              </c:pt>
              <c:pt idx="10">
                <c:v>11</c:v>
              </c:pt>
              <c:pt idx="11">
                <c:v>12</c:v>
              </c:pt>
            </c:strLit>
          </c:cat>
          <c:val>
            <c:numLit>
              <c:formatCode>General</c:formatCode>
              <c:ptCount val="12"/>
              <c:pt idx="0">
                <c:v>3</c:v>
              </c:pt>
              <c:pt idx="1">
                <c:v>2.2000000000000002</c:v>
              </c:pt>
              <c:pt idx="2">
                <c:v>5.4</c:v>
              </c:pt>
              <c:pt idx="3">
                <c:v>3.8</c:v>
              </c:pt>
              <c:pt idx="4">
                <c:v>6.6</c:v>
              </c:pt>
              <c:pt idx="5">
                <c:v>4.4000000000000004</c:v>
              </c:pt>
              <c:pt idx="6">
                <c:v>7.8</c:v>
              </c:pt>
              <c:pt idx="7">
                <c:v>5.2</c:v>
              </c:pt>
              <c:pt idx="8">
                <c:v>6.4</c:v>
              </c:pt>
              <c:pt idx="9">
                <c:v>8.6</c:v>
              </c:pt>
              <c:pt idx="10">
                <c:v>6.2</c:v>
              </c:pt>
              <c:pt idx="11">
                <c:v>7.8</c:v>
              </c:pt>
            </c:numLit>
          </c:val>
          <c:smooth val="0"/>
          <c:extLst>
            <c:ext xmlns:c16="http://schemas.microsoft.com/office/drawing/2014/chart" uri="{C3380CC4-5D6E-409C-BE32-E72D297353CC}">
              <c16:uniqueId val="{00000001-F1C6-B042-A170-8509B8F1C3B8}"/>
            </c:ext>
          </c:extLst>
        </c:ser>
        <c:dLbls>
          <c:showLegendKey val="0"/>
          <c:showVal val="0"/>
          <c:showCatName val="0"/>
          <c:showSerName val="0"/>
          <c:showPercent val="0"/>
          <c:showBubbleSize val="0"/>
        </c:dLbls>
        <c:marker val="1"/>
        <c:smooth val="0"/>
        <c:axId val="202"/>
        <c:axId val="203"/>
      </c:lineChart>
      <c:catAx>
        <c:axId val="202"/>
        <c:scaling>
          <c:orientation val="minMax"/>
        </c:scaling>
        <c:delete val="0"/>
        <c:axPos val="b"/>
        <c:numFmt formatCode="General" sourceLinked="0"/>
        <c:majorTickMark val="none"/>
        <c:minorTickMark val="none"/>
        <c:tickLblPos val="none"/>
        <c:spPr>
          <a:ln w="9525">
            <a:solidFill>
              <a:srgbClr val="A6A29C"/>
            </a:solidFill>
          </a:ln>
        </c:spPr>
        <c:crossAx val="203"/>
        <c:crosses val="autoZero"/>
        <c:auto val="1"/>
        <c:lblAlgn val="ctr"/>
        <c:lblOffset val="100"/>
        <c:noMultiLvlLbl val="1"/>
      </c:catAx>
      <c:valAx>
        <c:axId val="203"/>
        <c:scaling>
          <c:orientation val="minMax"/>
          <c:max val="13"/>
          <c:min val="0"/>
        </c:scaling>
        <c:delete val="0"/>
        <c:axPos val="l"/>
        <c:majorGridlines>
          <c:spPr>
            <a:ln w="9525">
              <a:solidFill>
                <a:srgbClr val="E6E3DF"/>
              </a:solidFill>
            </a:ln>
          </c:spPr>
        </c:majorGridlines>
        <c:numFmt formatCode="General" sourceLinked="1"/>
        <c:majorTickMark val="none"/>
        <c:minorTickMark val="none"/>
        <c:tickLblPos val="none"/>
        <c:spPr>
          <a:ln w="9525">
            <a:solidFill>
              <a:srgbClr val="A6A29C"/>
            </a:solidFill>
          </a:ln>
        </c:spPr>
        <c:crossAx val="202"/>
        <c:crosses val="autoZero"/>
        <c:crossBetween val="between"/>
      </c:valAx>
      <c:spPr>
        <a:noFill/>
        <a:ln>
          <a:noFill/>
        </a:ln>
      </c:spPr>
    </c:plotArea>
    <c:plotVisOnly val="1"/>
    <c:dispBlanksAs val="zero"/>
    <c:showDLblsOverMax val="1"/>
  </c:chart>
  <c:spPr>
    <a:noFill/>
    <a:ln>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pPr algn="ctr">
              <a:defRPr sz="1600" b="1">
                <a:solidFill>
                  <a:srgbClr val="262320"/>
                </a:solidFill>
                <a:latin typeface="Calibri"/>
              </a:defRPr>
            </a:pPr>
            <a:r>
              <a:rPr lang="en-US" sz="1600" b="1">
                <a:solidFill>
                  <a:srgbClr val="262320"/>
                </a:solidFill>
                <a:latin typeface="Calibri"/>
              </a:rPr>
              <a:t>r = +0.06</a:t>
            </a:r>
          </a:p>
          <a:p>
            <a:pPr algn="ctr">
              <a:defRPr sz="1600" b="1">
                <a:solidFill>
                  <a:srgbClr val="262320"/>
                </a:solidFill>
                <a:latin typeface="Calibri"/>
              </a:defRPr>
            </a:pPr>
            <a:r>
              <a:rPr lang="en-US" sz="1400">
                <a:solidFill>
                  <a:srgbClr val="3F3B36"/>
                </a:solidFill>
                <a:latin typeface="Calibri"/>
              </a:rPr>
              <a:t>Essentially none</a:t>
            </a:r>
          </a:p>
        </c:rich>
      </c:tx>
      <c:overlay val="0"/>
    </c:title>
    <c:autoTitleDeleted val="0"/>
    <c:plotArea>
      <c:layout/>
      <c:lineChart>
        <c:grouping val="standard"/>
        <c:varyColors val="0"/>
        <c:ser>
          <c:idx val="0"/>
          <c:order val="0"/>
          <c:tx>
            <c:v>A</c:v>
          </c:tx>
          <c:spPr>
            <a:ln w="28575" cap="rnd">
              <a:solidFill>
                <a:srgbClr val="C2683F"/>
              </a:solidFill>
              <a:round/>
            </a:ln>
          </c:spPr>
          <c:marker>
            <c:symbol val="circle"/>
            <c:size val="5"/>
            <c:spPr>
              <a:solidFill>
                <a:srgbClr val="C2683F"/>
              </a:solidFill>
              <a:ln>
                <a:noFill/>
              </a:ln>
            </c:spPr>
          </c:marker>
          <c:cat>
            <c:strLit>
              <c:ptCount val="12"/>
              <c:pt idx="0">
                <c:v>1</c:v>
              </c:pt>
              <c:pt idx="1">
                <c:v>2</c:v>
              </c:pt>
              <c:pt idx="2">
                <c:v>3</c:v>
              </c:pt>
              <c:pt idx="3">
                <c:v>4</c:v>
              </c:pt>
              <c:pt idx="4">
                <c:v>5</c:v>
              </c:pt>
              <c:pt idx="5">
                <c:v>6</c:v>
              </c:pt>
              <c:pt idx="6">
                <c:v>7</c:v>
              </c:pt>
              <c:pt idx="7">
                <c:v>8</c:v>
              </c:pt>
              <c:pt idx="8">
                <c:v>9</c:v>
              </c:pt>
              <c:pt idx="9">
                <c:v>10</c:v>
              </c:pt>
              <c:pt idx="10">
                <c:v>11</c:v>
              </c:pt>
              <c:pt idx="11">
                <c:v>12</c:v>
              </c:pt>
            </c:strLit>
          </c:cat>
          <c:val>
            <c:numLit>
              <c:formatCode>General</c:formatCode>
              <c:ptCount val="12"/>
              <c:pt idx="0">
                <c:v>5</c:v>
              </c:pt>
              <c:pt idx="1">
                <c:v>6.4</c:v>
              </c:pt>
              <c:pt idx="2">
                <c:v>5.6</c:v>
              </c:pt>
              <c:pt idx="3">
                <c:v>7</c:v>
              </c:pt>
              <c:pt idx="4">
                <c:v>6.2</c:v>
              </c:pt>
              <c:pt idx="5">
                <c:v>7.6</c:v>
              </c:pt>
              <c:pt idx="6">
                <c:v>6.6</c:v>
              </c:pt>
              <c:pt idx="7">
                <c:v>8</c:v>
              </c:pt>
              <c:pt idx="8">
                <c:v>7.2</c:v>
              </c:pt>
              <c:pt idx="9">
                <c:v>8.6</c:v>
              </c:pt>
              <c:pt idx="10">
                <c:v>7.8</c:v>
              </c:pt>
              <c:pt idx="11">
                <c:v>9.1999999999999993</c:v>
              </c:pt>
            </c:numLit>
          </c:val>
          <c:smooth val="0"/>
          <c:extLst>
            <c:ext xmlns:c16="http://schemas.microsoft.com/office/drawing/2014/chart" uri="{C3380CC4-5D6E-409C-BE32-E72D297353CC}">
              <c16:uniqueId val="{00000000-EE6F-1A40-82A9-73CC7986CF31}"/>
            </c:ext>
          </c:extLst>
        </c:ser>
        <c:ser>
          <c:idx val="1"/>
          <c:order val="1"/>
          <c:tx>
            <c:v>B</c:v>
          </c:tx>
          <c:spPr>
            <a:ln w="28575" cap="rnd">
              <a:solidFill>
                <a:srgbClr val="1F3864"/>
              </a:solidFill>
              <a:round/>
            </a:ln>
          </c:spPr>
          <c:marker>
            <c:symbol val="circle"/>
            <c:size val="5"/>
            <c:spPr>
              <a:solidFill>
                <a:srgbClr val="1F3864"/>
              </a:solidFill>
              <a:ln>
                <a:noFill/>
              </a:ln>
            </c:spPr>
          </c:marker>
          <c:cat>
            <c:strLit>
              <c:ptCount val="12"/>
              <c:pt idx="0">
                <c:v>1</c:v>
              </c:pt>
              <c:pt idx="1">
                <c:v>2</c:v>
              </c:pt>
              <c:pt idx="2">
                <c:v>3</c:v>
              </c:pt>
              <c:pt idx="3">
                <c:v>4</c:v>
              </c:pt>
              <c:pt idx="4">
                <c:v>5</c:v>
              </c:pt>
              <c:pt idx="5">
                <c:v>6</c:v>
              </c:pt>
              <c:pt idx="6">
                <c:v>7</c:v>
              </c:pt>
              <c:pt idx="7">
                <c:v>8</c:v>
              </c:pt>
              <c:pt idx="8">
                <c:v>9</c:v>
              </c:pt>
              <c:pt idx="9">
                <c:v>10</c:v>
              </c:pt>
              <c:pt idx="10">
                <c:v>11</c:v>
              </c:pt>
              <c:pt idx="11">
                <c:v>12</c:v>
              </c:pt>
            </c:strLit>
          </c:cat>
          <c:val>
            <c:numLit>
              <c:formatCode>General</c:formatCode>
              <c:ptCount val="12"/>
              <c:pt idx="0">
                <c:v>7.2</c:v>
              </c:pt>
              <c:pt idx="1">
                <c:v>3.4</c:v>
              </c:pt>
              <c:pt idx="2">
                <c:v>8.8000000000000007</c:v>
              </c:pt>
              <c:pt idx="3">
                <c:v>4.2</c:v>
              </c:pt>
              <c:pt idx="4">
                <c:v>6.8</c:v>
              </c:pt>
              <c:pt idx="5">
                <c:v>9.4</c:v>
              </c:pt>
              <c:pt idx="6">
                <c:v>3</c:v>
              </c:pt>
              <c:pt idx="7">
                <c:v>7.6</c:v>
              </c:pt>
              <c:pt idx="8">
                <c:v>4.8</c:v>
              </c:pt>
              <c:pt idx="9">
                <c:v>8.1999999999999993</c:v>
              </c:pt>
              <c:pt idx="10">
                <c:v>3.8</c:v>
              </c:pt>
              <c:pt idx="11">
                <c:v>6.4</c:v>
              </c:pt>
            </c:numLit>
          </c:val>
          <c:smooth val="0"/>
          <c:extLst>
            <c:ext xmlns:c16="http://schemas.microsoft.com/office/drawing/2014/chart" uri="{C3380CC4-5D6E-409C-BE32-E72D297353CC}">
              <c16:uniqueId val="{00000001-EE6F-1A40-82A9-73CC7986CF31}"/>
            </c:ext>
          </c:extLst>
        </c:ser>
        <c:dLbls>
          <c:showLegendKey val="0"/>
          <c:showVal val="0"/>
          <c:showCatName val="0"/>
          <c:showSerName val="0"/>
          <c:showPercent val="0"/>
          <c:showBubbleSize val="0"/>
        </c:dLbls>
        <c:marker val="1"/>
        <c:smooth val="0"/>
        <c:axId val="204"/>
        <c:axId val="205"/>
      </c:lineChart>
      <c:catAx>
        <c:axId val="204"/>
        <c:scaling>
          <c:orientation val="minMax"/>
        </c:scaling>
        <c:delete val="0"/>
        <c:axPos val="b"/>
        <c:numFmt formatCode="General" sourceLinked="0"/>
        <c:majorTickMark val="none"/>
        <c:minorTickMark val="none"/>
        <c:tickLblPos val="none"/>
        <c:spPr>
          <a:ln w="9525">
            <a:solidFill>
              <a:srgbClr val="A6A29C"/>
            </a:solidFill>
          </a:ln>
        </c:spPr>
        <c:crossAx val="205"/>
        <c:crosses val="autoZero"/>
        <c:auto val="1"/>
        <c:lblAlgn val="ctr"/>
        <c:lblOffset val="100"/>
        <c:noMultiLvlLbl val="1"/>
      </c:catAx>
      <c:valAx>
        <c:axId val="205"/>
        <c:scaling>
          <c:orientation val="minMax"/>
          <c:max val="13"/>
          <c:min val="0"/>
        </c:scaling>
        <c:delete val="0"/>
        <c:axPos val="l"/>
        <c:majorGridlines>
          <c:spPr>
            <a:ln w="9525">
              <a:solidFill>
                <a:srgbClr val="E6E3DF"/>
              </a:solidFill>
            </a:ln>
          </c:spPr>
        </c:majorGridlines>
        <c:numFmt formatCode="General" sourceLinked="1"/>
        <c:majorTickMark val="none"/>
        <c:minorTickMark val="none"/>
        <c:tickLblPos val="none"/>
        <c:spPr>
          <a:ln w="9525">
            <a:solidFill>
              <a:srgbClr val="A6A29C"/>
            </a:solidFill>
          </a:ln>
        </c:spPr>
        <c:crossAx val="204"/>
        <c:crosses val="autoZero"/>
        <c:crossBetween val="between"/>
      </c:valAx>
      <c:spPr>
        <a:noFill/>
        <a:ln>
          <a:noFill/>
        </a:ln>
      </c:spPr>
    </c:plotArea>
    <c:plotVisOnly val="1"/>
    <c:dispBlanksAs val="zero"/>
    <c:showDLblsOverMax val="1"/>
  </c:chart>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935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EDITING: The course mark (top-right) and white background live in the slide master — change them once under View &gt; Slide Master. To reuse a layout, right-click a slide and Duplicate. Swap the bell-curve graphic for a topic image on other talks. Palette: teal 15686B, terracotta C2683F, ink 262320. Fonts: Bookman Old Style (headings), Calibri (body).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content layout. Title is a placeholder — click and type. Points left, one big number right.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968395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583868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5768925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confounding case, and the confounder is cognition itself. People whose minds are still sharp go out with binoculars and are not diagnosed; the decline that will become a diagnosis starts years earlier and removes the hobby first.</a:t>
            </a:r>
          </a:p>
          <a:p>
            <a:r>
              <a:rPr lang="en-US" dirty="0"/>
              <a:t>The waffle test cannot settle this one. Both groups are real people, one population, one split. The grid looks fine. What is wrong is that a third thing drives both columns, and a count of two groups cannot see it.</a:t>
            </a:r>
          </a:p>
          <a:p>
            <a:r>
              <a:rPr lang="en-US" dirty="0"/>
              <a:t>Whitehall II is the real version, with exercise instead of birds. They asked when the two trajectories separate. Identical from 28 years before diagnosis down to about 10, then activity falls away over the last nine. The timing is what identifies cognition as the common cause.</a:t>
            </a:r>
          </a:p>
          <a:p>
            <a:r>
              <a:rPr lang="en-US" dirty="0"/>
              <a:t>Point at the fork on the next slide and say that this is what the data fits.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Fisher's hypothesis is the constitutional hypothesis. In diagram terms it is the middle card from earlier: a common cause, plus the deliberate claim that the arrow between smoking and cancer is not there at all. That is why the arrow on the right is struck through.</a:t>
            </a:r>
          </a:p>
          <a:p>
            <a:r>
              <a:rPr lang="en-US" dirty="0"/>
              <a:t>Say plainly that the right-hand diagram is a fair thing to draw. It is the question this session teaches them to ask. What makes Fisher a cautionary tale is that he would accept no answer, and that he was on the payroll while asking.</a:t>
            </a:r>
          </a:p>
          <a:p>
            <a:r>
              <a:rPr lang="en-US" dirty="0"/>
              <a:t>The next slide is the answer, and it is about the size of the two arrows coming out of the gene.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population, two denominators. That is the whole slide, and it is Day 2's machinery on the day's one genuine cause.</a:t>
            </a:r>
          </a:p>
          <a:p>
            <a:r>
              <a:rPr lang="en-US" dirty="0"/>
              <a:t>The split is cigarettes, because that is what the argument was about. Everyone else is in the other group: pipe and cigar smokers, ex-smokers, and the few who never smoked. Nobody is left out.</a:t>
            </a:r>
          </a:p>
          <a:p>
            <a:r>
              <a:rPr lang="en-US" dirty="0"/>
              <a:t>Point at the grid. 65 of the 100 smoked cigarettes, and 10 of those 65 got lung cancer by 75. One of the other 35 got it too.</a:t>
            </a:r>
          </a:p>
          <a:p>
            <a:r>
              <a:rPr lang="en-US" dirty="0"/>
              <a:t>Forward: the denominator is 65. 10 of 65, about 16 in 100, against 1 in 35, about 2 in 100. Eight times apart.</a:t>
            </a:r>
          </a:p>
          <a:p>
            <a:r>
              <a:rPr lang="en-US" dirty="0"/>
              <a:t>Reverse: the denominator is the 11 who got lung cancer. 10 of the 11 smoked cigarettes. About 94%.</a:t>
            </a:r>
          </a:p>
          <a:p>
            <a:r>
              <a:rPr lang="en-US" dirty="0"/>
              <a:t>The trap, and the line to land: the 94% is inflated by the base rate. Two men in three smoked cigarettes, so two in three of any group of them smoked, whether or not the group has anything to do with smoking. Two in three of the men run over by buses smoked too.</a:t>
            </a:r>
          </a:p>
          <a:p>
            <a:r>
              <a:rPr lang="en-US" dirty="0"/>
              <a:t>The forward comparison owes nothing to how common smoking was. That is the difference between the two directions, and it is the whole point of the slide.</a:t>
            </a:r>
          </a:p>
          <a:p>
            <a:r>
              <a:rPr lang="en-US" dirty="0"/>
              <a:t>The 2% is the one approximate figure here. It is mostly pipe, cigar and ex-cigarette smokers, so it sits above the never-smoker rate of under 1% and well below the cigarette rate. Nothing turns on it: at 1% the reverse conditional is 97%, at 3% it is 91%, and the story is the same.</a:t>
            </a:r>
          </a:p>
          <a:p>
            <a:r>
              <a:rPr lang="en-US" dirty="0"/>
              <a:t>This slide does not answer Fisher. His gene predicts this grid just as well. The next slide is the answer.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of the day. Every case they saw, in one notation, with the dashed observation identical in all four.</a:t>
            </a:r>
          </a:p>
          <a:p>
            <a:r>
              <a:rPr lang="en-US" dirty="0"/>
              <a:t>Walk left to right. Saturn and the degrees: no arrow anywhere, and no population to draw, because the unit is a year. The pill takers: two arrows out of something else, and Dormuth's own conclusion was that adherers are systematically more health-seeking. Bird watching: the same arrow, pointing back. Smoking: the arrow survived, and it survived because Cornfield showed how large the rival would have to be.</a:t>
            </a:r>
          </a:p>
          <a:p>
            <a:r>
              <a:rPr lang="en-US" dirty="0"/>
              <a:t>The closing question is the one to leave them with. When you read a claim, ask which of these four the claim assumes, and ask what evidence would rule the other three out.</a:t>
            </a:r>
          </a:p>
          <a:p>
            <a:r>
              <a:rPr lang="en-US" dirty="0"/>
              <a:t>If anyone asks what the diagrams are called and where this goes next: they are causal diagrams, and Pearl's Book of Why, already on the reading slide, is the entry point. Reasoning with them by arithmetic is a Bayesian network.</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Leave it up during Q&amp;A.</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RAND_PLAIN">
    <p:bg>
      <p:bgPr>
        <a:solidFill>
          <a:srgbClr val="FFFFFF"/>
        </a:solidFill>
        <a:effectLst/>
      </p:bgPr>
    </p:bg>
    <p:spTree>
      <p:nvGrpSpPr>
        <p:cNvPr id="1" name=""/>
        <p:cNvGrpSpPr/>
        <p:nvPr/>
      </p:nvGrpSpPr>
      <p:grpSpPr>
        <a:xfrm>
          <a:off x="0" y="0"/>
          <a:ext cx="0" cy="0"/>
          <a:chOff x="0" y="0"/>
          <a:chExt cx="0" cy="0"/>
        </a:xfrm>
      </p:grpSpPr>
      <p:pic>
        <p:nvPicPr>
          <p:cNvPr id="2" name="Image 0" descr="/home/claude/assets/emblem.sv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84280" y="292608"/>
            <a:ext cx="530352" cy="530352"/>
          </a:xfrm>
          <a:prstGeom prst="rect">
            <a:avLst/>
          </a:prstGeom>
        </p:spPr>
      </p:pic>
      <p:sp>
        <p:nvSpPr>
          <p:cNvPr id="3" name="Text 0"/>
          <p:cNvSpPr/>
          <p:nvPr/>
        </p:nvSpPr>
        <p:spPr>
          <a:xfrm>
            <a:off x="9052560" y="310896"/>
            <a:ext cx="2212848" cy="502920"/>
          </a:xfrm>
          <a:prstGeom prst="rect">
            <a:avLst/>
          </a:prstGeom>
          <a:noFill/>
          <a:ln/>
        </p:spPr>
        <p:txBody>
          <a:bodyPr wrap="square" lIns="0" tIns="0" rIns="0" bIns="0" rtlCol="0" anchor="ctr"/>
          <a:lstStyle/>
          <a:p>
            <a:pPr marL="0" indent="0" algn="r">
              <a:buNone/>
            </a:pPr>
            <a:r>
              <a:rPr lang="en-US" sz="1200" dirty="0">
                <a:solidFill>
                  <a:srgbClr val="15686B"/>
                </a:solidFill>
                <a:latin typeface="Calibri" pitchFamily="34" charset="0"/>
                <a:ea typeface="Calibri" pitchFamily="34" charset="-122"/>
                <a:cs typeface="Calibri" pitchFamily="34" charset="-120"/>
              </a:rPr>
              <a:t>Healthy Skepticism</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RAND_CONTENT">
    <p:bg>
      <p:bgPr>
        <a:solidFill>
          <a:srgbClr val="FFFFFF"/>
        </a:solidFill>
        <a:effectLst/>
      </p:bgPr>
    </p:bg>
    <p:spTree>
      <p:nvGrpSpPr>
        <p:cNvPr id="1" name=""/>
        <p:cNvGrpSpPr/>
        <p:nvPr/>
      </p:nvGrpSpPr>
      <p:grpSpPr>
        <a:xfrm>
          <a:off x="0" y="0"/>
          <a:ext cx="0" cy="0"/>
          <a:chOff x="0" y="0"/>
          <a:chExt cx="0" cy="0"/>
        </a:xfrm>
      </p:grpSpPr>
      <p:pic>
        <p:nvPicPr>
          <p:cNvPr id="2" name="Image 0" descr="/home/claude/assets/emblem.sv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84280" y="292608"/>
            <a:ext cx="530352" cy="530352"/>
          </a:xfrm>
          <a:prstGeom prst="rect">
            <a:avLst/>
          </a:prstGeom>
        </p:spPr>
      </p:pic>
      <p:sp>
        <p:nvSpPr>
          <p:cNvPr id="3" name="Text 0"/>
          <p:cNvSpPr/>
          <p:nvPr/>
        </p:nvSpPr>
        <p:spPr>
          <a:xfrm>
            <a:off x="9052560" y="310896"/>
            <a:ext cx="2212848" cy="502920"/>
          </a:xfrm>
          <a:prstGeom prst="rect">
            <a:avLst/>
          </a:prstGeom>
          <a:noFill/>
          <a:ln/>
        </p:spPr>
        <p:txBody>
          <a:bodyPr wrap="square" lIns="0" tIns="0" rIns="0" bIns="0" rtlCol="0" anchor="ctr"/>
          <a:lstStyle/>
          <a:p>
            <a:pPr marL="0" indent="0" algn="r">
              <a:buNone/>
            </a:pPr>
            <a:r>
              <a:rPr lang="en-US" sz="1200" dirty="0">
                <a:solidFill>
                  <a:srgbClr val="15686B"/>
                </a:solidFill>
                <a:latin typeface="Calibri" pitchFamily="34" charset="0"/>
                <a:ea typeface="Calibri" pitchFamily="34" charset="-122"/>
                <a:cs typeface="Calibri" pitchFamily="34" charset="-120"/>
              </a:rPr>
              <a:t>Healthy Skepticism</a:t>
            </a:r>
            <a:endParaRPr lang="en-US" sz="1200" dirty="0"/>
          </a:p>
        </p:txBody>
      </p:sp>
      <p:sp>
        <p:nvSpPr>
          <p:cNvPr id="4" name="Text 1"/>
          <p:cNvSpPr>
            <a:spLocks noGrp="1"/>
          </p:cNvSpPr>
          <p:nvPr>
            <p:ph type="title" idx="102" hasCustomPrompt="1"/>
          </p:nvPr>
        </p:nvSpPr>
        <p:spPr>
          <a:xfrm>
            <a:off x="685800" y="868680"/>
            <a:ext cx="8046720" cy="868680"/>
          </a:xfrm>
          <a:prstGeom prst="rect">
            <a:avLst/>
          </a:prstGeom>
          <a:noFill/>
          <a:ln/>
        </p:spPr>
        <p:txBody>
          <a:bodyPr wrap="square" rtlCol="0"/>
          <a:lstStyle>
            <a:lvl1pPr marL="0" indent="0" algn="l">
              <a:buNone/>
              <a:defRPr lang="en-US" sz="3800" b="1" dirty="0">
                <a:solidFill>
                  <a:srgbClr val="15686B"/>
                </a:solidFill>
                <a:latin typeface="Bookman Old Style" pitchFamily="34" charset="0"/>
                <a:ea typeface="Bookman Old Style" pitchFamily="34" charset="-122"/>
                <a:cs typeface="Bookman Old Style" pitchFamily="34" charset="-120"/>
              </a:defRPr>
            </a:lvl1pPr>
          </a:lstStyle>
          <a:p>
            <a:pPr marL="0" indent="0" algn="l">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3.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77240" y="1444752"/>
            <a:ext cx="6126480" cy="1920240"/>
          </a:xfrm>
          <a:prstGeom prst="rect">
            <a:avLst/>
          </a:prstGeom>
          <a:noFill/>
          <a:ln/>
        </p:spPr>
        <p:txBody>
          <a:bodyPr wrap="square" lIns="0" tIns="0" rIns="0" bIns="0" rtlCol="0" anchor="ctr"/>
          <a:lstStyle/>
          <a:p>
            <a:pPr marL="0" indent="0" algn="l">
              <a:buNone/>
            </a:pPr>
            <a:r>
              <a:rPr lang="en-US" sz="5600" b="1" dirty="0">
                <a:solidFill>
                  <a:srgbClr val="262320"/>
                </a:solidFill>
                <a:latin typeface="Bookman Old Style" pitchFamily="34" charset="0"/>
                <a:ea typeface="Bookman Old Style" pitchFamily="34" charset="-122"/>
                <a:cs typeface="Bookman Old Style" pitchFamily="34" charset="-120"/>
              </a:rPr>
              <a:t>Healthy Skepticism</a:t>
            </a:r>
          </a:p>
          <a:p>
            <a:pPr marL="0" indent="0" algn="l">
              <a:buNone/>
            </a:pPr>
            <a:r>
              <a:rPr lang="en-US" sz="5600" b="1" dirty="0">
                <a:solidFill>
                  <a:srgbClr val="262320"/>
                </a:solidFill>
                <a:latin typeface="Bookman Old Style" pitchFamily="34" charset="0"/>
                <a:ea typeface="Bookman Old Style" pitchFamily="34" charset="-122"/>
                <a:cs typeface="Bookman Old Style" pitchFamily="34" charset="-120"/>
              </a:rPr>
              <a:t>Day 4</a:t>
            </a:r>
            <a:endParaRPr lang="en-US" sz="5600" dirty="0"/>
          </a:p>
        </p:txBody>
      </p:sp>
      <p:sp>
        <p:nvSpPr>
          <p:cNvPr id="4" name="Text 1"/>
          <p:cNvSpPr/>
          <p:nvPr/>
        </p:nvSpPr>
        <p:spPr>
          <a:xfrm>
            <a:off x="685800" y="3931920"/>
            <a:ext cx="6035040" cy="1005840"/>
          </a:xfrm>
          <a:prstGeom prst="rect">
            <a:avLst/>
          </a:prstGeom>
          <a:noFill/>
          <a:ln/>
        </p:spPr>
        <p:txBody>
          <a:bodyPr wrap="square" lIns="0" tIns="0" rIns="0" bIns="0" rtlCol="0" anchor="t"/>
          <a:lstStyle/>
          <a:p>
            <a:pPr marL="0" indent="0" algn="l">
              <a:buNone/>
            </a:pPr>
            <a:r>
              <a:rPr lang="en-US" sz="2500" dirty="0">
                <a:solidFill>
                  <a:srgbClr val="514B44"/>
                </a:solidFill>
                <a:latin typeface="Calibri" pitchFamily="34" charset="0"/>
                <a:ea typeface="Calibri" pitchFamily="34" charset="-122"/>
                <a:cs typeface="Calibri" pitchFamily="34" charset="-120"/>
              </a:rPr>
              <a:t>Does bird watching prevent dementia?</a:t>
            </a:r>
            <a:endParaRPr lang="en-US" sz="2500" dirty="0"/>
          </a:p>
        </p:txBody>
      </p:sp>
      <p:sp>
        <p:nvSpPr>
          <p:cNvPr id="5" name="Text 2"/>
          <p:cNvSpPr/>
          <p:nvPr/>
        </p:nvSpPr>
        <p:spPr>
          <a:xfrm>
            <a:off x="685800" y="5897880"/>
            <a:ext cx="10515600" cy="457200"/>
          </a:xfrm>
          <a:prstGeom prst="rect">
            <a:avLst/>
          </a:prstGeom>
          <a:noFill/>
          <a:ln/>
        </p:spPr>
        <p:txBody>
          <a:bodyPr wrap="square" lIns="0" tIns="0" rIns="0" bIns="0" rtlCol="0" anchor="ctr"/>
          <a:lstStyle/>
          <a:p>
            <a:pPr marL="0" indent="0" algn="l">
              <a:buNone/>
            </a:pPr>
            <a:r>
              <a:rPr lang="en-US" sz="2000" b="1" dirty="0">
                <a:solidFill>
                  <a:srgbClr val="262320"/>
                </a:solidFill>
                <a:latin typeface="Calibri" pitchFamily="34" charset="0"/>
                <a:ea typeface="Calibri" pitchFamily="34" charset="-122"/>
                <a:cs typeface="Calibri" pitchFamily="34" charset="-120"/>
              </a:rPr>
              <a:t>Murray Cantor, PhD</a:t>
            </a:r>
            <a:r>
              <a:rPr lang="en-US" sz="2000" dirty="0">
                <a:solidFill>
                  <a:srgbClr val="8A8076"/>
                </a:solidFill>
                <a:latin typeface="Calibri" pitchFamily="34" charset="0"/>
                <a:ea typeface="Calibri" pitchFamily="34" charset="-122"/>
                <a:cs typeface="Calibri" pitchFamily="34" charset="-120"/>
              </a:rPr>
              <a:t> &amp; </a:t>
            </a:r>
            <a:r>
              <a:rPr lang="en-US" sz="2000" b="1" dirty="0">
                <a:solidFill>
                  <a:srgbClr val="262320"/>
                </a:solidFill>
                <a:latin typeface="Calibri" pitchFamily="34" charset="0"/>
                <a:ea typeface="Calibri" pitchFamily="34" charset="-122"/>
                <a:cs typeface="Calibri" pitchFamily="34" charset="-120"/>
              </a:rPr>
              <a:t>Joel Keenan, MD</a:t>
            </a:r>
            <a:r>
              <a:rPr lang="en-US" sz="2000" dirty="0">
                <a:solidFill>
                  <a:srgbClr val="8A8076"/>
                </a:solidFill>
                <a:latin typeface="Calibri" pitchFamily="34" charset="0"/>
                <a:ea typeface="Calibri" pitchFamily="34" charset="-122"/>
                <a:cs typeface="Calibri" pitchFamily="34" charset="-120"/>
              </a:rPr>
              <a:t>      [venue and date]</a:t>
            </a:r>
            <a:endParaRPr lang="en-US" sz="2000" dirty="0"/>
          </a:p>
        </p:txBody>
      </p:sp>
      <p:pic>
        <p:nvPicPr>
          <p:cNvPr id="8" name="Picture 7">
            <a:extLst>
              <a:ext uri="{FF2B5EF4-FFF2-40B4-BE49-F238E27FC236}">
                <a16:creationId xmlns:a16="http://schemas.microsoft.com/office/drawing/2014/main" id="{39FCB6C9-B600-3075-6ECF-8170100C8225}"/>
              </a:ext>
            </a:extLst>
          </p:cNvPr>
          <p:cNvPicPr>
            <a:picLocks noChangeAspect="1"/>
          </p:cNvPicPr>
          <p:nvPr/>
        </p:nvPicPr>
        <p:blipFill>
          <a:blip r:embed="rId3"/>
          <a:stretch>
            <a:fillRect/>
          </a:stretch>
        </p:blipFill>
        <p:spPr>
          <a:xfrm>
            <a:off x="7147560" y="883920"/>
            <a:ext cx="4053840" cy="4053840"/>
          </a:xfrm>
          <a:prstGeom prst="rect">
            <a:avLst/>
          </a:prstGeom>
        </p:spPr>
      </p:pic>
    </p:spTree>
    <p:extLst>
      <p:ext uri="{BB962C8B-B14F-4D97-AF65-F5344CB8AC3E}">
        <p14:creationId xmlns:p14="http://schemas.microsoft.com/office/powerpoint/2010/main" val="3031507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685800" y="868680"/>
            <a:ext cx="8046720" cy="868680"/>
          </a:xfrm>
          <a:prstGeom prst="rect">
            <a:avLst/>
          </a:prstGeom>
          <a:noFill/>
          <a:ln/>
        </p:spPr>
        <p:txBody>
          <a:bodyPr wrap="square" lIns="0" tIns="0" rIns="0" bIns="0" rtlCol="0" anchor="ctr"/>
          <a:lstStyle/>
          <a:p>
            <a:pPr marL="0" indent="0" algn="l">
              <a:buNone/>
            </a:pPr>
            <a:r>
              <a:rPr lang="en-US" dirty="0"/>
              <a:t>About Us</a:t>
            </a:r>
            <a:endParaRPr lang="en-US" sz="3800" dirty="0"/>
          </a:p>
        </p:txBody>
      </p:sp>
      <p:sp>
        <p:nvSpPr>
          <p:cNvPr id="3" name="Text 1"/>
          <p:cNvSpPr/>
          <p:nvPr/>
        </p:nvSpPr>
        <p:spPr>
          <a:xfrm>
            <a:off x="457200" y="4064000"/>
            <a:ext cx="5461000" cy="2540000"/>
          </a:xfrm>
          <a:prstGeom prst="rect">
            <a:avLst/>
          </a:prstGeom>
          <a:noFill/>
          <a:ln/>
        </p:spPr>
        <p:txBody>
          <a:bodyPr wrap="square" lIns="0" tIns="0" rIns="0" bIns="0" rtlCol="0" anchor="t"/>
          <a:lstStyle/>
          <a:p>
            <a:pPr marL="285750" indent="-285750" algn="l">
              <a:spcAft>
                <a:spcPts val="800"/>
              </a:spcAft>
              <a:buSzPct val="100000"/>
              <a:buChar char="•"/>
            </a:pPr>
            <a:r>
              <a:rPr lang="en-US" sz="1600" dirty="0">
                <a:solidFill>
                  <a:srgbClr val="262320"/>
                </a:solidFill>
                <a:latin typeface="Calibri" pitchFamily="34" charset="0"/>
              </a:rPr>
              <a:t>Not anti-vax or MAHA</a:t>
            </a:r>
          </a:p>
          <a:p>
            <a:pPr marL="285750" indent="-285750" algn="l">
              <a:spcAft>
                <a:spcPts val="800"/>
              </a:spcAft>
              <a:buSzPct val="100000"/>
              <a:buChar char="•"/>
            </a:pPr>
            <a:r>
              <a:rPr lang="en-US" sz="1600" dirty="0">
                <a:solidFill>
                  <a:srgbClr val="262320"/>
                </a:solidFill>
                <a:latin typeface="Calibri" pitchFamily="34" charset="0"/>
              </a:rPr>
              <a:t>From that perspective, there is a lot of confusion about medical claims</a:t>
            </a:r>
          </a:p>
          <a:p>
            <a:pPr marL="285750" indent="-285750" algn="l">
              <a:spcAft>
                <a:spcPts val="800"/>
              </a:spcAft>
              <a:buSzPct val="100000"/>
              <a:buChar char="•"/>
            </a:pPr>
            <a:r>
              <a:rPr lang="en-US" sz="1600" dirty="0">
                <a:solidFill>
                  <a:srgbClr val="262320"/>
                </a:solidFill>
                <a:latin typeface="Calibri" pitchFamily="34" charset="0"/>
              </a:rPr>
              <a:t>Respect for the challenge of medical research</a:t>
            </a:r>
          </a:p>
        </p:txBody>
      </p:sp>
      <p:sp>
        <p:nvSpPr>
          <p:cNvPr id="12" name="Author1Name">
            <a:extLst>
              <a:ext uri="{FF2B5EF4-FFF2-40B4-BE49-F238E27FC236}">
                <a16:creationId xmlns:a16="http://schemas.microsoft.com/office/drawing/2014/main" id="{A0374D37-4D8F-534D-8318-7D0F494F9845}"/>
              </a:ext>
            </a:extLst>
          </p:cNvPr>
          <p:cNvSpPr txBox="1"/>
          <p:nvPr/>
        </p:nvSpPr>
        <p:spPr>
          <a:xfrm>
            <a:off x="2489200" y="2006600"/>
            <a:ext cx="3429000" cy="707886"/>
          </a:xfrm>
          <a:prstGeom prst="rect">
            <a:avLst/>
          </a:prstGeom>
          <a:noFill/>
        </p:spPr>
        <p:txBody>
          <a:bodyPr vertOverflow="overflow" vert="horz" wrap="square" rtlCol="0" anchor="t">
            <a:spAutoFit/>
          </a:bodyPr>
          <a:lstStyle/>
          <a:p>
            <a:pPr algn="l">
              <a:buNone/>
            </a:pPr>
            <a:r>
              <a:rPr lang="en-US" sz="2400" b="1" dirty="0">
                <a:solidFill>
                  <a:srgbClr val="262320"/>
                </a:solidFill>
                <a:latin typeface="Calibri" pitchFamily="34" charset="0"/>
              </a:rPr>
              <a:t>Dr. Murray Cantor</a:t>
            </a:r>
          </a:p>
          <a:p>
            <a:pPr algn="l">
              <a:buNone/>
            </a:pPr>
            <a:r>
              <a:rPr lang="en-US" sz="1600" i="1" dirty="0">
                <a:solidFill>
                  <a:srgbClr val="B0A49B"/>
                </a:solidFill>
                <a:latin typeface="Calibri" pitchFamily="34" charset="0"/>
              </a:rPr>
              <a:t>PhD, Mathematics — UC Berkeley</a:t>
            </a:r>
          </a:p>
        </p:txBody>
      </p:sp>
      <p:sp>
        <p:nvSpPr>
          <p:cNvPr id="14" name="Author2Name">
            <a:extLst>
              <a:ext uri="{FF2B5EF4-FFF2-40B4-BE49-F238E27FC236}">
                <a16:creationId xmlns:a16="http://schemas.microsoft.com/office/drawing/2014/main" id="{B70976CA-5470-A145-A158-B3E352864C71}"/>
              </a:ext>
            </a:extLst>
          </p:cNvPr>
          <p:cNvSpPr txBox="1"/>
          <p:nvPr/>
        </p:nvSpPr>
        <p:spPr>
          <a:xfrm>
            <a:off x="8305800" y="2006600"/>
            <a:ext cx="3429000" cy="707886"/>
          </a:xfrm>
          <a:prstGeom prst="rect">
            <a:avLst/>
          </a:prstGeom>
          <a:noFill/>
        </p:spPr>
        <p:txBody>
          <a:bodyPr vertOverflow="overflow" vert="horz" wrap="square" rtlCol="0" anchor="t">
            <a:spAutoFit/>
          </a:bodyPr>
          <a:lstStyle/>
          <a:p>
            <a:pPr algn="l">
              <a:buNone/>
            </a:pPr>
            <a:r>
              <a:rPr lang="en-US" sz="2400" b="1" dirty="0">
                <a:solidFill>
                  <a:srgbClr val="262320"/>
                </a:solidFill>
                <a:latin typeface="Calibri" pitchFamily="34" charset="0"/>
              </a:rPr>
              <a:t>Dr. Joel Keenan</a:t>
            </a:r>
          </a:p>
          <a:p>
            <a:pPr algn="l">
              <a:buNone/>
            </a:pPr>
            <a:r>
              <a:rPr lang="en-US" sz="1600" i="1" dirty="0">
                <a:solidFill>
                  <a:srgbClr val="B0A49B"/>
                </a:solidFill>
                <a:latin typeface="Calibri" pitchFamily="34" charset="0"/>
              </a:rPr>
              <a:t>MD, Univ of Vermont</a:t>
            </a:r>
          </a:p>
        </p:txBody>
      </p:sp>
      <p:sp>
        <p:nvSpPr>
          <p:cNvPr id="15" name="Author2Bio">
            <a:extLst>
              <a:ext uri="{FF2B5EF4-FFF2-40B4-BE49-F238E27FC236}">
                <a16:creationId xmlns:a16="http://schemas.microsoft.com/office/drawing/2014/main" id="{E4ED606C-E906-7C4D-9255-9C15AD3BBE2B}"/>
              </a:ext>
            </a:extLst>
          </p:cNvPr>
          <p:cNvSpPr txBox="1"/>
          <p:nvPr/>
        </p:nvSpPr>
        <p:spPr>
          <a:xfrm>
            <a:off x="6273800" y="4064000"/>
            <a:ext cx="5461000" cy="1282402"/>
          </a:xfrm>
          <a:prstGeom prst="rect">
            <a:avLst/>
          </a:prstGeom>
          <a:noFill/>
        </p:spPr>
        <p:txBody>
          <a:bodyPr vertOverflow="overflow" vert="horz" wrap="square" rtlCol="0" anchor="t">
            <a:spAutoFit/>
          </a:bodyPr>
          <a:lstStyle/>
          <a:p>
            <a:pPr marL="285750" indent="-285750" algn="l">
              <a:spcAft>
                <a:spcPts val="800"/>
              </a:spcAft>
              <a:buSzPct val="100000"/>
              <a:buChar char="•"/>
            </a:pPr>
            <a:r>
              <a:rPr lang="en-US" sz="1600" dirty="0">
                <a:solidFill>
                  <a:srgbClr val="262320"/>
                </a:solidFill>
                <a:latin typeface="Calibri" pitchFamily="34" charset="0"/>
              </a:rPr>
              <a:t>Practicing physician with direct patient-care experience</a:t>
            </a:r>
          </a:p>
          <a:p>
            <a:pPr marL="285750" indent="-285750" algn="l">
              <a:spcAft>
                <a:spcPts val="800"/>
              </a:spcAft>
              <a:buSzPct val="100000"/>
              <a:buChar char="•"/>
            </a:pPr>
            <a:r>
              <a:rPr lang="en-US" sz="1600" dirty="0">
                <a:solidFill>
                  <a:srgbClr val="262320"/>
                </a:solidFill>
                <a:latin typeface="Calibri" pitchFamily="34" charset="0"/>
              </a:rPr>
              <a:t>Translates clinical evidence into plain-language guidance</a:t>
            </a:r>
          </a:p>
          <a:p>
            <a:pPr marL="285750" indent="-285750" algn="l">
              <a:spcAft>
                <a:spcPts val="800"/>
              </a:spcAft>
              <a:buSzPct val="100000"/>
              <a:buChar char="•"/>
            </a:pPr>
            <a:r>
              <a:rPr lang="en-US" sz="1600" dirty="0">
                <a:solidFill>
                  <a:srgbClr val="262320"/>
                </a:solidFill>
                <a:latin typeface="Calibri" pitchFamily="34" charset="0"/>
              </a:rPr>
              <a:t>Shares a commitment to honest, balanced medical communication</a:t>
            </a:r>
          </a:p>
        </p:txBody>
      </p:sp>
      <p:pic>
        <p:nvPicPr>
          <p:cNvPr id="10" name="Picture 9">
            <a:extLst>
              <a:ext uri="{FF2B5EF4-FFF2-40B4-BE49-F238E27FC236}">
                <a16:creationId xmlns:a16="http://schemas.microsoft.com/office/drawing/2014/main" id="{4F386765-C060-1015-FF45-DCD3212C9DF7}"/>
              </a:ext>
            </a:extLst>
          </p:cNvPr>
          <p:cNvPicPr>
            <a:picLocks noChangeAspect="1"/>
          </p:cNvPicPr>
          <p:nvPr/>
        </p:nvPicPr>
        <p:blipFill>
          <a:blip r:embed="rId3"/>
          <a:stretch>
            <a:fillRect/>
          </a:stretch>
        </p:blipFill>
        <p:spPr>
          <a:xfrm>
            <a:off x="662329" y="2087680"/>
            <a:ext cx="1752600" cy="1752600"/>
          </a:xfrm>
          <a:prstGeom prst="rect">
            <a:avLst/>
          </a:prstGeom>
        </p:spPr>
      </p:pic>
      <p:pic>
        <p:nvPicPr>
          <p:cNvPr id="16" name="Picture 15">
            <a:extLst>
              <a:ext uri="{FF2B5EF4-FFF2-40B4-BE49-F238E27FC236}">
                <a16:creationId xmlns:a16="http://schemas.microsoft.com/office/drawing/2014/main" id="{20A23C5E-5904-1DAD-351B-167A4F393114}"/>
              </a:ext>
            </a:extLst>
          </p:cNvPr>
          <p:cNvPicPr>
            <a:picLocks noChangeAspect="1"/>
          </p:cNvPicPr>
          <p:nvPr/>
        </p:nvPicPr>
        <p:blipFill>
          <a:blip r:embed="rId4"/>
          <a:stretch>
            <a:fillRect/>
          </a:stretch>
        </p:blipFill>
        <p:spPr>
          <a:xfrm>
            <a:off x="6477000" y="2082800"/>
            <a:ext cx="1752600" cy="1752600"/>
          </a:xfrm>
          <a:prstGeom prst="rect">
            <a:avLst/>
          </a:prstGeom>
        </p:spPr>
      </p:pic>
    </p:spTree>
    <p:extLst>
      <p:ext uri="{BB962C8B-B14F-4D97-AF65-F5344CB8AC3E}">
        <p14:creationId xmlns:p14="http://schemas.microsoft.com/office/powerpoint/2010/main" val="1026915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C6434-DFB8-E1FE-E272-5F4490BA0C23}"/>
              </a:ext>
            </a:extLst>
          </p:cNvPr>
          <p:cNvSpPr>
            <a:spLocks noGrp="1"/>
          </p:cNvSpPr>
          <p:nvPr>
            <p:ph type="title" idx="102"/>
          </p:nvPr>
        </p:nvSpPr>
        <p:spPr/>
        <p:txBody>
          <a:bodyPr/>
          <a:lstStyle/>
          <a:p>
            <a:r>
              <a:rPr lang="en-US" dirty="0"/>
              <a:t>Disclaimer</a:t>
            </a:r>
          </a:p>
        </p:txBody>
      </p:sp>
      <p:sp>
        <p:nvSpPr>
          <p:cNvPr id="3" name="Rounded Rectangle 2">
            <a:extLst>
              <a:ext uri="{FF2B5EF4-FFF2-40B4-BE49-F238E27FC236}">
                <a16:creationId xmlns:a16="http://schemas.microsoft.com/office/drawing/2014/main" id="{C612B187-63AC-484D-96FF-F51A43C7A849}"/>
              </a:ext>
            </a:extLst>
          </p:cNvPr>
          <p:cNvSpPr/>
          <p:nvPr/>
        </p:nvSpPr>
        <p:spPr>
          <a:xfrm>
            <a:off x="685800" y="2095500"/>
            <a:ext cx="10820400" cy="3810000"/>
          </a:xfrm>
          <a:prstGeom prst="roundRect">
            <a:avLst/>
          </a:prstGeom>
          <a:solidFill>
            <a:srgbClr val="F7F4EF"/>
          </a:solidFill>
          <a:ln w="15875" cap="flat" cmpd="sng" algn="ctr">
            <a:solidFill>
              <a:srgbClr val="15686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ectangle 3">
            <a:extLst>
              <a:ext uri="{FF2B5EF4-FFF2-40B4-BE49-F238E27FC236}">
                <a16:creationId xmlns:a16="http://schemas.microsoft.com/office/drawing/2014/main" id="{017521CD-DA07-AC4E-A7A3-3D3A710E92CB}"/>
              </a:ext>
            </a:extLst>
          </p:cNvPr>
          <p:cNvSpPr/>
          <p:nvPr/>
        </p:nvSpPr>
        <p:spPr>
          <a:xfrm>
            <a:off x="685800" y="2095500"/>
            <a:ext cx="127000" cy="3810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817C05EF-D295-C643-A361-AF4175794819}"/>
              </a:ext>
            </a:extLst>
          </p:cNvPr>
          <p:cNvSpPr txBox="1"/>
          <p:nvPr/>
        </p:nvSpPr>
        <p:spPr>
          <a:xfrm>
            <a:off x="1168400" y="2438400"/>
            <a:ext cx="9906000" cy="508000"/>
          </a:xfrm>
          <a:prstGeom prst="rect">
            <a:avLst/>
          </a:prstGeom>
          <a:noFill/>
        </p:spPr>
        <p:txBody>
          <a:bodyPr vertOverflow="overflow" vert="horz" wrap="square" rtlCol="0" anchor="t">
            <a:noAutofit/>
          </a:bodyPr>
          <a:lstStyle/>
          <a:p>
            <a:pPr algn="l"/>
            <a:r>
              <a:rPr lang="en-US" sz="2200" b="1">
                <a:solidFill>
                  <a:srgbClr val="15686B"/>
                </a:solidFill>
                <a:latin typeface="Bookman Old Style"/>
              </a:rPr>
              <a:t>This presentation is for educational purposes only.</a:t>
            </a:r>
          </a:p>
        </p:txBody>
      </p:sp>
      <p:sp>
        <p:nvSpPr>
          <p:cNvPr id="6" name="TextBox 5">
            <a:extLst>
              <a:ext uri="{FF2B5EF4-FFF2-40B4-BE49-F238E27FC236}">
                <a16:creationId xmlns:a16="http://schemas.microsoft.com/office/drawing/2014/main" id="{01985791-1FC6-B047-8506-DF1BFD2D57D3}"/>
              </a:ext>
            </a:extLst>
          </p:cNvPr>
          <p:cNvSpPr txBox="1"/>
          <p:nvPr/>
        </p:nvSpPr>
        <p:spPr>
          <a:xfrm>
            <a:off x="1168400" y="3048000"/>
            <a:ext cx="10033000" cy="2603500"/>
          </a:xfrm>
          <a:prstGeom prst="rect">
            <a:avLst/>
          </a:prstGeom>
          <a:noFill/>
        </p:spPr>
        <p:txBody>
          <a:bodyPr vertOverflow="overflow" vert="horz" wrap="square" rtlCol="0" anchor="t">
            <a:noAutofit/>
          </a:bodyPr>
          <a:lstStyle/>
          <a:p>
            <a:pPr algn="l"/>
            <a:r>
              <a:rPr lang="en-US" sz="1600">
                <a:solidFill>
                  <a:srgbClr val="262320"/>
                </a:solidFill>
                <a:latin typeface="Calibri"/>
                <a:cs typeface="Calibri"/>
              </a:rPr>
              <a:t>The content does not constitute medical advice and is not a substitute for professional diagnosis, treatment, or care. Nothing presented here should be used to make decisions about your health or the health of others.
Always seek the advice of a qualified physician or other licensed healthcare provider with any questions you may have regarding a medical condition, test result, or treatment. Never disregard professional medical advice or delay seeking it because of something discussed in this presentation.</a:t>
            </a:r>
          </a:p>
        </p:txBody>
      </p:sp>
    </p:spTree>
    <p:extLst>
      <p:ext uri="{BB962C8B-B14F-4D97-AF65-F5344CB8AC3E}">
        <p14:creationId xmlns:p14="http://schemas.microsoft.com/office/powerpoint/2010/main" val="2582526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50126-7440-1590-4C70-F58F33D427B8}"/>
              </a:ext>
            </a:extLst>
          </p:cNvPr>
          <p:cNvSpPr>
            <a:spLocks noGrp="1"/>
          </p:cNvSpPr>
          <p:nvPr>
            <p:ph type="title" idx="102"/>
          </p:nvPr>
        </p:nvSpPr>
        <p:spPr/>
        <p:txBody>
          <a:bodyPr/>
          <a:lstStyle/>
          <a:p>
            <a:pPr algn="l">
              <a:buNone/>
            </a:pPr>
            <a:r>
              <a:rPr lang="en-US" b="1" dirty="0"/>
              <a:t>The Five Faults</a:t>
            </a:r>
          </a:p>
        </p:txBody>
      </p:sp>
      <p:grpSp>
        <p:nvGrpSpPr>
          <p:cNvPr id="13" name="Group 12">
            <a:extLst>
              <a:ext uri="{FF2B5EF4-FFF2-40B4-BE49-F238E27FC236}">
                <a16:creationId xmlns:a16="http://schemas.microsoft.com/office/drawing/2014/main" id="{C5CB8C89-50DD-22CD-174B-BC09CF7AACEB}"/>
              </a:ext>
            </a:extLst>
          </p:cNvPr>
          <p:cNvGrpSpPr/>
          <p:nvPr/>
        </p:nvGrpSpPr>
        <p:grpSpPr>
          <a:xfrm>
            <a:off x="951186" y="3385933"/>
            <a:ext cx="10541000" cy="688348"/>
            <a:chOff x="762000" y="1874336"/>
            <a:chExt cx="10541000" cy="688348"/>
          </a:xfrm>
        </p:grpSpPr>
        <p:sp>
          <p:nvSpPr>
            <p:cNvPr id="80" name="ErrBadge1">
              <a:extLst>
                <a:ext uri="{FF2B5EF4-FFF2-40B4-BE49-F238E27FC236}">
                  <a16:creationId xmlns:a16="http://schemas.microsoft.com/office/drawing/2014/main" id="{F0998706-CCA9-D843-9E12-327649D378EE}"/>
                </a:ext>
              </a:extLst>
            </p:cNvPr>
            <p:cNvSpPr/>
            <p:nvPr/>
          </p:nvSpPr>
          <p:spPr>
            <a:xfrm>
              <a:off x="762000" y="705400"/>
              <a:ext cx="609600" cy="609600"/>
            </a:xfrm>
            <a:prstGeom prst="ellipse">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200" b="1" dirty="0">
                  <a:solidFill>
                    <a:srgbClr val="FFFFFF"/>
                  </a:solidFill>
                </a:rPr>
                <a:t>1</a:t>
              </a:r>
            </a:p>
          </p:txBody>
        </p:sp>
        <p:sp>
          <p:nvSpPr>
            <p:cNvPr id="81" name="ErrTitle1">
              <a:extLst>
                <a:ext uri="{FF2B5EF4-FFF2-40B4-BE49-F238E27FC236}">
                  <a16:creationId xmlns:a16="http://schemas.microsoft.com/office/drawing/2014/main" id="{FCC03E0A-53C5-6045-B806-A3AF5C0A7D8F}"/>
                </a:ext>
              </a:extLst>
            </p:cNvPr>
            <p:cNvSpPr txBox="1"/>
            <p:nvPr/>
          </p:nvSpPr>
          <p:spPr>
            <a:xfrm>
              <a:off x="1651000" y="680000"/>
              <a:ext cx="9652000" cy="400110"/>
            </a:xfrm>
            <a:prstGeom prst="rect">
              <a:avLst/>
            </a:prstGeom>
            <a:noFill/>
          </p:spPr>
          <p:txBody>
            <a:bodyPr vertOverflow="overflow" vert="horz" wrap="square" rtlCol="0" anchor="t" anchorCtr="0">
              <a:spAutoFit/>
            </a:bodyPr>
            <a:lstStyle/>
            <a:p>
              <a:pPr algn="l"/>
              <a:r>
                <a:rPr lang="en-US" sz="2000" b="1" dirty="0"/>
                <a:t>Relative reporting</a:t>
              </a:r>
            </a:p>
          </p:txBody>
        </p:sp>
        <p:sp>
          <p:nvSpPr>
            <p:cNvPr id="82" name="ErrBadge2">
              <a:extLst>
                <a:ext uri="{FF2B5EF4-FFF2-40B4-BE49-F238E27FC236}">
                  <a16:creationId xmlns:a16="http://schemas.microsoft.com/office/drawing/2014/main" id="{F0998706-CCA9-D843-9E12-327649D378EE}"/>
                </a:ext>
              </a:extLst>
            </p:cNvPr>
            <p:cNvSpPr/>
            <p:nvPr/>
          </p:nvSpPr>
          <p:spPr>
            <a:xfrm>
              <a:off x="762000" y="1455400"/>
              <a:ext cx="609600" cy="609600"/>
            </a:xfrm>
            <a:prstGeom prst="ellipse">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200" b="1" dirty="0">
                  <a:solidFill>
                    <a:srgbClr val="FFFFFF"/>
                  </a:solidFill>
                </a:rPr>
                <a:t>2</a:t>
              </a:r>
            </a:p>
          </p:txBody>
        </p:sp>
        <p:sp>
          <p:nvSpPr>
            <p:cNvPr id="83" name="ErrTitle2">
              <a:extLst>
                <a:ext uri="{FF2B5EF4-FFF2-40B4-BE49-F238E27FC236}">
                  <a16:creationId xmlns:a16="http://schemas.microsoft.com/office/drawing/2014/main" id="{FCC03E0A-53C5-6045-B806-A3AF5C0A7D8F}"/>
                </a:ext>
              </a:extLst>
            </p:cNvPr>
            <p:cNvSpPr txBox="1"/>
            <p:nvPr/>
          </p:nvSpPr>
          <p:spPr>
            <a:xfrm>
              <a:off x="1651000" y="1430000"/>
              <a:ext cx="9652000" cy="400110"/>
            </a:xfrm>
            <a:prstGeom prst="rect">
              <a:avLst/>
            </a:prstGeom>
            <a:noFill/>
          </p:spPr>
          <p:txBody>
            <a:bodyPr vertOverflow="overflow" vert="horz" wrap="square" rtlCol="0" anchor="t" anchorCtr="0">
              <a:spAutoFit/>
            </a:bodyPr>
            <a:lstStyle/>
            <a:p>
              <a:pPr algn="l"/>
              <a:r>
                <a:rPr lang="en-US" sz="2000" b="1" dirty="0"/>
                <a:t>Probability reversal</a:t>
              </a:r>
            </a:p>
          </p:txBody>
        </p:sp>
        <p:sp>
          <p:nvSpPr>
            <p:cNvPr id="84" name="ErrBadge3">
              <a:extLst>
                <a:ext uri="{FF2B5EF4-FFF2-40B4-BE49-F238E27FC236}">
                  <a16:creationId xmlns:a16="http://schemas.microsoft.com/office/drawing/2014/main" id="{F0998706-CCA9-D843-9E12-327649D378EE}"/>
                </a:ext>
              </a:extLst>
            </p:cNvPr>
            <p:cNvSpPr/>
            <p:nvPr/>
          </p:nvSpPr>
          <p:spPr>
            <a:xfrm>
              <a:off x="762000" y="2205400"/>
              <a:ext cx="609600" cy="609600"/>
            </a:xfrm>
            <a:prstGeom prst="ellipse">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200" b="1" dirty="0">
                  <a:solidFill>
                    <a:srgbClr val="FFFFFF"/>
                  </a:solidFill>
                </a:rPr>
                <a:t>3</a:t>
              </a:r>
            </a:p>
          </p:txBody>
        </p:sp>
        <p:sp>
          <p:nvSpPr>
            <p:cNvPr id="85" name="ErrTitle3">
              <a:extLst>
                <a:ext uri="{FF2B5EF4-FFF2-40B4-BE49-F238E27FC236}">
                  <a16:creationId xmlns:a16="http://schemas.microsoft.com/office/drawing/2014/main" id="{FCC03E0A-53C5-6045-B806-A3AF5C0A7D8F}"/>
                </a:ext>
              </a:extLst>
            </p:cNvPr>
            <p:cNvSpPr txBox="1"/>
            <p:nvPr/>
          </p:nvSpPr>
          <p:spPr>
            <a:xfrm>
              <a:off x="1651000" y="2180000"/>
              <a:ext cx="9652000" cy="400110"/>
            </a:xfrm>
            <a:prstGeom prst="rect">
              <a:avLst/>
            </a:prstGeom>
            <a:noFill/>
          </p:spPr>
          <p:txBody>
            <a:bodyPr vertOverflow="overflow" vert="horz" wrap="square" rtlCol="0" anchor="t" anchorCtr="0">
              <a:spAutoFit/>
            </a:bodyPr>
            <a:lstStyle/>
            <a:p>
              <a:pPr algn="l"/>
              <a:r>
                <a:rPr lang="en-US" sz="2000" b="1" dirty="0"/>
                <a:t>Arbitrary categories</a:t>
              </a:r>
            </a:p>
          </p:txBody>
        </p:sp>
        <p:sp>
          <p:nvSpPr>
            <p:cNvPr id="86" name="ErrBadge4">
              <a:extLst>
                <a:ext uri="{FF2B5EF4-FFF2-40B4-BE49-F238E27FC236}">
                  <a16:creationId xmlns:a16="http://schemas.microsoft.com/office/drawing/2014/main" id="{F0998706-CCA9-D843-9E12-327649D378EE}"/>
                </a:ext>
              </a:extLst>
            </p:cNvPr>
            <p:cNvSpPr/>
            <p:nvPr/>
          </p:nvSpPr>
          <p:spPr>
            <a:xfrm>
              <a:off x="762000" y="2955400"/>
              <a:ext cx="609600" cy="609600"/>
            </a:xfrm>
            <a:prstGeom prst="ellipse">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200" b="1" dirty="0">
                  <a:solidFill>
                    <a:srgbClr val="FFFFFF"/>
                  </a:solidFill>
                </a:rPr>
                <a:t>4</a:t>
              </a:r>
            </a:p>
          </p:txBody>
        </p:sp>
        <p:sp>
          <p:nvSpPr>
            <p:cNvPr id="87" name="ErrTitle4">
              <a:extLst>
                <a:ext uri="{FF2B5EF4-FFF2-40B4-BE49-F238E27FC236}">
                  <a16:creationId xmlns:a16="http://schemas.microsoft.com/office/drawing/2014/main" id="{FCC03E0A-53C5-6045-B806-A3AF5C0A7D8F}"/>
                </a:ext>
              </a:extLst>
            </p:cNvPr>
            <p:cNvSpPr txBox="1"/>
            <p:nvPr/>
          </p:nvSpPr>
          <p:spPr>
            <a:xfrm>
              <a:off x="1651000" y="2930000"/>
              <a:ext cx="9652000" cy="400110"/>
            </a:xfrm>
            <a:prstGeom prst="rect">
              <a:avLst/>
            </a:prstGeom>
            <a:noFill/>
          </p:spPr>
          <p:txBody>
            <a:bodyPr vertOverflow="overflow" vert="horz" wrap="square" rtlCol="0" anchor="t" anchorCtr="0">
              <a:spAutoFit/>
            </a:bodyPr>
            <a:lstStyle/>
            <a:p>
              <a:pPr algn="l"/>
              <a:r>
                <a:rPr lang="en-US" sz="2000" b="1" dirty="0"/>
                <a:t>The Bernoulli fallacy</a:t>
              </a:r>
            </a:p>
          </p:txBody>
        </p:sp>
        <p:sp>
          <p:nvSpPr>
            <p:cNvPr id="88" name="ErrBadge5">
              <a:extLst>
                <a:ext uri="{FF2B5EF4-FFF2-40B4-BE49-F238E27FC236}">
                  <a16:creationId xmlns:a16="http://schemas.microsoft.com/office/drawing/2014/main" id="{F0998706-CCA9-D843-9E12-327649D378EE}"/>
                </a:ext>
              </a:extLst>
            </p:cNvPr>
            <p:cNvSpPr/>
            <p:nvPr/>
          </p:nvSpPr>
          <p:spPr>
            <a:xfrm>
              <a:off x="762000" y="3705400"/>
              <a:ext cx="609600" cy="609600"/>
            </a:xfrm>
            <a:prstGeom prst="ellipse">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200" b="1" dirty="0">
                  <a:solidFill>
                    <a:srgbClr val="FFFFFF"/>
                  </a:solidFill>
                </a:rPr>
                <a:t>5</a:t>
              </a:r>
            </a:p>
          </p:txBody>
        </p:sp>
        <p:sp>
          <p:nvSpPr>
            <p:cNvPr id="89" name="ErrTitle5">
              <a:extLst>
                <a:ext uri="{FF2B5EF4-FFF2-40B4-BE49-F238E27FC236}">
                  <a16:creationId xmlns:a16="http://schemas.microsoft.com/office/drawing/2014/main" id="{FCC03E0A-53C5-6045-B806-A3AF5C0A7D8F}"/>
                </a:ext>
              </a:extLst>
            </p:cNvPr>
            <p:cNvSpPr txBox="1"/>
            <p:nvPr/>
          </p:nvSpPr>
          <p:spPr>
            <a:xfrm>
              <a:off x="1651000" y="3680000"/>
              <a:ext cx="9652000" cy="400110"/>
            </a:xfrm>
            <a:prstGeom prst="rect">
              <a:avLst/>
            </a:prstGeom>
            <a:noFill/>
          </p:spPr>
          <p:txBody>
            <a:bodyPr vertOverflow="overflow" vert="horz" wrap="square" rtlCol="0" anchor="t" anchorCtr="0">
              <a:spAutoFit/>
            </a:bodyPr>
            <a:lstStyle/>
            <a:p>
              <a:pPr algn="l"/>
              <a:r>
                <a:rPr lang="en-US" sz="2000" b="1" dirty="0"/>
                <a:t>The causal leap</a:t>
              </a:r>
            </a:p>
          </p:txBody>
        </p:sp>
        <p:sp>
          <p:nvSpPr>
            <p:cNvPr id="300" name="FaultTag300">
              <a:extLst>
                <a:ext uri="{FF2B5EF4-FFF2-40B4-BE49-F238E27FC236}">
                  <a16:creationId xmlns:a16="http://schemas.microsoft.com/office/drawing/2014/main" id="{6D74C8DC-CDBB-EE4C-BA2A-F94E81E7ED83}"/>
                </a:ext>
              </a:extLst>
            </p:cNvPr>
            <p:cNvSpPr txBox="1"/>
            <p:nvPr/>
          </p:nvSpPr>
          <p:spPr>
            <a:xfrm>
              <a:off x="1651000" y="1063548"/>
              <a:ext cx="8000000" cy="304800"/>
            </a:xfrm>
            <a:prstGeom prst="rect">
              <a:avLst/>
            </a:prstGeom>
            <a:noFill/>
          </p:spPr>
          <p:txBody>
            <a:bodyPr vertOverflow="overflow" vert="horz" wrap="square" rtlCol="0" anchor="t" anchorCtr="0">
              <a:spAutoFit/>
            </a:bodyPr>
            <a:lstStyle/>
            <a:p>
              <a:pPr algn="l"/>
              <a:r>
                <a:rPr lang="en-US" sz="1300" i="1" dirty="0">
                  <a:solidFill>
                    <a:srgbClr val="5A5A5A"/>
                  </a:solidFill>
                </a:rPr>
                <a:t>What does a 36% improvement from taking a drug really mean?</a:t>
              </a:r>
            </a:p>
          </p:txBody>
        </p:sp>
        <p:sp>
          <p:nvSpPr>
            <p:cNvPr id="301" name="FaultTag301">
              <a:extLst>
                <a:ext uri="{FF2B5EF4-FFF2-40B4-BE49-F238E27FC236}">
                  <a16:creationId xmlns:a16="http://schemas.microsoft.com/office/drawing/2014/main" id="{6D74C8DC-CDBB-EE4C-BA2A-F94E81E7ED83}"/>
                </a:ext>
              </a:extLst>
            </p:cNvPr>
            <p:cNvSpPr txBox="1"/>
            <p:nvPr/>
          </p:nvSpPr>
          <p:spPr>
            <a:xfrm>
              <a:off x="1651000" y="1813548"/>
              <a:ext cx="8000000" cy="304800"/>
            </a:xfrm>
            <a:prstGeom prst="rect">
              <a:avLst/>
            </a:prstGeom>
            <a:noFill/>
          </p:spPr>
          <p:txBody>
            <a:bodyPr vertOverflow="overflow" vert="horz" wrap="square" rtlCol="0" anchor="t" anchorCtr="0">
              <a:spAutoFit/>
            </a:bodyPr>
            <a:lstStyle/>
            <a:p>
              <a:pPr algn="l"/>
              <a:r>
                <a:rPr lang="en-US" sz="1300" i="1" dirty="0">
                  <a:solidFill>
                    <a:srgbClr val="5A5A5A"/>
                  </a:solidFill>
                </a:rPr>
                <a:t>What does a positive COVID test really mean?</a:t>
              </a:r>
            </a:p>
          </p:txBody>
        </p:sp>
        <p:sp>
          <p:nvSpPr>
            <p:cNvPr id="302" name="FaultTag302">
              <a:extLst>
                <a:ext uri="{FF2B5EF4-FFF2-40B4-BE49-F238E27FC236}">
                  <a16:creationId xmlns:a16="http://schemas.microsoft.com/office/drawing/2014/main" id="{6D74C8DC-CDBB-EE4C-BA2A-F94E81E7ED83}"/>
                </a:ext>
              </a:extLst>
            </p:cNvPr>
            <p:cNvSpPr txBox="1"/>
            <p:nvPr/>
          </p:nvSpPr>
          <p:spPr>
            <a:xfrm>
              <a:off x="1651000" y="2563548"/>
              <a:ext cx="8000000" cy="304800"/>
            </a:xfrm>
            <a:prstGeom prst="rect">
              <a:avLst/>
            </a:prstGeom>
            <a:noFill/>
          </p:spPr>
          <p:txBody>
            <a:bodyPr vertOverflow="overflow" vert="horz" wrap="square" rtlCol="0" anchor="t" anchorCtr="0">
              <a:spAutoFit/>
            </a:bodyPr>
            <a:lstStyle/>
            <a:p>
              <a:pPr algn="l"/>
              <a:r>
                <a:rPr lang="en-US" sz="1300" i="1" dirty="0">
                  <a:solidFill>
                    <a:srgbClr val="5A5A5A"/>
                  </a:solidFill>
                </a:rPr>
                <a:t>How concerned should you be if your systolic BP goes from 119 to 120?</a:t>
              </a:r>
            </a:p>
          </p:txBody>
        </p:sp>
        <p:sp>
          <p:nvSpPr>
            <p:cNvPr id="303" name="FaultTag303">
              <a:extLst>
                <a:ext uri="{FF2B5EF4-FFF2-40B4-BE49-F238E27FC236}">
                  <a16:creationId xmlns:a16="http://schemas.microsoft.com/office/drawing/2014/main" id="{6D74C8DC-CDBB-EE4C-BA2A-F94E81E7ED83}"/>
                </a:ext>
              </a:extLst>
            </p:cNvPr>
            <p:cNvSpPr txBox="1"/>
            <p:nvPr/>
          </p:nvSpPr>
          <p:spPr>
            <a:xfrm>
              <a:off x="1651000" y="3313548"/>
              <a:ext cx="8000000" cy="304800"/>
            </a:xfrm>
            <a:prstGeom prst="rect">
              <a:avLst/>
            </a:prstGeom>
            <a:noFill/>
          </p:spPr>
          <p:txBody>
            <a:bodyPr vertOverflow="overflow" vert="horz" wrap="square" rtlCol="0" anchor="t" anchorCtr="0">
              <a:spAutoFit/>
            </a:bodyPr>
            <a:lstStyle/>
            <a:p>
              <a:pPr algn="l"/>
              <a:r>
                <a:rPr lang="en-US" sz="1300" i="1" dirty="0">
                  <a:solidFill>
                    <a:srgbClr val="5A5A5A"/>
                  </a:solidFill>
                </a:rPr>
                <a:t>Why does the published medical advice keep changing?</a:t>
              </a:r>
            </a:p>
          </p:txBody>
        </p:sp>
        <p:sp>
          <p:nvSpPr>
            <p:cNvPr id="304" name="FaultTag304">
              <a:extLst>
                <a:ext uri="{FF2B5EF4-FFF2-40B4-BE49-F238E27FC236}">
                  <a16:creationId xmlns:a16="http://schemas.microsoft.com/office/drawing/2014/main" id="{6D74C8DC-CDBB-EE4C-BA2A-F94E81E7ED83}"/>
                </a:ext>
              </a:extLst>
            </p:cNvPr>
            <p:cNvSpPr txBox="1"/>
            <p:nvPr/>
          </p:nvSpPr>
          <p:spPr>
            <a:xfrm>
              <a:off x="1651000" y="4063548"/>
              <a:ext cx="8000000" cy="304800"/>
            </a:xfrm>
            <a:prstGeom prst="rect">
              <a:avLst/>
            </a:prstGeom>
            <a:noFill/>
          </p:spPr>
          <p:txBody>
            <a:bodyPr vertOverflow="overflow" vert="horz" wrap="square" rtlCol="0" anchor="t" anchorCtr="0">
              <a:spAutoFit/>
            </a:bodyPr>
            <a:lstStyle/>
            <a:p>
              <a:pPr algn="l"/>
              <a:r>
                <a:rPr lang="en-US" sz="1300" i="1" dirty="0">
                  <a:solidFill>
                    <a:srgbClr val="5A5A5A"/>
                  </a:solidFill>
                </a:rPr>
                <a:t>Does bird watching prevent dementia?</a:t>
              </a:r>
            </a:p>
          </p:txBody>
        </p:sp>
        <p:sp>
          <p:nvSpPr>
            <p:cNvPr id="210" name="DayTag210">
              <a:extLst>
                <a:ext uri="{FF2B5EF4-FFF2-40B4-BE49-F238E27FC236}">
                  <a16:creationId xmlns:a16="http://schemas.microsoft.com/office/drawing/2014/main" id="{6D74C8DC-CDBB-EE4C-BA2A-F94E81E7ED83}"/>
                </a:ext>
              </a:extLst>
            </p:cNvPr>
            <p:cNvSpPr txBox="1"/>
            <p:nvPr/>
          </p:nvSpPr>
          <p:spPr>
            <a:xfrm>
              <a:off x="6200000" y="752000"/>
              <a:ext cx="1600000" cy="304800"/>
            </a:xfrm>
            <a:prstGeom prst="rect">
              <a:avLst/>
            </a:prstGeom>
            <a:noFill/>
          </p:spPr>
          <p:txBody>
            <a:bodyPr vertOverflow="overflow" vert="horz" wrap="square" rtlCol="0" anchor="t" anchorCtr="0">
              <a:spAutoFit/>
            </a:bodyPr>
            <a:lstStyle/>
            <a:p>
              <a:pPr algn="l"/>
              <a:r>
                <a:rPr lang="en-US" sz="1400" dirty="0">
                  <a:solidFill>
                    <a:srgbClr val="15686B"/>
                  </a:solidFill>
                </a:rPr>
                <a:t>Day 1</a:t>
              </a:r>
            </a:p>
          </p:txBody>
        </p:sp>
        <p:sp>
          <p:nvSpPr>
            <p:cNvPr id="211" name="DayTag211">
              <a:extLst>
                <a:ext uri="{FF2B5EF4-FFF2-40B4-BE49-F238E27FC236}">
                  <a16:creationId xmlns:a16="http://schemas.microsoft.com/office/drawing/2014/main" id="{6D74C8DC-CDBB-EE4C-BA2A-F94E81E7ED83}"/>
                </a:ext>
              </a:extLst>
            </p:cNvPr>
            <p:cNvSpPr txBox="1"/>
            <p:nvPr/>
          </p:nvSpPr>
          <p:spPr>
            <a:xfrm>
              <a:off x="6200000" y="1502000"/>
              <a:ext cx="1600000" cy="304800"/>
            </a:xfrm>
            <a:prstGeom prst="rect">
              <a:avLst/>
            </a:prstGeom>
            <a:noFill/>
          </p:spPr>
          <p:txBody>
            <a:bodyPr vertOverflow="overflow" vert="horz" wrap="square" rtlCol="0" anchor="t" anchorCtr="0">
              <a:spAutoFit/>
            </a:bodyPr>
            <a:lstStyle/>
            <a:p>
              <a:pPr algn="l"/>
              <a:r>
                <a:rPr lang="en-US" sz="1400" dirty="0">
                  <a:solidFill>
                    <a:srgbClr val="15686B"/>
                  </a:solidFill>
                </a:rPr>
                <a:t>Day 2</a:t>
              </a:r>
            </a:p>
          </p:txBody>
        </p:sp>
        <p:sp>
          <p:nvSpPr>
            <p:cNvPr id="212" name="DayTag212">
              <a:extLst>
                <a:ext uri="{FF2B5EF4-FFF2-40B4-BE49-F238E27FC236}">
                  <a16:creationId xmlns:a16="http://schemas.microsoft.com/office/drawing/2014/main" id="{6D74C8DC-CDBB-EE4C-BA2A-F94E81E7ED83}"/>
                </a:ext>
              </a:extLst>
            </p:cNvPr>
            <p:cNvSpPr txBox="1"/>
            <p:nvPr/>
          </p:nvSpPr>
          <p:spPr>
            <a:xfrm>
              <a:off x="6200000" y="2252000"/>
              <a:ext cx="1600000" cy="304800"/>
            </a:xfrm>
            <a:prstGeom prst="rect">
              <a:avLst/>
            </a:prstGeom>
            <a:noFill/>
          </p:spPr>
          <p:txBody>
            <a:bodyPr vertOverflow="overflow" vert="horz" wrap="square" rtlCol="0" anchor="t" anchorCtr="0">
              <a:spAutoFit/>
            </a:bodyPr>
            <a:lstStyle/>
            <a:p>
              <a:pPr algn="l"/>
              <a:r>
                <a:rPr lang="en-US" sz="1400" dirty="0">
                  <a:solidFill>
                    <a:srgbClr val="15686B"/>
                  </a:solidFill>
                </a:rPr>
                <a:t>Day 3</a:t>
              </a:r>
            </a:p>
          </p:txBody>
        </p:sp>
        <p:sp>
          <p:nvSpPr>
            <p:cNvPr id="213" name="DayTag213">
              <a:extLst>
                <a:ext uri="{FF2B5EF4-FFF2-40B4-BE49-F238E27FC236}">
                  <a16:creationId xmlns:a16="http://schemas.microsoft.com/office/drawing/2014/main" id="{6D74C8DC-CDBB-EE4C-BA2A-F94E81E7ED83}"/>
                </a:ext>
              </a:extLst>
            </p:cNvPr>
            <p:cNvSpPr txBox="1"/>
            <p:nvPr/>
          </p:nvSpPr>
          <p:spPr>
            <a:xfrm>
              <a:off x="6200000" y="3002000"/>
              <a:ext cx="1600000" cy="304800"/>
            </a:xfrm>
            <a:prstGeom prst="rect">
              <a:avLst/>
            </a:prstGeom>
            <a:noFill/>
          </p:spPr>
          <p:txBody>
            <a:bodyPr vertOverflow="overflow" vert="horz" wrap="square" rtlCol="0" anchor="t" anchorCtr="0">
              <a:spAutoFit/>
            </a:bodyPr>
            <a:lstStyle/>
            <a:p>
              <a:pPr algn="l"/>
              <a:r>
                <a:rPr lang="en-US" sz="1400" dirty="0">
                  <a:solidFill>
                    <a:srgbClr val="15686B"/>
                  </a:solidFill>
                </a:rPr>
                <a:t>Day 3</a:t>
              </a:r>
            </a:p>
          </p:txBody>
        </p:sp>
        <p:sp>
          <p:nvSpPr>
            <p:cNvPr id="214" name="DayTag214">
              <a:extLst>
                <a:ext uri="{FF2B5EF4-FFF2-40B4-BE49-F238E27FC236}">
                  <a16:creationId xmlns:a16="http://schemas.microsoft.com/office/drawing/2014/main" id="{6D74C8DC-CDBB-EE4C-BA2A-F94E81E7ED83}"/>
                </a:ext>
              </a:extLst>
            </p:cNvPr>
            <p:cNvSpPr txBox="1"/>
            <p:nvPr/>
          </p:nvSpPr>
          <p:spPr>
            <a:xfrm>
              <a:off x="6200000" y="3752000"/>
              <a:ext cx="1600000" cy="304800"/>
            </a:xfrm>
            <a:prstGeom prst="rect">
              <a:avLst/>
            </a:prstGeom>
            <a:noFill/>
          </p:spPr>
          <p:txBody>
            <a:bodyPr vertOverflow="overflow" vert="horz" wrap="square" rtlCol="0" anchor="t" anchorCtr="0">
              <a:spAutoFit/>
            </a:bodyPr>
            <a:lstStyle/>
            <a:p>
              <a:pPr algn="l"/>
              <a:r>
                <a:rPr lang="en-US" sz="1400" dirty="0">
                  <a:solidFill>
                    <a:srgbClr val="15686B"/>
                  </a:solidFill>
                </a:rPr>
                <a:t>Day 4</a:t>
              </a:r>
            </a:p>
          </p:txBody>
        </p:sp>
        <p:sp>
          <p:nvSpPr>
            <p:cNvPr id="95" name="Tagline">
              <a:extLst>
                <a:ext uri="{FF2B5EF4-FFF2-40B4-BE49-F238E27FC236}">
                  <a16:creationId xmlns:a16="http://schemas.microsoft.com/office/drawing/2014/main" id="{6D74C8DC-CDBB-EE4C-BA2A-F94E81E7ED83}"/>
                </a:ext>
              </a:extLst>
            </p:cNvPr>
            <p:cNvSpPr txBox="1"/>
            <p:nvPr/>
          </p:nvSpPr>
          <p:spPr>
            <a:xfrm>
              <a:off x="1651000" y="4500000"/>
              <a:ext cx="9652000" cy="304800"/>
            </a:xfrm>
            <a:prstGeom prst="rect">
              <a:avLst/>
            </a:prstGeom>
            <a:noFill/>
          </p:spPr>
          <p:txBody>
            <a:bodyPr vertOverflow="overflow" vert="horz" wrap="square" rtlCol="0" anchor="t" anchorCtr="0">
              <a:spAutoFit/>
            </a:bodyPr>
            <a:lstStyle/>
            <a:p>
              <a:pPr algn="l"/>
              <a:r>
                <a:rPr lang="en-US" sz="2000" i="1" dirty="0">
                  <a:solidFill>
                    <a:srgbClr val="15686B"/>
                  </a:solidFill>
                </a:rPr>
                <a:t>Once you see them, you can’t unsee them.</a:t>
              </a:r>
            </a:p>
          </p:txBody>
        </p:sp>
      </p:grpSp>
    </p:spTree>
    <p:extLst>
      <p:ext uri="{BB962C8B-B14F-4D97-AF65-F5344CB8AC3E}">
        <p14:creationId xmlns:p14="http://schemas.microsoft.com/office/powerpoint/2010/main" val="1631274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EAE2">
            <a:alpha val="100000"/>
          </a:srgbClr>
        </a:solidFill>
        <a:effectLst/>
      </p:bgPr>
    </p:bg>
    <p:spTree>
      <p:nvGrpSpPr>
        <p:cNvPr id="1" name=""/>
        <p:cNvGrpSpPr/>
        <p:nvPr/>
      </p:nvGrpSpPr>
      <p:grpSpPr>
        <a:xfrm>
          <a:off x="0" y="0"/>
          <a:ext cx="0" cy="0"/>
          <a:chOff x="0" y="0"/>
          <a:chExt cx="0" cy="0"/>
        </a:xfrm>
      </p:grpSpPr>
      <p:sp>
        <p:nvSpPr>
          <p:cNvPr id="2" name="DividerEyebrow">
            <a:extLst>
              <a:ext uri="{FF2B5EF4-FFF2-40B4-BE49-F238E27FC236}">
                <a16:creationId xmlns:a16="http://schemas.microsoft.com/office/drawing/2014/main" id="{43DCC678-91EF-7B44-B2D7-D2CC82E0E9AA}"/>
              </a:ext>
            </a:extLst>
          </p:cNvPr>
          <p:cNvSpPr txBox="1"/>
          <p:nvPr/>
        </p:nvSpPr>
        <p:spPr>
          <a:xfrm>
            <a:off x="1066800" y="1905000"/>
            <a:ext cx="5080000" cy="430887"/>
          </a:xfrm>
          <a:prstGeom prst="rect">
            <a:avLst/>
          </a:prstGeom>
          <a:noFill/>
        </p:spPr>
        <p:txBody>
          <a:bodyPr vertOverflow="overflow" vert="horz" wrap="square" rtlCol="0" anchor="t" anchorCtr="0">
            <a:spAutoFit/>
          </a:bodyPr>
          <a:lstStyle/>
          <a:p>
            <a:pPr algn="l"/>
            <a:r>
              <a:rPr lang="en-US" sz="2200" b="1" dirty="0">
                <a:solidFill>
                  <a:srgbClr val="15686B"/>
                </a:solidFill>
              </a:rPr>
              <a:t>FAULT 5</a:t>
            </a:r>
          </a:p>
        </p:txBody>
      </p:sp>
      <p:sp>
        <p:nvSpPr>
          <p:cNvPr id="3" name="DividerNum">
            <a:extLst>
              <a:ext uri="{FF2B5EF4-FFF2-40B4-BE49-F238E27FC236}">
                <a16:creationId xmlns:a16="http://schemas.microsoft.com/office/drawing/2014/main" id="{07FB2CF1-E663-8246-8037-8D6C8382576B}"/>
              </a:ext>
            </a:extLst>
          </p:cNvPr>
          <p:cNvSpPr txBox="1"/>
          <p:nvPr/>
        </p:nvSpPr>
        <p:spPr>
          <a:xfrm>
            <a:off x="1041400" y="2349500"/>
            <a:ext cx="9652000" cy="1905000"/>
          </a:xfrm>
          <a:prstGeom prst="rect">
            <a:avLst/>
          </a:prstGeom>
          <a:noFill/>
        </p:spPr>
        <p:txBody>
          <a:bodyPr vertOverflow="overflow" vert="horz" wrap="square" rtlCol="0" anchor="ctr" anchorCtr="0">
            <a:spAutoFit/>
          </a:bodyPr>
          <a:lstStyle/>
          <a:p>
            <a:pPr algn="l"/>
            <a:r>
              <a:rPr lang="en-US" sz="5400" b="1" dirty="0">
                <a:solidFill>
                  <a:srgbClr val="15686B"/>
                </a:solidFill>
              </a:rPr>
              <a:t>The Causal Leap</a:t>
            </a:r>
          </a:p>
        </p:txBody>
      </p:sp>
      <p:sp>
        <p:nvSpPr>
          <p:cNvPr id="4" name="DividerRule">
            <a:extLst>
              <a:ext uri="{FF2B5EF4-FFF2-40B4-BE49-F238E27FC236}">
                <a16:creationId xmlns:a16="http://schemas.microsoft.com/office/drawing/2014/main" id="{9B746F38-27CC-8F48-9AB8-524EE588C1AC}"/>
              </a:ext>
            </a:extLst>
          </p:cNvPr>
          <p:cNvSpPr/>
          <p:nvPr/>
        </p:nvSpPr>
        <p:spPr>
          <a:xfrm>
            <a:off x="1066800" y="4445000"/>
            <a:ext cx="1143000" cy="635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DividerTitle">
            <a:extLst>
              <a:ext uri="{FF2B5EF4-FFF2-40B4-BE49-F238E27FC236}">
                <a16:creationId xmlns:a16="http://schemas.microsoft.com/office/drawing/2014/main" id="{423C2191-AB8A-764E-9F15-6ADA4D84F2D4}"/>
              </a:ext>
            </a:extLst>
          </p:cNvPr>
          <p:cNvSpPr txBox="1"/>
          <p:nvPr/>
        </p:nvSpPr>
        <p:spPr>
          <a:xfrm>
            <a:off x="1016000" y="4762500"/>
            <a:ext cx="10160000" cy="707886"/>
          </a:xfrm>
          <a:prstGeom prst="rect">
            <a:avLst/>
          </a:prstGeom>
          <a:noFill/>
        </p:spPr>
        <p:txBody>
          <a:bodyPr vertOverflow="overflow" vert="horz" wrap="square" rtlCol="0" anchor="t" anchorCtr="0">
            <a:spAutoFit/>
          </a:bodyPr>
          <a:lstStyle/>
          <a:p>
            <a:r>
              <a:rPr lang="en-US" sz="4000" b="1" i="1" dirty="0">
                <a:solidFill>
                  <a:srgbClr val="5A5A5A"/>
                </a:solidFill>
              </a:rPr>
              <a:t>Confusing Correlation with Causation</a:t>
            </a:r>
            <a:endParaRPr lang="en-US" sz="4000" b="1" dirty="0">
              <a:solidFill>
                <a:srgbClr val="15686B"/>
              </a:solidFill>
            </a:endParaRPr>
          </a:p>
        </p:txBody>
      </p:sp>
    </p:spTree>
    <p:extLst>
      <p:ext uri="{BB962C8B-B14F-4D97-AF65-F5344CB8AC3E}">
        <p14:creationId xmlns:p14="http://schemas.microsoft.com/office/powerpoint/2010/main" val="432586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Title"/>
          <p:cNvSpPr>
            <a:spLocks noGrp="1"/>
          </p:cNvSpPr>
          <p:nvPr>
            <p:ph type="title" idx="102"/>
          </p:nvPr>
        </p:nvSpPr>
        <p:spPr>
          <a:xfrm>
            <a:off x="1854200" y="868680"/>
            <a:ext cx="9652000" cy="868680"/>
          </a:xfrm>
          <a:prstGeom prst="rect">
            <a:avLst/>
          </a:prstGeom>
          <a:noFill/>
          <a:ln/>
        </p:spPr>
        <p:txBody>
          <a:bodyPr wrap="square" lIns="0" tIns="0" rIns="0" bIns="0" rtlCol="0" anchor="ctr"/>
          <a:lstStyle/>
          <a:p>
            <a:pPr marL="0" indent="0" algn="l">
              <a:buNone/>
            </a:pPr>
            <a:r>
              <a:rPr lang="en-US" sz="3800" dirty="0"/>
              <a:t>A Positive Correlation: Two Things That Move Together</a:t>
            </a:r>
          </a:p>
        </p:txBody>
      </p:sp>
      <p:sp>
        <p:nvSpPr>
          <p:cNvPr id="402" name="Eyebrow"/>
          <p:cNvSpPr txBox="1"/>
          <p:nvPr/>
        </p:nvSpPr>
        <p:spPr>
          <a:xfrm>
            <a:off x="685800" y="1765300"/>
            <a:ext cx="10820400" cy="431800"/>
          </a:xfrm>
          <a:prstGeom prst="rect">
            <a:avLst/>
          </a:prstGeom>
          <a:noFill/>
        </p:spPr>
        <p:txBody>
          <a:bodyPr wrap="none" lIns="0" tIns="0" rIns="0" bIns="0" rtlCol="0" anchor="t">
            <a:noAutofit/>
          </a:bodyPr>
          <a:lstStyle/>
          <a:p>
            <a:pPr marL="0" indent="0" algn="l">
              <a:buNone/>
            </a:pPr>
            <a:endParaRPr/>
          </a:p>
        </p:txBody>
      </p:sp>
      <p:sp>
        <p:nvSpPr>
          <p:cNvPr id="416" name="Source"/>
          <p:cNvSpPr txBox="1"/>
          <p:nvPr/>
        </p:nvSpPr>
        <p:spPr>
          <a:xfrm>
            <a:off x="685800" y="6520000"/>
            <a:ext cx="10820400" cy="274320"/>
          </a:xfrm>
          <a:prstGeom prst="rect">
            <a:avLst/>
          </a:prstGeom>
          <a:noFill/>
        </p:spPr>
        <p:txBody>
          <a:bodyPr wrap="square" lIns="0" tIns="0" rIns="0" bIns="0" rtlCol="0" anchor="t">
            <a:noAutofit/>
          </a:bodyPr>
          <a:lstStyle/>
          <a:p>
            <a:pPr marL="0" indent="0" algn="l">
              <a:buNone/>
            </a:pPr>
            <a:r>
              <a:rPr lang="en-US" sz="1000" i="1" dirty="0">
                <a:solidFill>
                  <a:srgbClr val="6B6660"/>
                </a:solidFill>
                <a:latin typeface="Calibri"/>
                <a:cs typeface="Calibri"/>
              </a:rPr>
              <a:t>Fault 5, the causal leap: treating this pattern as if it named a cause. The two series above are illustrative, drawn to show the shape rather than measured.</a:t>
            </a:r>
          </a:p>
        </p:txBody>
      </p:sp>
      <p:graphicFrame>
        <p:nvGraphicFramePr>
          <p:cNvPr id="950" name="CorrelationChart"/>
          <p:cNvGraphicFramePr/>
          <p:nvPr/>
        </p:nvGraphicFramePr>
        <p:xfrm>
          <a:off x="685800" y="2286000"/>
          <a:ext cx="5664200" cy="4064000"/>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8E1AA0BF-729D-B74B-87D6-4428FE598169}"/>
              </a:ext>
            </a:extLst>
          </p:cNvPr>
          <p:cNvSpPr/>
          <p:nvPr/>
        </p:nvSpPr>
        <p:spPr>
          <a:xfrm>
            <a:off x="6604000" y="2984500"/>
            <a:ext cx="50800" cy="9906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81C8B040-6D3F-CF4E-A31F-F4BC9C1E5B97}"/>
              </a:ext>
            </a:extLst>
          </p:cNvPr>
          <p:cNvSpPr txBox="1"/>
          <p:nvPr/>
        </p:nvSpPr>
        <p:spPr>
          <a:xfrm>
            <a:off x="6807200" y="2984500"/>
            <a:ext cx="4699000" cy="990600"/>
          </a:xfrm>
          <a:prstGeom prst="rect">
            <a:avLst/>
          </a:prstGeom>
          <a:noFill/>
        </p:spPr>
        <p:txBody>
          <a:bodyPr vertOverflow="overflow" vert="horz" wrap="square" rtlCol="0" anchor="t" anchorCtr="0">
            <a:noAutofit/>
          </a:bodyPr>
          <a:lstStyle/>
          <a:p>
            <a:pPr marL="0" indent="0" algn="l">
              <a:spcAft>
                <a:spcPts val="200"/>
              </a:spcAft>
              <a:buNone/>
            </a:pPr>
            <a:r>
              <a:rPr lang="en-US" sz="1400" b="1" spc="120" dirty="0">
                <a:solidFill>
                  <a:srgbClr val="1F3864"/>
                </a:solidFill>
                <a:latin typeface="Calibri"/>
                <a:cs typeface="Calibri"/>
              </a:rPr>
              <a:t>HOW IT'S MEASURED</a:t>
            </a:r>
          </a:p>
          <a:p>
            <a:pPr marL="0" indent="0" algn="l">
              <a:buNone/>
            </a:pPr>
            <a:r>
              <a:rPr lang="en-US" sz="1700" b="1" dirty="0">
                <a:solidFill>
                  <a:srgbClr val="262320"/>
                </a:solidFill>
                <a:latin typeface="Calibri"/>
                <a:cs typeface="Calibri"/>
              </a:rPr>
              <a:t>The strength gets a number</a:t>
            </a:r>
          </a:p>
          <a:p>
            <a:pPr marL="0" indent="0" algn="l">
              <a:buNone/>
            </a:pPr>
            <a:r>
              <a:rPr lang="en-US" sz="1600" dirty="0">
                <a:solidFill>
                  <a:srgbClr val="262320"/>
                </a:solidFill>
                <a:latin typeface="Calibri"/>
                <a:cs typeface="Calibri"/>
              </a:rPr>
              <a:t>Pearson r or Spearman ρ, each on a −1 to +1 scale.</a:t>
            </a:r>
          </a:p>
        </p:txBody>
      </p:sp>
      <p:sp>
        <p:nvSpPr>
          <p:cNvPr id="7" name="Rectangle 6">
            <a:extLst>
              <a:ext uri="{FF2B5EF4-FFF2-40B4-BE49-F238E27FC236}">
                <a16:creationId xmlns:a16="http://schemas.microsoft.com/office/drawing/2014/main" id="{CBF2D40E-4949-5545-B48A-0580C50DEB69}"/>
              </a:ext>
            </a:extLst>
          </p:cNvPr>
          <p:cNvSpPr/>
          <p:nvPr/>
        </p:nvSpPr>
        <p:spPr>
          <a:xfrm>
            <a:off x="6604000" y="4673600"/>
            <a:ext cx="50800" cy="990600"/>
          </a:xfrm>
          <a:prstGeom prst="rect">
            <a:avLst/>
          </a:prstGeom>
          <a:solidFill>
            <a:srgbClr val="8A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BEAE1328-05F2-6F4B-AC21-094042E7759B}"/>
              </a:ext>
            </a:extLst>
          </p:cNvPr>
          <p:cNvSpPr txBox="1"/>
          <p:nvPr/>
        </p:nvSpPr>
        <p:spPr>
          <a:xfrm>
            <a:off x="6807200" y="4673600"/>
            <a:ext cx="4699000" cy="990600"/>
          </a:xfrm>
          <a:prstGeom prst="rect">
            <a:avLst/>
          </a:prstGeom>
          <a:noFill/>
        </p:spPr>
        <p:txBody>
          <a:bodyPr vertOverflow="overflow" vert="horz" wrap="square" rtlCol="0" anchor="t" anchorCtr="0">
            <a:noAutofit/>
          </a:bodyPr>
          <a:lstStyle/>
          <a:p>
            <a:pPr marL="0" indent="0" algn="l">
              <a:spcAft>
                <a:spcPts val="200"/>
              </a:spcAft>
              <a:buNone/>
            </a:pPr>
            <a:r>
              <a:rPr lang="en-US" sz="1400" b="1" spc="120" dirty="0">
                <a:solidFill>
                  <a:srgbClr val="8A2A2A"/>
                </a:solidFill>
                <a:latin typeface="Calibri"/>
                <a:cs typeface="Calibri"/>
              </a:rPr>
              <a:t>NOT A CAUSE</a:t>
            </a:r>
          </a:p>
          <a:p>
            <a:pPr marL="0" indent="0" algn="l">
              <a:buNone/>
            </a:pPr>
            <a:r>
              <a:rPr lang="en-US" sz="1700" b="1" dirty="0">
                <a:solidFill>
                  <a:srgbClr val="262320"/>
                </a:solidFill>
                <a:latin typeface="Calibri"/>
                <a:cs typeface="Calibri"/>
              </a:rPr>
              <a:t>The reason is a separate question</a:t>
            </a:r>
          </a:p>
          <a:p>
            <a:pPr marL="0" indent="0" algn="l">
              <a:buNone/>
            </a:pPr>
            <a:r>
              <a:rPr lang="en-US" sz="1600" dirty="0">
                <a:solidFill>
                  <a:srgbClr val="262320"/>
                </a:solidFill>
                <a:latin typeface="Calibri"/>
                <a:cs typeface="Calibri"/>
              </a:rPr>
              <a:t>A correlation is a fact about the data, not an explanation.</a:t>
            </a:r>
          </a:p>
        </p:txBody>
      </p:sp>
    </p:spTree>
    <p:extLst>
      <p:ext uri="{BB962C8B-B14F-4D97-AF65-F5344CB8AC3E}">
        <p14:creationId xmlns:p14="http://schemas.microsoft.com/office/powerpoint/2010/main" val="3378837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Title"/>
          <p:cNvSpPr>
            <a:spLocks noGrp="1"/>
          </p:cNvSpPr>
          <p:nvPr>
            <p:ph type="title" idx="102"/>
          </p:nvPr>
        </p:nvSpPr>
        <p:spPr>
          <a:xfrm>
            <a:off x="1854200" y="868680"/>
            <a:ext cx="9652000" cy="868680"/>
          </a:xfrm>
          <a:prstGeom prst="rect">
            <a:avLst/>
          </a:prstGeom>
          <a:noFill/>
          <a:ln/>
        </p:spPr>
        <p:txBody>
          <a:bodyPr wrap="square" lIns="0" tIns="0" rIns="0" bIns="0" rtlCol="0" anchor="ctr"/>
          <a:lstStyle/>
          <a:p>
            <a:pPr marL="0" indent="0" algn="l">
              <a:buNone/>
            </a:pPr>
            <a:r>
              <a:rPr lang="en-US" sz="3800" dirty="0"/>
              <a:t>How Tight Is the Pattern? Strong and Weak Correlations</a:t>
            </a:r>
          </a:p>
        </p:txBody>
      </p:sp>
      <p:sp>
        <p:nvSpPr>
          <p:cNvPr id="402" name="Eyebrow"/>
          <p:cNvSpPr txBox="1"/>
          <p:nvPr/>
        </p:nvSpPr>
        <p:spPr>
          <a:xfrm>
            <a:off x="685800" y="1765300"/>
            <a:ext cx="10820400" cy="431800"/>
          </a:xfrm>
          <a:prstGeom prst="rect">
            <a:avLst/>
          </a:prstGeom>
          <a:noFill/>
        </p:spPr>
        <p:txBody>
          <a:bodyPr wrap="none" lIns="0" tIns="0" rIns="0" bIns="0" rtlCol="0" anchor="t">
            <a:noAutofit/>
          </a:bodyPr>
          <a:lstStyle/>
          <a:p>
            <a:pPr marL="0" indent="0" algn="l">
              <a:buNone/>
            </a:pPr>
            <a:endParaRPr/>
          </a:p>
        </p:txBody>
      </p:sp>
      <p:sp>
        <p:nvSpPr>
          <p:cNvPr id="415" name="Band"/>
          <p:cNvSpPr/>
          <p:nvPr/>
        </p:nvSpPr>
        <p:spPr>
          <a:xfrm>
            <a:off x="685800" y="5600000"/>
            <a:ext cx="10820400" cy="840000"/>
          </a:xfrm>
          <a:prstGeom prst="roundRect">
            <a:avLst>
              <a:gd name="adj" fmla="val 8000"/>
            </a:avLst>
          </a:prstGeom>
          <a:solidFill>
            <a:srgbClr val="EFEFEF"/>
          </a:solidFill>
          <a:ln>
            <a:noFill/>
          </a:ln>
        </p:spPr>
        <p:txBody>
          <a:bodyPr lIns="182880" tIns="0" rIns="182880" bIns="0" rtlCol="0" anchor="ctr" anchorCtr="0"/>
          <a:lstStyle/>
          <a:p>
            <a:pPr marL="0" indent="0" algn="ctr">
              <a:buNone/>
            </a:pPr>
            <a:r>
              <a:rPr lang="en-US" sz="1400" b="1" dirty="0">
                <a:solidFill>
                  <a:srgbClr val="000000"/>
                </a:solidFill>
                <a:latin typeface="Calibri"/>
                <a:cs typeface="Calibri"/>
              </a:rPr>
              <a:t>An r near ±1 means a tight pattern; an r near 0 means barely a pattern at all.</a:t>
            </a:r>
          </a:p>
          <a:p>
            <a:pPr marL="0" indent="0" algn="ctr">
              <a:buNone/>
            </a:pPr>
            <a:r>
              <a:rPr lang="en-US" sz="1400" b="1" dirty="0">
                <a:solidFill>
                  <a:srgbClr val="000000"/>
                </a:solidFill>
                <a:latin typeface="Calibri"/>
                <a:cs typeface="Calibri"/>
              </a:rPr>
              <a:t>Strength still says nothing about cause: a weak tie can be causal, a strong one coincidence.</a:t>
            </a:r>
          </a:p>
        </p:txBody>
      </p:sp>
      <p:sp>
        <p:nvSpPr>
          <p:cNvPr id="416" name="Source"/>
          <p:cNvSpPr txBox="1"/>
          <p:nvPr/>
        </p:nvSpPr>
        <p:spPr>
          <a:xfrm>
            <a:off x="685800" y="6520000"/>
            <a:ext cx="10820400" cy="274320"/>
          </a:xfrm>
          <a:prstGeom prst="rect">
            <a:avLst/>
          </a:prstGeom>
          <a:noFill/>
        </p:spPr>
        <p:txBody>
          <a:bodyPr wrap="square" lIns="0" tIns="0" rIns="0" bIns="0" rtlCol="0" anchor="t">
            <a:noAutofit/>
          </a:bodyPr>
          <a:lstStyle/>
          <a:p>
            <a:pPr marL="0" indent="0" algn="l">
              <a:buNone/>
            </a:pPr>
            <a:r>
              <a:rPr lang="en-US" sz="1000" i="1" dirty="0">
                <a:solidFill>
                  <a:srgbClr val="6B6660"/>
                </a:solidFill>
                <a:latin typeface="Calibri"/>
                <a:cs typeface="Calibri"/>
              </a:rPr>
              <a:t>Illustrative data, 12 observations per panel; Pearson r calculated on the plotted points.</a:t>
            </a:r>
          </a:p>
        </p:txBody>
      </p:sp>
      <p:graphicFrame>
        <p:nvGraphicFramePr>
          <p:cNvPr id="960" name="Panel 1"/>
          <p:cNvGraphicFramePr/>
          <p:nvPr/>
        </p:nvGraphicFramePr>
        <p:xfrm>
          <a:off x="685800" y="2349500"/>
          <a:ext cx="3403600" cy="31115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61" name="Panel 2"/>
          <p:cNvGraphicFramePr/>
          <p:nvPr/>
        </p:nvGraphicFramePr>
        <p:xfrm>
          <a:off x="4394200" y="2349500"/>
          <a:ext cx="3403600" cy="31115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62" name="Panel 3"/>
          <p:cNvGraphicFramePr/>
          <p:nvPr/>
        </p:nvGraphicFramePr>
        <p:xfrm>
          <a:off x="8102600" y="2349500"/>
          <a:ext cx="3403600" cy="31115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72753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 name="Title"/>
          <p:cNvSpPr>
            <a:spLocks noGrp="1"/>
          </p:cNvSpPr>
          <p:nvPr>
            <p:ph type="title" idx="102"/>
          </p:nvPr>
        </p:nvSpPr>
        <p:spPr>
          <a:xfrm>
            <a:off x="685800" y="868680"/>
            <a:ext cx="10820400" cy="868680"/>
          </a:xfrm>
          <a:prstGeom prst="rect">
            <a:avLst/>
          </a:prstGeom>
          <a:noFill/>
          <a:ln/>
        </p:spPr>
        <p:txBody>
          <a:bodyPr wrap="square" lIns="0" tIns="0" rIns="0" bIns="0" rtlCol="0" anchor="ctr"/>
          <a:lstStyle/>
          <a:p>
            <a:pPr marL="0" indent="0" algn="l">
              <a:buNone/>
            </a:pPr>
            <a:r>
              <a:rPr lang="en-US" sz="3600" dirty="0"/>
              <a:t>Three Explanations for a Strong Correlation</a:t>
            </a:r>
          </a:p>
        </p:txBody>
      </p:sp>
      <p:grpSp>
        <p:nvGrpSpPr>
          <p:cNvPr id="716" name="Card1Graphic"/>
          <p:cNvGrpSpPr/>
          <p:nvPr/>
        </p:nvGrpSpPr>
        <p:grpSpPr>
          <a:xfrm>
            <a:off x="685800" y="1905000"/>
            <a:ext cx="3416300" cy="2984500"/>
            <a:chOff x="685800" y="1905000"/>
            <a:chExt cx="3416300" cy="2984500"/>
          </a:xfrm>
        </p:grpSpPr>
        <p:sp>
          <p:nvSpPr>
            <p:cNvPr id="702" name="Card"/>
            <p:cNvSpPr/>
            <p:nvPr/>
          </p:nvSpPr>
          <p:spPr>
            <a:xfrm>
              <a:off x="685800" y="1900000"/>
              <a:ext cx="3413760" cy="2880000"/>
            </a:xfrm>
            <a:prstGeom prst="roundRect">
              <a:avLst>
                <a:gd name="adj" fmla="val 6000"/>
              </a:avLst>
            </a:prstGeom>
            <a:solidFill>
              <a:srgbClr val="FFFFFF"/>
            </a:solidFill>
            <a:ln w="15875" cap="flat" cmpd="sng" algn="ctr">
              <a:solidFill>
                <a:srgbClr val="C2683F"/>
              </a:solidFill>
              <a:prstDash val="solid"/>
              <a:miter lim="800000"/>
            </a:ln>
          </p:spPr>
          <p:txBody>
            <a:bodyPr rtlCol="0" anchor="t"/>
            <a:lstStyle/>
            <a:p>
              <a:endParaRPr lang="en-US"/>
            </a:p>
          </p:txBody>
        </p:sp>
        <p:grpSp>
          <p:nvGrpSpPr>
            <p:cNvPr id="2" name="Group 1">
              <a:extLst>
                <a:ext uri="{FF2B5EF4-FFF2-40B4-BE49-F238E27FC236}">
                  <a16:creationId xmlns:a16="http://schemas.microsoft.com/office/drawing/2014/main" id="{B21234BF-63BE-FCBC-4EE1-0B241A7C7928}"/>
                </a:ext>
              </a:extLst>
            </p:cNvPr>
            <p:cNvGrpSpPr/>
            <p:nvPr/>
          </p:nvGrpSpPr>
          <p:grpSpPr>
            <a:xfrm>
              <a:off x="862680" y="2100000"/>
              <a:ext cx="3060000" cy="2790000"/>
              <a:chOff x="862680" y="2100000"/>
              <a:chExt cx="3060000" cy="2790000"/>
            </a:xfrm>
          </p:grpSpPr>
          <p:sp>
            <p:nvSpPr>
              <p:cNvPr id="703" name="TextBox"/>
              <p:cNvSpPr txBox="1"/>
              <p:nvPr/>
            </p:nvSpPr>
            <p:spPr>
              <a:xfrm>
                <a:off x="914400" y="2100000"/>
                <a:ext cx="2956560" cy="300000"/>
              </a:xfrm>
              <a:prstGeom prst="rect">
                <a:avLst/>
              </a:prstGeom>
              <a:noFill/>
            </p:spPr>
            <p:txBody>
              <a:bodyPr wrap="square" lIns="0" tIns="0" rIns="0" bIns="0" rtlCol="0" anchor="t">
                <a:noAutofit/>
              </a:bodyPr>
              <a:lstStyle/>
              <a:p>
                <a:pPr marL="0" indent="0" algn="ctr">
                  <a:buNone/>
                </a:pPr>
                <a:r>
                  <a:rPr lang="en-US" sz="1300" b="1" dirty="0">
                    <a:solidFill>
                      <a:srgbClr val="C2683F"/>
                    </a:solidFill>
                    <a:latin typeface="Calibri"/>
                    <a:cs typeface="Calibri"/>
                  </a:rPr>
                  <a:t>PURE COINCIDENCE</a:t>
                </a:r>
              </a:p>
            </p:txBody>
          </p:sp>
          <p:pic>
            <p:nvPicPr>
              <p:cNvPr id="704" name="KindrIdG1" descr="Pure coincidence"/>
              <p:cNvPicPr>
                <a:picLocks noChangeAspect="1"/>
              </p:cNvPicPr>
              <p:nvPr/>
            </p:nvPicPr>
            <p:blipFill>
              <a:blip r:embed="rId3"/>
              <a:stretch>
                <a:fillRect/>
              </a:stretch>
            </p:blipFill>
            <p:spPr>
              <a:xfrm>
                <a:off x="862680" y="2945640"/>
                <a:ext cx="3060000" cy="648720"/>
              </a:xfrm>
              <a:prstGeom prst="rect">
                <a:avLst/>
              </a:prstGeom>
            </p:spPr>
          </p:pic>
          <p:sp>
            <p:nvSpPr>
              <p:cNvPr id="705" name="TextBox"/>
              <p:cNvSpPr txBox="1"/>
              <p:nvPr/>
            </p:nvSpPr>
            <p:spPr>
              <a:xfrm>
                <a:off x="914400" y="4190000"/>
                <a:ext cx="2956560" cy="700000"/>
              </a:xfrm>
              <a:prstGeom prst="rect">
                <a:avLst/>
              </a:prstGeom>
              <a:noFill/>
            </p:spPr>
            <p:txBody>
              <a:bodyPr wrap="square" lIns="0" tIns="0" rIns="0" bIns="0" rtlCol="0" anchor="t">
                <a:noAutofit/>
              </a:bodyPr>
              <a:lstStyle/>
              <a:p>
                <a:pPr marL="0" indent="0" algn="ctr">
                  <a:buNone/>
                </a:pPr>
                <a:r>
                  <a:rPr lang="en-US" sz="1800" b="1" dirty="0">
                    <a:solidFill>
                      <a:srgbClr val="262320"/>
                    </a:solidFill>
                    <a:latin typeface="Calibri"/>
                    <a:cs typeface="Calibri"/>
                  </a:rPr>
                  <a:t>Nothing connects them.</a:t>
                </a:r>
              </a:p>
            </p:txBody>
          </p:sp>
        </p:grpSp>
      </p:grpSp>
      <p:grpSp>
        <p:nvGrpSpPr>
          <p:cNvPr id="717" name="Card2Graphic"/>
          <p:cNvGrpSpPr/>
          <p:nvPr/>
        </p:nvGrpSpPr>
        <p:grpSpPr>
          <a:xfrm>
            <a:off x="8089900" y="1905000"/>
            <a:ext cx="3416300" cy="2984500"/>
            <a:chOff x="4394200" y="1905000"/>
            <a:chExt cx="3416300" cy="2984500"/>
          </a:xfrm>
        </p:grpSpPr>
        <p:sp>
          <p:nvSpPr>
            <p:cNvPr id="706" name="Card"/>
            <p:cNvSpPr/>
            <p:nvPr/>
          </p:nvSpPr>
          <p:spPr>
            <a:xfrm>
              <a:off x="4389120" y="1900000"/>
              <a:ext cx="3413760" cy="2880000"/>
            </a:xfrm>
            <a:prstGeom prst="roundRect">
              <a:avLst>
                <a:gd name="adj" fmla="val 6000"/>
              </a:avLst>
            </a:prstGeom>
            <a:solidFill>
              <a:srgbClr val="FFFFFF"/>
            </a:solidFill>
            <a:ln w="15875" cap="flat" cmpd="sng" algn="ctr">
              <a:solidFill>
                <a:srgbClr val="15686B"/>
              </a:solidFill>
              <a:prstDash val="solid"/>
              <a:miter lim="800000"/>
            </a:ln>
          </p:spPr>
          <p:txBody>
            <a:bodyPr rtlCol="0" anchor="t"/>
            <a:lstStyle/>
            <a:p>
              <a:endParaRPr lang="en-US"/>
            </a:p>
          </p:txBody>
        </p:sp>
        <p:sp>
          <p:nvSpPr>
            <p:cNvPr id="707" name="TextBox"/>
            <p:cNvSpPr txBox="1"/>
            <p:nvPr/>
          </p:nvSpPr>
          <p:spPr>
            <a:xfrm>
              <a:off x="4617720" y="2100000"/>
              <a:ext cx="2956560" cy="300000"/>
            </a:xfrm>
            <a:prstGeom prst="rect">
              <a:avLst/>
            </a:prstGeom>
            <a:noFill/>
          </p:spPr>
          <p:txBody>
            <a:bodyPr wrap="square" lIns="0" tIns="0" rIns="0" bIns="0" rtlCol="0" anchor="t">
              <a:noAutofit/>
            </a:bodyPr>
            <a:lstStyle/>
            <a:p>
              <a:pPr marL="0" indent="0" algn="ctr">
                <a:buNone/>
              </a:pPr>
              <a:r>
                <a:rPr lang="en-US" sz="1300" b="1" dirty="0">
                  <a:solidFill>
                    <a:srgbClr val="15686B"/>
                  </a:solidFill>
                  <a:latin typeface="Calibri"/>
                  <a:cs typeface="Calibri"/>
                </a:rPr>
                <a:t>A GENUINE CAUSE</a:t>
              </a:r>
            </a:p>
          </p:txBody>
        </p:sp>
        <p:pic>
          <p:nvPicPr>
            <p:cNvPr id="708" name="KindrIdG3" descr="A genuine cause"/>
            <p:cNvPicPr>
              <a:picLocks noChangeAspect="1"/>
            </p:cNvPicPr>
            <p:nvPr/>
          </p:nvPicPr>
          <p:blipFill>
            <a:blip r:embed="rId4"/>
            <a:stretch>
              <a:fillRect/>
            </a:stretch>
          </p:blipFill>
          <p:spPr>
            <a:xfrm>
              <a:off x="4566000" y="2945640"/>
              <a:ext cx="3060000" cy="648720"/>
            </a:xfrm>
            <a:prstGeom prst="rect">
              <a:avLst/>
            </a:prstGeom>
          </p:spPr>
        </p:pic>
        <p:sp>
          <p:nvSpPr>
            <p:cNvPr id="709" name="TextBox"/>
            <p:cNvSpPr txBox="1"/>
            <p:nvPr/>
          </p:nvSpPr>
          <p:spPr>
            <a:xfrm>
              <a:off x="4617720" y="4190000"/>
              <a:ext cx="2956560" cy="700000"/>
            </a:xfrm>
            <a:prstGeom prst="rect">
              <a:avLst/>
            </a:prstGeom>
            <a:noFill/>
          </p:spPr>
          <p:txBody>
            <a:bodyPr wrap="square" lIns="0" tIns="0" rIns="0" bIns="0" rtlCol="0" anchor="t">
              <a:noAutofit/>
            </a:bodyPr>
            <a:lstStyle/>
            <a:p>
              <a:pPr marL="0" indent="0" algn="ctr">
                <a:buNone/>
              </a:pPr>
              <a:r>
                <a:rPr lang="en-US" sz="1800" b="1" dirty="0">
                  <a:solidFill>
                    <a:srgbClr val="262320"/>
                  </a:solidFill>
                  <a:latin typeface="Calibri"/>
                  <a:cs typeface="Calibri"/>
                </a:rPr>
                <a:t>The claim is true.</a:t>
              </a:r>
            </a:p>
          </p:txBody>
        </p:sp>
      </p:grpSp>
      <p:grpSp>
        <p:nvGrpSpPr>
          <p:cNvPr id="718" name="Card3Graphic"/>
          <p:cNvGrpSpPr/>
          <p:nvPr/>
        </p:nvGrpSpPr>
        <p:grpSpPr>
          <a:xfrm>
            <a:off x="4394200" y="1905000"/>
            <a:ext cx="3416300" cy="2984500"/>
            <a:chOff x="8089900" y="1905000"/>
            <a:chExt cx="3416300" cy="2984500"/>
          </a:xfrm>
        </p:grpSpPr>
        <p:sp>
          <p:nvSpPr>
            <p:cNvPr id="710" name="Card"/>
            <p:cNvSpPr/>
            <p:nvPr/>
          </p:nvSpPr>
          <p:spPr>
            <a:xfrm>
              <a:off x="8092440" y="1900000"/>
              <a:ext cx="3413760" cy="2880000"/>
            </a:xfrm>
            <a:prstGeom prst="roundRect">
              <a:avLst>
                <a:gd name="adj" fmla="val 6000"/>
              </a:avLst>
            </a:prstGeom>
            <a:solidFill>
              <a:srgbClr val="FFFFFF"/>
            </a:solidFill>
            <a:ln w="15875" cap="flat" cmpd="sng" algn="ctr">
              <a:solidFill>
                <a:srgbClr val="1F3864"/>
              </a:solidFill>
              <a:prstDash val="solid"/>
              <a:miter lim="800000"/>
            </a:ln>
          </p:spPr>
          <p:txBody>
            <a:bodyPr rtlCol="0" anchor="t"/>
            <a:lstStyle/>
            <a:p>
              <a:endParaRPr lang="en-US"/>
            </a:p>
          </p:txBody>
        </p:sp>
        <p:sp>
          <p:nvSpPr>
            <p:cNvPr id="711" name="TextBox"/>
            <p:cNvSpPr txBox="1"/>
            <p:nvPr/>
          </p:nvSpPr>
          <p:spPr>
            <a:xfrm>
              <a:off x="8321040" y="2100000"/>
              <a:ext cx="2956560" cy="300000"/>
            </a:xfrm>
            <a:prstGeom prst="rect">
              <a:avLst/>
            </a:prstGeom>
            <a:noFill/>
          </p:spPr>
          <p:txBody>
            <a:bodyPr wrap="square" lIns="0" tIns="0" rIns="0" bIns="0" rtlCol="0" anchor="t">
              <a:noAutofit/>
            </a:bodyPr>
            <a:lstStyle/>
            <a:p>
              <a:pPr marL="0" indent="0" algn="ctr">
                <a:buNone/>
              </a:pPr>
              <a:r>
                <a:rPr lang="en-US" sz="1300" b="1" dirty="0">
                  <a:solidFill>
                    <a:srgbClr val="1F3864"/>
                  </a:solidFill>
                  <a:latin typeface="Calibri"/>
                  <a:cs typeface="Calibri"/>
                </a:rPr>
                <a:t>CONFOUNDERS</a:t>
              </a:r>
            </a:p>
          </p:txBody>
        </p:sp>
        <p:pic>
          <p:nvPicPr>
            <p:cNvPr id="712" name="KindrIdG2" descr="Confounders"/>
            <p:cNvPicPr>
              <a:picLocks noChangeAspect="1"/>
            </p:cNvPicPr>
            <p:nvPr/>
          </p:nvPicPr>
          <p:blipFill>
            <a:blip r:embed="rId5"/>
            <a:stretch>
              <a:fillRect/>
            </a:stretch>
          </p:blipFill>
          <p:spPr>
            <a:xfrm>
              <a:off x="8269320" y="2492760"/>
              <a:ext cx="3060000" cy="1554480"/>
            </a:xfrm>
            <a:prstGeom prst="rect">
              <a:avLst/>
            </a:prstGeom>
          </p:spPr>
        </p:pic>
        <p:sp>
          <p:nvSpPr>
            <p:cNvPr id="713" name="TextBox"/>
            <p:cNvSpPr txBox="1"/>
            <p:nvPr/>
          </p:nvSpPr>
          <p:spPr>
            <a:xfrm>
              <a:off x="8321040" y="4190000"/>
              <a:ext cx="2956560" cy="700000"/>
            </a:xfrm>
            <a:prstGeom prst="rect">
              <a:avLst/>
            </a:prstGeom>
            <a:noFill/>
          </p:spPr>
          <p:txBody>
            <a:bodyPr wrap="square" lIns="0" tIns="0" rIns="0" bIns="0" rtlCol="0" anchor="t">
              <a:noAutofit/>
            </a:bodyPr>
            <a:lstStyle/>
            <a:p>
              <a:pPr marL="0" indent="0" algn="ctr">
                <a:buNone/>
              </a:pPr>
              <a:r>
                <a:rPr lang="en-US" sz="1800" b="1" dirty="0">
                  <a:solidFill>
                    <a:srgbClr val="262320"/>
                  </a:solidFill>
                  <a:latin typeface="Calibri"/>
                  <a:cs typeface="Calibri"/>
                </a:rPr>
                <a:t>Something else produces both.</a:t>
              </a:r>
            </a:p>
          </p:txBody>
        </p:sp>
      </p:grpSp>
      <p:sp>
        <p:nvSpPr>
          <p:cNvPr id="714" name="TextBox"/>
          <p:cNvSpPr txBox="1"/>
          <p:nvPr/>
        </p:nvSpPr>
        <p:spPr>
          <a:xfrm>
            <a:off x="685800" y="4910000"/>
            <a:ext cx="10820400" cy="300000"/>
          </a:xfrm>
          <a:prstGeom prst="rect">
            <a:avLst/>
          </a:prstGeom>
          <a:noFill/>
        </p:spPr>
        <p:txBody>
          <a:bodyPr wrap="square" lIns="0" tIns="0" rIns="0" bIns="0" rtlCol="0" anchor="t">
            <a:noAutofit/>
          </a:bodyPr>
          <a:lstStyle/>
          <a:p>
            <a:pPr marL="0" indent="0" algn="ctr">
              <a:buNone/>
            </a:pPr>
            <a:r>
              <a:rPr lang="en-US" sz="1400" i="1" dirty="0">
                <a:solidFill>
                  <a:srgbClr val="6B6660"/>
                </a:solidFill>
                <a:latin typeface="Calibri"/>
                <a:cs typeface="Calibri"/>
              </a:rPr>
              <a:t>Solid arrow: causes.    Dashed line: moves together, which is all the data shows you.</a:t>
            </a:r>
          </a:p>
        </p:txBody>
      </p:sp>
      <p:sp>
        <p:nvSpPr>
          <p:cNvPr id="715" name="Band"/>
          <p:cNvSpPr/>
          <p:nvPr/>
        </p:nvSpPr>
        <p:spPr>
          <a:xfrm>
            <a:off x="685800" y="5420000"/>
            <a:ext cx="10820400" cy="880000"/>
          </a:xfrm>
          <a:prstGeom prst="rect">
            <a:avLst/>
          </a:prstGeom>
          <a:solidFill>
            <a:srgbClr val="EFEFEF"/>
          </a:solidFill>
          <a:ln>
            <a:noFill/>
          </a:ln>
        </p:spPr>
        <p:txBody>
          <a:bodyPr lIns="182880" tIns="0" rIns="182880" bIns="0" rtlCol="0" anchor="ctr" anchorCtr="0"/>
          <a:lstStyle/>
          <a:p>
            <a:pPr marL="0" indent="0" algn="ctr">
              <a:buNone/>
            </a:pPr>
            <a:r>
              <a:rPr lang="en-US" sz="1400" b="1" dirty="0">
                <a:solidFill>
                  <a:srgbClr val="000000"/>
                </a:solidFill>
                <a:latin typeface="Calibri"/>
                <a:cs typeface="Calibri"/>
              </a:rPr>
              <a:t>Only </a:t>
            </a:r>
            <a:r>
              <a:rPr lang="en-US" sz="1400" b="1">
                <a:solidFill>
                  <a:srgbClr val="000000"/>
                </a:solidFill>
                <a:latin typeface="Calibri"/>
                <a:cs typeface="Calibri"/>
              </a:rPr>
              <a:t>the right </a:t>
            </a:r>
            <a:r>
              <a:rPr lang="en-US" sz="1400" b="1" dirty="0">
                <a:solidFill>
                  <a:srgbClr val="000000"/>
                </a:solidFill>
                <a:latin typeface="Calibri"/>
                <a:cs typeface="Calibri"/>
              </a:rPr>
              <a:t>one is the claim being made.</a:t>
            </a:r>
          </a:p>
          <a:p>
            <a:pPr marL="0" indent="0" algn="ctr">
              <a:buNone/>
            </a:pPr>
            <a:r>
              <a:rPr lang="en-US" sz="1400" b="1" dirty="0">
                <a:solidFill>
                  <a:srgbClr val="000000"/>
                </a:solidFill>
                <a:latin typeface="Calibri"/>
                <a:cs typeface="Calibri"/>
              </a:rPr>
              <a:t>All three produce the same correlation, and the data cannot tell you which one you are looking at.</a:t>
            </a:r>
          </a:p>
        </p:txBody>
      </p:sp>
    </p:spTree>
    <p:extLst>
      <p:ext uri="{BB962C8B-B14F-4D97-AF65-F5344CB8AC3E}">
        <p14:creationId xmlns:p14="http://schemas.microsoft.com/office/powerpoint/2010/main" val="4215632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Title"/>
          <p:cNvSpPr>
            <a:spLocks noGrp="1"/>
          </p:cNvSpPr>
          <p:nvPr>
            <p:ph type="title" idx="102"/>
          </p:nvPr>
        </p:nvSpPr>
        <p:spPr>
          <a:xfrm>
            <a:off x="1854200" y="868680"/>
            <a:ext cx="9652000" cy="868680"/>
          </a:xfrm>
          <a:prstGeom prst="rect">
            <a:avLst/>
          </a:prstGeom>
          <a:noFill/>
          <a:ln/>
        </p:spPr>
        <p:txBody>
          <a:bodyPr wrap="square" lIns="0" tIns="0" rIns="0" bIns="0" rtlCol="0" anchor="ctr"/>
          <a:lstStyle/>
          <a:p>
            <a:pPr marL="0" indent="0" algn="l">
              <a:buNone/>
            </a:pPr>
            <a:r>
              <a:rPr lang="en-US" sz="3800" dirty="0"/>
              <a:t>Case 1: Pure Coincidence, Nothing Behind the Correlation</a:t>
            </a:r>
          </a:p>
        </p:txBody>
      </p:sp>
      <p:sp>
        <p:nvSpPr>
          <p:cNvPr id="402" name="Eyebrow"/>
          <p:cNvSpPr txBox="1"/>
          <p:nvPr/>
        </p:nvSpPr>
        <p:spPr>
          <a:xfrm>
            <a:off x="685800" y="1728399"/>
            <a:ext cx="10820400" cy="431800"/>
          </a:xfrm>
          <a:prstGeom prst="rect">
            <a:avLst/>
          </a:prstGeom>
          <a:noFill/>
        </p:spPr>
        <p:txBody>
          <a:bodyPr wrap="none" lIns="0" tIns="0" rIns="0" bIns="0" rtlCol="0" anchor="t">
            <a:noAutofit/>
          </a:bodyPr>
          <a:lstStyle/>
          <a:p>
            <a:pPr marL="0" indent="0" algn="l">
              <a:buNone/>
            </a:pPr>
            <a:endParaRPr/>
          </a:p>
        </p:txBody>
      </p:sp>
      <p:sp>
        <p:nvSpPr>
          <p:cNvPr id="403" name="Card"/>
          <p:cNvSpPr/>
          <p:nvPr/>
        </p:nvSpPr>
        <p:spPr>
          <a:xfrm>
            <a:off x="685800" y="2250000"/>
            <a:ext cx="10820400" cy="980000"/>
          </a:xfrm>
          <a:prstGeom prst="roundRect">
            <a:avLst>
              <a:gd name="adj" fmla="val 8000"/>
            </a:avLst>
          </a:prstGeom>
          <a:solidFill>
            <a:srgbClr val="FFFFFF"/>
          </a:solidFill>
          <a:ln w="15875" cap="flat" cmpd="sng" algn="ctr">
            <a:solidFill>
              <a:srgbClr val="C2683F"/>
            </a:solidFill>
            <a:prstDash val="solid"/>
            <a:miter lim="800000"/>
          </a:ln>
        </p:spPr>
        <p:txBody>
          <a:bodyPr rtlCol="0" anchor="t"/>
          <a:lstStyle/>
          <a:p>
            <a:endParaRPr lang="en-US"/>
          </a:p>
        </p:txBody>
      </p:sp>
      <p:sp>
        <p:nvSpPr>
          <p:cNvPr id="404" name="TextBox"/>
          <p:cNvSpPr txBox="1"/>
          <p:nvPr/>
        </p:nvSpPr>
        <p:spPr>
          <a:xfrm>
            <a:off x="960120" y="2425000"/>
            <a:ext cx="6900000" cy="330000"/>
          </a:xfrm>
          <a:prstGeom prst="rect">
            <a:avLst/>
          </a:prstGeom>
          <a:noFill/>
        </p:spPr>
        <p:txBody>
          <a:bodyPr wrap="square" lIns="0" tIns="0" rIns="0" bIns="0" rtlCol="0" anchor="t">
            <a:noAutofit/>
          </a:bodyPr>
          <a:lstStyle/>
          <a:p>
            <a:pPr marL="0" indent="0" algn="l">
              <a:buNone/>
            </a:pPr>
            <a:r>
              <a:rPr lang="en-US" sz="1700" b="1" dirty="0">
                <a:solidFill>
                  <a:srgbClr val="262320"/>
                </a:solidFill>
                <a:latin typeface="Calibri"/>
                <a:cs typeface="Calibri"/>
              </a:rPr>
              <a:t>Tyler Vigen’s Spurious Correlations</a:t>
            </a:r>
          </a:p>
        </p:txBody>
      </p:sp>
      <p:sp>
        <p:nvSpPr>
          <p:cNvPr id="405" name="TextBox"/>
          <p:cNvSpPr txBox="1"/>
          <p:nvPr/>
        </p:nvSpPr>
        <p:spPr>
          <a:xfrm>
            <a:off x="960120" y="2805000"/>
            <a:ext cx="6900000" cy="300000"/>
          </a:xfrm>
          <a:prstGeom prst="rect">
            <a:avLst/>
          </a:prstGeom>
          <a:noFill/>
        </p:spPr>
        <p:txBody>
          <a:bodyPr wrap="square" lIns="0" tIns="0" rIns="0" bIns="0" rtlCol="0" anchor="t">
            <a:noAutofit/>
          </a:bodyPr>
          <a:lstStyle/>
          <a:p>
            <a:pPr marL="0" indent="0" algn="l">
              <a:buNone/>
            </a:pPr>
            <a:r>
              <a:rPr lang="en-US" sz="1600" dirty="0">
                <a:solidFill>
                  <a:srgbClr val="C2683F"/>
                </a:solidFill>
                <a:latin typeface="Calibri"/>
                <a:cs typeface="Calibri"/>
              </a:rPr>
              <a:t>A project that hunts for variables that happen to move together.</a:t>
            </a:r>
          </a:p>
        </p:txBody>
      </p:sp>
      <p:sp>
        <p:nvSpPr>
          <p:cNvPr id="406" name="TextBox"/>
          <p:cNvSpPr txBox="1"/>
          <p:nvPr/>
        </p:nvSpPr>
        <p:spPr>
          <a:xfrm>
            <a:off x="8000000" y="2590000"/>
            <a:ext cx="3230000" cy="300000"/>
          </a:xfrm>
          <a:prstGeom prst="rect">
            <a:avLst/>
          </a:prstGeom>
          <a:noFill/>
        </p:spPr>
        <p:txBody>
          <a:bodyPr wrap="square" lIns="0" tIns="0" rIns="0" bIns="0" rtlCol="0" anchor="t">
            <a:noAutofit/>
          </a:bodyPr>
          <a:lstStyle/>
          <a:p>
            <a:pPr marL="0" indent="0" algn="r">
              <a:buNone/>
            </a:pPr>
            <a:r>
              <a:rPr lang="en-US" sz="1200" b="1" dirty="0">
                <a:solidFill>
                  <a:srgbClr val="C2683F"/>
                </a:solidFill>
                <a:latin typeface="Calibri"/>
                <a:cs typeface="Calibri"/>
              </a:rPr>
              <a:t>THE SOURCE</a:t>
            </a:r>
          </a:p>
        </p:txBody>
      </p:sp>
      <p:sp>
        <p:nvSpPr>
          <p:cNvPr id="407" name="Card"/>
          <p:cNvSpPr/>
          <p:nvPr/>
        </p:nvSpPr>
        <p:spPr>
          <a:xfrm>
            <a:off x="685800" y="3320000"/>
            <a:ext cx="10820400" cy="980000"/>
          </a:xfrm>
          <a:prstGeom prst="roundRect">
            <a:avLst>
              <a:gd name="adj" fmla="val 8000"/>
            </a:avLst>
          </a:prstGeom>
          <a:solidFill>
            <a:srgbClr val="FFFFFF"/>
          </a:solidFill>
          <a:ln w="15875" cap="flat" cmpd="sng" algn="ctr">
            <a:solidFill>
              <a:srgbClr val="1F3864"/>
            </a:solidFill>
            <a:prstDash val="solid"/>
            <a:miter lim="800000"/>
          </a:ln>
        </p:spPr>
        <p:txBody>
          <a:bodyPr rtlCol="0" anchor="t"/>
          <a:lstStyle/>
          <a:p>
            <a:endParaRPr lang="en-US"/>
          </a:p>
        </p:txBody>
      </p:sp>
      <p:sp>
        <p:nvSpPr>
          <p:cNvPr id="408" name="TextBox"/>
          <p:cNvSpPr txBox="1"/>
          <p:nvPr/>
        </p:nvSpPr>
        <p:spPr>
          <a:xfrm>
            <a:off x="960120" y="3495000"/>
            <a:ext cx="6900000" cy="330000"/>
          </a:xfrm>
          <a:prstGeom prst="rect">
            <a:avLst/>
          </a:prstGeom>
          <a:noFill/>
        </p:spPr>
        <p:txBody>
          <a:bodyPr wrap="square" lIns="0" tIns="0" rIns="0" bIns="0" rtlCol="0" anchor="t">
            <a:noAutofit/>
          </a:bodyPr>
          <a:lstStyle/>
          <a:p>
            <a:pPr marL="0" indent="0" algn="l">
              <a:buNone/>
            </a:pPr>
            <a:r>
              <a:rPr lang="en-US" sz="1700" b="1" dirty="0">
                <a:solidFill>
                  <a:srgbClr val="262320"/>
                </a:solidFill>
                <a:latin typeface="Calibri"/>
                <a:cs typeface="Calibri"/>
              </a:rPr>
              <a:t>Thousands of variables, every pair tried</a:t>
            </a:r>
          </a:p>
        </p:txBody>
      </p:sp>
      <p:sp>
        <p:nvSpPr>
          <p:cNvPr id="409" name="TextBox"/>
          <p:cNvSpPr txBox="1"/>
          <p:nvPr/>
        </p:nvSpPr>
        <p:spPr>
          <a:xfrm>
            <a:off x="960120" y="3875000"/>
            <a:ext cx="6900000" cy="300000"/>
          </a:xfrm>
          <a:prstGeom prst="rect">
            <a:avLst/>
          </a:prstGeom>
          <a:noFill/>
        </p:spPr>
        <p:txBody>
          <a:bodyPr wrap="square" lIns="0" tIns="0" rIns="0" bIns="0" rtlCol="0" anchor="t">
            <a:noAutofit/>
          </a:bodyPr>
          <a:lstStyle/>
          <a:p>
            <a:pPr marL="0" indent="0" algn="l">
              <a:buNone/>
            </a:pPr>
            <a:r>
              <a:rPr lang="en-US" sz="1600" dirty="0">
                <a:solidFill>
                  <a:srgbClr val="1F3864"/>
                </a:solidFill>
                <a:latin typeface="Calibri"/>
                <a:cs typeface="Calibri"/>
              </a:rPr>
              <a:t>Out of hundreds of millions of pairs, the tightest are kept.</a:t>
            </a:r>
          </a:p>
        </p:txBody>
      </p:sp>
      <p:sp>
        <p:nvSpPr>
          <p:cNvPr id="410" name="TextBox"/>
          <p:cNvSpPr txBox="1"/>
          <p:nvPr/>
        </p:nvSpPr>
        <p:spPr>
          <a:xfrm>
            <a:off x="8000000" y="3660000"/>
            <a:ext cx="3230000" cy="300000"/>
          </a:xfrm>
          <a:prstGeom prst="rect">
            <a:avLst/>
          </a:prstGeom>
          <a:noFill/>
        </p:spPr>
        <p:txBody>
          <a:bodyPr wrap="square" lIns="0" tIns="0" rIns="0" bIns="0" rtlCol="0" anchor="t">
            <a:noAutofit/>
          </a:bodyPr>
          <a:lstStyle/>
          <a:p>
            <a:pPr marL="0" indent="0" algn="r">
              <a:buNone/>
            </a:pPr>
            <a:r>
              <a:rPr lang="en-US" sz="1200" b="1" dirty="0">
                <a:solidFill>
                  <a:srgbClr val="1F3864"/>
                </a:solidFill>
                <a:latin typeface="Calibri"/>
                <a:cs typeface="Calibri"/>
              </a:rPr>
              <a:t>THE SEARCH</a:t>
            </a:r>
          </a:p>
        </p:txBody>
      </p:sp>
      <p:sp>
        <p:nvSpPr>
          <p:cNvPr id="411" name="Card"/>
          <p:cNvSpPr/>
          <p:nvPr/>
        </p:nvSpPr>
        <p:spPr>
          <a:xfrm>
            <a:off x="685800" y="4390000"/>
            <a:ext cx="10820400" cy="980000"/>
          </a:xfrm>
          <a:prstGeom prst="roundRect">
            <a:avLst>
              <a:gd name="adj" fmla="val 8000"/>
            </a:avLst>
          </a:prstGeom>
          <a:solidFill>
            <a:srgbClr val="FFFFFF"/>
          </a:solidFill>
          <a:ln w="15875" cap="flat" cmpd="sng" algn="ctr">
            <a:solidFill>
              <a:srgbClr val="8A2A2A"/>
            </a:solidFill>
            <a:prstDash val="solid"/>
            <a:miter lim="800000"/>
          </a:ln>
        </p:spPr>
        <p:txBody>
          <a:bodyPr rtlCol="0" anchor="t"/>
          <a:lstStyle/>
          <a:p>
            <a:endParaRPr lang="en-US"/>
          </a:p>
        </p:txBody>
      </p:sp>
      <p:sp>
        <p:nvSpPr>
          <p:cNvPr id="412" name="TextBox"/>
          <p:cNvSpPr txBox="1"/>
          <p:nvPr/>
        </p:nvSpPr>
        <p:spPr>
          <a:xfrm>
            <a:off x="960120" y="4565000"/>
            <a:ext cx="6900000" cy="330000"/>
          </a:xfrm>
          <a:prstGeom prst="rect">
            <a:avLst/>
          </a:prstGeom>
          <a:noFill/>
        </p:spPr>
        <p:txBody>
          <a:bodyPr wrap="square" lIns="0" tIns="0" rIns="0" bIns="0" rtlCol="0" anchor="t">
            <a:noAutofit/>
          </a:bodyPr>
          <a:lstStyle/>
          <a:p>
            <a:pPr marL="0" indent="0" algn="l">
              <a:buNone/>
            </a:pPr>
            <a:r>
              <a:rPr lang="en-US" sz="1700" b="1" dirty="0">
                <a:solidFill>
                  <a:srgbClr val="262320"/>
                </a:solidFill>
                <a:latin typeface="Calibri"/>
                <a:cs typeface="Calibri"/>
              </a:rPr>
              <a:t>The fits are genuinely strong</a:t>
            </a:r>
          </a:p>
        </p:txBody>
      </p:sp>
      <p:sp>
        <p:nvSpPr>
          <p:cNvPr id="413" name="TextBox"/>
          <p:cNvSpPr txBox="1"/>
          <p:nvPr/>
        </p:nvSpPr>
        <p:spPr>
          <a:xfrm>
            <a:off x="960120" y="4945000"/>
            <a:ext cx="6900000" cy="300000"/>
          </a:xfrm>
          <a:prstGeom prst="rect">
            <a:avLst/>
          </a:prstGeom>
          <a:noFill/>
        </p:spPr>
        <p:txBody>
          <a:bodyPr wrap="square" lIns="0" tIns="0" rIns="0" bIns="0" rtlCol="0" anchor="t">
            <a:noAutofit/>
          </a:bodyPr>
          <a:lstStyle/>
          <a:p>
            <a:pPr marL="0" indent="0" algn="l">
              <a:buNone/>
            </a:pPr>
            <a:r>
              <a:rPr lang="en-US" sz="1600" dirty="0">
                <a:solidFill>
                  <a:srgbClr val="8A2A2A"/>
                </a:solidFill>
                <a:latin typeface="Calibri"/>
                <a:cs typeface="Calibri"/>
              </a:rPr>
              <a:t>High correlation, small p-value, and nothing connecting them.</a:t>
            </a:r>
          </a:p>
        </p:txBody>
      </p:sp>
      <p:sp>
        <p:nvSpPr>
          <p:cNvPr id="414" name="TextBox"/>
          <p:cNvSpPr txBox="1"/>
          <p:nvPr/>
        </p:nvSpPr>
        <p:spPr>
          <a:xfrm>
            <a:off x="8000000" y="4730000"/>
            <a:ext cx="3230000" cy="300000"/>
          </a:xfrm>
          <a:prstGeom prst="rect">
            <a:avLst/>
          </a:prstGeom>
          <a:noFill/>
        </p:spPr>
        <p:txBody>
          <a:bodyPr wrap="square" lIns="0" tIns="0" rIns="0" bIns="0" rtlCol="0" anchor="t">
            <a:noAutofit/>
          </a:bodyPr>
          <a:lstStyle/>
          <a:p>
            <a:pPr marL="0" indent="0" algn="r">
              <a:buNone/>
            </a:pPr>
            <a:r>
              <a:rPr lang="en-US" sz="1200" b="1" dirty="0">
                <a:solidFill>
                  <a:srgbClr val="8A2A2A"/>
                </a:solidFill>
                <a:latin typeface="Calibri"/>
                <a:cs typeface="Calibri"/>
              </a:rPr>
              <a:t>NO CAUSE</a:t>
            </a:r>
          </a:p>
        </p:txBody>
      </p:sp>
      <p:sp>
        <p:nvSpPr>
          <p:cNvPr id="415" name="Band"/>
          <p:cNvSpPr/>
          <p:nvPr/>
        </p:nvSpPr>
        <p:spPr>
          <a:xfrm>
            <a:off x="685800" y="5600000"/>
            <a:ext cx="10820400" cy="840000"/>
          </a:xfrm>
          <a:prstGeom prst="roundRect">
            <a:avLst>
              <a:gd name="adj" fmla="val 8000"/>
            </a:avLst>
          </a:prstGeom>
          <a:solidFill>
            <a:srgbClr val="EFEFEF"/>
          </a:solidFill>
          <a:ln>
            <a:noFill/>
          </a:ln>
        </p:spPr>
        <p:txBody>
          <a:bodyPr lIns="182880" tIns="0" rIns="182880" bIns="0" rtlCol="0" anchor="ctr" anchorCtr="0"/>
          <a:lstStyle/>
          <a:p>
            <a:pPr marL="0" indent="0" algn="ctr">
              <a:buNone/>
            </a:pPr>
            <a:r>
              <a:rPr lang="en-US" sz="1400" b="1" dirty="0">
                <a:solidFill>
                  <a:srgbClr val="000000"/>
                </a:solidFill>
                <a:latin typeface="Calibri"/>
                <a:cs typeface="Calibri"/>
              </a:rPr>
              <a:t>Search enough pairs and a near-perfect match turns up somewhere, meaning nothing.</a:t>
            </a:r>
          </a:p>
          <a:p>
            <a:pPr marL="0" indent="0" algn="ctr">
              <a:buNone/>
            </a:pPr>
            <a:r>
              <a:rPr lang="en-US" sz="1400" b="1" dirty="0">
                <a:solidFill>
                  <a:srgbClr val="000000"/>
                </a:solidFill>
                <a:latin typeface="Calibri"/>
                <a:cs typeface="Calibri"/>
              </a:rPr>
              <a:t>Two examples ahead: Saturn and degrees, then cheese and a share price.</a:t>
            </a:r>
          </a:p>
        </p:txBody>
      </p:sp>
      <p:sp>
        <p:nvSpPr>
          <p:cNvPr id="416" name="Source"/>
          <p:cNvSpPr txBox="1"/>
          <p:nvPr/>
        </p:nvSpPr>
        <p:spPr>
          <a:xfrm>
            <a:off x="685800" y="6520000"/>
            <a:ext cx="10820400" cy="274320"/>
          </a:xfrm>
          <a:prstGeom prst="rect">
            <a:avLst/>
          </a:prstGeom>
          <a:noFill/>
        </p:spPr>
        <p:txBody>
          <a:bodyPr wrap="square" lIns="0" tIns="0" rIns="0" bIns="0" rtlCol="0" anchor="t">
            <a:noAutofit/>
          </a:bodyPr>
          <a:lstStyle/>
          <a:p>
            <a:pPr marL="0" indent="0" algn="l">
              <a:buNone/>
            </a:pPr>
            <a:r>
              <a:rPr lang="en-US" sz="1000" i="1" dirty="0">
                <a:solidFill>
                  <a:srgbClr val="6B6660"/>
                </a:solidFill>
                <a:latin typeface="Calibri"/>
                <a:cs typeface="Calibri"/>
              </a:rPr>
              <a:t>Charts from Tyler Vigen, Spurious Correlations (tylervigen.com), CC BY 4.0. The next two: Saturn’s distance and physical-science degrees; cheese consumption and a share price.</a:t>
            </a:r>
          </a:p>
        </p:txBody>
      </p:sp>
    </p:spTree>
    <p:extLst>
      <p:ext uri="{BB962C8B-B14F-4D97-AF65-F5344CB8AC3E}">
        <p14:creationId xmlns:p14="http://schemas.microsoft.com/office/powerpoint/2010/main" val="689644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 name="Title"/>
          <p:cNvSpPr>
            <a:spLocks noGrp="1"/>
          </p:cNvSpPr>
          <p:nvPr>
            <p:ph type="title" idx="102"/>
          </p:nvPr>
        </p:nvSpPr>
        <p:spPr>
          <a:xfrm>
            <a:off x="1854200" y="868680"/>
            <a:ext cx="9652000" cy="868680"/>
          </a:xfrm>
          <a:prstGeom prst="rect">
            <a:avLst/>
          </a:prstGeom>
          <a:noFill/>
          <a:ln/>
        </p:spPr>
        <p:txBody>
          <a:bodyPr wrap="square" lIns="0" tIns="0" rIns="0" bIns="0" rtlCol="0" anchor="ctr"/>
          <a:lstStyle/>
          <a:p>
            <a:pPr marL="0" indent="0" algn="l">
              <a:buNone/>
            </a:pPr>
            <a:r>
              <a:rPr lang="en-US" sz="3800" dirty="0"/>
              <a:t>Coincidence: Saturn and Physical Science Degrees</a:t>
            </a:r>
          </a:p>
        </p:txBody>
      </p:sp>
      <p:pic>
        <p:nvPicPr>
          <p:cNvPr id="703" name="SaturnChart" descr="Distance from Saturn to the moon and physical sciences degrees awarded, 2012 to 2021, tracking closely"/>
          <p:cNvPicPr>
            <a:picLocks noChangeAspect="1"/>
          </p:cNvPicPr>
          <p:nvPr/>
        </p:nvPicPr>
        <p:blipFill>
          <a:blip r:embed="rId3"/>
          <a:stretch>
            <a:fillRect/>
          </a:stretch>
        </p:blipFill>
        <p:spPr>
          <a:xfrm>
            <a:off x="5960000" y="2250000"/>
            <a:ext cx="5400000" cy="3356756"/>
          </a:xfrm>
          <a:prstGeom prst="rect">
            <a:avLst/>
          </a:prstGeom>
        </p:spPr>
      </p:pic>
      <p:sp>
        <p:nvSpPr>
          <p:cNvPr id="704" name="TextBox"/>
          <p:cNvSpPr txBox="1"/>
          <p:nvPr/>
        </p:nvSpPr>
        <p:spPr>
          <a:xfrm>
            <a:off x="685800" y="2380000"/>
            <a:ext cx="4900000" cy="3200000"/>
          </a:xfrm>
          <a:prstGeom prst="rect">
            <a:avLst/>
          </a:prstGeom>
          <a:noFill/>
        </p:spPr>
        <p:txBody>
          <a:bodyPr wrap="square" lIns="0" tIns="0" rIns="0" bIns="0" rtlCol="0" anchor="t">
            <a:noAutofit/>
          </a:bodyPr>
          <a:lstStyle/>
          <a:p>
            <a:pPr marL="0" indent="0" algn="l">
              <a:buNone/>
            </a:pPr>
            <a:r>
              <a:rPr lang="en-US" sz="1800" b="1" dirty="0">
                <a:solidFill>
                  <a:srgbClr val="262320"/>
                </a:solidFill>
                <a:latin typeface="Calibri"/>
                <a:cs typeface="Calibri"/>
              </a:rPr>
              <a:t>How far Saturn sits from the moon tracks how many physical sciences degrees America awards.</a:t>
            </a:r>
          </a:p>
          <a:p>
            <a:pPr marL="0" indent="0" algn="l">
              <a:buNone/>
            </a:pPr>
            <a:r>
              <a:rPr lang="en-US" sz="1700" b="1" dirty="0">
                <a:solidFill>
                  <a:srgbClr val="8A2A2A"/>
                </a:solidFill>
                <a:latin typeface="Calibri"/>
                <a:cs typeface="Calibri"/>
              </a:rPr>
              <a:t>p = 0.00000012. Past five sigma.</a:t>
            </a:r>
          </a:p>
          <a:p>
            <a:pPr marL="0" indent="0" algn="l">
              <a:buNone/>
            </a:pPr>
            <a:r>
              <a:rPr lang="en-US" sz="1800" b="1" dirty="0">
                <a:solidFill>
                  <a:srgbClr val="15686B"/>
                </a:solidFill>
                <a:latin typeface="Calibri"/>
                <a:cs typeface="Calibri"/>
              </a:rPr>
              <a:t>It would clear any journal's bar. It means nothing at all.</a:t>
            </a:r>
          </a:p>
        </p:txBody>
      </p:sp>
      <p:sp>
        <p:nvSpPr>
          <p:cNvPr id="706" name="Source"/>
          <p:cNvSpPr txBox="1"/>
          <p:nvPr/>
        </p:nvSpPr>
        <p:spPr>
          <a:xfrm>
            <a:off x="685800" y="6480000"/>
            <a:ext cx="10820400" cy="300000"/>
          </a:xfrm>
          <a:prstGeom prst="rect">
            <a:avLst/>
          </a:prstGeom>
          <a:noFill/>
        </p:spPr>
        <p:txBody>
          <a:bodyPr wrap="square" lIns="0" tIns="0" rIns="0" bIns="0" rtlCol="0" anchor="t">
            <a:noAutofit/>
          </a:bodyPr>
          <a:lstStyle/>
          <a:p>
            <a:pPr marL="0" indent="0" algn="l">
              <a:buNone/>
            </a:pPr>
            <a:r>
              <a:rPr lang="en-US" sz="1000" i="1" dirty="0">
                <a:solidFill>
                  <a:srgbClr val="6B6660"/>
                </a:solidFill>
                <a:latin typeface="Calibri"/>
                <a:cs typeface="Calibri"/>
              </a:rPr>
              <a:t>Data compiled by Tyler Vigen, tylervigen.com, spurious correlation #2,656, CC BY 4.0. Planetary distances calculated with Astropy; degrees from the National Center for Education Statistics, Digest of Education Statistics 2022. r = 0.987, r² = 0.974, p = 1.2 × 10⁻⁷ over 2012-2021.</a:t>
            </a:r>
          </a:p>
        </p:txBody>
      </p:sp>
    </p:spTree>
    <p:extLst>
      <p:ext uri="{BB962C8B-B14F-4D97-AF65-F5344CB8AC3E}">
        <p14:creationId xmlns:p14="http://schemas.microsoft.com/office/powerpoint/2010/main" val="275302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 name="Title"/>
          <p:cNvSpPr>
            <a:spLocks noGrp="1"/>
          </p:cNvSpPr>
          <p:nvPr>
            <p:ph type="title" idx="102"/>
          </p:nvPr>
        </p:nvSpPr>
        <p:spPr>
          <a:xfrm>
            <a:off x="1854200" y="868680"/>
            <a:ext cx="9652000" cy="868680"/>
          </a:xfrm>
          <a:prstGeom prst="rect">
            <a:avLst/>
          </a:prstGeom>
          <a:noFill/>
          <a:ln/>
        </p:spPr>
        <p:txBody>
          <a:bodyPr wrap="square" lIns="0" tIns="0" rIns="0" bIns="0" rtlCol="0" anchor="ctr"/>
          <a:lstStyle/>
          <a:p>
            <a:pPr marL="0" indent="0" algn="l">
              <a:buNone/>
            </a:pPr>
            <a:r>
              <a:rPr lang="en-US" sz="3800" dirty="0"/>
              <a:t>Coincidence: Cheese and BlackRock's Share Price</a:t>
            </a:r>
          </a:p>
        </p:txBody>
      </p:sp>
      <p:pic>
        <p:nvPicPr>
          <p:cNvPr id="703" name="CheeseChart" descr="American cheese consumption per person and BlackRock share price, 2002 to 2021, both climbing"/>
          <p:cNvPicPr>
            <a:picLocks noChangeAspect="1"/>
          </p:cNvPicPr>
          <p:nvPr/>
        </p:nvPicPr>
        <p:blipFill>
          <a:blip r:embed="rId2"/>
          <a:stretch>
            <a:fillRect/>
          </a:stretch>
        </p:blipFill>
        <p:spPr>
          <a:xfrm>
            <a:off x="5960000" y="2250000"/>
            <a:ext cx="5400000" cy="3356756"/>
          </a:xfrm>
          <a:prstGeom prst="rect">
            <a:avLst/>
          </a:prstGeom>
        </p:spPr>
      </p:pic>
      <p:sp>
        <p:nvSpPr>
          <p:cNvPr id="704" name="TextBox"/>
          <p:cNvSpPr txBox="1"/>
          <p:nvPr/>
        </p:nvSpPr>
        <p:spPr>
          <a:xfrm>
            <a:off x="685800" y="2380000"/>
            <a:ext cx="4900000" cy="3200000"/>
          </a:xfrm>
          <a:prstGeom prst="rect">
            <a:avLst/>
          </a:prstGeom>
          <a:noFill/>
        </p:spPr>
        <p:txBody>
          <a:bodyPr wrap="square" lIns="0" tIns="0" rIns="0" bIns="0" rtlCol="0" anchor="t">
            <a:noAutofit/>
          </a:bodyPr>
          <a:lstStyle/>
          <a:p>
            <a:pPr marL="0" indent="0" algn="l">
              <a:buNone/>
            </a:pPr>
            <a:r>
              <a:rPr lang="en-US" sz="1800" b="1" dirty="0">
                <a:solidFill>
                  <a:srgbClr val="262320"/>
                </a:solidFill>
                <a:latin typeface="Calibri"/>
                <a:cs typeface="Calibri"/>
              </a:rPr>
              <a:t>American cheese eaten per person tracks BlackRock's share price.</a:t>
            </a:r>
          </a:p>
          <a:p>
            <a:pPr marL="0" indent="0" algn="l">
              <a:buNone/>
            </a:pPr>
            <a:r>
              <a:rPr lang="en-US" sz="1700" b="1" dirty="0">
                <a:solidFill>
                  <a:srgbClr val="8A2A2A"/>
                </a:solidFill>
                <a:latin typeface="Calibri"/>
                <a:cs typeface="Calibri"/>
              </a:rPr>
              <a:t>r = 0.94.  p = 0.0000000008.</a:t>
            </a:r>
          </a:p>
          <a:p>
            <a:pPr marL="0" indent="0" algn="l">
              <a:buNone/>
            </a:pPr>
            <a:r>
              <a:rPr lang="en-US" sz="1700" dirty="0">
                <a:solidFill>
                  <a:srgbClr val="262320"/>
                </a:solidFill>
                <a:latin typeface="Calibri"/>
                <a:cs typeface="Calibri"/>
              </a:rPr>
              <a:t>Both went up. That is the entire connection.</a:t>
            </a:r>
          </a:p>
          <a:p>
            <a:pPr marL="0" indent="0" algn="l">
              <a:buNone/>
            </a:pPr>
            <a:r>
              <a:rPr lang="en-US" sz="1800" b="1" dirty="0">
                <a:solidFill>
                  <a:srgbClr val="15686B"/>
                </a:solidFill>
                <a:latin typeface="Calibri"/>
                <a:cs typeface="Calibri"/>
              </a:rPr>
              <a:t>Correlate the year-to-year changes instead, and it is gone: r = 0.29, p = 0.23.</a:t>
            </a:r>
          </a:p>
        </p:txBody>
      </p:sp>
      <p:sp>
        <p:nvSpPr>
          <p:cNvPr id="705" name="Band"/>
          <p:cNvSpPr/>
          <p:nvPr/>
        </p:nvSpPr>
        <p:spPr>
          <a:xfrm>
            <a:off x="685800" y="5760000"/>
            <a:ext cx="10820400" cy="620000"/>
          </a:xfrm>
          <a:prstGeom prst="roundRect">
            <a:avLst>
              <a:gd name="adj" fmla="val 8000"/>
            </a:avLst>
          </a:prstGeom>
          <a:solidFill>
            <a:srgbClr val="EFEFEF"/>
          </a:solidFill>
          <a:ln>
            <a:noFill/>
          </a:ln>
        </p:spPr>
        <p:txBody>
          <a:bodyPr lIns="182880" tIns="0" rIns="182880" bIns="0" rtlCol="0" anchor="ctr" anchorCtr="0"/>
          <a:lstStyle/>
          <a:p>
            <a:pPr marL="0" indent="0" algn="ctr">
              <a:buNone/>
            </a:pPr>
            <a:r>
              <a:rPr lang="en-US" sz="1400" b="1" dirty="0">
                <a:solidFill>
                  <a:srgbClr val="000000"/>
                </a:solidFill>
                <a:latin typeface="Calibri"/>
                <a:cs typeface="Calibri"/>
              </a:rPr>
              <a:t>Any two things that grow will correlate. The trend is not the evidence.</a:t>
            </a:r>
          </a:p>
        </p:txBody>
      </p:sp>
      <p:sp>
        <p:nvSpPr>
          <p:cNvPr id="706" name="Source"/>
          <p:cNvSpPr txBox="1"/>
          <p:nvPr/>
        </p:nvSpPr>
        <p:spPr>
          <a:xfrm>
            <a:off x="685800" y="6480000"/>
            <a:ext cx="10820400" cy="300000"/>
          </a:xfrm>
          <a:prstGeom prst="rect">
            <a:avLst/>
          </a:prstGeom>
          <a:noFill/>
        </p:spPr>
        <p:txBody>
          <a:bodyPr wrap="square" lIns="0" tIns="0" rIns="0" bIns="0" rtlCol="0" anchor="t">
            <a:noAutofit/>
          </a:bodyPr>
          <a:lstStyle/>
          <a:p>
            <a:pPr marL="0" indent="0" algn="l">
              <a:buNone/>
            </a:pPr>
            <a:r>
              <a:rPr lang="en-US" sz="1000" i="1" dirty="0">
                <a:solidFill>
                  <a:srgbClr val="6B6660"/>
                </a:solidFill>
                <a:latin typeface="Calibri"/>
                <a:cs typeface="Calibri"/>
              </a:rPr>
              <a:t>Data compiled by Tyler Vigen, tylervigen.com, spurious correlation #4,018, CC BY 4.0. Cheese consumption from the USDA Economic Research Service; BlackRock opening price on the first trading day of each year from LSEG Analytics (Refinitiv). r = 0.940, r² = 0.883, p = 8.1 × 10⁻¹⁰ over 2002-2021. The differenced figures are calculated from the same data.</a:t>
            </a:r>
          </a:p>
        </p:txBody>
      </p:sp>
    </p:spTree>
    <p:extLst>
      <p:ext uri="{BB962C8B-B14F-4D97-AF65-F5344CB8AC3E}">
        <p14:creationId xmlns:p14="http://schemas.microsoft.com/office/powerpoint/2010/main" val="3943584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 name="Title"/>
          <p:cNvSpPr>
            <a:spLocks noGrp="1"/>
          </p:cNvSpPr>
          <p:nvPr>
            <p:ph type="title" idx="102"/>
          </p:nvPr>
        </p:nvSpPr>
        <p:spPr>
          <a:xfrm>
            <a:off x="1854200" y="868680"/>
            <a:ext cx="9652000" cy="868680"/>
          </a:xfrm>
          <a:prstGeom prst="rect">
            <a:avLst/>
          </a:prstGeom>
          <a:noFill/>
          <a:ln/>
        </p:spPr>
        <p:txBody>
          <a:bodyPr wrap="square" lIns="0" tIns="0" rIns="0" bIns="0" rtlCol="0" anchor="ctr"/>
          <a:lstStyle/>
          <a:p>
            <a:pPr marL="0" indent="0" algn="l">
              <a:buNone/>
            </a:pPr>
            <a:r>
              <a:rPr lang="en-US" sz="3800" dirty="0"/>
              <a:t>What Both Charts Are Missing: A Population</a:t>
            </a:r>
          </a:p>
        </p:txBody>
      </p:sp>
      <p:sp>
        <p:nvSpPr>
          <p:cNvPr id="702" name="Eyebrow"/>
          <p:cNvSpPr txBox="1"/>
          <p:nvPr/>
        </p:nvSpPr>
        <p:spPr>
          <a:xfrm>
            <a:off x="1854200" y="1728399"/>
            <a:ext cx="9652000" cy="431800"/>
          </a:xfrm>
          <a:prstGeom prst="rect">
            <a:avLst/>
          </a:prstGeom>
          <a:noFill/>
        </p:spPr>
        <p:txBody>
          <a:bodyPr wrap="none" lIns="0" tIns="0" rIns="0" bIns="0" rtlCol="0" anchor="t">
            <a:noAutofit/>
          </a:bodyPr>
          <a:lstStyle/>
          <a:p>
            <a:pPr marL="0" indent="0" algn="l">
              <a:buNone/>
            </a:pPr>
            <a:endParaRPr/>
          </a:p>
        </p:txBody>
      </p:sp>
      <p:sp>
        <p:nvSpPr>
          <p:cNvPr id="703" name="TextBox"/>
          <p:cNvSpPr txBox="1"/>
          <p:nvPr/>
        </p:nvSpPr>
        <p:spPr>
          <a:xfrm>
            <a:off x="685800" y="2260000"/>
            <a:ext cx="10820400" cy="420000"/>
          </a:xfrm>
          <a:prstGeom prst="rect">
            <a:avLst/>
          </a:prstGeom>
          <a:noFill/>
        </p:spPr>
        <p:txBody>
          <a:bodyPr wrap="square" lIns="0" tIns="0" rIns="0" bIns="0" rtlCol="0" anchor="t">
            <a:noAutofit/>
          </a:bodyPr>
          <a:lstStyle/>
          <a:p>
            <a:pPr marL="0" indent="0" algn="l">
              <a:buNone/>
            </a:pPr>
            <a:r>
              <a:rPr lang="en-US" sz="1800" b="1" dirty="0">
                <a:solidFill>
                  <a:srgbClr val="262320"/>
                </a:solidFill>
                <a:latin typeface="Calibri"/>
                <a:cs typeface="Calibri"/>
              </a:rPr>
              <a:t>One square would be a year, not a person. There is no group of people the number could be about.</a:t>
            </a:r>
          </a:p>
        </p:txBody>
      </p:sp>
      <p:sp>
        <p:nvSpPr>
          <p:cNvPr id="704" name="Card"/>
          <p:cNvSpPr/>
          <p:nvPr/>
        </p:nvSpPr>
        <p:spPr>
          <a:xfrm>
            <a:off x="685800" y="2820000"/>
            <a:ext cx="5232400" cy="1900000"/>
          </a:xfrm>
          <a:prstGeom prst="roundRect">
            <a:avLst>
              <a:gd name="adj" fmla="val 6000"/>
            </a:avLst>
          </a:prstGeom>
          <a:solidFill>
            <a:srgbClr val="FFFFFF"/>
          </a:solidFill>
          <a:ln w="15875" cap="flat" cmpd="sng" algn="ctr">
            <a:solidFill>
              <a:srgbClr val="15686B"/>
            </a:solidFill>
            <a:prstDash val="solid"/>
            <a:miter lim="800000"/>
          </a:ln>
        </p:spPr>
        <p:txBody>
          <a:bodyPr rtlCol="0" anchor="t"/>
          <a:lstStyle/>
          <a:p>
            <a:endParaRPr lang="en-US"/>
          </a:p>
        </p:txBody>
      </p:sp>
      <p:sp>
        <p:nvSpPr>
          <p:cNvPr id="705" name="TextBox"/>
          <p:cNvSpPr txBox="1"/>
          <p:nvPr/>
        </p:nvSpPr>
        <p:spPr>
          <a:xfrm>
            <a:off x="960120" y="3060000"/>
            <a:ext cx="4683760" cy="300000"/>
          </a:xfrm>
          <a:prstGeom prst="rect">
            <a:avLst/>
          </a:prstGeom>
          <a:noFill/>
        </p:spPr>
        <p:txBody>
          <a:bodyPr wrap="square" lIns="0" tIns="0" rIns="0" bIns="0" rtlCol="0" anchor="t">
            <a:noAutofit/>
          </a:bodyPr>
          <a:lstStyle/>
          <a:p>
            <a:pPr marL="0" indent="0" algn="l">
              <a:buNone/>
            </a:pPr>
            <a:r>
              <a:rPr lang="en-US" sz="1250" b="1" dirty="0">
                <a:solidFill>
                  <a:srgbClr val="15686B"/>
                </a:solidFill>
                <a:latin typeface="Calibri"/>
                <a:cs typeface="Calibri"/>
              </a:rPr>
              <a:t>SATURN AND THE DEGREES</a:t>
            </a:r>
          </a:p>
        </p:txBody>
      </p:sp>
      <p:sp>
        <p:nvSpPr>
          <p:cNvPr id="706" name="TextBox"/>
          <p:cNvSpPr txBox="1"/>
          <p:nvPr/>
        </p:nvSpPr>
        <p:spPr>
          <a:xfrm>
            <a:off x="960120" y="3480000"/>
            <a:ext cx="4683760" cy="460000"/>
          </a:xfrm>
          <a:prstGeom prst="rect">
            <a:avLst/>
          </a:prstGeom>
          <a:noFill/>
        </p:spPr>
        <p:txBody>
          <a:bodyPr wrap="square" lIns="0" tIns="0" rIns="0" bIns="0" rtlCol="0" anchor="t">
            <a:noAutofit/>
          </a:bodyPr>
          <a:lstStyle/>
          <a:p>
            <a:pPr marL="0" indent="0" algn="l">
              <a:buNone/>
            </a:pPr>
            <a:r>
              <a:rPr lang="en-US" sz="2100" b="1" dirty="0">
                <a:solidFill>
                  <a:srgbClr val="15686B"/>
                </a:solidFill>
                <a:latin typeface="Calibri"/>
                <a:cs typeface="Calibri"/>
              </a:rPr>
              <a:t>Found by extensive search.</a:t>
            </a:r>
          </a:p>
        </p:txBody>
      </p:sp>
      <p:sp>
        <p:nvSpPr>
          <p:cNvPr id="707" name="TextBox"/>
          <p:cNvSpPr txBox="1"/>
          <p:nvPr/>
        </p:nvSpPr>
        <p:spPr>
          <a:xfrm>
            <a:off x="960120" y="4020000"/>
            <a:ext cx="4683760" cy="600000"/>
          </a:xfrm>
          <a:prstGeom prst="rect">
            <a:avLst/>
          </a:prstGeom>
          <a:noFill/>
        </p:spPr>
        <p:txBody>
          <a:bodyPr wrap="square" lIns="0" tIns="0" rIns="0" bIns="0" rtlCol="0" anchor="t">
            <a:noAutofit/>
          </a:bodyPr>
          <a:lstStyle/>
          <a:p>
            <a:pPr marL="0" indent="0" algn="l">
              <a:buNone/>
            </a:pPr>
            <a:r>
              <a:rPr lang="en-US" sz="1550" dirty="0">
                <a:solidFill>
                  <a:srgbClr val="262320"/>
                </a:solidFill>
                <a:latin typeface="Calibri"/>
                <a:cs typeface="Calibri"/>
              </a:rPr>
              <a:t>Millions of pairs of numbers were compared against each other. Some pairs were bound to line up.</a:t>
            </a:r>
          </a:p>
        </p:txBody>
      </p:sp>
      <p:sp>
        <p:nvSpPr>
          <p:cNvPr id="708" name="Card"/>
          <p:cNvSpPr/>
          <p:nvPr/>
        </p:nvSpPr>
        <p:spPr>
          <a:xfrm>
            <a:off x="6273800" y="2820000"/>
            <a:ext cx="5232400" cy="1900000"/>
          </a:xfrm>
          <a:prstGeom prst="roundRect">
            <a:avLst>
              <a:gd name="adj" fmla="val 6000"/>
            </a:avLst>
          </a:prstGeom>
          <a:solidFill>
            <a:srgbClr val="FFFFFF"/>
          </a:solidFill>
          <a:ln w="15875" cap="flat" cmpd="sng" algn="ctr">
            <a:solidFill>
              <a:srgbClr val="1F3864"/>
            </a:solidFill>
            <a:prstDash val="solid"/>
            <a:miter lim="800000"/>
          </a:ln>
        </p:spPr>
        <p:txBody>
          <a:bodyPr rtlCol="0" anchor="t"/>
          <a:lstStyle/>
          <a:p>
            <a:endParaRPr lang="en-US"/>
          </a:p>
        </p:txBody>
      </p:sp>
      <p:sp>
        <p:nvSpPr>
          <p:cNvPr id="709" name="TextBox"/>
          <p:cNvSpPr txBox="1"/>
          <p:nvPr/>
        </p:nvSpPr>
        <p:spPr>
          <a:xfrm>
            <a:off x="6548120" y="3060000"/>
            <a:ext cx="4683760" cy="300000"/>
          </a:xfrm>
          <a:prstGeom prst="rect">
            <a:avLst/>
          </a:prstGeom>
          <a:noFill/>
        </p:spPr>
        <p:txBody>
          <a:bodyPr wrap="square" lIns="0" tIns="0" rIns="0" bIns="0" rtlCol="0" anchor="t">
            <a:noAutofit/>
          </a:bodyPr>
          <a:lstStyle/>
          <a:p>
            <a:pPr marL="0" indent="0" algn="l">
              <a:buNone/>
            </a:pPr>
            <a:r>
              <a:rPr lang="en-US" sz="1250" b="1" dirty="0">
                <a:solidFill>
                  <a:srgbClr val="1F3864"/>
                </a:solidFill>
                <a:latin typeface="Calibri"/>
                <a:cs typeface="Calibri"/>
              </a:rPr>
              <a:t>CHEESE AND BLACKROCK</a:t>
            </a:r>
          </a:p>
        </p:txBody>
      </p:sp>
      <p:sp>
        <p:nvSpPr>
          <p:cNvPr id="710" name="TextBox"/>
          <p:cNvSpPr txBox="1"/>
          <p:nvPr/>
        </p:nvSpPr>
        <p:spPr>
          <a:xfrm>
            <a:off x="6548120" y="3480000"/>
            <a:ext cx="4683760" cy="460000"/>
          </a:xfrm>
          <a:prstGeom prst="rect">
            <a:avLst/>
          </a:prstGeom>
          <a:noFill/>
        </p:spPr>
        <p:txBody>
          <a:bodyPr wrap="square" lIns="0" tIns="0" rIns="0" bIns="0" rtlCol="0" anchor="t">
            <a:noAutofit/>
          </a:bodyPr>
          <a:lstStyle/>
          <a:p>
            <a:pPr marL="0" indent="0" algn="l">
              <a:buNone/>
            </a:pPr>
            <a:r>
              <a:rPr lang="en-US" sz="2100" b="1" dirty="0">
                <a:solidFill>
                  <a:srgbClr val="1F3864"/>
                </a:solidFill>
                <a:latin typeface="Calibri"/>
                <a:cs typeface="Calibri"/>
              </a:rPr>
              <a:t>Many things rise year to year.</a:t>
            </a:r>
          </a:p>
        </p:txBody>
      </p:sp>
      <p:sp>
        <p:nvSpPr>
          <p:cNvPr id="711" name="TextBox"/>
          <p:cNvSpPr txBox="1"/>
          <p:nvPr/>
        </p:nvSpPr>
        <p:spPr>
          <a:xfrm>
            <a:off x="6548120" y="4020000"/>
            <a:ext cx="4683760" cy="600000"/>
          </a:xfrm>
          <a:prstGeom prst="rect">
            <a:avLst/>
          </a:prstGeom>
          <a:noFill/>
        </p:spPr>
        <p:txBody>
          <a:bodyPr wrap="square" lIns="0" tIns="0" rIns="0" bIns="0" rtlCol="0" anchor="t">
            <a:noAutofit/>
          </a:bodyPr>
          <a:lstStyle/>
          <a:p>
            <a:pPr marL="0" indent="0" algn="l">
              <a:buNone/>
            </a:pPr>
            <a:r>
              <a:rPr lang="en-US" sz="1550" dirty="0">
                <a:solidFill>
                  <a:srgbClr val="262320"/>
                </a:solidFill>
                <a:latin typeface="Calibri"/>
                <a:cs typeface="Calibri"/>
              </a:rPr>
              <a:t>Cheese eaten per person went up. So did the share price. So did most other things over those twenty years.</a:t>
            </a:r>
          </a:p>
        </p:txBody>
      </p:sp>
      <p:sp>
        <p:nvSpPr>
          <p:cNvPr id="712" name="TextBox"/>
          <p:cNvSpPr txBox="1"/>
          <p:nvPr/>
        </p:nvSpPr>
        <p:spPr>
          <a:xfrm>
            <a:off x="685800" y="4880000"/>
            <a:ext cx="10820400" cy="400000"/>
          </a:xfrm>
          <a:prstGeom prst="rect">
            <a:avLst/>
          </a:prstGeom>
          <a:noFill/>
        </p:spPr>
        <p:txBody>
          <a:bodyPr wrap="square" lIns="0" tIns="0" rIns="0" bIns="0" rtlCol="0" anchor="t">
            <a:noAutofit/>
          </a:bodyPr>
          <a:lstStyle/>
          <a:p>
            <a:pPr marL="0" indent="0" algn="l">
              <a:buNone/>
            </a:pPr>
            <a:r>
              <a:rPr lang="en-US" sz="1500" i="1" dirty="0">
                <a:solidFill>
                  <a:srgbClr val="1F3864"/>
                </a:solidFill>
                <a:latin typeface="Calibri"/>
                <a:cs typeface="Calibri"/>
              </a:rPr>
              <a:t>Compare the year-to-year changes instead of the totals, and the cheese link disappears: 0.94 becomes 0.29.</a:t>
            </a:r>
          </a:p>
        </p:txBody>
      </p:sp>
      <p:sp>
        <p:nvSpPr>
          <p:cNvPr id="713" name="Band"/>
          <p:cNvSpPr/>
          <p:nvPr/>
        </p:nvSpPr>
        <p:spPr>
          <a:xfrm>
            <a:off x="685800" y="5400000"/>
            <a:ext cx="10820400" cy="850000"/>
          </a:xfrm>
          <a:prstGeom prst="roundRect">
            <a:avLst>
              <a:gd name="adj" fmla="val 8000"/>
            </a:avLst>
          </a:prstGeom>
          <a:solidFill>
            <a:srgbClr val="EFEFEF"/>
          </a:solidFill>
          <a:ln>
            <a:noFill/>
          </a:ln>
        </p:spPr>
        <p:txBody>
          <a:bodyPr lIns="182880" tIns="0" rIns="182880" bIns="0" rtlCol="0" anchor="ctr" anchorCtr="0"/>
          <a:lstStyle/>
          <a:p>
            <a:pPr marL="0" indent="0" algn="ctr">
              <a:buNone/>
            </a:pPr>
            <a:r>
              <a:rPr lang="en-US" sz="1400" b="1" dirty="0">
                <a:solidFill>
                  <a:srgbClr val="000000"/>
                </a:solidFill>
                <a:latin typeface="Calibri"/>
                <a:cs typeface="Calibri"/>
              </a:rPr>
              <a:t>Neither chart has people in it.</a:t>
            </a:r>
          </a:p>
          <a:p>
            <a:pPr marL="0" indent="0" algn="ctr">
              <a:buNone/>
            </a:pPr>
            <a:r>
              <a:rPr lang="en-US" sz="1400" b="1" dirty="0">
                <a:solidFill>
                  <a:srgbClr val="000000"/>
                </a:solidFill>
                <a:latin typeface="Calibri"/>
                <a:cs typeface="Calibri"/>
              </a:rPr>
              <a:t>That closes coincidence. Next come correlations that do have people in them, with something else behind the link.</a:t>
            </a:r>
          </a:p>
        </p:txBody>
      </p:sp>
      <p:sp>
        <p:nvSpPr>
          <p:cNvPr id="714" name="Source"/>
          <p:cNvSpPr txBox="1"/>
          <p:nvPr/>
        </p:nvSpPr>
        <p:spPr>
          <a:xfrm>
            <a:off x="685800" y="6480000"/>
            <a:ext cx="10820400" cy="300000"/>
          </a:xfrm>
          <a:prstGeom prst="rect">
            <a:avLst/>
          </a:prstGeom>
          <a:noFill/>
        </p:spPr>
        <p:txBody>
          <a:bodyPr wrap="square" lIns="0" tIns="0" rIns="0" bIns="0" rtlCol="0" anchor="t">
            <a:noAutofit/>
          </a:bodyPr>
          <a:lstStyle/>
          <a:p>
            <a:pPr marL="0" indent="0" algn="l">
              <a:buNone/>
            </a:pPr>
            <a:r>
              <a:rPr lang="en-US" sz="1000" i="1" dirty="0">
                <a:solidFill>
                  <a:srgbClr val="6B6660"/>
                </a:solidFill>
                <a:latin typeface="Calibri"/>
                <a:cs typeface="Calibri"/>
              </a:rPr>
              <a:t>Both compiled by Tyler Vigen, tylervigen.com, CC BY 4.0: correlations #2,656 (Astropy and the National Center for Education Statistics, 2012-2021) and #4,018 (USDA Economic Research Service and LSEG Analytics, 2002-2021). Vigen notes on each page that using years as the base variable is itself the problem. The year-to-year figure is calculated from his data.</a:t>
            </a:r>
          </a:p>
        </p:txBody>
      </p:sp>
    </p:spTree>
    <p:extLst>
      <p:ext uri="{BB962C8B-B14F-4D97-AF65-F5344CB8AC3E}">
        <p14:creationId xmlns:p14="http://schemas.microsoft.com/office/powerpoint/2010/main" val="3515080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Title"/>
          <p:cNvSpPr>
            <a:spLocks noGrp="1"/>
          </p:cNvSpPr>
          <p:nvPr>
            <p:ph type="title" idx="102"/>
          </p:nvPr>
        </p:nvSpPr>
        <p:spPr>
          <a:xfrm>
            <a:off x="1854200" y="868680"/>
            <a:ext cx="9652000" cy="868680"/>
          </a:xfrm>
          <a:prstGeom prst="rect">
            <a:avLst/>
          </a:prstGeom>
          <a:noFill/>
          <a:ln/>
        </p:spPr>
        <p:txBody>
          <a:bodyPr wrap="square" lIns="0" tIns="0" rIns="0" bIns="0" rtlCol="0" anchor="ctr"/>
          <a:lstStyle/>
          <a:p>
            <a:pPr marL="0" indent="0" algn="l">
              <a:buNone/>
            </a:pPr>
            <a:r>
              <a:rPr lang="en-US" sz="3800" dirty="0"/>
              <a:t>Case 2: Confounders, a Third Factor Drives Both</a:t>
            </a:r>
          </a:p>
        </p:txBody>
      </p:sp>
      <p:sp>
        <p:nvSpPr>
          <p:cNvPr id="402" name="Eyebrow"/>
          <p:cNvSpPr txBox="1"/>
          <p:nvPr/>
        </p:nvSpPr>
        <p:spPr>
          <a:xfrm>
            <a:off x="685800" y="1728399"/>
            <a:ext cx="10820400" cy="431800"/>
          </a:xfrm>
          <a:prstGeom prst="rect">
            <a:avLst/>
          </a:prstGeom>
          <a:noFill/>
        </p:spPr>
        <p:txBody>
          <a:bodyPr wrap="none" lIns="0" tIns="0" rIns="0" bIns="0" rtlCol="0" anchor="t">
            <a:noAutofit/>
          </a:bodyPr>
          <a:lstStyle/>
          <a:p>
            <a:pPr marL="0" indent="0" algn="l">
              <a:buNone/>
            </a:pPr>
            <a:endParaRPr/>
          </a:p>
        </p:txBody>
      </p:sp>
      <p:sp>
        <p:nvSpPr>
          <p:cNvPr id="415" name="Band"/>
          <p:cNvSpPr/>
          <p:nvPr/>
        </p:nvSpPr>
        <p:spPr>
          <a:xfrm>
            <a:off x="685800" y="5600000"/>
            <a:ext cx="10820400" cy="840000"/>
          </a:xfrm>
          <a:prstGeom prst="roundRect">
            <a:avLst>
              <a:gd name="adj" fmla="val 8000"/>
            </a:avLst>
          </a:prstGeom>
          <a:solidFill>
            <a:srgbClr val="EFEFEF"/>
          </a:solidFill>
          <a:ln>
            <a:noFill/>
          </a:ln>
        </p:spPr>
        <p:txBody>
          <a:bodyPr lIns="182880" tIns="0" rIns="182880" bIns="0" rtlCol="0" anchor="ctr" anchorCtr="0"/>
          <a:lstStyle/>
          <a:p>
            <a:pPr marL="0" indent="0" algn="ctr">
              <a:buNone/>
            </a:pPr>
            <a:r>
              <a:rPr lang="en-US" sz="1400" b="1" dirty="0">
                <a:solidFill>
                  <a:srgbClr val="000000"/>
                </a:solidFill>
                <a:latin typeface="Calibri"/>
                <a:cs typeface="Calibri"/>
              </a:rPr>
              <a:t>Unlike Saturn and the cheese, these four have real people in them: statins and crashes, a sugar pill, bird watching, vaccines and autism.</a:t>
            </a:r>
          </a:p>
          <a:p>
            <a:pPr marL="0" indent="0" algn="ctr">
              <a:buNone/>
            </a:pPr>
            <a:r>
              <a:rPr lang="en-US" sz="1400" b="1" dirty="0">
                <a:solidFill>
                  <a:srgbClr val="000000"/>
                </a:solidFill>
                <a:latin typeface="Calibri"/>
                <a:cs typeface="Calibri"/>
              </a:rPr>
              <a:t>In each, something about the people produces the correlation. The causal link is an illusion.</a:t>
            </a:r>
          </a:p>
        </p:txBody>
      </p:sp>
      <p:sp>
        <p:nvSpPr>
          <p:cNvPr id="416" name="Source"/>
          <p:cNvSpPr txBox="1"/>
          <p:nvPr/>
        </p:nvSpPr>
        <p:spPr>
          <a:xfrm>
            <a:off x="685800" y="6520000"/>
            <a:ext cx="10820400" cy="274320"/>
          </a:xfrm>
          <a:prstGeom prst="rect">
            <a:avLst/>
          </a:prstGeom>
          <a:noFill/>
        </p:spPr>
        <p:txBody>
          <a:bodyPr wrap="square" lIns="0" tIns="0" rIns="0" bIns="0" rtlCol="0" anchor="t">
            <a:noAutofit/>
          </a:bodyPr>
          <a:lstStyle/>
          <a:p>
            <a:pPr marL="0" indent="0" algn="l">
              <a:buNone/>
            </a:pPr>
            <a:r>
              <a:rPr lang="en-US" sz="1000" i="1" dirty="0">
                <a:solidFill>
                  <a:srgbClr val="6B6660"/>
                </a:solidFill>
                <a:latin typeface="Calibri"/>
                <a:cs typeface="Calibri"/>
              </a:rPr>
              <a:t>A real correlation with no real causation, produced by a lurking common cause. Examples ahead: Dormuth 2009 (statins and accidents); Sabia 2017, Whitehall II (bird watching and dementia).</a:t>
            </a:r>
          </a:p>
        </p:txBody>
      </p:sp>
      <p:pic>
        <p:nvPicPr>
          <p:cNvPr id="901" name="ForkDiagram" descr="Something else, with arrows into both what you do and what happens; a dashed line between the two"/>
          <p:cNvPicPr>
            <a:picLocks noChangeAspect="1"/>
          </p:cNvPicPr>
          <p:nvPr/>
        </p:nvPicPr>
        <p:blipFill>
          <a:blip r:embed="rId2"/>
          <a:stretch>
            <a:fillRect/>
          </a:stretch>
        </p:blipFill>
        <p:spPr>
          <a:xfrm>
            <a:off x="3596000" y="2350000"/>
            <a:ext cx="5000000" cy="2540000"/>
          </a:xfrm>
          <a:prstGeom prst="rect">
            <a:avLst/>
          </a:prstGeom>
        </p:spPr>
      </p:pic>
      <p:sp>
        <p:nvSpPr>
          <p:cNvPr id="902" name="Caption"/>
          <p:cNvSpPr txBox="1"/>
          <p:nvPr/>
        </p:nvSpPr>
        <p:spPr>
          <a:xfrm>
            <a:off x="685800" y="4960000"/>
            <a:ext cx="10820400" cy="420000"/>
          </a:xfrm>
          <a:prstGeom prst="rect">
            <a:avLst/>
          </a:prstGeom>
          <a:noFill/>
        </p:spPr>
        <p:txBody>
          <a:bodyPr wrap="square" lIns="0" rIns="0" anchor="t">
            <a:normAutofit/>
          </a:bodyPr>
          <a:lstStyle/>
          <a:p>
            <a:pPr algn="ctr"/>
            <a:r>
              <a:rPr lang="en-US" sz="1600" dirty="0">
                <a:solidFill>
                  <a:srgbClr val="262320"/>
                </a:solidFill>
                <a:latin typeface="Calibri"/>
              </a:rPr>
              <a:t>The third factor sits behind both. Adjust for it, and the link between the other two thins out or vanishes.</a:t>
            </a:r>
          </a:p>
        </p:txBody>
      </p:sp>
    </p:spTree>
    <p:extLst>
      <p:ext uri="{BB962C8B-B14F-4D97-AF65-F5344CB8AC3E}">
        <p14:creationId xmlns:p14="http://schemas.microsoft.com/office/powerpoint/2010/main" val="584654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Title"/>
          <p:cNvSpPr>
            <a:spLocks noGrp="1"/>
          </p:cNvSpPr>
          <p:nvPr>
            <p:ph type="title" idx="102"/>
          </p:nvPr>
        </p:nvSpPr>
        <p:spPr>
          <a:xfrm>
            <a:off x="1854200" y="868680"/>
            <a:ext cx="9652000" cy="868680"/>
          </a:xfrm>
          <a:prstGeom prst="rect">
            <a:avLst/>
          </a:prstGeom>
          <a:noFill/>
          <a:ln/>
        </p:spPr>
        <p:txBody>
          <a:bodyPr wrap="square" lIns="0" tIns="0" rIns="0" bIns="0" rtlCol="0" anchor="ctr"/>
          <a:lstStyle/>
          <a:p>
            <a:pPr marL="0" indent="0" algn="l">
              <a:buNone/>
            </a:pPr>
            <a:r>
              <a:rPr lang="en-US" sz="3800" dirty="0"/>
              <a:t>Reading the Diagram: Boxes, Arrows, Crossed Arrows</a:t>
            </a:r>
          </a:p>
        </p:txBody>
      </p:sp>
      <p:sp>
        <p:nvSpPr>
          <p:cNvPr id="402" name="Eyebrow"/>
          <p:cNvSpPr txBox="1"/>
          <p:nvPr/>
        </p:nvSpPr>
        <p:spPr>
          <a:xfrm>
            <a:off x="685800" y="1728399"/>
            <a:ext cx="10820400" cy="431800"/>
          </a:xfrm>
          <a:prstGeom prst="rect">
            <a:avLst/>
          </a:prstGeom>
          <a:noFill/>
        </p:spPr>
        <p:txBody>
          <a:bodyPr wrap="none" lIns="0" tIns="0" rIns="0" bIns="0" rtlCol="0" anchor="t">
            <a:noAutofit/>
          </a:bodyPr>
          <a:lstStyle/>
          <a:p>
            <a:pPr marL="0" indent="0" algn="l">
              <a:buNone/>
            </a:pPr>
            <a:endParaRPr/>
          </a:p>
        </p:txBody>
      </p:sp>
      <p:sp>
        <p:nvSpPr>
          <p:cNvPr id="403" name="Card"/>
          <p:cNvSpPr/>
          <p:nvPr/>
        </p:nvSpPr>
        <p:spPr>
          <a:xfrm>
            <a:off x="685800" y="2250000"/>
            <a:ext cx="5100000" cy="980000"/>
          </a:xfrm>
          <a:prstGeom prst="roundRect">
            <a:avLst>
              <a:gd name="adj" fmla="val 8000"/>
            </a:avLst>
          </a:prstGeom>
          <a:solidFill>
            <a:srgbClr val="FFFFFF"/>
          </a:solidFill>
          <a:ln w="15875" cap="flat" cmpd="sng" algn="ctr">
            <a:solidFill>
              <a:srgbClr val="C2683F"/>
            </a:solidFill>
            <a:prstDash val="solid"/>
            <a:miter lim="800000"/>
          </a:ln>
        </p:spPr>
        <p:txBody>
          <a:bodyPr rtlCol="0" anchor="t"/>
          <a:lstStyle/>
          <a:p>
            <a:endParaRPr lang="en-US"/>
          </a:p>
        </p:txBody>
      </p:sp>
      <p:sp>
        <p:nvSpPr>
          <p:cNvPr id="404" name="TextBox"/>
          <p:cNvSpPr txBox="1"/>
          <p:nvPr/>
        </p:nvSpPr>
        <p:spPr>
          <a:xfrm>
            <a:off x="960120" y="2425000"/>
            <a:ext cx="3200000" cy="330000"/>
          </a:xfrm>
          <a:prstGeom prst="rect">
            <a:avLst/>
          </a:prstGeom>
          <a:noFill/>
        </p:spPr>
        <p:txBody>
          <a:bodyPr wrap="square" lIns="0" tIns="0" rIns="0" bIns="0" rtlCol="0" anchor="t">
            <a:noAutofit/>
          </a:bodyPr>
          <a:lstStyle/>
          <a:p>
            <a:pPr marL="0" indent="0" algn="l">
              <a:buNone/>
            </a:pPr>
            <a:r>
              <a:rPr lang="en-US" sz="1700" b="1" dirty="0">
                <a:solidFill>
                  <a:srgbClr val="262320"/>
                </a:solidFill>
                <a:latin typeface="Calibri"/>
                <a:cs typeface="Calibri"/>
              </a:rPr>
              <a:t>A box</a:t>
            </a:r>
          </a:p>
        </p:txBody>
      </p:sp>
      <p:sp>
        <p:nvSpPr>
          <p:cNvPr id="405" name="TextBox"/>
          <p:cNvSpPr txBox="1"/>
          <p:nvPr/>
        </p:nvSpPr>
        <p:spPr>
          <a:xfrm>
            <a:off x="960120" y="2805000"/>
            <a:ext cx="3200000" cy="300000"/>
          </a:xfrm>
          <a:prstGeom prst="rect">
            <a:avLst/>
          </a:prstGeom>
          <a:noFill/>
        </p:spPr>
        <p:txBody>
          <a:bodyPr wrap="square" lIns="0" tIns="0" rIns="0" bIns="0" rtlCol="0" anchor="t">
            <a:noAutofit/>
          </a:bodyPr>
          <a:lstStyle/>
          <a:p>
            <a:pPr marL="0" indent="0" algn="l">
              <a:buNone/>
            </a:pPr>
            <a:r>
              <a:rPr lang="en-US" sz="1600" dirty="0">
                <a:solidFill>
                  <a:srgbClr val="C2683F"/>
                </a:solidFill>
                <a:latin typeface="Calibri"/>
                <a:cs typeface="Calibri"/>
              </a:rPr>
              <a:t>An activity, a trait, a diagnosis.</a:t>
            </a:r>
          </a:p>
        </p:txBody>
      </p:sp>
      <p:sp>
        <p:nvSpPr>
          <p:cNvPr id="406" name="TextBox"/>
          <p:cNvSpPr txBox="1"/>
          <p:nvPr/>
        </p:nvSpPr>
        <p:spPr>
          <a:xfrm>
            <a:off x="4200000" y="2590000"/>
            <a:ext cx="1450000" cy="300000"/>
          </a:xfrm>
          <a:prstGeom prst="rect">
            <a:avLst/>
          </a:prstGeom>
          <a:noFill/>
        </p:spPr>
        <p:txBody>
          <a:bodyPr wrap="square" lIns="0" tIns="0" rIns="0" bIns="0" rtlCol="0" anchor="t">
            <a:noAutofit/>
          </a:bodyPr>
          <a:lstStyle/>
          <a:p>
            <a:pPr marL="0" indent="0" algn="r">
              <a:buNone/>
            </a:pPr>
            <a:r>
              <a:rPr lang="en-US" sz="1200" b="1" dirty="0">
                <a:solidFill>
                  <a:srgbClr val="C2683F"/>
                </a:solidFill>
                <a:latin typeface="Calibri"/>
                <a:cs typeface="Calibri"/>
              </a:rPr>
              <a:t>A THING</a:t>
            </a:r>
          </a:p>
        </p:txBody>
      </p:sp>
      <p:sp>
        <p:nvSpPr>
          <p:cNvPr id="407" name="Card"/>
          <p:cNvSpPr/>
          <p:nvPr/>
        </p:nvSpPr>
        <p:spPr>
          <a:xfrm>
            <a:off x="685800" y="3320000"/>
            <a:ext cx="5100000" cy="980000"/>
          </a:xfrm>
          <a:prstGeom prst="roundRect">
            <a:avLst>
              <a:gd name="adj" fmla="val 8000"/>
            </a:avLst>
          </a:prstGeom>
          <a:solidFill>
            <a:srgbClr val="FFFFFF"/>
          </a:solidFill>
          <a:ln w="15875" cap="flat" cmpd="sng" algn="ctr">
            <a:solidFill>
              <a:srgbClr val="1F3864"/>
            </a:solidFill>
            <a:prstDash val="solid"/>
            <a:miter lim="800000"/>
          </a:ln>
        </p:spPr>
        <p:txBody>
          <a:bodyPr rtlCol="0" anchor="t"/>
          <a:lstStyle/>
          <a:p>
            <a:endParaRPr lang="en-US"/>
          </a:p>
        </p:txBody>
      </p:sp>
      <p:sp>
        <p:nvSpPr>
          <p:cNvPr id="408" name="TextBox"/>
          <p:cNvSpPr txBox="1"/>
          <p:nvPr/>
        </p:nvSpPr>
        <p:spPr>
          <a:xfrm>
            <a:off x="960120" y="3495000"/>
            <a:ext cx="3200000" cy="330000"/>
          </a:xfrm>
          <a:prstGeom prst="rect">
            <a:avLst/>
          </a:prstGeom>
          <a:noFill/>
        </p:spPr>
        <p:txBody>
          <a:bodyPr wrap="square" lIns="0" tIns="0" rIns="0" bIns="0" rtlCol="0" anchor="t">
            <a:noAutofit/>
          </a:bodyPr>
          <a:lstStyle/>
          <a:p>
            <a:pPr marL="0" indent="0" algn="l">
              <a:buNone/>
            </a:pPr>
            <a:r>
              <a:rPr lang="en-US" sz="1700" b="1" dirty="0">
                <a:solidFill>
                  <a:srgbClr val="262320"/>
                </a:solidFill>
                <a:latin typeface="Calibri"/>
                <a:cs typeface="Calibri"/>
              </a:rPr>
              <a:t>An arrow</a:t>
            </a:r>
          </a:p>
        </p:txBody>
      </p:sp>
      <p:sp>
        <p:nvSpPr>
          <p:cNvPr id="409" name="TextBox"/>
          <p:cNvSpPr txBox="1"/>
          <p:nvPr/>
        </p:nvSpPr>
        <p:spPr>
          <a:xfrm>
            <a:off x="960120" y="3875000"/>
            <a:ext cx="3200000" cy="300000"/>
          </a:xfrm>
          <a:prstGeom prst="rect">
            <a:avLst/>
          </a:prstGeom>
          <a:noFill/>
        </p:spPr>
        <p:txBody>
          <a:bodyPr wrap="square" lIns="0" tIns="0" rIns="0" bIns="0" rtlCol="0" anchor="t">
            <a:noAutofit/>
          </a:bodyPr>
          <a:lstStyle/>
          <a:p>
            <a:pPr marL="0" indent="0" algn="l">
              <a:buNone/>
            </a:pPr>
            <a:r>
              <a:rPr lang="en-US" sz="1600" dirty="0">
                <a:solidFill>
                  <a:srgbClr val="1F3864"/>
                </a:solidFill>
                <a:latin typeface="Calibri"/>
                <a:cs typeface="Calibri"/>
              </a:rPr>
              <a:t>One thing makes another more likely.</a:t>
            </a:r>
          </a:p>
        </p:txBody>
      </p:sp>
      <p:sp>
        <p:nvSpPr>
          <p:cNvPr id="410" name="TextBox"/>
          <p:cNvSpPr txBox="1"/>
          <p:nvPr/>
        </p:nvSpPr>
        <p:spPr>
          <a:xfrm>
            <a:off x="4200000" y="3660000"/>
            <a:ext cx="1450000" cy="300000"/>
          </a:xfrm>
          <a:prstGeom prst="rect">
            <a:avLst/>
          </a:prstGeom>
          <a:noFill/>
        </p:spPr>
        <p:txBody>
          <a:bodyPr wrap="square" lIns="0" tIns="0" rIns="0" bIns="0" rtlCol="0" anchor="t">
            <a:noAutofit/>
          </a:bodyPr>
          <a:lstStyle/>
          <a:p>
            <a:pPr marL="0" indent="0" algn="r">
              <a:buNone/>
            </a:pPr>
            <a:r>
              <a:rPr lang="en-US" sz="1200" b="1" dirty="0">
                <a:solidFill>
                  <a:srgbClr val="1F3864"/>
                </a:solidFill>
                <a:latin typeface="Calibri"/>
                <a:cs typeface="Calibri"/>
              </a:rPr>
              <a:t>A CAUSE</a:t>
            </a:r>
          </a:p>
        </p:txBody>
      </p:sp>
      <p:sp>
        <p:nvSpPr>
          <p:cNvPr id="411" name="Card"/>
          <p:cNvSpPr/>
          <p:nvPr/>
        </p:nvSpPr>
        <p:spPr>
          <a:xfrm>
            <a:off x="685800" y="4390000"/>
            <a:ext cx="5100000" cy="980000"/>
          </a:xfrm>
          <a:prstGeom prst="roundRect">
            <a:avLst>
              <a:gd name="adj" fmla="val 8000"/>
            </a:avLst>
          </a:prstGeom>
          <a:solidFill>
            <a:srgbClr val="FFFFFF"/>
          </a:solidFill>
          <a:ln w="15875" cap="flat" cmpd="sng" algn="ctr">
            <a:solidFill>
              <a:srgbClr val="8A2A2A"/>
            </a:solidFill>
            <a:prstDash val="solid"/>
            <a:miter lim="800000"/>
          </a:ln>
        </p:spPr>
        <p:txBody>
          <a:bodyPr rtlCol="0" anchor="t"/>
          <a:lstStyle/>
          <a:p>
            <a:endParaRPr lang="en-US"/>
          </a:p>
        </p:txBody>
      </p:sp>
      <p:sp>
        <p:nvSpPr>
          <p:cNvPr id="412" name="TextBox"/>
          <p:cNvSpPr txBox="1"/>
          <p:nvPr/>
        </p:nvSpPr>
        <p:spPr>
          <a:xfrm>
            <a:off x="960120" y="4565000"/>
            <a:ext cx="3200000" cy="330000"/>
          </a:xfrm>
          <a:prstGeom prst="rect">
            <a:avLst/>
          </a:prstGeom>
          <a:noFill/>
        </p:spPr>
        <p:txBody>
          <a:bodyPr wrap="square" lIns="0" tIns="0" rIns="0" bIns="0" rtlCol="0" anchor="t">
            <a:noAutofit/>
          </a:bodyPr>
          <a:lstStyle/>
          <a:p>
            <a:pPr marL="0" indent="0" algn="l">
              <a:buNone/>
            </a:pPr>
            <a:r>
              <a:rPr lang="en-US" sz="1700" b="1" dirty="0">
                <a:solidFill>
                  <a:srgbClr val="262320"/>
                </a:solidFill>
                <a:latin typeface="Calibri"/>
                <a:cs typeface="Calibri"/>
              </a:rPr>
              <a:t>A crossed-out arrow</a:t>
            </a:r>
          </a:p>
        </p:txBody>
      </p:sp>
      <p:sp>
        <p:nvSpPr>
          <p:cNvPr id="413" name="TextBox"/>
          <p:cNvSpPr txBox="1"/>
          <p:nvPr/>
        </p:nvSpPr>
        <p:spPr>
          <a:xfrm>
            <a:off x="960120" y="4945000"/>
            <a:ext cx="3200000" cy="300000"/>
          </a:xfrm>
          <a:prstGeom prst="rect">
            <a:avLst/>
          </a:prstGeom>
          <a:noFill/>
        </p:spPr>
        <p:txBody>
          <a:bodyPr wrap="square" lIns="0" tIns="0" rIns="0" bIns="0" rtlCol="0" anchor="t">
            <a:noAutofit/>
          </a:bodyPr>
          <a:lstStyle/>
          <a:p>
            <a:pPr marL="0" indent="0" algn="l">
              <a:buNone/>
            </a:pPr>
            <a:r>
              <a:rPr lang="en-US" sz="1600" dirty="0">
                <a:solidFill>
                  <a:srgbClr val="8A2A2A"/>
                </a:solidFill>
                <a:latin typeface="Calibri"/>
                <a:cs typeface="Calibri"/>
              </a:rPr>
              <a:t>Looked for, and not found.</a:t>
            </a:r>
          </a:p>
        </p:txBody>
      </p:sp>
      <p:sp>
        <p:nvSpPr>
          <p:cNvPr id="414" name="TextBox"/>
          <p:cNvSpPr txBox="1"/>
          <p:nvPr/>
        </p:nvSpPr>
        <p:spPr>
          <a:xfrm>
            <a:off x="4200000" y="4730000"/>
            <a:ext cx="1450000" cy="300000"/>
          </a:xfrm>
          <a:prstGeom prst="rect">
            <a:avLst/>
          </a:prstGeom>
          <a:noFill/>
        </p:spPr>
        <p:txBody>
          <a:bodyPr wrap="square" lIns="0" tIns="0" rIns="0" bIns="0" rtlCol="0" anchor="t">
            <a:noAutofit/>
          </a:bodyPr>
          <a:lstStyle/>
          <a:p>
            <a:pPr marL="0" indent="0" algn="r">
              <a:buNone/>
            </a:pPr>
            <a:r>
              <a:rPr lang="en-US" sz="1200" b="1" dirty="0">
                <a:solidFill>
                  <a:srgbClr val="8A2A2A"/>
                </a:solidFill>
                <a:latin typeface="Calibri"/>
                <a:cs typeface="Calibri"/>
              </a:rPr>
              <a:t>NOT A CAUSE</a:t>
            </a:r>
          </a:p>
        </p:txBody>
      </p:sp>
      <p:sp>
        <p:nvSpPr>
          <p:cNvPr id="415" name="Band"/>
          <p:cNvSpPr/>
          <p:nvPr/>
        </p:nvSpPr>
        <p:spPr>
          <a:xfrm>
            <a:off x="685800" y="5600000"/>
            <a:ext cx="10820400" cy="840000"/>
          </a:xfrm>
          <a:prstGeom prst="roundRect">
            <a:avLst>
              <a:gd name="adj" fmla="val 8000"/>
            </a:avLst>
          </a:prstGeom>
          <a:solidFill>
            <a:srgbClr val="EFEFEF"/>
          </a:solidFill>
          <a:ln>
            <a:noFill/>
          </a:ln>
        </p:spPr>
        <p:txBody>
          <a:bodyPr lIns="182880" tIns="0" rIns="182880" bIns="0" rtlCol="0" anchor="ctr" anchorCtr="0"/>
          <a:lstStyle/>
          <a:p>
            <a:pPr marL="0" indent="0" algn="ctr">
              <a:buNone/>
            </a:pPr>
            <a:r>
              <a:rPr lang="en-US" sz="1400" b="1" dirty="0">
                <a:solidFill>
                  <a:srgbClr val="000000"/>
                </a:solidFill>
                <a:latin typeface="Calibri"/>
                <a:cs typeface="Calibri"/>
              </a:rPr>
              <a:t>One box with arrows to two others is a single cause behind both.</a:t>
            </a:r>
          </a:p>
          <a:p>
            <a:pPr marL="0" indent="0" algn="ctr">
              <a:buNone/>
            </a:pPr>
            <a:r>
              <a:rPr lang="en-US" sz="1400" b="1" dirty="0">
                <a:solidFill>
                  <a:srgbClr val="000000"/>
                </a:solidFill>
                <a:latin typeface="Calibri"/>
                <a:cs typeface="Calibri"/>
              </a:rPr>
              <a:t>The boxes stay the same. Only the arrows change the story.</a:t>
            </a:r>
          </a:p>
        </p:txBody>
      </p:sp>
      <p:sp>
        <p:nvSpPr>
          <p:cNvPr id="416" name="Source"/>
          <p:cNvSpPr txBox="1"/>
          <p:nvPr/>
        </p:nvSpPr>
        <p:spPr>
          <a:xfrm>
            <a:off x="685800" y="6520000"/>
            <a:ext cx="10820400" cy="274320"/>
          </a:xfrm>
          <a:prstGeom prst="rect">
            <a:avLst/>
          </a:prstGeom>
          <a:noFill/>
        </p:spPr>
        <p:txBody>
          <a:bodyPr wrap="square" lIns="0" tIns="0" rIns="0" bIns="0" rtlCol="0" anchor="t">
            <a:noAutofit/>
          </a:bodyPr>
          <a:lstStyle/>
          <a:p>
            <a:pPr marL="0" indent="0" algn="l">
              <a:buNone/>
            </a:pPr>
            <a:r>
              <a:rPr lang="en-US" sz="1000" i="1" dirty="0">
                <a:solidFill>
                  <a:srgbClr val="6B6660"/>
                </a:solidFill>
                <a:latin typeface="Calibri"/>
                <a:cs typeface="Calibri"/>
              </a:rPr>
              <a:t>The same notation is used on every diagram in this session.</a:t>
            </a:r>
          </a:p>
        </p:txBody>
      </p:sp>
      <p:pic>
        <p:nvPicPr>
          <p:cNvPr id="921" name="Legend" descr="Legend: a box is a thing; a solid arrow means causes; a dashed line means moves together; a crossed-out arrow is a cause looked for and not found"/>
          <p:cNvPicPr>
            <a:picLocks noChangeAspect="1"/>
          </p:cNvPicPr>
          <p:nvPr/>
        </p:nvPicPr>
        <p:blipFill>
          <a:blip r:embed="rId2"/>
          <a:stretch>
            <a:fillRect/>
          </a:stretch>
        </p:blipFill>
        <p:spPr>
          <a:xfrm>
            <a:off x="6050000" y="2200000"/>
            <a:ext cx="5456200" cy="3160000"/>
          </a:xfrm>
          <a:prstGeom prst="rect">
            <a:avLst/>
          </a:prstGeom>
        </p:spPr>
      </p:pic>
    </p:spTree>
    <p:extLst>
      <p:ext uri="{BB962C8B-B14F-4D97-AF65-F5344CB8AC3E}">
        <p14:creationId xmlns:p14="http://schemas.microsoft.com/office/powerpoint/2010/main" val="152673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Title"/>
          <p:cNvSpPr>
            <a:spLocks noGrp="1"/>
          </p:cNvSpPr>
          <p:nvPr>
            <p:ph type="title" idx="102"/>
          </p:nvPr>
        </p:nvSpPr>
        <p:spPr>
          <a:xfrm>
            <a:off x="1854200" y="868680"/>
            <a:ext cx="9652000" cy="868680"/>
          </a:xfrm>
          <a:prstGeom prst="rect">
            <a:avLst/>
          </a:prstGeom>
          <a:noFill/>
          <a:ln/>
        </p:spPr>
        <p:txBody>
          <a:bodyPr wrap="square" lIns="0" tIns="0" rIns="0" bIns="0" rtlCol="0" anchor="ctr"/>
          <a:lstStyle/>
          <a:p>
            <a:pPr marL="0" indent="0" algn="l">
              <a:buNone/>
            </a:pPr>
            <a:r>
              <a:rPr lang="en-US" sz="3800" dirty="0"/>
              <a:t>The Claim: Statins Prevent Car Crashes</a:t>
            </a:r>
          </a:p>
        </p:txBody>
      </p:sp>
      <p:sp>
        <p:nvSpPr>
          <p:cNvPr id="402" name="Eyebrow"/>
          <p:cNvSpPr txBox="1"/>
          <p:nvPr/>
        </p:nvSpPr>
        <p:spPr>
          <a:xfrm>
            <a:off x="685800" y="1728399"/>
            <a:ext cx="10820400" cy="431800"/>
          </a:xfrm>
          <a:prstGeom prst="rect">
            <a:avLst/>
          </a:prstGeom>
          <a:noFill/>
        </p:spPr>
        <p:txBody>
          <a:bodyPr wrap="none" lIns="0" tIns="0" rIns="0" bIns="0" rtlCol="0" anchor="t">
            <a:noAutofit/>
          </a:bodyPr>
          <a:lstStyle/>
          <a:p>
            <a:pPr marL="0" indent="0" algn="l">
              <a:buNone/>
            </a:pPr>
            <a:endParaRPr/>
          </a:p>
        </p:txBody>
      </p:sp>
      <p:sp>
        <p:nvSpPr>
          <p:cNvPr id="403" name="Card"/>
          <p:cNvSpPr/>
          <p:nvPr/>
        </p:nvSpPr>
        <p:spPr>
          <a:xfrm>
            <a:off x="685800" y="2250000"/>
            <a:ext cx="10820400" cy="980000"/>
          </a:xfrm>
          <a:prstGeom prst="roundRect">
            <a:avLst>
              <a:gd name="adj" fmla="val 8000"/>
            </a:avLst>
          </a:prstGeom>
          <a:solidFill>
            <a:srgbClr val="FFFFFF"/>
          </a:solidFill>
          <a:ln w="15875" cap="flat" cmpd="sng" algn="ctr">
            <a:solidFill>
              <a:srgbClr val="C2683F"/>
            </a:solidFill>
            <a:prstDash val="solid"/>
            <a:miter lim="800000"/>
          </a:ln>
        </p:spPr>
        <p:txBody>
          <a:bodyPr rtlCol="0" anchor="t"/>
          <a:lstStyle/>
          <a:p>
            <a:endParaRPr lang="en-US"/>
          </a:p>
        </p:txBody>
      </p:sp>
      <p:sp>
        <p:nvSpPr>
          <p:cNvPr id="404" name="TextBox"/>
          <p:cNvSpPr txBox="1"/>
          <p:nvPr/>
        </p:nvSpPr>
        <p:spPr>
          <a:xfrm>
            <a:off x="960120" y="2425000"/>
            <a:ext cx="6900000" cy="330000"/>
          </a:xfrm>
          <a:prstGeom prst="rect">
            <a:avLst/>
          </a:prstGeom>
          <a:noFill/>
        </p:spPr>
        <p:txBody>
          <a:bodyPr wrap="square" lIns="0" tIns="0" rIns="0" bIns="0" rtlCol="0" anchor="t">
            <a:noAutofit/>
          </a:bodyPr>
          <a:lstStyle/>
          <a:p>
            <a:pPr marL="0" indent="0" algn="l">
              <a:buNone/>
            </a:pPr>
            <a:r>
              <a:rPr lang="en-US" sz="1700" b="1" dirty="0">
                <a:solidFill>
                  <a:srgbClr val="262320"/>
                </a:solidFill>
                <a:latin typeface="Calibri"/>
                <a:cs typeface="Calibri"/>
              </a:rPr>
              <a:t>141,086 people starting statins</a:t>
            </a:r>
          </a:p>
        </p:txBody>
      </p:sp>
      <p:sp>
        <p:nvSpPr>
          <p:cNvPr id="405" name="TextBox"/>
          <p:cNvSpPr txBox="1"/>
          <p:nvPr/>
        </p:nvSpPr>
        <p:spPr>
          <a:xfrm>
            <a:off x="960120" y="2805000"/>
            <a:ext cx="6900000" cy="300000"/>
          </a:xfrm>
          <a:prstGeom prst="rect">
            <a:avLst/>
          </a:prstGeom>
          <a:noFill/>
        </p:spPr>
        <p:txBody>
          <a:bodyPr wrap="square" lIns="0" tIns="0" rIns="0" bIns="0" rtlCol="0" anchor="t">
            <a:noAutofit/>
          </a:bodyPr>
          <a:lstStyle/>
          <a:p>
            <a:pPr marL="0" indent="0" algn="l">
              <a:buNone/>
            </a:pPr>
            <a:r>
              <a:rPr lang="en-US" sz="1600" dirty="0">
                <a:solidFill>
                  <a:srgbClr val="C2683F"/>
                </a:solidFill>
                <a:latin typeface="Calibri"/>
                <a:cs typeface="Calibri"/>
              </a:rPr>
              <a:t>British Columbia, grouped by how faithfully they took the pill.</a:t>
            </a:r>
          </a:p>
        </p:txBody>
      </p:sp>
      <p:sp>
        <p:nvSpPr>
          <p:cNvPr id="406" name="TextBox"/>
          <p:cNvSpPr txBox="1"/>
          <p:nvPr/>
        </p:nvSpPr>
        <p:spPr>
          <a:xfrm>
            <a:off x="8000000" y="2590000"/>
            <a:ext cx="3230000" cy="300000"/>
          </a:xfrm>
          <a:prstGeom prst="rect">
            <a:avLst/>
          </a:prstGeom>
          <a:noFill/>
        </p:spPr>
        <p:txBody>
          <a:bodyPr wrap="square" lIns="0" tIns="0" rIns="0" bIns="0" rtlCol="0" anchor="t">
            <a:noAutofit/>
          </a:bodyPr>
          <a:lstStyle/>
          <a:p>
            <a:pPr marL="0" indent="0" algn="r">
              <a:buNone/>
            </a:pPr>
            <a:r>
              <a:rPr lang="en-US" sz="1200" b="1" dirty="0">
                <a:solidFill>
                  <a:srgbClr val="C2683F"/>
                </a:solidFill>
                <a:latin typeface="Calibri"/>
                <a:cs typeface="Calibri"/>
              </a:rPr>
              <a:t>THE STUDY</a:t>
            </a:r>
          </a:p>
        </p:txBody>
      </p:sp>
      <p:sp>
        <p:nvSpPr>
          <p:cNvPr id="407" name="Card"/>
          <p:cNvSpPr/>
          <p:nvPr/>
        </p:nvSpPr>
        <p:spPr>
          <a:xfrm>
            <a:off x="685800" y="3320000"/>
            <a:ext cx="10820400" cy="980000"/>
          </a:xfrm>
          <a:prstGeom prst="roundRect">
            <a:avLst>
              <a:gd name="adj" fmla="val 8000"/>
            </a:avLst>
          </a:prstGeom>
          <a:solidFill>
            <a:srgbClr val="FFFFFF"/>
          </a:solidFill>
          <a:ln w="15875" cap="flat" cmpd="sng" algn="ctr">
            <a:solidFill>
              <a:srgbClr val="1F3864"/>
            </a:solidFill>
            <a:prstDash val="solid"/>
            <a:miter lim="800000"/>
          </a:ln>
        </p:spPr>
        <p:txBody>
          <a:bodyPr rtlCol="0" anchor="t"/>
          <a:lstStyle/>
          <a:p>
            <a:endParaRPr lang="en-US"/>
          </a:p>
        </p:txBody>
      </p:sp>
      <p:sp>
        <p:nvSpPr>
          <p:cNvPr id="408" name="TextBox"/>
          <p:cNvSpPr txBox="1"/>
          <p:nvPr/>
        </p:nvSpPr>
        <p:spPr>
          <a:xfrm>
            <a:off x="960120" y="3495000"/>
            <a:ext cx="6900000" cy="330000"/>
          </a:xfrm>
          <a:prstGeom prst="rect">
            <a:avLst/>
          </a:prstGeom>
          <a:noFill/>
        </p:spPr>
        <p:txBody>
          <a:bodyPr wrap="square" lIns="0" tIns="0" rIns="0" bIns="0" rtlCol="0" anchor="t">
            <a:noAutofit/>
          </a:bodyPr>
          <a:lstStyle/>
          <a:p>
            <a:pPr marL="0" indent="0" algn="l">
              <a:buNone/>
            </a:pPr>
            <a:r>
              <a:rPr lang="en-US" sz="1700" b="1" dirty="0">
                <a:solidFill>
                  <a:srgbClr val="262320"/>
                </a:solidFill>
                <a:latin typeface="Calibri"/>
                <a:cs typeface="Calibri"/>
              </a:rPr>
              <a:t>Faithful takers had fewer accidents</a:t>
            </a:r>
          </a:p>
        </p:txBody>
      </p:sp>
      <p:sp>
        <p:nvSpPr>
          <p:cNvPr id="409" name="TextBox"/>
          <p:cNvSpPr txBox="1"/>
          <p:nvPr/>
        </p:nvSpPr>
        <p:spPr>
          <a:xfrm>
            <a:off x="960120" y="3875000"/>
            <a:ext cx="6900000" cy="300000"/>
          </a:xfrm>
          <a:prstGeom prst="rect">
            <a:avLst/>
          </a:prstGeom>
          <a:noFill/>
        </p:spPr>
        <p:txBody>
          <a:bodyPr wrap="square" lIns="0" tIns="0" rIns="0" bIns="0" rtlCol="0" anchor="t">
            <a:noAutofit/>
          </a:bodyPr>
          <a:lstStyle/>
          <a:p>
            <a:pPr marL="0" indent="0" algn="l">
              <a:buNone/>
            </a:pPr>
            <a:r>
              <a:rPr lang="en-US" sz="1600" dirty="0">
                <a:solidFill>
                  <a:srgbClr val="1F3864"/>
                </a:solidFill>
                <a:latin typeface="Calibri"/>
                <a:cs typeface="Calibri"/>
              </a:rPr>
              <a:t>Car crashes, workplace injuries, falls, fractures, poisonings.</a:t>
            </a:r>
          </a:p>
        </p:txBody>
      </p:sp>
      <p:sp>
        <p:nvSpPr>
          <p:cNvPr id="410" name="TextBox"/>
          <p:cNvSpPr txBox="1"/>
          <p:nvPr/>
        </p:nvSpPr>
        <p:spPr>
          <a:xfrm>
            <a:off x="8000000" y="3660000"/>
            <a:ext cx="3230000" cy="300000"/>
          </a:xfrm>
          <a:prstGeom prst="rect">
            <a:avLst/>
          </a:prstGeom>
          <a:noFill/>
        </p:spPr>
        <p:txBody>
          <a:bodyPr wrap="square" lIns="0" tIns="0" rIns="0" bIns="0" rtlCol="0" anchor="t">
            <a:noAutofit/>
          </a:bodyPr>
          <a:lstStyle/>
          <a:p>
            <a:pPr marL="0" indent="0" algn="r">
              <a:buNone/>
            </a:pPr>
            <a:r>
              <a:rPr lang="en-US" sz="1200" b="1" dirty="0">
                <a:solidFill>
                  <a:srgbClr val="1F3864"/>
                </a:solidFill>
                <a:latin typeface="Calibri"/>
                <a:cs typeface="Calibri"/>
              </a:rPr>
              <a:t>THE FINDING</a:t>
            </a:r>
          </a:p>
        </p:txBody>
      </p:sp>
      <p:sp>
        <p:nvSpPr>
          <p:cNvPr id="411" name="Card"/>
          <p:cNvSpPr/>
          <p:nvPr/>
        </p:nvSpPr>
        <p:spPr>
          <a:xfrm>
            <a:off x="685800" y="4390000"/>
            <a:ext cx="10820400" cy="980000"/>
          </a:xfrm>
          <a:prstGeom prst="roundRect">
            <a:avLst>
              <a:gd name="adj" fmla="val 8000"/>
            </a:avLst>
          </a:prstGeom>
          <a:solidFill>
            <a:srgbClr val="FFFFFF"/>
          </a:solidFill>
          <a:ln w="15875" cap="flat" cmpd="sng" algn="ctr">
            <a:solidFill>
              <a:srgbClr val="8A2A2A"/>
            </a:solidFill>
            <a:prstDash val="solid"/>
            <a:miter lim="800000"/>
          </a:ln>
        </p:spPr>
        <p:txBody>
          <a:bodyPr rtlCol="0" anchor="t"/>
          <a:lstStyle/>
          <a:p>
            <a:endParaRPr lang="en-US"/>
          </a:p>
        </p:txBody>
      </p:sp>
      <p:sp>
        <p:nvSpPr>
          <p:cNvPr id="412" name="TextBox"/>
          <p:cNvSpPr txBox="1"/>
          <p:nvPr/>
        </p:nvSpPr>
        <p:spPr>
          <a:xfrm>
            <a:off x="960120" y="4565000"/>
            <a:ext cx="6900000" cy="330000"/>
          </a:xfrm>
          <a:prstGeom prst="rect">
            <a:avLst/>
          </a:prstGeom>
          <a:noFill/>
        </p:spPr>
        <p:txBody>
          <a:bodyPr wrap="square" lIns="0" tIns="0" rIns="0" bIns="0" rtlCol="0" anchor="t">
            <a:noAutofit/>
          </a:bodyPr>
          <a:lstStyle/>
          <a:p>
            <a:pPr marL="0" indent="0" algn="l">
              <a:buNone/>
            </a:pPr>
            <a:r>
              <a:rPr lang="en-US" sz="1700" b="1" dirty="0">
                <a:solidFill>
                  <a:srgbClr val="262320"/>
                </a:solidFill>
                <a:latin typeface="Calibri"/>
                <a:cs typeface="Calibri"/>
              </a:rPr>
              <a:t>And they used more screening</a:t>
            </a:r>
          </a:p>
        </p:txBody>
      </p:sp>
      <p:sp>
        <p:nvSpPr>
          <p:cNvPr id="413" name="TextBox"/>
          <p:cNvSpPr txBox="1"/>
          <p:nvPr/>
        </p:nvSpPr>
        <p:spPr>
          <a:xfrm>
            <a:off x="960120" y="4945000"/>
            <a:ext cx="6900000" cy="300000"/>
          </a:xfrm>
          <a:prstGeom prst="rect">
            <a:avLst/>
          </a:prstGeom>
          <a:noFill/>
        </p:spPr>
        <p:txBody>
          <a:bodyPr wrap="square" lIns="0" tIns="0" rIns="0" bIns="0" rtlCol="0" anchor="t">
            <a:noAutofit/>
          </a:bodyPr>
          <a:lstStyle/>
          <a:p>
            <a:pPr marL="0" indent="0" algn="l">
              <a:buNone/>
            </a:pPr>
            <a:r>
              <a:rPr lang="en-US" sz="1600" dirty="0">
                <a:solidFill>
                  <a:srgbClr val="8A2A2A"/>
                </a:solidFill>
                <a:latin typeface="Calibri"/>
                <a:cs typeface="Calibri"/>
              </a:rPr>
              <a:t>Preventive services a cholesterol pill has no way to affect.</a:t>
            </a:r>
          </a:p>
        </p:txBody>
      </p:sp>
      <p:sp>
        <p:nvSpPr>
          <p:cNvPr id="414" name="TextBox"/>
          <p:cNvSpPr txBox="1"/>
          <p:nvPr/>
        </p:nvSpPr>
        <p:spPr>
          <a:xfrm>
            <a:off x="8000000" y="4730000"/>
            <a:ext cx="3230000" cy="300000"/>
          </a:xfrm>
          <a:prstGeom prst="rect">
            <a:avLst/>
          </a:prstGeom>
          <a:noFill/>
        </p:spPr>
        <p:txBody>
          <a:bodyPr wrap="square" lIns="0" tIns="0" rIns="0" bIns="0" rtlCol="0" anchor="t">
            <a:noAutofit/>
          </a:bodyPr>
          <a:lstStyle/>
          <a:p>
            <a:pPr marL="0" indent="0" algn="r">
              <a:buNone/>
            </a:pPr>
            <a:r>
              <a:rPr lang="en-US" sz="1200" b="1" dirty="0">
                <a:solidFill>
                  <a:srgbClr val="8A2A2A"/>
                </a:solidFill>
                <a:latin typeface="Calibri"/>
                <a:cs typeface="Calibri"/>
              </a:rPr>
              <a:t>THE TELL</a:t>
            </a:r>
          </a:p>
        </p:txBody>
      </p:sp>
      <p:sp>
        <p:nvSpPr>
          <p:cNvPr id="415" name="Band"/>
          <p:cNvSpPr/>
          <p:nvPr/>
        </p:nvSpPr>
        <p:spPr>
          <a:xfrm>
            <a:off x="685800" y="5600000"/>
            <a:ext cx="10820400" cy="840000"/>
          </a:xfrm>
          <a:prstGeom prst="roundRect">
            <a:avLst>
              <a:gd name="adj" fmla="val 8000"/>
            </a:avLst>
          </a:prstGeom>
          <a:solidFill>
            <a:srgbClr val="EFEFEF"/>
          </a:solidFill>
          <a:ln>
            <a:noFill/>
          </a:ln>
        </p:spPr>
        <p:txBody>
          <a:bodyPr lIns="182880" tIns="0" rIns="182880" bIns="0" rtlCol="0" anchor="ctr" anchorCtr="0"/>
          <a:lstStyle/>
          <a:p>
            <a:pPr marL="0" indent="0" algn="ctr">
              <a:buNone/>
            </a:pPr>
            <a:r>
              <a:rPr lang="en-US" sz="1400" b="1" dirty="0">
                <a:solidFill>
                  <a:srgbClr val="000000"/>
                </a:solidFill>
                <a:latin typeface="Calibri"/>
                <a:cs typeface="Calibri"/>
              </a:rPr>
              <a:t>Published under the title, a cautionary tale.</a:t>
            </a:r>
          </a:p>
          <a:p>
            <a:pPr marL="0" indent="0" algn="ctr">
              <a:buNone/>
            </a:pPr>
            <a:r>
              <a:rPr lang="en-US" sz="1400" b="1" dirty="0">
                <a:solidFill>
                  <a:srgbClr val="000000"/>
                </a:solidFill>
                <a:latin typeface="Calibri"/>
                <a:cs typeface="Calibri"/>
              </a:rPr>
              <a:t>No mechanism in the pill reaches any of these. Something about the people produces all of them.</a:t>
            </a:r>
          </a:p>
        </p:txBody>
      </p:sp>
      <p:sp>
        <p:nvSpPr>
          <p:cNvPr id="416" name="Source"/>
          <p:cNvSpPr txBox="1"/>
          <p:nvPr/>
        </p:nvSpPr>
        <p:spPr>
          <a:xfrm>
            <a:off x="685800" y="6520000"/>
            <a:ext cx="10820400" cy="274320"/>
          </a:xfrm>
          <a:prstGeom prst="rect">
            <a:avLst/>
          </a:prstGeom>
          <a:noFill/>
        </p:spPr>
        <p:txBody>
          <a:bodyPr wrap="square" lIns="0" tIns="0" rIns="0" bIns="0" rtlCol="0" anchor="t">
            <a:noAutofit/>
          </a:bodyPr>
          <a:lstStyle/>
          <a:p>
            <a:pPr marL="0" indent="0" algn="l">
              <a:buNone/>
            </a:pPr>
            <a:r>
              <a:rPr lang="en-US" sz="1000" i="1" dirty="0">
                <a:solidFill>
                  <a:srgbClr val="6B6660"/>
                </a:solidFill>
                <a:latin typeface="Calibri"/>
                <a:cs typeface="Calibri"/>
              </a:rPr>
              <a:t>Dormuth CR et al. Statin adherence and risk of accidents: a cautionary tale. Circulation 2009;119:2051-2057. Adjusted hazard ratios 0.75 for vehicle accidents, 0.77 for workplace accidents, 1.17 for screening use, among 141,086 statin initiators.</a:t>
            </a:r>
          </a:p>
        </p:txBody>
      </p:sp>
    </p:spTree>
    <p:extLst>
      <p:ext uri="{BB962C8B-B14F-4D97-AF65-F5344CB8AC3E}">
        <p14:creationId xmlns:p14="http://schemas.microsoft.com/office/powerpoint/2010/main" val="4212514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Title"/>
          <p:cNvSpPr>
            <a:spLocks noGrp="1"/>
          </p:cNvSpPr>
          <p:nvPr>
            <p:ph type="title" idx="102"/>
          </p:nvPr>
        </p:nvSpPr>
        <p:spPr>
          <a:xfrm>
            <a:off x="1854200" y="868680"/>
            <a:ext cx="9652000" cy="1168400"/>
          </a:xfrm>
          <a:prstGeom prst="rect">
            <a:avLst/>
          </a:prstGeom>
          <a:noFill/>
          <a:ln/>
        </p:spPr>
        <p:txBody>
          <a:bodyPr wrap="square" lIns="0" tIns="0" rIns="0" bIns="0" rtlCol="0" anchor="ctr"/>
          <a:lstStyle/>
          <a:p>
            <a:pPr marL="0" indent="0" algn="l">
              <a:buNone/>
            </a:pPr>
            <a:r>
              <a:rPr lang="en-US" sz="3800" dirty="0"/>
              <a:t>Faithful Takers of a Sugar Pill: The Coronary Drug Project</a:t>
            </a:r>
          </a:p>
        </p:txBody>
      </p:sp>
      <p:sp>
        <p:nvSpPr>
          <p:cNvPr id="125" name="Card"/>
          <p:cNvSpPr/>
          <p:nvPr/>
        </p:nvSpPr>
        <p:spPr>
          <a:xfrm>
            <a:off x="685800" y="2150000"/>
            <a:ext cx="5000000" cy="950000"/>
          </a:xfrm>
          <a:prstGeom prst="roundRect">
            <a:avLst>
              <a:gd name="adj" fmla="val 6000"/>
            </a:avLst>
          </a:prstGeom>
          <a:solidFill>
            <a:srgbClr val="FFFFFF"/>
          </a:solidFill>
          <a:ln w="15875" cap="flat" cmpd="sng" algn="ctr">
            <a:solidFill>
              <a:srgbClr val="15686B"/>
            </a:solidFill>
            <a:prstDash val="solid"/>
            <a:miter lim="800000"/>
          </a:ln>
        </p:spPr>
        <p:txBody>
          <a:bodyPr rtlCol="0" anchor="t"/>
          <a:lstStyle/>
          <a:p>
            <a:endParaRPr lang="en-US"/>
          </a:p>
        </p:txBody>
      </p:sp>
      <p:sp>
        <p:nvSpPr>
          <p:cNvPr id="126" name="TextBox"/>
          <p:cNvSpPr txBox="1"/>
          <p:nvPr/>
        </p:nvSpPr>
        <p:spPr>
          <a:xfrm>
            <a:off x="822960" y="2230000"/>
            <a:ext cx="4726000" cy="800000"/>
          </a:xfrm>
          <a:prstGeom prst="rect">
            <a:avLst/>
          </a:prstGeom>
          <a:noFill/>
        </p:spPr>
        <p:txBody>
          <a:bodyPr wrap="square" lIns="0" tIns="0" rIns="0" bIns="0" rtlCol="0" anchor="t">
            <a:noAutofit/>
          </a:bodyPr>
          <a:lstStyle/>
          <a:p>
            <a:pPr marL="0" indent="0" algn="ctr">
              <a:buNone/>
            </a:pPr>
            <a:r>
              <a:rPr lang="en-US" sz="3200" b="1" dirty="0">
                <a:solidFill>
                  <a:srgbClr val="15686B"/>
                </a:solidFill>
                <a:latin typeface="Bookman Old Style"/>
                <a:cs typeface="Bookman Old Style"/>
              </a:rPr>
              <a:t>15.1%</a:t>
            </a:r>
          </a:p>
          <a:p>
            <a:pPr marL="0" indent="0" algn="ctr">
              <a:buNone/>
            </a:pPr>
            <a:r>
              <a:rPr lang="en-US" sz="1300" dirty="0">
                <a:solidFill>
                  <a:srgbClr val="262320"/>
                </a:solidFill>
                <a:latin typeface="Calibri"/>
                <a:cs typeface="Calibri"/>
              </a:rPr>
              <a:t>five-year mortality, faithful takers of the dummy pill</a:t>
            </a:r>
          </a:p>
        </p:txBody>
      </p:sp>
      <p:sp>
        <p:nvSpPr>
          <p:cNvPr id="127" name="Card"/>
          <p:cNvSpPr/>
          <p:nvPr/>
        </p:nvSpPr>
        <p:spPr>
          <a:xfrm>
            <a:off x="685800" y="3230000"/>
            <a:ext cx="5000000" cy="950000"/>
          </a:xfrm>
          <a:prstGeom prst="roundRect">
            <a:avLst>
              <a:gd name="adj" fmla="val 6000"/>
            </a:avLst>
          </a:prstGeom>
          <a:solidFill>
            <a:srgbClr val="FFFFFF"/>
          </a:solidFill>
          <a:ln w="15875" cap="flat" cmpd="sng" algn="ctr">
            <a:solidFill>
              <a:srgbClr val="15686B"/>
            </a:solidFill>
            <a:prstDash val="solid"/>
            <a:miter lim="800000"/>
          </a:ln>
        </p:spPr>
        <p:txBody>
          <a:bodyPr rtlCol="0" anchor="t"/>
          <a:lstStyle/>
          <a:p>
            <a:endParaRPr lang="en-US"/>
          </a:p>
        </p:txBody>
      </p:sp>
      <p:sp>
        <p:nvSpPr>
          <p:cNvPr id="128" name="TextBox"/>
          <p:cNvSpPr txBox="1"/>
          <p:nvPr/>
        </p:nvSpPr>
        <p:spPr>
          <a:xfrm>
            <a:off x="822960" y="3310000"/>
            <a:ext cx="4726000" cy="800000"/>
          </a:xfrm>
          <a:prstGeom prst="rect">
            <a:avLst/>
          </a:prstGeom>
          <a:noFill/>
        </p:spPr>
        <p:txBody>
          <a:bodyPr wrap="square" lIns="0" tIns="0" rIns="0" bIns="0" rtlCol="0" anchor="t">
            <a:noAutofit/>
          </a:bodyPr>
          <a:lstStyle/>
          <a:p>
            <a:pPr marL="0" indent="0" algn="ctr">
              <a:buNone/>
            </a:pPr>
            <a:r>
              <a:rPr lang="en-US" sz="3200" b="1" dirty="0">
                <a:solidFill>
                  <a:srgbClr val="8A2A2A"/>
                </a:solidFill>
                <a:latin typeface="Bookman Old Style"/>
                <a:cs typeface="Bookman Old Style"/>
              </a:rPr>
              <a:t>28.3%</a:t>
            </a:r>
          </a:p>
          <a:p>
            <a:pPr marL="0" indent="0" algn="ctr">
              <a:buNone/>
            </a:pPr>
            <a:r>
              <a:rPr lang="en-US" sz="1300" dirty="0">
                <a:solidFill>
                  <a:srgbClr val="262320"/>
                </a:solidFill>
                <a:latin typeface="Calibri"/>
                <a:cs typeface="Calibri"/>
              </a:rPr>
              <a:t>five-year mortality, unfaithful takers of the dummy pill</a:t>
            </a:r>
          </a:p>
        </p:txBody>
      </p:sp>
      <p:sp>
        <p:nvSpPr>
          <p:cNvPr id="129" name="TextBox"/>
          <p:cNvSpPr txBox="1"/>
          <p:nvPr/>
        </p:nvSpPr>
        <p:spPr>
          <a:xfrm>
            <a:off x="685800" y="4500000"/>
            <a:ext cx="10820400" cy="640080"/>
          </a:xfrm>
          <a:prstGeom prst="rect">
            <a:avLst/>
          </a:prstGeom>
          <a:noFill/>
        </p:spPr>
        <p:txBody>
          <a:bodyPr wrap="square" lIns="0" tIns="0" rIns="0" bIns="0" rtlCol="0" anchor="t">
            <a:noAutofit/>
          </a:bodyPr>
          <a:lstStyle/>
          <a:p>
            <a:pPr marL="0" indent="0" algn="l">
              <a:buNone/>
            </a:pPr>
            <a:r>
              <a:rPr lang="en-US" sz="2000" b="1" dirty="0">
                <a:solidFill>
                  <a:srgbClr val="262320"/>
                </a:solidFill>
                <a:latin typeface="Calibri"/>
                <a:cs typeface="Calibri"/>
              </a:rPr>
              <a:t>The pill was sugar. The difference was the person.</a:t>
            </a:r>
          </a:p>
          <a:p>
            <a:pPr marL="0" indent="0" algn="l">
              <a:buNone/>
            </a:pPr>
            <a:r>
              <a:rPr lang="en-US" sz="1400" i="1" dirty="0">
                <a:solidFill>
                  <a:srgbClr val="1F3864"/>
                </a:solidFill>
                <a:latin typeface="Calibri"/>
                <a:cs typeface="Calibri"/>
              </a:rPr>
              <a:t>The gap carries P = 4.7 × 10</a:t>
            </a:r>
            <a:r>
              <a:rPr lang="en-US" sz="1400" i="1" baseline="30000" dirty="0">
                <a:solidFill>
                  <a:srgbClr val="1F3864"/>
                </a:solidFill>
                <a:latin typeface="Calibri"/>
                <a:cs typeface="Calibri"/>
              </a:rPr>
              <a:t>−16</a:t>
            </a:r>
            <a:r>
              <a:rPr lang="en-US" sz="1400" i="1" dirty="0">
                <a:solidFill>
                  <a:srgbClr val="1F3864"/>
                </a:solidFill>
                <a:latin typeface="Calibri"/>
                <a:cs typeface="Calibri"/>
              </a:rPr>
              <a:t>. Significant at any bar you like, and still not the pill.</a:t>
            </a:r>
          </a:p>
        </p:txBody>
      </p:sp>
      <p:sp>
        <p:nvSpPr>
          <p:cNvPr id="130" name="Band"/>
          <p:cNvSpPr/>
          <p:nvPr/>
        </p:nvSpPr>
        <p:spPr>
          <a:xfrm>
            <a:off x="685800" y="5480000"/>
            <a:ext cx="10820400" cy="838200"/>
          </a:xfrm>
          <a:prstGeom prst="roundRect">
            <a:avLst>
              <a:gd name="adj" fmla="val 8000"/>
            </a:avLst>
          </a:prstGeom>
          <a:solidFill>
            <a:srgbClr val="EFEFEF"/>
          </a:solidFill>
          <a:ln>
            <a:noFill/>
          </a:ln>
        </p:spPr>
        <p:txBody>
          <a:bodyPr lIns="182880" tIns="0" rIns="182880" bIns="0" rtlCol="0" anchor="ctr" anchorCtr="0"/>
          <a:lstStyle/>
          <a:p>
            <a:pPr marL="0" indent="0" algn="ctr">
              <a:buNone/>
            </a:pPr>
            <a:r>
              <a:rPr lang="en-US" sz="1400" b="1" dirty="0">
                <a:solidFill>
                  <a:srgbClr val="000000"/>
                </a:solidFill>
                <a:latin typeface="Calibri"/>
                <a:cs typeface="Calibri"/>
              </a:rPr>
              <a:t>People who follow health instructions live longer, and it is the person, not the pill.</a:t>
            </a:r>
          </a:p>
        </p:txBody>
      </p:sp>
      <p:sp>
        <p:nvSpPr>
          <p:cNvPr id="131" name="Source"/>
          <p:cNvSpPr txBox="1"/>
          <p:nvPr/>
        </p:nvSpPr>
        <p:spPr>
          <a:xfrm>
            <a:off x="685800" y="6480000"/>
            <a:ext cx="10820400" cy="274320"/>
          </a:xfrm>
          <a:prstGeom prst="rect">
            <a:avLst/>
          </a:prstGeom>
          <a:noFill/>
        </p:spPr>
        <p:txBody>
          <a:bodyPr wrap="square" lIns="0" tIns="0" rIns="0" bIns="0" rtlCol="0" anchor="t">
            <a:noAutofit/>
          </a:bodyPr>
          <a:lstStyle/>
          <a:p>
            <a:pPr marL="0" indent="0" algn="l">
              <a:buNone/>
            </a:pPr>
            <a:r>
              <a:rPr lang="en-US" sz="1100" i="1" dirty="0">
                <a:solidFill>
                  <a:srgbClr val="6B6660"/>
                </a:solidFill>
                <a:latin typeface="Calibri"/>
                <a:cs typeface="Calibri"/>
              </a:rPr>
              <a:t>Coronary Drug Project Research Group. Influence of adherence to treatment and response of cholesterol on mortality. N Engl J Med 1980;303:1038-1041.</a:t>
            </a:r>
          </a:p>
        </p:txBody>
      </p:sp>
      <p:pic>
        <p:nvPicPr>
          <p:cNvPr id="931" name="PillDag" descr="The kind of person who follows instructions drives both taking the pill faithfully and being alive at five years; the arrow from the pill to survival is crossed out because the pill was sugar"/>
          <p:cNvPicPr>
            <a:picLocks noChangeAspect="1"/>
          </p:cNvPicPr>
          <p:nvPr/>
        </p:nvPicPr>
        <p:blipFill>
          <a:blip r:embed="rId3"/>
          <a:stretch>
            <a:fillRect/>
          </a:stretch>
        </p:blipFill>
        <p:spPr>
          <a:xfrm>
            <a:off x="6000000" y="2150000"/>
            <a:ext cx="5506200" cy="2537898"/>
          </a:xfrm>
          <a:prstGeom prst="rect">
            <a:avLst/>
          </a:prstGeom>
        </p:spPr>
      </p:pic>
    </p:spTree>
    <p:extLst>
      <p:ext uri="{BB962C8B-B14F-4D97-AF65-F5344CB8AC3E}">
        <p14:creationId xmlns:p14="http://schemas.microsoft.com/office/powerpoint/2010/main" val="1099874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Title"/>
          <p:cNvSpPr>
            <a:spLocks noGrp="1"/>
          </p:cNvSpPr>
          <p:nvPr>
            <p:ph type="title" idx="102"/>
          </p:nvPr>
        </p:nvSpPr>
        <p:spPr>
          <a:xfrm>
            <a:off x="1854200" y="868680"/>
            <a:ext cx="9652000" cy="868680"/>
          </a:xfrm>
          <a:prstGeom prst="rect">
            <a:avLst/>
          </a:prstGeom>
          <a:noFill/>
          <a:ln/>
        </p:spPr>
        <p:txBody>
          <a:bodyPr wrap="square" lIns="0" tIns="0" rIns="0" bIns="0" rtlCol="0" anchor="ctr"/>
          <a:lstStyle/>
          <a:p>
            <a:pPr marL="0" indent="0" algn="l">
              <a:buNone/>
            </a:pPr>
            <a:r>
              <a:rPr lang="en-US" sz="3800" dirty="0"/>
              <a:t>The Claim: Bird Watching Prevents Dementia</a:t>
            </a:r>
          </a:p>
        </p:txBody>
      </p:sp>
      <p:sp>
        <p:nvSpPr>
          <p:cNvPr id="402" name="Eyebrow"/>
          <p:cNvSpPr txBox="1"/>
          <p:nvPr/>
        </p:nvSpPr>
        <p:spPr>
          <a:xfrm>
            <a:off x="685800" y="1728399"/>
            <a:ext cx="10820400" cy="431800"/>
          </a:xfrm>
          <a:prstGeom prst="rect">
            <a:avLst/>
          </a:prstGeom>
          <a:noFill/>
        </p:spPr>
        <p:txBody>
          <a:bodyPr wrap="none" lIns="0" tIns="0" rIns="0" bIns="0" rtlCol="0" anchor="t">
            <a:noAutofit/>
          </a:bodyPr>
          <a:lstStyle/>
          <a:p>
            <a:pPr marL="0" indent="0" algn="l">
              <a:buNone/>
            </a:pPr>
            <a:endParaRPr/>
          </a:p>
        </p:txBody>
      </p:sp>
      <p:sp>
        <p:nvSpPr>
          <p:cNvPr id="403" name="Card"/>
          <p:cNvSpPr/>
          <p:nvPr/>
        </p:nvSpPr>
        <p:spPr>
          <a:xfrm>
            <a:off x="685800" y="2250000"/>
            <a:ext cx="10820400" cy="980000"/>
          </a:xfrm>
          <a:prstGeom prst="roundRect">
            <a:avLst>
              <a:gd name="adj" fmla="val 8000"/>
            </a:avLst>
          </a:prstGeom>
          <a:solidFill>
            <a:srgbClr val="FFFFFF"/>
          </a:solidFill>
          <a:ln w="15875" cap="flat" cmpd="sng" algn="ctr">
            <a:solidFill>
              <a:srgbClr val="C2683F"/>
            </a:solidFill>
            <a:prstDash val="solid"/>
            <a:miter lim="800000"/>
          </a:ln>
        </p:spPr>
        <p:txBody>
          <a:bodyPr rtlCol="0" anchor="t"/>
          <a:lstStyle/>
          <a:p>
            <a:endParaRPr lang="en-US"/>
          </a:p>
        </p:txBody>
      </p:sp>
      <p:sp>
        <p:nvSpPr>
          <p:cNvPr id="404" name="TextBox"/>
          <p:cNvSpPr txBox="1"/>
          <p:nvPr/>
        </p:nvSpPr>
        <p:spPr>
          <a:xfrm>
            <a:off x="960120" y="2425000"/>
            <a:ext cx="6900000" cy="330000"/>
          </a:xfrm>
          <a:prstGeom prst="rect">
            <a:avLst/>
          </a:prstGeom>
          <a:noFill/>
        </p:spPr>
        <p:txBody>
          <a:bodyPr wrap="square" lIns="0" tIns="0" rIns="0" bIns="0" rtlCol="0" anchor="t">
            <a:noAutofit/>
          </a:bodyPr>
          <a:lstStyle/>
          <a:p>
            <a:pPr marL="0" indent="0" algn="l">
              <a:buNone/>
            </a:pPr>
            <a:r>
              <a:rPr lang="en-US" sz="1700" b="1" dirty="0">
                <a:solidFill>
                  <a:srgbClr val="262320"/>
                </a:solidFill>
                <a:latin typeface="Calibri"/>
                <a:cs typeface="Calibri"/>
              </a:rPr>
              <a:t>The headline is illustrative</a:t>
            </a:r>
          </a:p>
        </p:txBody>
      </p:sp>
      <p:sp>
        <p:nvSpPr>
          <p:cNvPr id="405" name="TextBox"/>
          <p:cNvSpPr txBox="1"/>
          <p:nvPr/>
        </p:nvSpPr>
        <p:spPr>
          <a:xfrm>
            <a:off x="960120" y="2805000"/>
            <a:ext cx="6900000" cy="300000"/>
          </a:xfrm>
          <a:prstGeom prst="rect">
            <a:avLst/>
          </a:prstGeom>
          <a:noFill/>
        </p:spPr>
        <p:txBody>
          <a:bodyPr wrap="square" lIns="0" tIns="0" rIns="0" bIns="0" rtlCol="0" anchor="t">
            <a:noAutofit/>
          </a:bodyPr>
          <a:lstStyle/>
          <a:p>
            <a:pPr marL="0" indent="0" algn="l">
              <a:buNone/>
            </a:pPr>
            <a:r>
              <a:rPr lang="en-US" sz="1600" dirty="0">
                <a:solidFill>
                  <a:srgbClr val="C2683F"/>
                </a:solidFill>
                <a:latin typeface="Calibri"/>
                <a:cs typeface="Calibri"/>
              </a:rPr>
              <a:t>No study makes this exact claim about birds.</a:t>
            </a:r>
          </a:p>
        </p:txBody>
      </p:sp>
      <p:sp>
        <p:nvSpPr>
          <p:cNvPr id="406" name="TextBox"/>
          <p:cNvSpPr txBox="1"/>
          <p:nvPr/>
        </p:nvSpPr>
        <p:spPr>
          <a:xfrm>
            <a:off x="8000000" y="2590000"/>
            <a:ext cx="3230000" cy="300000"/>
          </a:xfrm>
          <a:prstGeom prst="rect">
            <a:avLst/>
          </a:prstGeom>
          <a:noFill/>
        </p:spPr>
        <p:txBody>
          <a:bodyPr wrap="square" lIns="0" tIns="0" rIns="0" bIns="0" rtlCol="0" anchor="t">
            <a:noAutofit/>
          </a:bodyPr>
          <a:lstStyle/>
          <a:p>
            <a:pPr marL="0" indent="0" algn="r">
              <a:buNone/>
            </a:pPr>
            <a:r>
              <a:rPr lang="en-US" sz="1200" b="1" dirty="0">
                <a:solidFill>
                  <a:srgbClr val="C2683F"/>
                </a:solidFill>
                <a:latin typeface="Calibri"/>
                <a:cs typeface="Calibri"/>
              </a:rPr>
              <a:t>ILLUSTRATIVE</a:t>
            </a:r>
          </a:p>
        </p:txBody>
      </p:sp>
      <p:sp>
        <p:nvSpPr>
          <p:cNvPr id="407" name="Card"/>
          <p:cNvSpPr/>
          <p:nvPr/>
        </p:nvSpPr>
        <p:spPr>
          <a:xfrm>
            <a:off x="685800" y="3320000"/>
            <a:ext cx="10820400" cy="980000"/>
          </a:xfrm>
          <a:prstGeom prst="roundRect">
            <a:avLst>
              <a:gd name="adj" fmla="val 8000"/>
            </a:avLst>
          </a:prstGeom>
          <a:solidFill>
            <a:srgbClr val="FFFFFF"/>
          </a:solidFill>
          <a:ln w="15875" cap="flat" cmpd="sng" algn="ctr">
            <a:solidFill>
              <a:srgbClr val="1F3864"/>
            </a:solidFill>
            <a:prstDash val="solid"/>
            <a:miter lim="800000"/>
          </a:ln>
        </p:spPr>
        <p:txBody>
          <a:bodyPr rtlCol="0" anchor="t"/>
          <a:lstStyle/>
          <a:p>
            <a:endParaRPr lang="en-US"/>
          </a:p>
        </p:txBody>
      </p:sp>
      <p:sp>
        <p:nvSpPr>
          <p:cNvPr id="408" name="TextBox"/>
          <p:cNvSpPr txBox="1"/>
          <p:nvPr/>
        </p:nvSpPr>
        <p:spPr>
          <a:xfrm>
            <a:off x="960120" y="3495000"/>
            <a:ext cx="6900000" cy="330000"/>
          </a:xfrm>
          <a:prstGeom prst="rect">
            <a:avLst/>
          </a:prstGeom>
          <a:noFill/>
        </p:spPr>
        <p:txBody>
          <a:bodyPr wrap="square" lIns="0" tIns="0" rIns="0" bIns="0" rtlCol="0" anchor="t">
            <a:noAutofit/>
          </a:bodyPr>
          <a:lstStyle/>
          <a:p>
            <a:pPr marL="0" indent="0" algn="l">
              <a:buNone/>
            </a:pPr>
            <a:r>
              <a:rPr lang="en-US" sz="1700" b="1" dirty="0">
                <a:solidFill>
                  <a:srgbClr val="262320"/>
                </a:solidFill>
                <a:latin typeface="Calibri"/>
                <a:cs typeface="Calibri"/>
              </a:rPr>
              <a:t>The real study is Whitehall II</a:t>
            </a:r>
          </a:p>
        </p:txBody>
      </p:sp>
      <p:sp>
        <p:nvSpPr>
          <p:cNvPr id="409" name="TextBox"/>
          <p:cNvSpPr txBox="1"/>
          <p:nvPr/>
        </p:nvSpPr>
        <p:spPr>
          <a:xfrm>
            <a:off x="960120" y="3875000"/>
            <a:ext cx="6900000" cy="300000"/>
          </a:xfrm>
          <a:prstGeom prst="rect">
            <a:avLst/>
          </a:prstGeom>
          <a:noFill/>
        </p:spPr>
        <p:txBody>
          <a:bodyPr wrap="square" lIns="0" tIns="0" rIns="0" bIns="0" rtlCol="0" anchor="t">
            <a:noAutofit/>
          </a:bodyPr>
          <a:lstStyle/>
          <a:p>
            <a:pPr marL="0" indent="0" algn="l">
              <a:buNone/>
            </a:pPr>
            <a:r>
              <a:rPr lang="en-US" sz="1600" dirty="0">
                <a:solidFill>
                  <a:srgbClr val="1F3864"/>
                </a:solidFill>
                <a:latin typeface="Calibri"/>
                <a:cs typeface="Calibri"/>
              </a:rPr>
              <a:t>10,308 British civil servants, followed for 28 years.</a:t>
            </a:r>
          </a:p>
        </p:txBody>
      </p:sp>
      <p:sp>
        <p:nvSpPr>
          <p:cNvPr id="410" name="TextBox"/>
          <p:cNvSpPr txBox="1"/>
          <p:nvPr/>
        </p:nvSpPr>
        <p:spPr>
          <a:xfrm>
            <a:off x="8000000" y="3660000"/>
            <a:ext cx="3230000" cy="300000"/>
          </a:xfrm>
          <a:prstGeom prst="rect">
            <a:avLst/>
          </a:prstGeom>
          <a:noFill/>
        </p:spPr>
        <p:txBody>
          <a:bodyPr wrap="square" lIns="0" tIns="0" rIns="0" bIns="0" rtlCol="0" anchor="t">
            <a:noAutofit/>
          </a:bodyPr>
          <a:lstStyle/>
          <a:p>
            <a:pPr marL="0" indent="0" algn="r">
              <a:buNone/>
            </a:pPr>
            <a:r>
              <a:rPr lang="en-US" sz="1200" b="1" dirty="0">
                <a:solidFill>
                  <a:srgbClr val="1F3864"/>
                </a:solidFill>
                <a:latin typeface="Calibri"/>
                <a:cs typeface="Calibri"/>
              </a:rPr>
              <a:t>THE STUDY</a:t>
            </a:r>
          </a:p>
        </p:txBody>
      </p:sp>
      <p:sp>
        <p:nvSpPr>
          <p:cNvPr id="411" name="Card"/>
          <p:cNvSpPr/>
          <p:nvPr/>
        </p:nvSpPr>
        <p:spPr>
          <a:xfrm>
            <a:off x="685800" y="4390000"/>
            <a:ext cx="10820400" cy="980000"/>
          </a:xfrm>
          <a:prstGeom prst="roundRect">
            <a:avLst>
              <a:gd name="adj" fmla="val 8000"/>
            </a:avLst>
          </a:prstGeom>
          <a:solidFill>
            <a:srgbClr val="FFFFFF"/>
          </a:solidFill>
          <a:ln w="15875" cap="flat" cmpd="sng" algn="ctr">
            <a:solidFill>
              <a:srgbClr val="8A2A2A"/>
            </a:solidFill>
            <a:prstDash val="solid"/>
            <a:miter lim="800000"/>
          </a:ln>
        </p:spPr>
        <p:txBody>
          <a:bodyPr rtlCol="0" anchor="t"/>
          <a:lstStyle/>
          <a:p>
            <a:endParaRPr lang="en-US"/>
          </a:p>
        </p:txBody>
      </p:sp>
      <p:sp>
        <p:nvSpPr>
          <p:cNvPr id="412" name="TextBox"/>
          <p:cNvSpPr txBox="1"/>
          <p:nvPr/>
        </p:nvSpPr>
        <p:spPr>
          <a:xfrm>
            <a:off x="960120" y="4565000"/>
            <a:ext cx="6900000" cy="330000"/>
          </a:xfrm>
          <a:prstGeom prst="rect">
            <a:avLst/>
          </a:prstGeom>
          <a:noFill/>
        </p:spPr>
        <p:txBody>
          <a:bodyPr wrap="square" lIns="0" tIns="0" rIns="0" bIns="0" rtlCol="0" anchor="t">
            <a:noAutofit/>
          </a:bodyPr>
          <a:lstStyle/>
          <a:p>
            <a:pPr marL="0" indent="0" algn="l">
              <a:buNone/>
            </a:pPr>
            <a:r>
              <a:rPr lang="en-US" sz="1700" b="1" dirty="0">
                <a:solidFill>
                  <a:srgbClr val="262320"/>
                </a:solidFill>
                <a:latin typeface="Calibri"/>
                <a:cs typeface="Calibri"/>
              </a:rPr>
              <a:t>It measured activity, not birds</a:t>
            </a:r>
          </a:p>
        </p:txBody>
      </p:sp>
      <p:sp>
        <p:nvSpPr>
          <p:cNvPr id="413" name="TextBox"/>
          <p:cNvSpPr txBox="1"/>
          <p:nvPr/>
        </p:nvSpPr>
        <p:spPr>
          <a:xfrm>
            <a:off x="960120" y="4945000"/>
            <a:ext cx="6900000" cy="300000"/>
          </a:xfrm>
          <a:prstGeom prst="rect">
            <a:avLst/>
          </a:prstGeom>
          <a:noFill/>
        </p:spPr>
        <p:txBody>
          <a:bodyPr wrap="square" lIns="0" tIns="0" rIns="0" bIns="0" rtlCol="0" anchor="t">
            <a:noAutofit/>
          </a:bodyPr>
          <a:lstStyle/>
          <a:p>
            <a:pPr marL="0" indent="0" algn="l">
              <a:buNone/>
            </a:pPr>
            <a:r>
              <a:rPr lang="en-US" sz="1600" dirty="0">
                <a:solidFill>
                  <a:srgbClr val="8A2A2A"/>
                </a:solidFill>
                <a:latin typeface="Calibri"/>
                <a:cs typeface="Calibri"/>
              </a:rPr>
              <a:t>At first look, active people developed dementia less often.</a:t>
            </a:r>
          </a:p>
        </p:txBody>
      </p:sp>
      <p:sp>
        <p:nvSpPr>
          <p:cNvPr id="414" name="TextBox"/>
          <p:cNvSpPr txBox="1"/>
          <p:nvPr/>
        </p:nvSpPr>
        <p:spPr>
          <a:xfrm>
            <a:off x="8000000" y="4730000"/>
            <a:ext cx="3230000" cy="300000"/>
          </a:xfrm>
          <a:prstGeom prst="rect">
            <a:avLst/>
          </a:prstGeom>
          <a:noFill/>
        </p:spPr>
        <p:txBody>
          <a:bodyPr wrap="square" lIns="0" tIns="0" rIns="0" bIns="0" rtlCol="0" anchor="t">
            <a:noAutofit/>
          </a:bodyPr>
          <a:lstStyle/>
          <a:p>
            <a:pPr marL="0" indent="0" algn="r">
              <a:buNone/>
            </a:pPr>
            <a:r>
              <a:rPr lang="en-US" sz="1200" b="1" dirty="0">
                <a:solidFill>
                  <a:srgbClr val="8A2A2A"/>
                </a:solidFill>
                <a:latin typeface="Calibri"/>
                <a:cs typeface="Calibri"/>
              </a:rPr>
              <a:t>THE FINDING</a:t>
            </a:r>
          </a:p>
        </p:txBody>
      </p:sp>
      <p:sp>
        <p:nvSpPr>
          <p:cNvPr id="415" name="Band"/>
          <p:cNvSpPr/>
          <p:nvPr/>
        </p:nvSpPr>
        <p:spPr>
          <a:xfrm>
            <a:off x="685800" y="5600000"/>
            <a:ext cx="10820400" cy="840000"/>
          </a:xfrm>
          <a:prstGeom prst="roundRect">
            <a:avLst>
              <a:gd name="adj" fmla="val 8000"/>
            </a:avLst>
          </a:prstGeom>
          <a:solidFill>
            <a:srgbClr val="EFEFEF"/>
          </a:solidFill>
          <a:ln>
            <a:noFill/>
          </a:ln>
        </p:spPr>
        <p:txBody>
          <a:bodyPr lIns="182880" tIns="0" rIns="182880" bIns="0" rtlCol="0" anchor="ctr" anchorCtr="0"/>
          <a:lstStyle/>
          <a:p>
            <a:pPr marL="0" indent="0" algn="ctr">
              <a:buNone/>
            </a:pPr>
            <a:r>
              <a:rPr lang="en-US" sz="1400" b="1" dirty="0">
                <a:solidFill>
                  <a:srgbClr val="000000"/>
                </a:solidFill>
                <a:latin typeface="Calibri"/>
                <a:cs typeface="Calibri"/>
              </a:rPr>
              <a:t>A real association, in one real population.</a:t>
            </a:r>
          </a:p>
          <a:p>
            <a:pPr marL="0" indent="0" algn="ctr">
              <a:buNone/>
            </a:pPr>
            <a:r>
              <a:rPr lang="en-US" sz="1400" b="1" dirty="0">
                <a:solidFill>
                  <a:srgbClr val="000000"/>
                </a:solidFill>
                <a:latin typeface="Calibri"/>
                <a:cs typeface="Calibri"/>
              </a:rPr>
              <a:t>The next slides ask what produces the pattern.</a:t>
            </a:r>
          </a:p>
        </p:txBody>
      </p:sp>
      <p:sp>
        <p:nvSpPr>
          <p:cNvPr id="416" name="Source"/>
          <p:cNvSpPr txBox="1"/>
          <p:nvPr/>
        </p:nvSpPr>
        <p:spPr>
          <a:xfrm>
            <a:off x="685800" y="6520000"/>
            <a:ext cx="10820400" cy="274320"/>
          </a:xfrm>
          <a:prstGeom prst="rect">
            <a:avLst/>
          </a:prstGeom>
          <a:noFill/>
        </p:spPr>
        <p:txBody>
          <a:bodyPr wrap="square" lIns="0" tIns="0" rIns="0" bIns="0" rtlCol="0" anchor="t">
            <a:noAutofit/>
          </a:bodyPr>
          <a:lstStyle/>
          <a:p>
            <a:pPr marL="0" indent="0" algn="l">
              <a:buNone/>
            </a:pPr>
            <a:r>
              <a:rPr lang="en-US" sz="1000" i="1" dirty="0">
                <a:solidFill>
                  <a:srgbClr val="6B6660"/>
                </a:solidFill>
                <a:latin typeface="Calibri"/>
                <a:cs typeface="Calibri"/>
              </a:rPr>
              <a:t>Sabia S et al. Physical activity, cognitive decline, and risk of dementia: 28 year follow-up of the Whitehall II cohort. BMJ 2017;357:j2709. 10,308 participants. The bird-watching headline is illustrative.</a:t>
            </a:r>
          </a:p>
        </p:txBody>
      </p:sp>
    </p:spTree>
    <p:extLst>
      <p:ext uri="{BB962C8B-B14F-4D97-AF65-F5344CB8AC3E}">
        <p14:creationId xmlns:p14="http://schemas.microsoft.com/office/powerpoint/2010/main" val="4088995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Title"/>
          <p:cNvSpPr>
            <a:spLocks noGrp="1"/>
          </p:cNvSpPr>
          <p:nvPr>
            <p:ph type="title" idx="102"/>
          </p:nvPr>
        </p:nvSpPr>
        <p:spPr>
          <a:xfrm>
            <a:off x="1854200" y="868680"/>
            <a:ext cx="9652000" cy="1117600"/>
          </a:xfrm>
          <a:prstGeom prst="rect">
            <a:avLst/>
          </a:prstGeom>
          <a:noFill/>
          <a:ln/>
        </p:spPr>
        <p:txBody>
          <a:bodyPr wrap="square" lIns="0" tIns="0" rIns="0" bIns="0" rtlCol="0" anchor="ctr"/>
          <a:lstStyle/>
          <a:p>
            <a:pPr marL="0" indent="0" algn="l">
              <a:buNone/>
            </a:pPr>
            <a:r>
              <a:rPr lang="en-US" sz="3800" dirty="0"/>
              <a:t>Three Candidates for the Bird Watching Correlation</a:t>
            </a:r>
          </a:p>
        </p:txBody>
      </p:sp>
      <p:sp>
        <p:nvSpPr>
          <p:cNvPr id="224" name="Card"/>
          <p:cNvSpPr/>
          <p:nvPr/>
        </p:nvSpPr>
        <p:spPr>
          <a:xfrm>
            <a:off x="685800" y="2006600"/>
            <a:ext cx="10820400" cy="520000"/>
          </a:xfrm>
          <a:prstGeom prst="roundRect">
            <a:avLst>
              <a:gd name="adj" fmla="val 6000"/>
            </a:avLst>
          </a:prstGeom>
          <a:solidFill>
            <a:srgbClr val="F7EAE2"/>
          </a:solidFill>
          <a:ln>
            <a:noFill/>
          </a:ln>
        </p:spPr>
        <p:txBody>
          <a:bodyPr rtlCol="0" anchor="t"/>
          <a:lstStyle/>
          <a:p>
            <a:endParaRPr lang="en-US"/>
          </a:p>
        </p:txBody>
      </p:sp>
      <p:sp>
        <p:nvSpPr>
          <p:cNvPr id="225" name="TextBox"/>
          <p:cNvSpPr txBox="1"/>
          <p:nvPr/>
        </p:nvSpPr>
        <p:spPr>
          <a:xfrm>
            <a:off x="960120" y="2108200"/>
            <a:ext cx="10271760" cy="320000"/>
          </a:xfrm>
          <a:prstGeom prst="rect">
            <a:avLst/>
          </a:prstGeom>
          <a:noFill/>
        </p:spPr>
        <p:txBody>
          <a:bodyPr wrap="square" lIns="0" tIns="0" rIns="0" bIns="0" rtlCol="0" anchor="t">
            <a:noAutofit/>
          </a:bodyPr>
          <a:lstStyle/>
          <a:p>
            <a:pPr marL="0" indent="0" algn="l">
              <a:buNone/>
            </a:pPr>
            <a:r>
              <a:rPr lang="en-US" sz="1500" i="1" dirty="0">
                <a:solidFill>
                  <a:srgbClr val="262320"/>
                </a:solidFill>
                <a:latin typeface="Calibri"/>
                <a:cs typeface="Calibri"/>
              </a:rPr>
              <a:t>“Bird watchers show lower rates of dementia, study finds.”  </a:t>
            </a:r>
            <a:r>
              <a:rPr lang="en-US" sz="1200" dirty="0">
                <a:solidFill>
                  <a:srgbClr val="6B6660"/>
                </a:solidFill>
                <a:latin typeface="Calibri"/>
                <a:cs typeface="Calibri"/>
              </a:rPr>
              <a:t>(illustrative headline)</a:t>
            </a:r>
          </a:p>
        </p:txBody>
      </p:sp>
      <p:sp>
        <p:nvSpPr>
          <p:cNvPr id="226" name="TextBox"/>
          <p:cNvSpPr txBox="1"/>
          <p:nvPr/>
        </p:nvSpPr>
        <p:spPr>
          <a:xfrm>
            <a:off x="685800" y="2552700"/>
            <a:ext cx="10820400" cy="440000"/>
          </a:xfrm>
          <a:prstGeom prst="rect">
            <a:avLst/>
          </a:prstGeom>
          <a:noFill/>
        </p:spPr>
        <p:txBody>
          <a:bodyPr wrap="square" lIns="0" tIns="0" rIns="0" bIns="0" rtlCol="0" anchor="t">
            <a:noAutofit/>
          </a:bodyPr>
          <a:lstStyle/>
          <a:p>
            <a:pPr marL="0" indent="0" algn="l">
              <a:buNone/>
            </a:pPr>
            <a:r>
              <a:rPr lang="en-US" sz="1700" b="1" dirty="0">
                <a:solidFill>
                  <a:srgbClr val="15686B"/>
                </a:solidFill>
                <a:latin typeface="Calibri"/>
                <a:cs typeface="Calibri"/>
              </a:rPr>
              <a:t>A coincidence?   </a:t>
            </a:r>
            <a:r>
              <a:rPr lang="en-US" sz="1700" dirty="0">
                <a:solidFill>
                  <a:srgbClr val="262320"/>
                </a:solidFill>
                <a:latin typeface="Calibri"/>
                <a:cs typeface="Calibri"/>
              </a:rPr>
              <a:t>No. These are people, and the grid can be drawn.</a:t>
            </a:r>
          </a:p>
        </p:txBody>
      </p:sp>
      <p:sp>
        <p:nvSpPr>
          <p:cNvPr id="227" name="TextBox"/>
          <p:cNvSpPr txBox="1"/>
          <p:nvPr/>
        </p:nvSpPr>
        <p:spPr>
          <a:xfrm>
            <a:off x="685800" y="3000000"/>
            <a:ext cx="10820400" cy="440000"/>
          </a:xfrm>
          <a:prstGeom prst="rect">
            <a:avLst/>
          </a:prstGeom>
          <a:noFill/>
        </p:spPr>
        <p:txBody>
          <a:bodyPr wrap="square" lIns="0" tIns="0" rIns="0" bIns="0" rtlCol="0" anchor="t">
            <a:noAutofit/>
          </a:bodyPr>
          <a:lstStyle/>
          <a:p>
            <a:pPr marL="0" indent="0" algn="l">
              <a:buNone/>
            </a:pPr>
            <a:r>
              <a:rPr lang="en-US" sz="1700" b="1" dirty="0">
                <a:solidFill>
                  <a:srgbClr val="15686B"/>
                </a:solidFill>
                <a:latin typeface="Calibri"/>
                <a:cs typeface="Calibri"/>
              </a:rPr>
              <a:t>A common cause?   </a:t>
            </a:r>
            <a:r>
              <a:rPr lang="en-US" sz="1700" dirty="0">
                <a:solidFill>
                  <a:srgbClr val="262320"/>
                </a:solidFill>
                <a:latin typeface="Calibri"/>
                <a:cs typeface="Calibri"/>
              </a:rPr>
              <a:t>Maybe. Education, income, mobility, green space.</a:t>
            </a:r>
          </a:p>
        </p:txBody>
      </p:sp>
      <p:sp>
        <p:nvSpPr>
          <p:cNvPr id="228" name="TextBox"/>
          <p:cNvSpPr txBox="1"/>
          <p:nvPr/>
        </p:nvSpPr>
        <p:spPr>
          <a:xfrm>
            <a:off x="685800" y="3500000"/>
            <a:ext cx="10820400" cy="440000"/>
          </a:xfrm>
          <a:prstGeom prst="rect">
            <a:avLst/>
          </a:prstGeom>
          <a:noFill/>
        </p:spPr>
        <p:txBody>
          <a:bodyPr wrap="square" lIns="0" tIns="0" rIns="0" bIns="0" rtlCol="0" anchor="t">
            <a:noAutofit/>
          </a:bodyPr>
          <a:lstStyle/>
          <a:p>
            <a:pPr marL="0" indent="0" algn="l">
              <a:buNone/>
            </a:pPr>
            <a:r>
              <a:rPr lang="en-US" sz="1700" b="1" dirty="0">
                <a:solidFill>
                  <a:srgbClr val="15686B"/>
                </a:solidFill>
                <a:latin typeface="Calibri"/>
                <a:cs typeface="Calibri"/>
              </a:rPr>
              <a:t>Cognition itself?   </a:t>
            </a:r>
            <a:r>
              <a:rPr lang="en-US" sz="1700" b="1" dirty="0">
                <a:solidFill>
                  <a:srgbClr val="1F3864"/>
                </a:solidFill>
                <a:latin typeface="Calibri"/>
                <a:cs typeface="Calibri"/>
              </a:rPr>
              <a:t>A sharp mind sends people out with binoculars and keeps them off the diagnosis list.</a:t>
            </a:r>
          </a:p>
        </p:txBody>
      </p:sp>
      <p:pic>
        <p:nvPicPr>
          <p:cNvPr id="229" name="BirdRivals" descr="Two diagrams: bird watching causing dementia, against dementia causing less bird watching"/>
          <p:cNvPicPr>
            <a:picLocks noChangeAspect="1"/>
          </p:cNvPicPr>
          <p:nvPr/>
        </p:nvPicPr>
        <p:blipFill>
          <a:blip r:embed="rId3"/>
          <a:stretch>
            <a:fillRect/>
          </a:stretch>
        </p:blipFill>
        <p:spPr>
          <a:xfrm>
            <a:off x="2598857" y="3950000"/>
            <a:ext cx="6994285" cy="1800000"/>
          </a:xfrm>
          <a:prstGeom prst="rect">
            <a:avLst/>
          </a:prstGeom>
        </p:spPr>
      </p:pic>
      <p:sp>
        <p:nvSpPr>
          <p:cNvPr id="230" name="Band"/>
          <p:cNvSpPr/>
          <p:nvPr/>
        </p:nvSpPr>
        <p:spPr>
          <a:xfrm>
            <a:off x="685800" y="5760000"/>
            <a:ext cx="10820400" cy="620000"/>
          </a:xfrm>
          <a:prstGeom prst="roundRect">
            <a:avLst>
              <a:gd name="adj" fmla="val 8000"/>
            </a:avLst>
          </a:prstGeom>
          <a:solidFill>
            <a:srgbClr val="EFEFEF"/>
          </a:solidFill>
          <a:ln>
            <a:noFill/>
          </a:ln>
        </p:spPr>
        <p:txBody>
          <a:bodyPr lIns="182880" tIns="0" rIns="182880" bIns="0" rtlCol="0" anchor="ctr" anchorCtr="0"/>
          <a:lstStyle/>
          <a:p>
            <a:pPr marL="0" indent="0" algn="ctr">
              <a:buNone/>
            </a:pPr>
            <a:r>
              <a:rPr lang="en-US" sz="1400" b="1" dirty="0">
                <a:solidFill>
                  <a:srgbClr val="000000"/>
                </a:solidFill>
                <a:latin typeface="Calibri"/>
                <a:cs typeface="Calibri"/>
              </a:rPr>
              <a:t>Counting the two groups cannot pick the diagram. Cognition drives both columns, years before any diagnosis; the bird watching itself does nothing.</a:t>
            </a:r>
          </a:p>
        </p:txBody>
      </p:sp>
      <p:sp>
        <p:nvSpPr>
          <p:cNvPr id="231" name="Source"/>
          <p:cNvSpPr txBox="1"/>
          <p:nvPr/>
        </p:nvSpPr>
        <p:spPr>
          <a:xfrm>
            <a:off x="685800" y="6480000"/>
            <a:ext cx="10820400" cy="274320"/>
          </a:xfrm>
          <a:prstGeom prst="rect">
            <a:avLst/>
          </a:prstGeom>
          <a:noFill/>
        </p:spPr>
        <p:txBody>
          <a:bodyPr wrap="square" lIns="0" tIns="0" rIns="0" bIns="0" rtlCol="0" anchor="t">
            <a:noAutofit/>
          </a:bodyPr>
          <a:lstStyle/>
          <a:p>
            <a:pPr marL="0" indent="0" algn="l">
              <a:buNone/>
            </a:pPr>
            <a:r>
              <a:rPr lang="en-US" sz="1100" i="1" dirty="0">
                <a:solidFill>
                  <a:srgbClr val="6B6660"/>
                </a:solidFill>
                <a:latin typeface="Calibri"/>
                <a:cs typeface="Calibri"/>
              </a:rPr>
              <a:t>Sabia S et al. Physical activity and risk of dementia: 28 year follow-up of Whitehall II. BMJ 2017;357:j2709.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 name="Title"/>
          <p:cNvSpPr>
            <a:spLocks noGrp="1"/>
          </p:cNvSpPr>
          <p:nvPr>
            <p:ph type="title" idx="102"/>
          </p:nvPr>
        </p:nvSpPr>
        <p:spPr>
          <a:xfrm>
            <a:off x="1854200" y="868680"/>
            <a:ext cx="9652000" cy="1117600"/>
          </a:xfrm>
          <a:prstGeom prst="rect">
            <a:avLst/>
          </a:prstGeom>
          <a:noFill/>
          <a:ln/>
        </p:spPr>
        <p:txBody>
          <a:bodyPr wrap="square" lIns="0" tIns="0" rIns="0" bIns="0" rtlCol="0" anchor="ctr"/>
          <a:lstStyle/>
          <a:p>
            <a:pPr marL="0" indent="0" algn="l">
              <a:buNone/>
            </a:pPr>
            <a:r>
              <a:rPr lang="en-US" sz="3800" dirty="0"/>
              <a:t>What Explains the Bird Watching Data Instead</a:t>
            </a:r>
          </a:p>
        </p:txBody>
      </p:sp>
      <p:sp>
        <p:nvSpPr>
          <p:cNvPr id="702" name="Eyebrow"/>
          <p:cNvSpPr txBox="1"/>
          <p:nvPr/>
        </p:nvSpPr>
        <p:spPr>
          <a:xfrm>
            <a:off x="685800" y="2037080"/>
            <a:ext cx="10820400" cy="431800"/>
          </a:xfrm>
          <a:prstGeom prst="rect">
            <a:avLst/>
          </a:prstGeom>
          <a:noFill/>
        </p:spPr>
        <p:txBody>
          <a:bodyPr wrap="none" lIns="0" tIns="0" rIns="0" bIns="0" rtlCol="0" anchor="t">
            <a:noAutofit/>
          </a:bodyPr>
          <a:lstStyle/>
          <a:p>
            <a:pPr marL="0" indent="0" algn="l">
              <a:buNone/>
            </a:pPr>
            <a:endParaRPr/>
          </a:p>
        </p:txBody>
      </p:sp>
      <p:sp>
        <p:nvSpPr>
          <p:cNvPr id="703" name="TextBox"/>
          <p:cNvSpPr txBox="1"/>
          <p:nvPr/>
        </p:nvSpPr>
        <p:spPr>
          <a:xfrm>
            <a:off x="685800" y="2350000"/>
            <a:ext cx="10820400" cy="640000"/>
          </a:xfrm>
          <a:prstGeom prst="rect">
            <a:avLst/>
          </a:prstGeom>
          <a:noFill/>
        </p:spPr>
        <p:txBody>
          <a:bodyPr wrap="square" lIns="0" tIns="0" rIns="0" bIns="0" rtlCol="0" anchor="t">
            <a:noAutofit/>
          </a:bodyPr>
          <a:lstStyle/>
          <a:p>
            <a:pPr marL="0" indent="0" algn="l">
              <a:buNone/>
            </a:pPr>
            <a:r>
              <a:rPr lang="en-US" sz="1800" b="1" dirty="0">
                <a:solidFill>
                  <a:srgbClr val="262320"/>
                </a:solidFill>
                <a:latin typeface="Calibri"/>
                <a:cs typeface="Calibri"/>
              </a:rPr>
              <a:t>Whitehall II watched for 28 years. Activity was identical until about ten years before diagnosis, then fell away: cognition was already declining, and it took the hobby with it.</a:t>
            </a:r>
          </a:p>
        </p:txBody>
      </p:sp>
      <p:pic>
        <p:nvPicPr>
          <p:cNvPr id="704" name="BirdFork" descr="Good cognition years before any diagnosis drives both going bird watching and not being diagnosed with dementia; the arrow from bird watching to dementia is crossed out"/>
          <p:cNvPicPr>
            <a:picLocks noChangeAspect="1"/>
          </p:cNvPicPr>
          <p:nvPr/>
        </p:nvPicPr>
        <p:blipFill>
          <a:blip r:embed="rId2"/>
          <a:stretch>
            <a:fillRect/>
          </a:stretch>
        </p:blipFill>
        <p:spPr>
          <a:xfrm>
            <a:off x="3375022" y="3020000"/>
            <a:ext cx="5441956" cy="2450000"/>
          </a:xfrm>
          <a:prstGeom prst="rect">
            <a:avLst/>
          </a:prstGeom>
        </p:spPr>
      </p:pic>
      <p:sp>
        <p:nvSpPr>
          <p:cNvPr id="705" name="Band"/>
          <p:cNvSpPr/>
          <p:nvPr/>
        </p:nvSpPr>
        <p:spPr>
          <a:xfrm>
            <a:off x="685800" y="5560000"/>
            <a:ext cx="10820400" cy="640000"/>
          </a:xfrm>
          <a:prstGeom prst="roundRect">
            <a:avLst>
              <a:gd name="adj" fmla="val 8000"/>
            </a:avLst>
          </a:prstGeom>
          <a:solidFill>
            <a:srgbClr val="EFEFEF"/>
          </a:solidFill>
          <a:ln>
            <a:noFill/>
          </a:ln>
        </p:spPr>
        <p:txBody>
          <a:bodyPr lIns="182880" tIns="0" rIns="182880" bIns="0" rtlCol="0" anchor="ctr" anchorCtr="0"/>
          <a:lstStyle/>
          <a:p>
            <a:pPr marL="0" indent="0" algn="ctr">
              <a:buNone/>
            </a:pPr>
            <a:r>
              <a:rPr lang="en-US" sz="1400" b="1" dirty="0">
                <a:solidFill>
                  <a:srgbClr val="000000"/>
                </a:solidFill>
                <a:latin typeface="Calibri"/>
                <a:cs typeface="Calibri"/>
              </a:rPr>
              <a:t>Followed for 28 years, the activity made no difference. Bird watching does not prevent dementia; the correlation is real and the arrow is not.</a:t>
            </a:r>
          </a:p>
        </p:txBody>
      </p:sp>
      <p:sp>
        <p:nvSpPr>
          <p:cNvPr id="706" name="Source"/>
          <p:cNvSpPr txBox="1"/>
          <p:nvPr/>
        </p:nvSpPr>
        <p:spPr>
          <a:xfrm>
            <a:off x="685800" y="6480000"/>
            <a:ext cx="10820400" cy="300000"/>
          </a:xfrm>
          <a:prstGeom prst="rect">
            <a:avLst/>
          </a:prstGeom>
          <a:noFill/>
        </p:spPr>
        <p:txBody>
          <a:bodyPr wrap="square" lIns="0" tIns="0" rIns="0" bIns="0" rtlCol="0" anchor="t">
            <a:noAutofit/>
          </a:bodyPr>
          <a:lstStyle/>
          <a:p>
            <a:pPr marL="0" indent="0" algn="l">
              <a:buNone/>
            </a:pPr>
            <a:r>
              <a:rPr lang="en-US" sz="1000" i="1" dirty="0">
                <a:solidFill>
                  <a:srgbClr val="6B6660"/>
                </a:solidFill>
                <a:latin typeface="Calibri"/>
                <a:cs typeface="Calibri"/>
              </a:rPr>
              <a:t>Sabia S et al., physical activity, cognitive decline, and risk of dementia: 28 year follow-up of the Whitehall II cohort. BMJ 2017;357:j2709. 10,308 people; hazard ratio for meeting activity guidelines 1.00, 95% CI 0.80 to 1.24; activity fell in the nine years before diagnosis.</a:t>
            </a:r>
          </a:p>
        </p:txBody>
      </p:sp>
    </p:spTree>
    <p:extLst>
      <p:ext uri="{BB962C8B-B14F-4D97-AF65-F5344CB8AC3E}">
        <p14:creationId xmlns:p14="http://schemas.microsoft.com/office/powerpoint/2010/main" val="31843489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Title"/>
          <p:cNvSpPr>
            <a:spLocks noGrp="1"/>
          </p:cNvSpPr>
          <p:nvPr>
            <p:ph type="title" idx="102"/>
          </p:nvPr>
        </p:nvSpPr>
        <p:spPr>
          <a:xfrm>
            <a:off x="1854200" y="868680"/>
            <a:ext cx="9652000" cy="1168400"/>
          </a:xfrm>
          <a:prstGeom prst="rect">
            <a:avLst/>
          </a:prstGeom>
          <a:noFill/>
          <a:ln/>
        </p:spPr>
        <p:txBody>
          <a:bodyPr wrap="square" lIns="0" tIns="0" rIns="0" bIns="0" rtlCol="0" anchor="ctr"/>
          <a:lstStyle/>
          <a:p>
            <a:pPr marL="0" indent="0" algn="l">
              <a:buNone/>
            </a:pPr>
            <a:r>
              <a:rPr lang="en-US" sz="3800" dirty="0"/>
              <a:t>The Claim: Vaccines Cause Autism</a:t>
            </a:r>
          </a:p>
        </p:txBody>
      </p:sp>
      <p:sp>
        <p:nvSpPr>
          <p:cNvPr id="125" name="Card"/>
          <p:cNvSpPr/>
          <p:nvPr/>
        </p:nvSpPr>
        <p:spPr>
          <a:xfrm>
            <a:off x="685800" y="2150000"/>
            <a:ext cx="5232400" cy="1980000"/>
          </a:xfrm>
          <a:prstGeom prst="roundRect">
            <a:avLst>
              <a:gd name="adj" fmla="val 6000"/>
            </a:avLst>
          </a:prstGeom>
          <a:solidFill>
            <a:srgbClr val="FFFFFF"/>
          </a:solidFill>
          <a:ln w="15875" cap="flat" cmpd="sng" algn="ctr">
            <a:solidFill>
              <a:srgbClr val="15686B"/>
            </a:solidFill>
            <a:prstDash val="solid"/>
            <a:miter lim="800000"/>
          </a:ln>
        </p:spPr>
        <p:txBody>
          <a:bodyPr rtlCol="0" anchor="t"/>
          <a:lstStyle/>
          <a:p>
            <a:endParaRPr lang="en-US"/>
          </a:p>
        </p:txBody>
      </p:sp>
      <p:sp>
        <p:nvSpPr>
          <p:cNvPr id="126" name="TextBox"/>
          <p:cNvSpPr txBox="1"/>
          <p:nvPr/>
        </p:nvSpPr>
        <p:spPr>
          <a:xfrm>
            <a:off x="822960" y="2332880"/>
            <a:ext cx="4958080" cy="1614240"/>
          </a:xfrm>
          <a:prstGeom prst="rect">
            <a:avLst/>
          </a:prstGeom>
          <a:noFill/>
        </p:spPr>
        <p:txBody>
          <a:bodyPr wrap="square" lIns="0" tIns="0" rIns="0" bIns="0" rtlCol="0" anchor="t">
            <a:noAutofit/>
          </a:bodyPr>
          <a:lstStyle/>
          <a:p>
            <a:pPr marL="0" indent="0" algn="ctr">
              <a:buNone/>
            </a:pPr>
            <a:r>
              <a:rPr lang="en-US" sz="4400" b="1" dirty="0">
                <a:solidFill>
                  <a:srgbClr val="15686B"/>
                </a:solidFill>
                <a:latin typeface="Bookman Old Style"/>
                <a:cs typeface="Bookman Old Style"/>
              </a:rPr>
              <a:t>1 in 150</a:t>
            </a:r>
          </a:p>
          <a:p>
            <a:pPr marL="0" indent="0" algn="ctr">
              <a:buNone/>
            </a:pPr>
            <a:r>
              <a:rPr lang="en-US" sz="1300" dirty="0">
                <a:solidFill>
                  <a:srgbClr val="262320"/>
                </a:solidFill>
                <a:latin typeface="Calibri"/>
                <a:cs typeface="Calibri"/>
              </a:rPr>
              <a:t>8-year-olds identified as autistic, CDC surveillance year 2000</a:t>
            </a:r>
          </a:p>
        </p:txBody>
      </p:sp>
      <p:sp>
        <p:nvSpPr>
          <p:cNvPr id="127" name="Card"/>
          <p:cNvSpPr/>
          <p:nvPr/>
        </p:nvSpPr>
        <p:spPr>
          <a:xfrm>
            <a:off x="6273800" y="2150000"/>
            <a:ext cx="5232400" cy="1980000"/>
          </a:xfrm>
          <a:prstGeom prst="roundRect">
            <a:avLst>
              <a:gd name="adj" fmla="val 6000"/>
            </a:avLst>
          </a:prstGeom>
          <a:solidFill>
            <a:srgbClr val="FFFFFF"/>
          </a:solidFill>
          <a:ln w="15875" cap="flat" cmpd="sng" algn="ctr">
            <a:solidFill>
              <a:srgbClr val="15686B"/>
            </a:solidFill>
            <a:prstDash val="solid"/>
            <a:miter lim="800000"/>
          </a:ln>
        </p:spPr>
        <p:txBody>
          <a:bodyPr rtlCol="0" anchor="t"/>
          <a:lstStyle/>
          <a:p>
            <a:endParaRPr lang="en-US"/>
          </a:p>
        </p:txBody>
      </p:sp>
      <p:sp>
        <p:nvSpPr>
          <p:cNvPr id="128" name="TextBox"/>
          <p:cNvSpPr txBox="1"/>
          <p:nvPr/>
        </p:nvSpPr>
        <p:spPr>
          <a:xfrm>
            <a:off x="6410960" y="2332880"/>
            <a:ext cx="4958080" cy="1614240"/>
          </a:xfrm>
          <a:prstGeom prst="rect">
            <a:avLst/>
          </a:prstGeom>
          <a:noFill/>
        </p:spPr>
        <p:txBody>
          <a:bodyPr wrap="square" lIns="0" tIns="0" rIns="0" bIns="0" rtlCol="0" anchor="t">
            <a:noAutofit/>
          </a:bodyPr>
          <a:lstStyle/>
          <a:p>
            <a:pPr marL="0" indent="0" algn="ctr">
              <a:buNone/>
            </a:pPr>
            <a:r>
              <a:rPr lang="en-US" sz="4400" b="1" dirty="0">
                <a:solidFill>
                  <a:srgbClr val="8A2A2A"/>
                </a:solidFill>
                <a:latin typeface="Bookman Old Style"/>
                <a:cs typeface="Bookman Old Style"/>
              </a:rPr>
              <a:t>1 in 31</a:t>
            </a:r>
          </a:p>
          <a:p>
            <a:pPr marL="0" indent="0" algn="ctr">
              <a:buNone/>
            </a:pPr>
            <a:r>
              <a:rPr lang="en-US" sz="1300" dirty="0">
                <a:solidFill>
                  <a:srgbClr val="262320"/>
                </a:solidFill>
                <a:latin typeface="Calibri"/>
                <a:cs typeface="Calibri"/>
              </a:rPr>
              <a:t>8-year-olds identified as autistic, surveillance year 2022</a:t>
            </a:r>
          </a:p>
        </p:txBody>
      </p:sp>
      <p:sp>
        <p:nvSpPr>
          <p:cNvPr id="129" name="TextBox"/>
          <p:cNvSpPr txBox="1"/>
          <p:nvPr/>
        </p:nvSpPr>
        <p:spPr>
          <a:xfrm>
            <a:off x="685800" y="4310000"/>
            <a:ext cx="10820400" cy="640080"/>
          </a:xfrm>
          <a:prstGeom prst="rect">
            <a:avLst/>
          </a:prstGeom>
          <a:noFill/>
        </p:spPr>
        <p:txBody>
          <a:bodyPr wrap="square" lIns="0" tIns="0" rIns="0" bIns="0" rtlCol="0" anchor="t">
            <a:noAutofit/>
          </a:bodyPr>
          <a:lstStyle/>
          <a:p>
            <a:pPr marL="0" indent="0" algn="l">
              <a:buNone/>
            </a:pPr>
            <a:r>
              <a:rPr lang="en-US" sz="2000" b="1" dirty="0">
                <a:solidFill>
                  <a:srgbClr val="262320"/>
                </a:solidFill>
                <a:latin typeface="Calibri"/>
                <a:cs typeface="Calibri"/>
              </a:rPr>
              <a:t>Over the same years the childhood vaccine schedule grew. Both lines went up.</a:t>
            </a:r>
          </a:p>
          <a:p>
            <a:pPr marL="0" indent="0" algn="l">
              <a:buNone/>
            </a:pPr>
            <a:r>
              <a:rPr lang="en-US" sz="1400" i="1" dirty="0">
                <a:solidFill>
                  <a:srgbClr val="1F3864"/>
                </a:solidFill>
                <a:latin typeface="Calibri"/>
                <a:cs typeface="Calibri"/>
              </a:rPr>
              <a:t>Two rising lines, like the cheese chart, but this time with children in it. The question is what drives the second line.</a:t>
            </a:r>
          </a:p>
        </p:txBody>
      </p:sp>
      <p:sp>
        <p:nvSpPr>
          <p:cNvPr id="130" name="Band"/>
          <p:cNvSpPr/>
          <p:nvPr/>
        </p:nvSpPr>
        <p:spPr>
          <a:xfrm>
            <a:off x="685800" y="5480000"/>
            <a:ext cx="10820400" cy="838200"/>
          </a:xfrm>
          <a:prstGeom prst="roundRect">
            <a:avLst>
              <a:gd name="adj" fmla="val 8000"/>
            </a:avLst>
          </a:prstGeom>
          <a:solidFill>
            <a:srgbClr val="EFEFEF"/>
          </a:solidFill>
          <a:ln>
            <a:noFill/>
          </a:ln>
        </p:spPr>
        <p:txBody>
          <a:bodyPr lIns="182880" tIns="0" rIns="182880" bIns="0" rtlCol="0" anchor="ctr" anchorCtr="0"/>
          <a:lstStyle/>
          <a:p>
            <a:pPr marL="0" indent="0" algn="ctr">
              <a:buNone/>
            </a:pPr>
            <a:r>
              <a:rPr lang="en-US" sz="1400" b="1" dirty="0">
                <a:solidFill>
                  <a:srgbClr val="000000"/>
                </a:solidFill>
                <a:latin typeface="Calibri"/>
                <a:cs typeface="Calibri"/>
              </a:rPr>
              <a:t>Two rising series make a correlation. Something else may be driving the count.</a:t>
            </a:r>
          </a:p>
        </p:txBody>
      </p:sp>
      <p:sp>
        <p:nvSpPr>
          <p:cNvPr id="131" name="Source"/>
          <p:cNvSpPr txBox="1"/>
          <p:nvPr/>
        </p:nvSpPr>
        <p:spPr>
          <a:xfrm>
            <a:off x="685800" y="6480000"/>
            <a:ext cx="10820400" cy="274320"/>
          </a:xfrm>
          <a:prstGeom prst="rect">
            <a:avLst/>
          </a:prstGeom>
          <a:noFill/>
        </p:spPr>
        <p:txBody>
          <a:bodyPr wrap="square" lIns="0" tIns="0" rIns="0" bIns="0" rtlCol="0" anchor="t">
            <a:noAutofit/>
          </a:bodyPr>
          <a:lstStyle/>
          <a:p>
            <a:pPr marL="0" indent="0" algn="l">
              <a:buNone/>
            </a:pPr>
            <a:r>
              <a:rPr lang="en-US" sz="1100" i="1" dirty="0">
                <a:solidFill>
                  <a:srgbClr val="6B6660"/>
                </a:solidFill>
                <a:latin typeface="Calibri"/>
                <a:cs typeface="Calibri"/>
              </a:rPr>
              <a:t>Shaw KA et al. Prevalence and early identification of autism spectrum disorder among children aged 4 and 8 years, ADDM Network, 16 sites, United States, 2022. MMWR Surveill Summ 2025;74(2):1-22. 6.7 per 1,000 in 2000; 32.2 per 1,000 in 2022.</a:t>
            </a:r>
          </a:p>
        </p:txBody>
      </p:sp>
    </p:spTree>
    <p:extLst>
      <p:ext uri="{BB962C8B-B14F-4D97-AF65-F5344CB8AC3E}">
        <p14:creationId xmlns:p14="http://schemas.microsoft.com/office/powerpoint/2010/main" val="10998746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Title"/>
          <p:cNvSpPr>
            <a:spLocks noGrp="1"/>
          </p:cNvSpPr>
          <p:nvPr>
            <p:ph type="title" idx="102"/>
          </p:nvPr>
        </p:nvSpPr>
        <p:spPr>
          <a:xfrm>
            <a:off x="1854200" y="868680"/>
            <a:ext cx="9652000" cy="868680"/>
          </a:xfrm>
          <a:prstGeom prst="rect">
            <a:avLst/>
          </a:prstGeom>
          <a:noFill/>
          <a:ln/>
        </p:spPr>
        <p:txBody>
          <a:bodyPr wrap="square" lIns="0" tIns="0" rIns="0" bIns="0" rtlCol="0" anchor="ctr"/>
          <a:lstStyle/>
          <a:p>
            <a:pPr marL="0" indent="0" algn="l">
              <a:buNone/>
            </a:pPr>
            <a:r>
              <a:rPr lang="en-US" sz="3800" dirty="0"/>
              <a:t>The Autism Count Measures a Moving Category</a:t>
            </a:r>
          </a:p>
        </p:txBody>
      </p:sp>
      <p:sp>
        <p:nvSpPr>
          <p:cNvPr id="114" name="Eyebrow"/>
          <p:cNvSpPr txBox="1"/>
          <p:nvPr/>
        </p:nvSpPr>
        <p:spPr>
          <a:xfrm>
            <a:off x="685800" y="1728399"/>
            <a:ext cx="10820400" cy="431800"/>
          </a:xfrm>
          <a:prstGeom prst="rect">
            <a:avLst/>
          </a:prstGeom>
          <a:noFill/>
        </p:spPr>
        <p:txBody>
          <a:bodyPr wrap="none" lIns="0" tIns="0" rIns="0" bIns="0" rtlCol="0" anchor="t">
            <a:noAutofit/>
          </a:bodyPr>
          <a:lstStyle/>
          <a:p>
            <a:pPr marL="0" indent="0" algn="l">
              <a:buNone/>
            </a:pPr>
            <a:endParaRPr/>
          </a:p>
        </p:txBody>
      </p:sp>
      <p:sp>
        <p:nvSpPr>
          <p:cNvPr id="115" name="Card"/>
          <p:cNvSpPr/>
          <p:nvPr/>
        </p:nvSpPr>
        <p:spPr>
          <a:xfrm>
            <a:off x="685800" y="2320000"/>
            <a:ext cx="2250000" cy="1900000"/>
          </a:xfrm>
          <a:prstGeom prst="roundRect">
            <a:avLst>
              <a:gd name="adj" fmla="val 6000"/>
            </a:avLst>
          </a:prstGeom>
          <a:solidFill>
            <a:srgbClr val="FFFFFF"/>
          </a:solidFill>
          <a:ln w="15875" cap="flat" cmpd="sng" algn="ctr">
            <a:solidFill>
              <a:srgbClr val="15686B"/>
            </a:solidFill>
            <a:prstDash val="solid"/>
            <a:miter lim="800000"/>
          </a:ln>
        </p:spPr>
        <p:txBody>
          <a:bodyPr rtlCol="0" anchor="t"/>
          <a:lstStyle/>
          <a:p>
            <a:endParaRPr lang="en-US"/>
          </a:p>
        </p:txBody>
      </p:sp>
      <p:sp>
        <p:nvSpPr>
          <p:cNvPr id="116" name="TextBox"/>
          <p:cNvSpPr txBox="1"/>
          <p:nvPr/>
        </p:nvSpPr>
        <p:spPr>
          <a:xfrm>
            <a:off x="775800" y="2502880"/>
            <a:ext cx="2070000" cy="1534240"/>
          </a:xfrm>
          <a:prstGeom prst="rect">
            <a:avLst/>
          </a:prstGeom>
          <a:noFill/>
        </p:spPr>
        <p:txBody>
          <a:bodyPr wrap="square" lIns="0" tIns="0" rIns="0" bIns="0" rtlCol="0" anchor="t">
            <a:noAutofit/>
          </a:bodyPr>
          <a:lstStyle/>
          <a:p>
            <a:pPr marL="0" indent="0" algn="ctr">
              <a:buNone/>
            </a:pPr>
            <a:r>
              <a:rPr lang="en-US" sz="3600" b="1" dirty="0">
                <a:solidFill>
                  <a:srgbClr val="15686B"/>
                </a:solidFill>
                <a:latin typeface="Bookman Old Style"/>
                <a:cs typeface="Bookman Old Style"/>
              </a:rPr>
              <a:t>60%</a:t>
            </a:r>
          </a:p>
          <a:p>
            <a:pPr marL="0" indent="0" algn="ctr">
              <a:buNone/>
            </a:pPr>
            <a:r>
              <a:rPr lang="en-US" sz="1200" dirty="0">
                <a:solidFill>
                  <a:srgbClr val="262320"/>
                </a:solidFill>
                <a:latin typeface="Calibri"/>
                <a:cs typeface="Calibri"/>
              </a:rPr>
              <a:t>of Denmark's rise explained by the 1994 criteria change and 1995 outpatient recording alone (95% CI 33 to 87%)</a:t>
            </a:r>
          </a:p>
        </p:txBody>
      </p:sp>
      <p:sp>
        <p:nvSpPr>
          <p:cNvPr id="117" name="Card"/>
          <p:cNvSpPr/>
          <p:nvPr/>
        </p:nvSpPr>
        <p:spPr>
          <a:xfrm>
            <a:off x="3085800" y="2320000"/>
            <a:ext cx="2250000" cy="1900000"/>
          </a:xfrm>
          <a:prstGeom prst="roundRect">
            <a:avLst>
              <a:gd name="adj" fmla="val 6000"/>
            </a:avLst>
          </a:prstGeom>
          <a:solidFill>
            <a:srgbClr val="FFFFFF"/>
          </a:solidFill>
          <a:ln w="15875" cap="flat" cmpd="sng" algn="ctr">
            <a:solidFill>
              <a:srgbClr val="15686B"/>
            </a:solidFill>
            <a:prstDash val="solid"/>
            <a:miter lim="800000"/>
          </a:ln>
        </p:spPr>
        <p:txBody>
          <a:bodyPr rtlCol="0" anchor="t"/>
          <a:lstStyle/>
          <a:p>
            <a:endParaRPr lang="en-US"/>
          </a:p>
        </p:txBody>
      </p:sp>
      <p:sp>
        <p:nvSpPr>
          <p:cNvPr id="118" name="TextBox"/>
          <p:cNvSpPr txBox="1"/>
          <p:nvPr/>
        </p:nvSpPr>
        <p:spPr>
          <a:xfrm>
            <a:off x="3175800" y="2502880"/>
            <a:ext cx="2070000" cy="1534240"/>
          </a:xfrm>
          <a:prstGeom prst="rect">
            <a:avLst/>
          </a:prstGeom>
          <a:noFill/>
        </p:spPr>
        <p:txBody>
          <a:bodyPr wrap="square" lIns="0" tIns="0" rIns="0" bIns="0" rtlCol="0" anchor="t">
            <a:noAutofit/>
          </a:bodyPr>
          <a:lstStyle/>
          <a:p>
            <a:pPr marL="0" indent="0" algn="ctr">
              <a:buNone/>
            </a:pPr>
            <a:r>
              <a:rPr lang="en-US" sz="3600" b="1" dirty="0">
                <a:solidFill>
                  <a:srgbClr val="15686B"/>
                </a:solidFill>
                <a:latin typeface="Bookman Old Style"/>
                <a:cs typeface="Bookman Old Style"/>
              </a:rPr>
              <a:t>5×</a:t>
            </a:r>
          </a:p>
          <a:p>
            <a:pPr marL="0" indent="0" algn="ctr">
              <a:buNone/>
            </a:pPr>
            <a:r>
              <a:rPr lang="en-US" sz="1200" dirty="0">
                <a:solidFill>
                  <a:srgbClr val="262320"/>
                </a:solidFill>
                <a:latin typeface="Calibri"/>
                <a:cs typeface="Calibri"/>
              </a:rPr>
              <a:t>spread between CDC sites in one year: 9.7 per 1,000 in Laredo, 53.1 in California, same criteria</a:t>
            </a:r>
          </a:p>
        </p:txBody>
      </p:sp>
      <p:sp>
        <p:nvSpPr>
          <p:cNvPr id="119" name="Card"/>
          <p:cNvSpPr/>
          <p:nvPr/>
        </p:nvSpPr>
        <p:spPr>
          <a:xfrm>
            <a:off x="5485800" y="2320000"/>
            <a:ext cx="2250000" cy="1900000"/>
          </a:xfrm>
          <a:prstGeom prst="roundRect">
            <a:avLst>
              <a:gd name="adj" fmla="val 6000"/>
            </a:avLst>
          </a:prstGeom>
          <a:solidFill>
            <a:srgbClr val="FFFFFF"/>
          </a:solidFill>
          <a:ln w="15875" cap="flat" cmpd="sng" algn="ctr">
            <a:solidFill>
              <a:srgbClr val="15686B"/>
            </a:solidFill>
            <a:prstDash val="solid"/>
            <a:miter lim="800000"/>
          </a:ln>
        </p:spPr>
        <p:txBody>
          <a:bodyPr rtlCol="0" anchor="t"/>
          <a:lstStyle/>
          <a:p>
            <a:endParaRPr lang="en-US"/>
          </a:p>
        </p:txBody>
      </p:sp>
      <p:sp>
        <p:nvSpPr>
          <p:cNvPr id="120" name="TextBox"/>
          <p:cNvSpPr txBox="1"/>
          <p:nvPr/>
        </p:nvSpPr>
        <p:spPr>
          <a:xfrm>
            <a:off x="5575800" y="2502880"/>
            <a:ext cx="2070000" cy="1534240"/>
          </a:xfrm>
          <a:prstGeom prst="rect">
            <a:avLst/>
          </a:prstGeom>
          <a:noFill/>
        </p:spPr>
        <p:txBody>
          <a:bodyPr wrap="square" lIns="0" tIns="0" rIns="0" bIns="0" rtlCol="0" anchor="t">
            <a:noAutofit/>
          </a:bodyPr>
          <a:lstStyle/>
          <a:p>
            <a:pPr marL="0" indent="0" algn="ctr">
              <a:buNone/>
            </a:pPr>
            <a:r>
              <a:rPr lang="en-US" sz="3600" b="1" dirty="0">
                <a:solidFill>
                  <a:srgbClr val="C2683F"/>
                </a:solidFill>
                <a:latin typeface="Bookman Old Style"/>
                <a:cs typeface="Bookman Old Style"/>
              </a:rPr>
              <a:t>1 in 3</a:t>
            </a:r>
          </a:p>
          <a:p>
            <a:pPr marL="0" indent="0" algn="ctr">
              <a:buNone/>
            </a:pPr>
            <a:r>
              <a:rPr lang="en-US" sz="1200" dirty="0">
                <a:solidFill>
                  <a:srgbClr val="262320"/>
                </a:solidFill>
                <a:latin typeface="Calibri"/>
                <a:cs typeface="Calibri"/>
              </a:rPr>
              <a:t>of British Columbia's increase was children moved in from another special-education category</a:t>
            </a:r>
          </a:p>
        </p:txBody>
      </p:sp>
      <p:sp>
        <p:nvSpPr>
          <p:cNvPr id="121" name="TextBox"/>
          <p:cNvSpPr txBox="1"/>
          <p:nvPr/>
        </p:nvSpPr>
        <p:spPr>
          <a:xfrm>
            <a:off x="685800" y="4330000"/>
            <a:ext cx="7050000" cy="320040"/>
          </a:xfrm>
          <a:prstGeom prst="rect">
            <a:avLst/>
          </a:prstGeom>
          <a:noFill/>
        </p:spPr>
        <p:txBody>
          <a:bodyPr wrap="square" lIns="0" tIns="0" rIns="0" bIns="0" rtlCol="0" anchor="t">
            <a:noAutofit/>
          </a:bodyPr>
          <a:lstStyle/>
          <a:p>
            <a:pPr marL="0" indent="0" algn="l">
              <a:buNone/>
            </a:pPr>
            <a:r>
              <a:rPr lang="en-US" sz="1500" dirty="0">
                <a:solidFill>
                  <a:srgbClr val="262320"/>
                </a:solidFill>
                <a:latin typeface="Calibri"/>
                <a:cs typeface="Calibri"/>
              </a:rPr>
              <a:t>Criteria broadened in 1994 and again in 2013 when Asperger's was folded in. Outpatient cases entered the registries, schools reclassified, and insurance began paying for the diagnosis.</a:t>
            </a:r>
          </a:p>
        </p:txBody>
      </p:sp>
      <p:sp>
        <p:nvSpPr>
          <p:cNvPr id="122" name="Band"/>
          <p:cNvSpPr/>
          <p:nvPr/>
        </p:nvSpPr>
        <p:spPr>
          <a:xfrm>
            <a:off x="685800" y="5080000"/>
            <a:ext cx="10820400" cy="838200"/>
          </a:xfrm>
          <a:prstGeom prst="roundRect">
            <a:avLst>
              <a:gd name="adj" fmla="val 8000"/>
            </a:avLst>
          </a:prstGeom>
          <a:solidFill>
            <a:srgbClr val="EFEFEF"/>
          </a:solidFill>
          <a:ln>
            <a:noFill/>
          </a:ln>
        </p:spPr>
        <p:txBody>
          <a:bodyPr lIns="182880" tIns="0" rIns="182880" bIns="0" rtlCol="0" anchor="ctr" anchorCtr="0"/>
          <a:lstStyle/>
          <a:p>
            <a:pPr marL="0" indent="0" algn="ctr">
              <a:buNone/>
            </a:pPr>
            <a:r>
              <a:rPr lang="en-US" sz="1400" b="1" dirty="0">
                <a:solidFill>
                  <a:srgbClr val="000000"/>
                </a:solidFill>
                <a:latin typeface="Calibri"/>
                <a:cs typeface="Calibri"/>
              </a:rPr>
              <a:t>The confounders are contact with doctors and a widening category. Both raise the count; neither is the vaccine.</a:t>
            </a:r>
          </a:p>
        </p:txBody>
      </p:sp>
      <p:sp>
        <p:nvSpPr>
          <p:cNvPr id="123" name="Source"/>
          <p:cNvSpPr txBox="1"/>
          <p:nvPr/>
        </p:nvSpPr>
        <p:spPr>
          <a:xfrm>
            <a:off x="685800" y="6480000"/>
            <a:ext cx="10820400" cy="274320"/>
          </a:xfrm>
          <a:prstGeom prst="rect">
            <a:avLst/>
          </a:prstGeom>
          <a:noFill/>
        </p:spPr>
        <p:txBody>
          <a:bodyPr wrap="square" lIns="0" tIns="0" rIns="0" bIns="0" rtlCol="0" anchor="t">
            <a:noAutofit/>
          </a:bodyPr>
          <a:lstStyle/>
          <a:p>
            <a:pPr marL="0" indent="0" algn="l">
              <a:buNone/>
            </a:pPr>
            <a:r>
              <a:rPr lang="en-US" sz="1100" i="1" dirty="0">
                <a:solidFill>
                  <a:srgbClr val="6B6660"/>
                </a:solidFill>
                <a:latin typeface="Calibri"/>
                <a:cs typeface="Calibri"/>
              </a:rPr>
              <a:t>Hansen SN, Schendel DE, Parner ET. JAMA Pediatr 2015;169(1):56-62 (677,915 children born 1980-1991). Shaw KA et al. MMWR Surveill Summ 2025;74(2):1-22. Coo H et al. J Autism Dev Disord 2008;38(6):1036-1046. Mandell DS et al. JAMA Pediatr 2016;170(9):887-893 (insurance mandates raised treated prevalence 0.21 per 1,000).</a:t>
            </a:r>
          </a:p>
        </p:txBody>
      </p:sp>
      <p:pic>
        <p:nvPicPr>
          <p:cNvPr id="911" name="AutismDag" descr="A later era drives both more vaccines on the schedule and wider criteria with a harder search; the criteria drive the autism count; vaccines and the count only move together"/>
          <p:cNvPicPr>
            <a:picLocks noChangeAspect="1"/>
          </p:cNvPicPr>
          <p:nvPr/>
        </p:nvPicPr>
        <p:blipFill>
          <a:blip r:embed="rId2"/>
          <a:stretch>
            <a:fillRect/>
          </a:stretch>
        </p:blipFill>
        <p:spPr>
          <a:xfrm>
            <a:off x="8210390" y="2300000"/>
            <a:ext cx="3295810" cy="2700000"/>
          </a:xfrm>
          <a:prstGeom prst="rect">
            <a:avLst/>
          </a:prstGeom>
        </p:spPr>
      </p:pic>
    </p:spTree>
    <p:extLst>
      <p:ext uri="{BB962C8B-B14F-4D97-AF65-F5344CB8AC3E}">
        <p14:creationId xmlns:p14="http://schemas.microsoft.com/office/powerpoint/2010/main" val="21442656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Title"/>
          <p:cNvSpPr>
            <a:spLocks noGrp="1"/>
          </p:cNvSpPr>
          <p:nvPr>
            <p:ph type="title" idx="102"/>
          </p:nvPr>
        </p:nvSpPr>
        <p:spPr>
          <a:xfrm>
            <a:off x="1854200" y="868680"/>
            <a:ext cx="9652000" cy="868680"/>
          </a:xfrm>
          <a:prstGeom prst="rect">
            <a:avLst/>
          </a:prstGeom>
          <a:noFill/>
          <a:ln/>
        </p:spPr>
        <p:txBody>
          <a:bodyPr wrap="square" lIns="0" tIns="0" rIns="0" bIns="0" rtlCol="0" anchor="ctr"/>
          <a:lstStyle/>
          <a:p>
            <a:pPr marL="0" indent="0" algn="l">
              <a:buNone/>
            </a:pPr>
            <a:r>
              <a:rPr lang="en-US" sz="3800" dirty="0"/>
              <a:t>The Studies That Settled It: Child Against Child, Same Era</a:t>
            </a:r>
          </a:p>
        </p:txBody>
      </p:sp>
      <p:sp>
        <p:nvSpPr>
          <p:cNvPr id="402" name="Eyebrow"/>
          <p:cNvSpPr txBox="1"/>
          <p:nvPr/>
        </p:nvSpPr>
        <p:spPr>
          <a:xfrm>
            <a:off x="685800" y="1728399"/>
            <a:ext cx="10820400" cy="431800"/>
          </a:xfrm>
          <a:prstGeom prst="rect">
            <a:avLst/>
          </a:prstGeom>
          <a:noFill/>
        </p:spPr>
        <p:txBody>
          <a:bodyPr wrap="none" lIns="0" tIns="0" rIns="0" bIns="0" rtlCol="0" anchor="t">
            <a:noAutofit/>
          </a:bodyPr>
          <a:lstStyle/>
          <a:p>
            <a:pPr marL="0" indent="0" algn="l">
              <a:buNone/>
            </a:pPr>
            <a:endParaRPr/>
          </a:p>
        </p:txBody>
      </p:sp>
      <p:sp>
        <p:nvSpPr>
          <p:cNvPr id="403" name="Card"/>
          <p:cNvSpPr/>
          <p:nvPr/>
        </p:nvSpPr>
        <p:spPr>
          <a:xfrm>
            <a:off x="685800" y="2250000"/>
            <a:ext cx="10820400" cy="980000"/>
          </a:xfrm>
          <a:prstGeom prst="roundRect">
            <a:avLst>
              <a:gd name="adj" fmla="val 8000"/>
            </a:avLst>
          </a:prstGeom>
          <a:solidFill>
            <a:srgbClr val="FFFFFF"/>
          </a:solidFill>
          <a:ln w="15875" cap="flat" cmpd="sng" algn="ctr">
            <a:solidFill>
              <a:srgbClr val="C2683F"/>
            </a:solidFill>
            <a:prstDash val="solid"/>
            <a:miter lim="800000"/>
          </a:ln>
        </p:spPr>
        <p:txBody>
          <a:bodyPr rtlCol="0" anchor="t"/>
          <a:lstStyle/>
          <a:p>
            <a:endParaRPr lang="en-US"/>
          </a:p>
        </p:txBody>
      </p:sp>
      <p:sp>
        <p:nvSpPr>
          <p:cNvPr id="404" name="TextBox"/>
          <p:cNvSpPr txBox="1"/>
          <p:nvPr/>
        </p:nvSpPr>
        <p:spPr>
          <a:xfrm>
            <a:off x="960120" y="2425000"/>
            <a:ext cx="6900000" cy="330000"/>
          </a:xfrm>
          <a:prstGeom prst="rect">
            <a:avLst/>
          </a:prstGeom>
          <a:noFill/>
        </p:spPr>
        <p:txBody>
          <a:bodyPr wrap="square" lIns="0" tIns="0" rIns="0" bIns="0" rtlCol="0" anchor="t">
            <a:noAutofit/>
          </a:bodyPr>
          <a:lstStyle/>
          <a:p>
            <a:pPr marL="0" indent="0" algn="l">
              <a:buNone/>
            </a:pPr>
            <a:r>
              <a:rPr lang="en-US" sz="1700" b="1" dirty="0">
                <a:solidFill>
                  <a:srgbClr val="262320"/>
                </a:solidFill>
                <a:latin typeface="Calibri"/>
                <a:cs typeface="Calibri"/>
              </a:rPr>
              <a:t>537,303 Danish children, MMR</a:t>
            </a:r>
          </a:p>
        </p:txBody>
      </p:sp>
      <p:sp>
        <p:nvSpPr>
          <p:cNvPr id="405" name="TextBox"/>
          <p:cNvSpPr txBox="1"/>
          <p:nvPr/>
        </p:nvSpPr>
        <p:spPr>
          <a:xfrm>
            <a:off x="960120" y="2805000"/>
            <a:ext cx="6900000" cy="300000"/>
          </a:xfrm>
          <a:prstGeom prst="rect">
            <a:avLst/>
          </a:prstGeom>
          <a:noFill/>
        </p:spPr>
        <p:txBody>
          <a:bodyPr wrap="square" lIns="0" tIns="0" rIns="0" bIns="0" rtlCol="0" anchor="t">
            <a:noAutofit/>
          </a:bodyPr>
          <a:lstStyle/>
          <a:p>
            <a:pPr marL="0" indent="0" algn="l">
              <a:buNone/>
            </a:pPr>
            <a:r>
              <a:rPr lang="en-US" sz="1600" dirty="0">
                <a:solidFill>
                  <a:srgbClr val="C2683F"/>
                </a:solidFill>
                <a:latin typeface="Calibri"/>
                <a:cs typeface="Calibri"/>
              </a:rPr>
              <a:t>Madsen 2002. Relative risk of autism 0.92 (95% CI 0.68 to 1.24).</a:t>
            </a:r>
          </a:p>
        </p:txBody>
      </p:sp>
      <p:sp>
        <p:nvSpPr>
          <p:cNvPr id="406" name="TextBox"/>
          <p:cNvSpPr txBox="1"/>
          <p:nvPr/>
        </p:nvSpPr>
        <p:spPr>
          <a:xfrm>
            <a:off x="8000000" y="2590000"/>
            <a:ext cx="3230000" cy="300000"/>
          </a:xfrm>
          <a:prstGeom prst="rect">
            <a:avLst/>
          </a:prstGeom>
          <a:noFill/>
        </p:spPr>
        <p:txBody>
          <a:bodyPr wrap="square" lIns="0" tIns="0" rIns="0" bIns="0" rtlCol="0" anchor="t">
            <a:noAutofit/>
          </a:bodyPr>
          <a:lstStyle/>
          <a:p>
            <a:pPr marL="0" indent="0" algn="r">
              <a:buNone/>
            </a:pPr>
            <a:r>
              <a:rPr lang="en-US" sz="1200" b="1" dirty="0">
                <a:solidFill>
                  <a:srgbClr val="C2683F"/>
                </a:solidFill>
                <a:latin typeface="Calibri"/>
                <a:cs typeface="Calibri"/>
              </a:rPr>
              <a:t>THE FIRST</a:t>
            </a:r>
          </a:p>
        </p:txBody>
      </p:sp>
      <p:sp>
        <p:nvSpPr>
          <p:cNvPr id="407" name="Card"/>
          <p:cNvSpPr/>
          <p:nvPr/>
        </p:nvSpPr>
        <p:spPr>
          <a:xfrm>
            <a:off x="685800" y="3320000"/>
            <a:ext cx="10820400" cy="980000"/>
          </a:xfrm>
          <a:prstGeom prst="roundRect">
            <a:avLst>
              <a:gd name="adj" fmla="val 8000"/>
            </a:avLst>
          </a:prstGeom>
          <a:solidFill>
            <a:srgbClr val="FFFFFF"/>
          </a:solidFill>
          <a:ln w="15875" cap="flat" cmpd="sng" algn="ctr">
            <a:solidFill>
              <a:srgbClr val="1F3864"/>
            </a:solidFill>
            <a:prstDash val="solid"/>
            <a:miter lim="800000"/>
          </a:ln>
        </p:spPr>
        <p:txBody>
          <a:bodyPr rtlCol="0" anchor="t"/>
          <a:lstStyle/>
          <a:p>
            <a:endParaRPr lang="en-US"/>
          </a:p>
        </p:txBody>
      </p:sp>
      <p:sp>
        <p:nvSpPr>
          <p:cNvPr id="408" name="TextBox"/>
          <p:cNvSpPr txBox="1"/>
          <p:nvPr/>
        </p:nvSpPr>
        <p:spPr>
          <a:xfrm>
            <a:off x="960120" y="3495000"/>
            <a:ext cx="6900000" cy="330000"/>
          </a:xfrm>
          <a:prstGeom prst="rect">
            <a:avLst/>
          </a:prstGeom>
          <a:noFill/>
        </p:spPr>
        <p:txBody>
          <a:bodyPr wrap="square" lIns="0" tIns="0" rIns="0" bIns="0" rtlCol="0" anchor="t">
            <a:noAutofit/>
          </a:bodyPr>
          <a:lstStyle/>
          <a:p>
            <a:pPr marL="0" indent="0" algn="l">
              <a:buNone/>
            </a:pPr>
            <a:r>
              <a:rPr lang="en-US" sz="1700" b="1" dirty="0">
                <a:solidFill>
                  <a:srgbClr val="262320"/>
                </a:solidFill>
                <a:latin typeface="Calibri"/>
                <a:cs typeface="Calibri"/>
              </a:rPr>
              <a:t>657,461 Danish children, MMR</a:t>
            </a:r>
          </a:p>
        </p:txBody>
      </p:sp>
      <p:sp>
        <p:nvSpPr>
          <p:cNvPr id="409" name="TextBox"/>
          <p:cNvSpPr txBox="1"/>
          <p:nvPr/>
        </p:nvSpPr>
        <p:spPr>
          <a:xfrm>
            <a:off x="960120" y="3875000"/>
            <a:ext cx="6900000" cy="300000"/>
          </a:xfrm>
          <a:prstGeom prst="rect">
            <a:avLst/>
          </a:prstGeom>
          <a:noFill/>
        </p:spPr>
        <p:txBody>
          <a:bodyPr wrap="square" lIns="0" tIns="0" rIns="0" bIns="0" rtlCol="0" anchor="t">
            <a:noAutofit/>
          </a:bodyPr>
          <a:lstStyle/>
          <a:p>
            <a:pPr marL="0" indent="0" algn="l">
              <a:buNone/>
            </a:pPr>
            <a:r>
              <a:rPr lang="en-US" sz="1600" dirty="0">
                <a:solidFill>
                  <a:srgbClr val="1F3864"/>
                </a:solidFill>
                <a:latin typeface="Calibri"/>
                <a:cs typeface="Calibri"/>
              </a:rPr>
              <a:t>Hviid 2019. Hazard ratio 0.93 (0.85 to 1.02), high-risk siblings included.</a:t>
            </a:r>
          </a:p>
        </p:txBody>
      </p:sp>
      <p:sp>
        <p:nvSpPr>
          <p:cNvPr id="410" name="TextBox"/>
          <p:cNvSpPr txBox="1"/>
          <p:nvPr/>
        </p:nvSpPr>
        <p:spPr>
          <a:xfrm>
            <a:off x="8000000" y="3660000"/>
            <a:ext cx="3230000" cy="300000"/>
          </a:xfrm>
          <a:prstGeom prst="rect">
            <a:avLst/>
          </a:prstGeom>
          <a:noFill/>
        </p:spPr>
        <p:txBody>
          <a:bodyPr wrap="square" lIns="0" tIns="0" rIns="0" bIns="0" rtlCol="0" anchor="t">
            <a:noAutofit/>
          </a:bodyPr>
          <a:lstStyle/>
          <a:p>
            <a:pPr marL="0" indent="0" algn="r">
              <a:buNone/>
            </a:pPr>
            <a:r>
              <a:rPr lang="en-US" sz="1200" b="1" dirty="0">
                <a:solidFill>
                  <a:srgbClr val="1F3864"/>
                </a:solidFill>
                <a:latin typeface="Calibri"/>
                <a:cs typeface="Calibri"/>
              </a:rPr>
              <a:t>THE REPLICATION</a:t>
            </a:r>
          </a:p>
        </p:txBody>
      </p:sp>
      <p:sp>
        <p:nvSpPr>
          <p:cNvPr id="411" name="Card"/>
          <p:cNvSpPr/>
          <p:nvPr/>
        </p:nvSpPr>
        <p:spPr>
          <a:xfrm>
            <a:off x="685800" y="4390000"/>
            <a:ext cx="10820400" cy="980000"/>
          </a:xfrm>
          <a:prstGeom prst="roundRect">
            <a:avLst>
              <a:gd name="adj" fmla="val 8000"/>
            </a:avLst>
          </a:prstGeom>
          <a:solidFill>
            <a:srgbClr val="FFFFFF"/>
          </a:solidFill>
          <a:ln w="15875" cap="flat" cmpd="sng" algn="ctr">
            <a:solidFill>
              <a:srgbClr val="8A2A2A"/>
            </a:solidFill>
            <a:prstDash val="solid"/>
            <a:miter lim="800000"/>
          </a:ln>
        </p:spPr>
        <p:txBody>
          <a:bodyPr rtlCol="0" anchor="t"/>
          <a:lstStyle/>
          <a:p>
            <a:endParaRPr lang="en-US"/>
          </a:p>
        </p:txBody>
      </p:sp>
      <p:sp>
        <p:nvSpPr>
          <p:cNvPr id="412" name="TextBox"/>
          <p:cNvSpPr txBox="1"/>
          <p:nvPr/>
        </p:nvSpPr>
        <p:spPr>
          <a:xfrm>
            <a:off x="960120" y="4565000"/>
            <a:ext cx="6900000" cy="330000"/>
          </a:xfrm>
          <a:prstGeom prst="rect">
            <a:avLst/>
          </a:prstGeom>
          <a:noFill/>
        </p:spPr>
        <p:txBody>
          <a:bodyPr wrap="square" lIns="0" tIns="0" rIns="0" bIns="0" rtlCol="0" anchor="t">
            <a:noAutofit/>
          </a:bodyPr>
          <a:lstStyle/>
          <a:p>
            <a:pPr marL="0" indent="0" algn="l">
              <a:buNone/>
            </a:pPr>
            <a:r>
              <a:rPr lang="en-US" sz="1700" b="1" dirty="0">
                <a:solidFill>
                  <a:srgbClr val="262320"/>
                </a:solidFill>
                <a:latin typeface="Calibri"/>
                <a:cs typeface="Calibri"/>
              </a:rPr>
              <a:t>1.2 million Danish children, aluminum adjuvant</a:t>
            </a:r>
          </a:p>
        </p:txBody>
      </p:sp>
      <p:sp>
        <p:nvSpPr>
          <p:cNvPr id="413" name="TextBox"/>
          <p:cNvSpPr txBox="1"/>
          <p:nvPr/>
        </p:nvSpPr>
        <p:spPr>
          <a:xfrm>
            <a:off x="960120" y="4945000"/>
            <a:ext cx="6900000" cy="300000"/>
          </a:xfrm>
          <a:prstGeom prst="rect">
            <a:avLst/>
          </a:prstGeom>
          <a:noFill/>
        </p:spPr>
        <p:txBody>
          <a:bodyPr wrap="square" lIns="0" tIns="0" rIns="0" bIns="0" rtlCol="0" anchor="t">
            <a:noAutofit/>
          </a:bodyPr>
          <a:lstStyle/>
          <a:p>
            <a:pPr marL="0" indent="0" algn="l">
              <a:buNone/>
            </a:pPr>
            <a:r>
              <a:rPr lang="en-US" sz="1600" dirty="0">
                <a:solidFill>
                  <a:srgbClr val="8A2A2A"/>
                </a:solidFill>
                <a:latin typeface="Calibri"/>
                <a:cs typeface="Calibri"/>
              </a:rPr>
              <a:t>Andersson 2025. Neurodevelopmental disorders 0.93 (0.88 to 1.03).</a:t>
            </a:r>
          </a:p>
        </p:txBody>
      </p:sp>
      <p:sp>
        <p:nvSpPr>
          <p:cNvPr id="414" name="TextBox"/>
          <p:cNvSpPr txBox="1"/>
          <p:nvPr/>
        </p:nvSpPr>
        <p:spPr>
          <a:xfrm>
            <a:off x="8000000" y="4730000"/>
            <a:ext cx="3230000" cy="300000"/>
          </a:xfrm>
          <a:prstGeom prst="rect">
            <a:avLst/>
          </a:prstGeom>
          <a:noFill/>
        </p:spPr>
        <p:txBody>
          <a:bodyPr wrap="square" lIns="0" tIns="0" rIns="0" bIns="0" rtlCol="0" anchor="t">
            <a:noAutofit/>
          </a:bodyPr>
          <a:lstStyle/>
          <a:p>
            <a:pPr marL="0" indent="0" algn="r">
              <a:buNone/>
            </a:pPr>
            <a:r>
              <a:rPr lang="en-US" sz="1200" b="1" dirty="0">
                <a:solidFill>
                  <a:srgbClr val="8A2A2A"/>
                </a:solidFill>
                <a:latin typeface="Calibri"/>
                <a:cs typeface="Calibri"/>
              </a:rPr>
              <a:t>THE LATEST</a:t>
            </a:r>
          </a:p>
        </p:txBody>
      </p:sp>
      <p:sp>
        <p:nvSpPr>
          <p:cNvPr id="415" name="Band"/>
          <p:cNvSpPr/>
          <p:nvPr/>
        </p:nvSpPr>
        <p:spPr>
          <a:xfrm>
            <a:off x="685800" y="5600000"/>
            <a:ext cx="10820400" cy="840000"/>
          </a:xfrm>
          <a:prstGeom prst="roundRect">
            <a:avLst>
              <a:gd name="adj" fmla="val 8000"/>
            </a:avLst>
          </a:prstGeom>
          <a:solidFill>
            <a:srgbClr val="EFEFEF"/>
          </a:solidFill>
          <a:ln>
            <a:noFill/>
          </a:ln>
        </p:spPr>
        <p:txBody>
          <a:bodyPr lIns="182880" tIns="0" rIns="182880" bIns="0" rtlCol="0" anchor="ctr" anchorCtr="0"/>
          <a:lstStyle/>
          <a:p>
            <a:pPr marL="0" indent="0" algn="ctr">
              <a:buNone/>
            </a:pPr>
            <a:r>
              <a:rPr lang="en-US" sz="1400" b="1" dirty="0">
                <a:solidFill>
                  <a:srgbClr val="000000"/>
                </a:solidFill>
                <a:latin typeface="Calibri"/>
                <a:cs typeface="Calibri"/>
              </a:rPr>
              <a:t>Vaccinated and unvaccinated children, the same years, the same diagnostic rules. No trend to confound.</a:t>
            </a:r>
          </a:p>
          <a:p>
            <a:pPr marL="0" indent="0" algn="ctr">
              <a:buNone/>
            </a:pPr>
            <a:r>
              <a:rPr lang="en-US" sz="1400" b="1" dirty="0">
                <a:solidFill>
                  <a:srgbClr val="000000"/>
                </a:solidFill>
                <a:latin typeface="Calibri"/>
                <a:cs typeface="Calibri"/>
              </a:rPr>
              <a:t>Compared child against child, the diagnosis arrives at the same rate. The trend was the measure moving; the cause was never there.</a:t>
            </a:r>
          </a:p>
        </p:txBody>
      </p:sp>
      <p:sp>
        <p:nvSpPr>
          <p:cNvPr id="416" name="Source"/>
          <p:cNvSpPr txBox="1"/>
          <p:nvPr/>
        </p:nvSpPr>
        <p:spPr>
          <a:xfrm>
            <a:off x="685800" y="6520000"/>
            <a:ext cx="10820400" cy="274320"/>
          </a:xfrm>
          <a:prstGeom prst="rect">
            <a:avLst/>
          </a:prstGeom>
          <a:noFill/>
        </p:spPr>
        <p:txBody>
          <a:bodyPr wrap="square" lIns="0" tIns="0" rIns="0" bIns="0" rtlCol="0" anchor="t">
            <a:noAutofit/>
          </a:bodyPr>
          <a:lstStyle/>
          <a:p>
            <a:pPr marL="0" indent="0" algn="l">
              <a:buNone/>
            </a:pPr>
            <a:r>
              <a:rPr lang="en-US" sz="1000" i="1" dirty="0">
                <a:solidFill>
                  <a:srgbClr val="6B6660"/>
                </a:solidFill>
                <a:latin typeface="Calibri"/>
                <a:cs typeface="Calibri"/>
              </a:rPr>
              <a:t>Madsen KM et al. N Engl J Med 2002;347:1477-1482. Hviid A et al. Ann Intern Med 2019;170:513-520. Andersson NW et al. Ann Intern Med 2025;178:1369-1377. Also Taylor LE et al. Vaccine 2014;32:3623-3629, meta-analysis of 1.26 million children, odds ratio 0.99 (0.92 to 1.06).</a:t>
            </a:r>
          </a:p>
        </p:txBody>
      </p:sp>
    </p:spTree>
    <p:extLst>
      <p:ext uri="{BB962C8B-B14F-4D97-AF65-F5344CB8AC3E}">
        <p14:creationId xmlns:p14="http://schemas.microsoft.com/office/powerpoint/2010/main" val="42125146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Title"/>
          <p:cNvSpPr>
            <a:spLocks noGrp="1"/>
          </p:cNvSpPr>
          <p:nvPr>
            <p:ph type="title" idx="102"/>
          </p:nvPr>
        </p:nvSpPr>
        <p:spPr>
          <a:xfrm>
            <a:off x="1854200" y="868680"/>
            <a:ext cx="9652000" cy="868680"/>
          </a:xfrm>
          <a:prstGeom prst="rect">
            <a:avLst/>
          </a:prstGeom>
          <a:noFill/>
          <a:ln/>
        </p:spPr>
        <p:txBody>
          <a:bodyPr wrap="square" lIns="0" tIns="0" rIns="0" bIns="0" rtlCol="0" anchor="ctr"/>
          <a:lstStyle/>
          <a:p>
            <a:pPr marL="0" indent="0" algn="l">
              <a:buNone/>
            </a:pPr>
            <a:r>
              <a:rPr lang="en-US" sz="3800" dirty="0"/>
              <a:t>Case 3: A Genuine Cause, Smoking and Lung Cancer</a:t>
            </a:r>
          </a:p>
        </p:txBody>
      </p:sp>
      <p:sp>
        <p:nvSpPr>
          <p:cNvPr id="402" name="Eyebrow"/>
          <p:cNvSpPr txBox="1"/>
          <p:nvPr/>
        </p:nvSpPr>
        <p:spPr>
          <a:xfrm>
            <a:off x="685800" y="1728399"/>
            <a:ext cx="10820400" cy="431800"/>
          </a:xfrm>
          <a:prstGeom prst="rect">
            <a:avLst/>
          </a:prstGeom>
          <a:noFill/>
        </p:spPr>
        <p:txBody>
          <a:bodyPr wrap="none" lIns="0" tIns="0" rIns="0" bIns="0" rtlCol="0" anchor="t">
            <a:noAutofit/>
          </a:bodyPr>
          <a:lstStyle/>
          <a:p>
            <a:pPr marL="0" indent="0" algn="l">
              <a:buNone/>
            </a:pPr>
            <a:endParaRPr/>
          </a:p>
        </p:txBody>
      </p:sp>
      <p:sp>
        <p:nvSpPr>
          <p:cNvPr id="403" name="Card"/>
          <p:cNvSpPr/>
          <p:nvPr/>
        </p:nvSpPr>
        <p:spPr>
          <a:xfrm>
            <a:off x="685800" y="2250000"/>
            <a:ext cx="10820400" cy="980000"/>
          </a:xfrm>
          <a:prstGeom prst="roundRect">
            <a:avLst>
              <a:gd name="adj" fmla="val 8000"/>
            </a:avLst>
          </a:prstGeom>
          <a:solidFill>
            <a:srgbClr val="FFFFFF"/>
          </a:solidFill>
          <a:ln w="15875" cap="flat" cmpd="sng" algn="ctr">
            <a:solidFill>
              <a:srgbClr val="C2683F"/>
            </a:solidFill>
            <a:prstDash val="solid"/>
            <a:miter lim="800000"/>
          </a:ln>
        </p:spPr>
        <p:txBody>
          <a:bodyPr rtlCol="0" anchor="t"/>
          <a:lstStyle/>
          <a:p>
            <a:endParaRPr lang="en-US"/>
          </a:p>
        </p:txBody>
      </p:sp>
      <p:sp>
        <p:nvSpPr>
          <p:cNvPr id="404" name="TextBox"/>
          <p:cNvSpPr txBox="1"/>
          <p:nvPr/>
        </p:nvSpPr>
        <p:spPr>
          <a:xfrm>
            <a:off x="960120" y="2425000"/>
            <a:ext cx="6900000" cy="330000"/>
          </a:xfrm>
          <a:prstGeom prst="rect">
            <a:avLst/>
          </a:prstGeom>
          <a:noFill/>
        </p:spPr>
        <p:txBody>
          <a:bodyPr wrap="square" lIns="0" tIns="0" rIns="0" bIns="0" rtlCol="0" anchor="t">
            <a:noAutofit/>
          </a:bodyPr>
          <a:lstStyle/>
          <a:p>
            <a:pPr marL="0" indent="0" algn="l">
              <a:buNone/>
            </a:pPr>
            <a:r>
              <a:rPr lang="en-US" sz="1700" b="1" dirty="0">
                <a:solidFill>
                  <a:srgbClr val="262320"/>
                </a:solidFill>
                <a:latin typeface="Calibri"/>
                <a:cs typeface="Calibri"/>
              </a:rPr>
              <a:t>The correlation was real and huge</a:t>
            </a:r>
          </a:p>
        </p:txBody>
      </p:sp>
      <p:sp>
        <p:nvSpPr>
          <p:cNvPr id="405" name="TextBox"/>
          <p:cNvSpPr txBox="1"/>
          <p:nvPr/>
        </p:nvSpPr>
        <p:spPr>
          <a:xfrm>
            <a:off x="960120" y="2805000"/>
            <a:ext cx="6900000" cy="300000"/>
          </a:xfrm>
          <a:prstGeom prst="rect">
            <a:avLst/>
          </a:prstGeom>
          <a:noFill/>
        </p:spPr>
        <p:txBody>
          <a:bodyPr wrap="square" lIns="0" tIns="0" rIns="0" bIns="0" rtlCol="0" anchor="t">
            <a:noAutofit/>
          </a:bodyPr>
          <a:lstStyle/>
          <a:p>
            <a:pPr marL="0" indent="0" algn="l">
              <a:buNone/>
            </a:pPr>
            <a:r>
              <a:rPr lang="en-US" sz="1600" dirty="0">
                <a:solidFill>
                  <a:srgbClr val="C2683F"/>
                </a:solidFill>
                <a:latin typeface="Calibri"/>
                <a:cs typeface="Calibri"/>
              </a:rPr>
              <a:t>1950s cohorts of hundreds of thousands; smokers got lung cancer far more often.</a:t>
            </a:r>
          </a:p>
        </p:txBody>
      </p:sp>
      <p:sp>
        <p:nvSpPr>
          <p:cNvPr id="406" name="TextBox"/>
          <p:cNvSpPr txBox="1"/>
          <p:nvPr/>
        </p:nvSpPr>
        <p:spPr>
          <a:xfrm>
            <a:off x="8000000" y="2590000"/>
            <a:ext cx="3230000" cy="300000"/>
          </a:xfrm>
          <a:prstGeom prst="rect">
            <a:avLst/>
          </a:prstGeom>
          <a:noFill/>
        </p:spPr>
        <p:txBody>
          <a:bodyPr wrap="square" lIns="0" tIns="0" rIns="0" bIns="0" rtlCol="0" anchor="t">
            <a:noAutofit/>
          </a:bodyPr>
          <a:lstStyle/>
          <a:p>
            <a:pPr marL="0" indent="0" algn="r">
              <a:buNone/>
            </a:pPr>
            <a:r>
              <a:rPr lang="en-US" sz="1200" b="1" dirty="0">
                <a:solidFill>
                  <a:srgbClr val="C2683F"/>
                </a:solidFill>
                <a:latin typeface="Calibri"/>
                <a:cs typeface="Calibri"/>
              </a:rPr>
              <a:t>THE STUDIES</a:t>
            </a:r>
          </a:p>
        </p:txBody>
      </p:sp>
      <p:sp>
        <p:nvSpPr>
          <p:cNvPr id="407" name="Card"/>
          <p:cNvSpPr/>
          <p:nvPr/>
        </p:nvSpPr>
        <p:spPr>
          <a:xfrm>
            <a:off x="685800" y="3320000"/>
            <a:ext cx="10820400" cy="980000"/>
          </a:xfrm>
          <a:prstGeom prst="roundRect">
            <a:avLst>
              <a:gd name="adj" fmla="val 8000"/>
            </a:avLst>
          </a:prstGeom>
          <a:solidFill>
            <a:srgbClr val="FFFFFF"/>
          </a:solidFill>
          <a:ln w="15875" cap="flat" cmpd="sng" algn="ctr">
            <a:solidFill>
              <a:srgbClr val="1F3864"/>
            </a:solidFill>
            <a:prstDash val="solid"/>
            <a:miter lim="800000"/>
          </a:ln>
        </p:spPr>
        <p:txBody>
          <a:bodyPr rtlCol="0" anchor="t"/>
          <a:lstStyle/>
          <a:p>
            <a:endParaRPr lang="en-US"/>
          </a:p>
        </p:txBody>
      </p:sp>
      <p:sp>
        <p:nvSpPr>
          <p:cNvPr id="408" name="TextBox"/>
          <p:cNvSpPr txBox="1"/>
          <p:nvPr/>
        </p:nvSpPr>
        <p:spPr>
          <a:xfrm>
            <a:off x="960120" y="3495000"/>
            <a:ext cx="6900000" cy="330000"/>
          </a:xfrm>
          <a:prstGeom prst="rect">
            <a:avLst/>
          </a:prstGeom>
          <a:noFill/>
        </p:spPr>
        <p:txBody>
          <a:bodyPr wrap="square" lIns="0" tIns="0" rIns="0" bIns="0" rtlCol="0" anchor="t">
            <a:noAutofit/>
          </a:bodyPr>
          <a:lstStyle/>
          <a:p>
            <a:pPr marL="0" indent="0" algn="l">
              <a:buNone/>
            </a:pPr>
            <a:r>
              <a:rPr lang="en-US" sz="1700" b="1" dirty="0">
                <a:solidFill>
                  <a:srgbClr val="262320"/>
                </a:solidFill>
                <a:latin typeface="Calibri"/>
                <a:cs typeface="Calibri"/>
              </a:rPr>
              <a:t>The era’s top statistician objected</a:t>
            </a:r>
          </a:p>
        </p:txBody>
      </p:sp>
      <p:sp>
        <p:nvSpPr>
          <p:cNvPr id="409" name="TextBox"/>
          <p:cNvSpPr txBox="1"/>
          <p:nvPr/>
        </p:nvSpPr>
        <p:spPr>
          <a:xfrm>
            <a:off x="960120" y="3875000"/>
            <a:ext cx="6900000" cy="300000"/>
          </a:xfrm>
          <a:prstGeom prst="rect">
            <a:avLst/>
          </a:prstGeom>
          <a:noFill/>
        </p:spPr>
        <p:txBody>
          <a:bodyPr wrap="square" lIns="0" tIns="0" rIns="0" bIns="0" rtlCol="0" anchor="t">
            <a:noAutofit/>
          </a:bodyPr>
          <a:lstStyle/>
          <a:p>
            <a:pPr marL="0" indent="0" algn="l">
              <a:buNone/>
            </a:pPr>
            <a:r>
              <a:rPr lang="en-US" sz="1600" dirty="0">
                <a:solidFill>
                  <a:srgbClr val="1F3864"/>
                </a:solidFill>
                <a:latin typeface="Calibri"/>
                <a:cs typeface="Calibri"/>
              </a:rPr>
              <a:t>R. A. Fisher: perhaps a gene drives both the smoking and the cancer.</a:t>
            </a:r>
          </a:p>
        </p:txBody>
      </p:sp>
      <p:sp>
        <p:nvSpPr>
          <p:cNvPr id="410" name="TextBox"/>
          <p:cNvSpPr txBox="1"/>
          <p:nvPr/>
        </p:nvSpPr>
        <p:spPr>
          <a:xfrm>
            <a:off x="8000000" y="3660000"/>
            <a:ext cx="3230000" cy="300000"/>
          </a:xfrm>
          <a:prstGeom prst="rect">
            <a:avLst/>
          </a:prstGeom>
          <a:noFill/>
        </p:spPr>
        <p:txBody>
          <a:bodyPr wrap="square" lIns="0" tIns="0" rIns="0" bIns="0" rtlCol="0" anchor="t">
            <a:noAutofit/>
          </a:bodyPr>
          <a:lstStyle/>
          <a:p>
            <a:pPr marL="0" indent="0" algn="r">
              <a:buNone/>
            </a:pPr>
            <a:r>
              <a:rPr lang="en-US" sz="1200" b="1" dirty="0">
                <a:solidFill>
                  <a:srgbClr val="1F3864"/>
                </a:solidFill>
                <a:latin typeface="Calibri"/>
                <a:cs typeface="Calibri"/>
              </a:rPr>
              <a:t>THE OBJECTION</a:t>
            </a:r>
          </a:p>
        </p:txBody>
      </p:sp>
      <p:sp>
        <p:nvSpPr>
          <p:cNvPr id="411" name="Card"/>
          <p:cNvSpPr/>
          <p:nvPr/>
        </p:nvSpPr>
        <p:spPr>
          <a:xfrm>
            <a:off x="685800" y="4390000"/>
            <a:ext cx="10820400" cy="980000"/>
          </a:xfrm>
          <a:prstGeom prst="roundRect">
            <a:avLst>
              <a:gd name="adj" fmla="val 8000"/>
            </a:avLst>
          </a:prstGeom>
          <a:solidFill>
            <a:srgbClr val="FFFFFF"/>
          </a:solidFill>
          <a:ln w="15875" cap="flat" cmpd="sng" algn="ctr">
            <a:solidFill>
              <a:srgbClr val="8A2A2A"/>
            </a:solidFill>
            <a:prstDash val="solid"/>
            <a:miter lim="800000"/>
          </a:ln>
        </p:spPr>
        <p:txBody>
          <a:bodyPr rtlCol="0" anchor="t"/>
          <a:lstStyle/>
          <a:p>
            <a:endParaRPr lang="en-US"/>
          </a:p>
        </p:txBody>
      </p:sp>
      <p:sp>
        <p:nvSpPr>
          <p:cNvPr id="412" name="TextBox"/>
          <p:cNvSpPr txBox="1"/>
          <p:nvPr/>
        </p:nvSpPr>
        <p:spPr>
          <a:xfrm>
            <a:off x="960120" y="4565000"/>
            <a:ext cx="6900000" cy="330000"/>
          </a:xfrm>
          <a:prstGeom prst="rect">
            <a:avLst/>
          </a:prstGeom>
          <a:noFill/>
        </p:spPr>
        <p:txBody>
          <a:bodyPr wrap="square" lIns="0" tIns="0" rIns="0" bIns="0" rtlCol="0" anchor="t">
            <a:noAutofit/>
          </a:bodyPr>
          <a:lstStyle/>
          <a:p>
            <a:pPr marL="0" indent="0" algn="l">
              <a:buNone/>
            </a:pPr>
            <a:r>
              <a:rPr lang="en-US" sz="1700" b="1" dirty="0">
                <a:solidFill>
                  <a:srgbClr val="262320"/>
                </a:solidFill>
                <a:latin typeface="Calibri"/>
                <a:cs typeface="Calibri"/>
              </a:rPr>
              <a:t>And the objection can be tested</a:t>
            </a:r>
          </a:p>
        </p:txBody>
      </p:sp>
      <p:sp>
        <p:nvSpPr>
          <p:cNvPr id="413" name="TextBox"/>
          <p:cNvSpPr txBox="1"/>
          <p:nvPr/>
        </p:nvSpPr>
        <p:spPr>
          <a:xfrm>
            <a:off x="960120" y="4945000"/>
            <a:ext cx="6900000" cy="300000"/>
          </a:xfrm>
          <a:prstGeom prst="rect">
            <a:avLst/>
          </a:prstGeom>
          <a:noFill/>
        </p:spPr>
        <p:txBody>
          <a:bodyPr wrap="square" lIns="0" tIns="0" rIns="0" bIns="0" rtlCol="0" anchor="t">
            <a:noAutofit/>
          </a:bodyPr>
          <a:lstStyle/>
          <a:p>
            <a:pPr marL="0" indent="0" algn="l">
              <a:buNone/>
            </a:pPr>
            <a:r>
              <a:rPr lang="en-US" sz="1600" dirty="0">
                <a:solidFill>
                  <a:srgbClr val="8A2A2A"/>
                </a:solidFill>
                <a:latin typeface="Calibri"/>
                <a:cs typeface="Calibri"/>
              </a:rPr>
              <a:t>A common cause that strong would leave a mark you can measure.</a:t>
            </a:r>
          </a:p>
        </p:txBody>
      </p:sp>
      <p:sp>
        <p:nvSpPr>
          <p:cNvPr id="414" name="TextBox"/>
          <p:cNvSpPr txBox="1"/>
          <p:nvPr/>
        </p:nvSpPr>
        <p:spPr>
          <a:xfrm>
            <a:off x="8000000" y="4730000"/>
            <a:ext cx="3230000" cy="300000"/>
          </a:xfrm>
          <a:prstGeom prst="rect">
            <a:avLst/>
          </a:prstGeom>
          <a:noFill/>
        </p:spPr>
        <p:txBody>
          <a:bodyPr wrap="square" lIns="0" tIns="0" rIns="0" bIns="0" rtlCol="0" anchor="t">
            <a:noAutofit/>
          </a:bodyPr>
          <a:lstStyle/>
          <a:p>
            <a:pPr marL="0" indent="0" algn="r">
              <a:buNone/>
            </a:pPr>
            <a:r>
              <a:rPr lang="en-US" sz="1200" b="1" dirty="0">
                <a:solidFill>
                  <a:srgbClr val="8A2A2A"/>
                </a:solidFill>
                <a:latin typeface="Calibri"/>
                <a:cs typeface="Calibri"/>
              </a:rPr>
              <a:t>THE ANSWER</a:t>
            </a:r>
          </a:p>
        </p:txBody>
      </p:sp>
      <p:sp>
        <p:nvSpPr>
          <p:cNvPr id="415" name="Band"/>
          <p:cNvSpPr/>
          <p:nvPr/>
        </p:nvSpPr>
        <p:spPr>
          <a:xfrm>
            <a:off x="685800" y="5600000"/>
            <a:ext cx="10820400" cy="840000"/>
          </a:xfrm>
          <a:prstGeom prst="roundRect">
            <a:avLst>
              <a:gd name="adj" fmla="val 8000"/>
            </a:avLst>
          </a:prstGeom>
          <a:solidFill>
            <a:srgbClr val="EFEFEF"/>
          </a:solidFill>
          <a:ln>
            <a:noFill/>
          </a:ln>
        </p:spPr>
        <p:txBody>
          <a:bodyPr lIns="182880" tIns="0" rIns="182880" bIns="0" rtlCol="0" anchor="ctr" anchorCtr="0"/>
          <a:lstStyle/>
          <a:p>
            <a:pPr marL="0" indent="0" algn="ctr">
              <a:buNone/>
            </a:pPr>
            <a:r>
              <a:rPr lang="en-US" sz="1400" b="1" dirty="0">
                <a:solidFill>
                  <a:srgbClr val="000000"/>
                </a:solidFill>
                <a:latin typeface="Calibri"/>
                <a:cs typeface="Calibri"/>
              </a:rPr>
              <a:t>This is the question the whole day teaches: could a common cause be doing the work?</a:t>
            </a:r>
          </a:p>
          <a:p>
            <a:pPr marL="0" indent="0" algn="ctr">
              <a:buNone/>
            </a:pPr>
            <a:r>
              <a:rPr lang="en-US" sz="1400" b="1" dirty="0">
                <a:solidFill>
                  <a:srgbClr val="000000"/>
                </a:solidFill>
                <a:latin typeface="Calibri"/>
                <a:cs typeface="Calibri"/>
              </a:rPr>
              <a:t>Here, for once, the arrow survives it. The next four slides show what that took.</a:t>
            </a:r>
          </a:p>
        </p:txBody>
      </p:sp>
      <p:sp>
        <p:nvSpPr>
          <p:cNvPr id="416" name="Source"/>
          <p:cNvSpPr txBox="1"/>
          <p:nvPr/>
        </p:nvSpPr>
        <p:spPr>
          <a:xfrm>
            <a:off x="685800" y="6520000"/>
            <a:ext cx="10820400" cy="274320"/>
          </a:xfrm>
          <a:prstGeom prst="rect">
            <a:avLst/>
          </a:prstGeom>
          <a:noFill/>
        </p:spPr>
        <p:txBody>
          <a:bodyPr wrap="square" lIns="0" tIns="0" rIns="0" bIns="0" rtlCol="0" anchor="t">
            <a:noAutofit/>
          </a:bodyPr>
          <a:lstStyle/>
          <a:p>
            <a:pPr marL="0" indent="0" algn="l">
              <a:buNone/>
            </a:pPr>
            <a:r>
              <a:rPr lang="en-US" sz="1000" i="1" dirty="0">
                <a:solidFill>
                  <a:srgbClr val="6B6660"/>
                </a:solidFill>
                <a:latin typeface="Calibri"/>
                <a:cs typeface="Calibri"/>
              </a:rPr>
              <a:t>Correlation from the 1950s cohort studies (Doll and Hill; Hammond and Horn, 187,783 men). Fisher RA. Cigarettes, cancer, and statistics. Nature 1958;182:596. Stolley PD. Am J Epidemiol 1991;133:416-425. Answered by Cornfield J et al. J Natl Cancer Inst 1959;22:173-203.</a:t>
            </a:r>
          </a:p>
        </p:txBody>
      </p:sp>
    </p:spTree>
    <p:extLst>
      <p:ext uri="{BB962C8B-B14F-4D97-AF65-F5344CB8AC3E}">
        <p14:creationId xmlns:p14="http://schemas.microsoft.com/office/powerpoint/2010/main" val="40220148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Title"/>
          <p:cNvSpPr>
            <a:spLocks noGrp="1"/>
          </p:cNvSpPr>
          <p:nvPr>
            <p:ph type="title" idx="102"/>
          </p:nvPr>
        </p:nvSpPr>
        <p:spPr>
          <a:xfrm>
            <a:off x="1854200" y="868680"/>
            <a:ext cx="9652000" cy="868680"/>
          </a:xfrm>
          <a:prstGeom prst="rect">
            <a:avLst/>
          </a:prstGeom>
          <a:noFill/>
          <a:ln/>
        </p:spPr>
        <p:txBody>
          <a:bodyPr wrap="square" lIns="0" tIns="0" rIns="0" bIns="0" rtlCol="0" anchor="ctr"/>
          <a:lstStyle/>
          <a:p>
            <a:pPr marL="0" indent="0" algn="l">
              <a:buNone/>
            </a:pPr>
            <a:r>
              <a:rPr lang="en-US" sz="3800" dirty="0"/>
              <a:t>Fisher's Objection: Perhaps a Gene Causes Both</a:t>
            </a:r>
          </a:p>
        </p:txBody>
      </p:sp>
      <p:sp>
        <p:nvSpPr>
          <p:cNvPr id="217" name="Eyebrow"/>
          <p:cNvSpPr txBox="1"/>
          <p:nvPr/>
        </p:nvSpPr>
        <p:spPr>
          <a:xfrm>
            <a:off x="685800" y="1728399"/>
            <a:ext cx="10820400" cy="431800"/>
          </a:xfrm>
          <a:prstGeom prst="rect">
            <a:avLst/>
          </a:prstGeom>
          <a:noFill/>
        </p:spPr>
        <p:txBody>
          <a:bodyPr wrap="none" lIns="0" tIns="0" rIns="0" bIns="0" rtlCol="0" anchor="t">
            <a:noAutofit/>
          </a:bodyPr>
          <a:lstStyle/>
          <a:p>
            <a:pPr marL="0" indent="0" algn="l">
              <a:buNone/>
            </a:pPr>
            <a:endParaRPr/>
          </a:p>
        </p:txBody>
      </p:sp>
      <p:sp>
        <p:nvSpPr>
          <p:cNvPr id="218" name="TextBox"/>
          <p:cNvSpPr txBox="1"/>
          <p:nvPr/>
        </p:nvSpPr>
        <p:spPr>
          <a:xfrm>
            <a:off x="685800" y="2200000"/>
            <a:ext cx="10820400" cy="400000"/>
          </a:xfrm>
          <a:prstGeom prst="rect">
            <a:avLst/>
          </a:prstGeom>
          <a:noFill/>
        </p:spPr>
        <p:txBody>
          <a:bodyPr wrap="square" lIns="0" tIns="0" rIns="0" bIns="0" rtlCol="0" anchor="t">
            <a:noAutofit/>
          </a:bodyPr>
          <a:lstStyle/>
          <a:p>
            <a:pPr marL="0" indent="0" algn="l">
              <a:buNone/>
            </a:pPr>
            <a:r>
              <a:rPr lang="en-US" sz="1700" dirty="0">
                <a:solidFill>
                  <a:srgbClr val="262320"/>
                </a:solidFill>
                <a:latin typeface="Calibri"/>
                <a:cs typeface="Calibri"/>
              </a:rPr>
              <a:t>R. A. Fisher, inventor of the significance test, said the link could be a gene that produces both the craving and the cancer.</a:t>
            </a:r>
          </a:p>
        </p:txBody>
      </p:sp>
      <p:pic>
        <p:nvPicPr>
          <p:cNvPr id="219" name="FisherRivals" descr="Two diagrams: smoking causing lung cancer, against a gene causing both with no arrow between them"/>
          <p:cNvPicPr>
            <a:picLocks noChangeAspect="1"/>
          </p:cNvPicPr>
          <p:nvPr/>
        </p:nvPicPr>
        <p:blipFill>
          <a:blip r:embed="rId3"/>
          <a:stretch>
            <a:fillRect/>
          </a:stretch>
        </p:blipFill>
        <p:spPr>
          <a:xfrm>
            <a:off x="2096000" y="2680000"/>
            <a:ext cx="8000000" cy="2127659"/>
          </a:xfrm>
          <a:prstGeom prst="rect">
            <a:avLst/>
          </a:prstGeom>
        </p:spPr>
      </p:pic>
      <p:sp>
        <p:nvSpPr>
          <p:cNvPr id="220" name="TextBox"/>
          <p:cNvSpPr txBox="1"/>
          <p:nvPr/>
        </p:nvSpPr>
        <p:spPr>
          <a:xfrm>
            <a:off x="685800" y="4920000"/>
            <a:ext cx="10820400" cy="400000"/>
          </a:xfrm>
          <a:prstGeom prst="rect">
            <a:avLst/>
          </a:prstGeom>
          <a:noFill/>
        </p:spPr>
        <p:txBody>
          <a:bodyPr wrap="square" lIns="0" tIns="0" rIns="0" bIns="0" rtlCol="0" anchor="t">
            <a:noAutofit/>
          </a:bodyPr>
          <a:lstStyle/>
          <a:p>
            <a:pPr marL="0" indent="0" algn="ctr">
              <a:buNone/>
            </a:pPr>
            <a:r>
              <a:rPr lang="en-US" sz="1800" b="1" dirty="0">
                <a:solidFill>
                  <a:srgbClr val="8A2A2A"/>
                </a:solidFill>
                <a:latin typeface="Calibri"/>
                <a:cs typeface="Calibri"/>
              </a:rPr>
              <a:t>He was a paid consultant to the tobacco industry. And a smoker.</a:t>
            </a:r>
          </a:p>
        </p:txBody>
      </p:sp>
      <p:sp>
        <p:nvSpPr>
          <p:cNvPr id="221" name="Band"/>
          <p:cNvSpPr/>
          <p:nvPr/>
        </p:nvSpPr>
        <p:spPr>
          <a:xfrm>
            <a:off x="685800" y="5560000"/>
            <a:ext cx="10820400" cy="700000"/>
          </a:xfrm>
          <a:prstGeom prst="roundRect">
            <a:avLst>
              <a:gd name="adj" fmla="val 8000"/>
            </a:avLst>
          </a:prstGeom>
          <a:solidFill>
            <a:srgbClr val="EFEFEF"/>
          </a:solidFill>
          <a:ln>
            <a:noFill/>
          </a:ln>
        </p:spPr>
        <p:txBody>
          <a:bodyPr lIns="182880" tIns="0" rIns="182880" bIns="0" rtlCol="0" anchor="ctr" anchorCtr="0"/>
          <a:lstStyle/>
          <a:p>
            <a:pPr marL="0" indent="0" algn="ctr">
              <a:buNone/>
            </a:pPr>
            <a:r>
              <a:rPr lang="en-US" sz="1400" b="1" dirty="0">
                <a:solidFill>
                  <a:srgbClr val="000000"/>
                </a:solidFill>
                <a:latin typeface="Calibri"/>
                <a:cs typeface="Calibri"/>
              </a:rPr>
              <a:t>The right-hand diagram was a legitimate question. Answering it took arithmetic, not indignation.</a:t>
            </a:r>
          </a:p>
        </p:txBody>
      </p:sp>
      <p:sp>
        <p:nvSpPr>
          <p:cNvPr id="222" name="Source"/>
          <p:cNvSpPr txBox="1"/>
          <p:nvPr/>
        </p:nvSpPr>
        <p:spPr>
          <a:xfrm>
            <a:off x="685800" y="6480000"/>
            <a:ext cx="10820400" cy="274320"/>
          </a:xfrm>
          <a:prstGeom prst="rect">
            <a:avLst/>
          </a:prstGeom>
          <a:noFill/>
        </p:spPr>
        <p:txBody>
          <a:bodyPr wrap="square" lIns="0" tIns="0" rIns="0" bIns="0" rtlCol="0" anchor="t">
            <a:noAutofit/>
          </a:bodyPr>
          <a:lstStyle/>
          <a:p>
            <a:pPr marL="0" indent="0" algn="l">
              <a:buNone/>
            </a:pPr>
            <a:r>
              <a:rPr lang="en-US" sz="1100" i="1" dirty="0">
                <a:solidFill>
                  <a:srgbClr val="6B6660"/>
                </a:solidFill>
                <a:latin typeface="Calibri"/>
                <a:cs typeface="Calibri"/>
              </a:rPr>
              <a:t>Fisher RA. Cigarettes, cancer, and statistics. Nature 1958;182:596. Stolley PD. Am J Epidemiol 1991;133:416-425.</a:t>
            </a:r>
          </a:p>
        </p:txBody>
      </p:sp>
    </p:spTree>
    <p:extLst>
      <p:ext uri="{BB962C8B-B14F-4D97-AF65-F5344CB8AC3E}">
        <p14:creationId xmlns:p14="http://schemas.microsoft.com/office/powerpoint/2010/main" val="19733154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itle"/>
          <p:cNvSpPr>
            <a:spLocks noGrp="1"/>
          </p:cNvSpPr>
          <p:nvPr>
            <p:ph type="title" idx="102"/>
          </p:nvPr>
        </p:nvSpPr>
        <p:spPr>
          <a:xfrm>
            <a:off x="1854200" y="868680"/>
            <a:ext cx="9652000" cy="868680"/>
          </a:xfrm>
          <a:prstGeom prst="rect">
            <a:avLst/>
          </a:prstGeom>
          <a:noFill/>
          <a:ln/>
        </p:spPr>
        <p:txBody>
          <a:bodyPr wrap="square" lIns="0" tIns="0" rIns="0" bIns="0" rtlCol="0" anchor="ctr"/>
          <a:lstStyle/>
          <a:p>
            <a:pPr marL="0" indent="0" algn="l">
              <a:buNone/>
            </a:pPr>
            <a:r>
              <a:rPr lang="en-US" sz="3200" dirty="0"/>
              <a:t>Lung Cancer in One Hundred British Men, Around 1950</a:t>
            </a:r>
          </a:p>
        </p:txBody>
      </p:sp>
      <p:sp>
        <p:nvSpPr>
          <p:cNvPr id="120" name="Source"/>
          <p:cNvSpPr txBox="1"/>
          <p:nvPr/>
        </p:nvSpPr>
        <p:spPr>
          <a:xfrm>
            <a:off x="685800" y="6172200"/>
            <a:ext cx="10820400" cy="558800"/>
          </a:xfrm>
          <a:prstGeom prst="rect">
            <a:avLst/>
          </a:prstGeom>
          <a:noFill/>
        </p:spPr>
        <p:txBody>
          <a:bodyPr wrap="square" lIns="0" tIns="0" rIns="0" bIns="0" rtlCol="0" anchor="t">
            <a:noAutofit/>
          </a:bodyPr>
          <a:lstStyle/>
          <a:p>
            <a:pPr marL="0" indent="0" algn="l">
              <a:buNone/>
            </a:pPr>
            <a:r>
              <a:rPr lang="en-US" sz="1100" i="1" dirty="0">
                <a:solidFill>
                  <a:srgbClr val="6B6660"/>
                </a:solidFill>
                <a:latin typeface="Calibri"/>
                <a:cs typeface="Calibri"/>
              </a:rPr>
              <a:t>About 65% of British men smoked around 1950 (Doll R. Br J Cancer 1953;7:303). Lung cancer risk by age 75 is 15.7% for continuing smokers (Crispo A et al. Br J Cancer 2004;91:1280-1286); the 2% for never-smokers is approximate. Counts rounded to whole men, so the reverse conditional reads 10 of 11 (91%), not 94%.</a:t>
            </a:r>
          </a:p>
        </p:txBody>
      </p:sp>
      <p:sp>
        <p:nvSpPr>
          <p:cNvPr id="5" name="W0">
            <a:extLst>
              <a:ext uri="{FF2B5EF4-FFF2-40B4-BE49-F238E27FC236}">
                <a16:creationId xmlns:a16="http://schemas.microsoft.com/office/drawing/2014/main" id="{05BB4873-6ECF-E844-8BE2-0F7A3412DD4F}"/>
              </a:ext>
            </a:extLst>
          </p:cNvPr>
          <p:cNvSpPr/>
          <p:nvPr/>
        </p:nvSpPr>
        <p:spPr>
          <a:xfrm>
            <a:off x="762000" y="2311400"/>
            <a:ext cx="304800" cy="304800"/>
          </a:xfrm>
          <a:prstGeom prst="rect">
            <a:avLst/>
          </a:prstGeom>
          <a:solidFill>
            <a:srgbClr val="B347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W1">
            <a:extLst>
              <a:ext uri="{FF2B5EF4-FFF2-40B4-BE49-F238E27FC236}">
                <a16:creationId xmlns:a16="http://schemas.microsoft.com/office/drawing/2014/main" id="{8B001F3F-89E6-2A4D-BA13-65907984F7EB}"/>
              </a:ext>
            </a:extLst>
          </p:cNvPr>
          <p:cNvSpPr/>
          <p:nvPr/>
        </p:nvSpPr>
        <p:spPr>
          <a:xfrm>
            <a:off x="1130300" y="2311400"/>
            <a:ext cx="304800" cy="304800"/>
          </a:xfrm>
          <a:prstGeom prst="rect">
            <a:avLst/>
          </a:prstGeom>
          <a:solidFill>
            <a:srgbClr val="B347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W2">
            <a:extLst>
              <a:ext uri="{FF2B5EF4-FFF2-40B4-BE49-F238E27FC236}">
                <a16:creationId xmlns:a16="http://schemas.microsoft.com/office/drawing/2014/main" id="{8D7B843D-3CE3-004C-AA00-8FCD8B680305}"/>
              </a:ext>
            </a:extLst>
          </p:cNvPr>
          <p:cNvSpPr/>
          <p:nvPr/>
        </p:nvSpPr>
        <p:spPr>
          <a:xfrm>
            <a:off x="1498600" y="2311400"/>
            <a:ext cx="304800" cy="304800"/>
          </a:xfrm>
          <a:prstGeom prst="rect">
            <a:avLst/>
          </a:prstGeom>
          <a:solidFill>
            <a:srgbClr val="B347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W3">
            <a:extLst>
              <a:ext uri="{FF2B5EF4-FFF2-40B4-BE49-F238E27FC236}">
                <a16:creationId xmlns:a16="http://schemas.microsoft.com/office/drawing/2014/main" id="{27EC7F66-1D8C-D648-BB1E-2B288188E2B2}"/>
              </a:ext>
            </a:extLst>
          </p:cNvPr>
          <p:cNvSpPr/>
          <p:nvPr/>
        </p:nvSpPr>
        <p:spPr>
          <a:xfrm>
            <a:off x="1866900" y="2311400"/>
            <a:ext cx="304800" cy="304800"/>
          </a:xfrm>
          <a:prstGeom prst="rect">
            <a:avLst/>
          </a:prstGeom>
          <a:solidFill>
            <a:srgbClr val="B347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W4">
            <a:extLst>
              <a:ext uri="{FF2B5EF4-FFF2-40B4-BE49-F238E27FC236}">
                <a16:creationId xmlns:a16="http://schemas.microsoft.com/office/drawing/2014/main" id="{44ADB1CF-40D6-EC4B-912A-1FA7A4966FF8}"/>
              </a:ext>
            </a:extLst>
          </p:cNvPr>
          <p:cNvSpPr/>
          <p:nvPr/>
        </p:nvSpPr>
        <p:spPr>
          <a:xfrm>
            <a:off x="2235200" y="2311400"/>
            <a:ext cx="304800" cy="304800"/>
          </a:xfrm>
          <a:prstGeom prst="rect">
            <a:avLst/>
          </a:prstGeom>
          <a:solidFill>
            <a:srgbClr val="B347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W5">
            <a:extLst>
              <a:ext uri="{FF2B5EF4-FFF2-40B4-BE49-F238E27FC236}">
                <a16:creationId xmlns:a16="http://schemas.microsoft.com/office/drawing/2014/main" id="{46516689-F09D-2244-9A31-EE918208327D}"/>
              </a:ext>
            </a:extLst>
          </p:cNvPr>
          <p:cNvSpPr/>
          <p:nvPr/>
        </p:nvSpPr>
        <p:spPr>
          <a:xfrm>
            <a:off x="2603500" y="2311400"/>
            <a:ext cx="304800" cy="304800"/>
          </a:xfrm>
          <a:prstGeom prst="rect">
            <a:avLst/>
          </a:prstGeom>
          <a:solidFill>
            <a:srgbClr val="B347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W6">
            <a:extLst>
              <a:ext uri="{FF2B5EF4-FFF2-40B4-BE49-F238E27FC236}">
                <a16:creationId xmlns:a16="http://schemas.microsoft.com/office/drawing/2014/main" id="{9E56FBA9-7FF1-1B4D-AABD-D911ADF00DE9}"/>
              </a:ext>
            </a:extLst>
          </p:cNvPr>
          <p:cNvSpPr/>
          <p:nvPr/>
        </p:nvSpPr>
        <p:spPr>
          <a:xfrm>
            <a:off x="2971800" y="2311400"/>
            <a:ext cx="304800" cy="304800"/>
          </a:xfrm>
          <a:prstGeom prst="rect">
            <a:avLst/>
          </a:prstGeom>
          <a:solidFill>
            <a:srgbClr val="B347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W7">
            <a:extLst>
              <a:ext uri="{FF2B5EF4-FFF2-40B4-BE49-F238E27FC236}">
                <a16:creationId xmlns:a16="http://schemas.microsoft.com/office/drawing/2014/main" id="{972F3554-B602-FA4F-B8BE-5B86E4041972}"/>
              </a:ext>
            </a:extLst>
          </p:cNvPr>
          <p:cNvSpPr/>
          <p:nvPr/>
        </p:nvSpPr>
        <p:spPr>
          <a:xfrm>
            <a:off x="3340100" y="2311400"/>
            <a:ext cx="304800" cy="304800"/>
          </a:xfrm>
          <a:prstGeom prst="rect">
            <a:avLst/>
          </a:prstGeom>
          <a:solidFill>
            <a:srgbClr val="B347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W8">
            <a:extLst>
              <a:ext uri="{FF2B5EF4-FFF2-40B4-BE49-F238E27FC236}">
                <a16:creationId xmlns:a16="http://schemas.microsoft.com/office/drawing/2014/main" id="{A2EC1F4F-F42B-BD4A-8296-2DB9FD0F9BA5}"/>
              </a:ext>
            </a:extLst>
          </p:cNvPr>
          <p:cNvSpPr/>
          <p:nvPr/>
        </p:nvSpPr>
        <p:spPr>
          <a:xfrm>
            <a:off x="3708400" y="2311400"/>
            <a:ext cx="304800" cy="304800"/>
          </a:xfrm>
          <a:prstGeom prst="rect">
            <a:avLst/>
          </a:prstGeom>
          <a:solidFill>
            <a:srgbClr val="B347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W9">
            <a:extLst>
              <a:ext uri="{FF2B5EF4-FFF2-40B4-BE49-F238E27FC236}">
                <a16:creationId xmlns:a16="http://schemas.microsoft.com/office/drawing/2014/main" id="{C0AB0BCD-C5D1-624A-816A-427462924806}"/>
              </a:ext>
            </a:extLst>
          </p:cNvPr>
          <p:cNvSpPr/>
          <p:nvPr/>
        </p:nvSpPr>
        <p:spPr>
          <a:xfrm>
            <a:off x="4076700" y="2311400"/>
            <a:ext cx="304800" cy="304800"/>
          </a:xfrm>
          <a:prstGeom prst="rect">
            <a:avLst/>
          </a:prstGeom>
          <a:solidFill>
            <a:srgbClr val="B347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W10">
            <a:extLst>
              <a:ext uri="{FF2B5EF4-FFF2-40B4-BE49-F238E27FC236}">
                <a16:creationId xmlns:a16="http://schemas.microsoft.com/office/drawing/2014/main" id="{B86A61B5-C3E3-7B45-B9BD-B64267A007C2}"/>
              </a:ext>
            </a:extLst>
          </p:cNvPr>
          <p:cNvSpPr/>
          <p:nvPr/>
        </p:nvSpPr>
        <p:spPr>
          <a:xfrm>
            <a:off x="762000" y="26797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W11">
            <a:extLst>
              <a:ext uri="{FF2B5EF4-FFF2-40B4-BE49-F238E27FC236}">
                <a16:creationId xmlns:a16="http://schemas.microsoft.com/office/drawing/2014/main" id="{E1A53FAD-B6B6-0545-AFFB-B2BEF29F7D4F}"/>
              </a:ext>
            </a:extLst>
          </p:cNvPr>
          <p:cNvSpPr/>
          <p:nvPr/>
        </p:nvSpPr>
        <p:spPr>
          <a:xfrm>
            <a:off x="1130300" y="26797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W12">
            <a:extLst>
              <a:ext uri="{FF2B5EF4-FFF2-40B4-BE49-F238E27FC236}">
                <a16:creationId xmlns:a16="http://schemas.microsoft.com/office/drawing/2014/main" id="{9A27CB58-59B2-8740-A28B-A74B0BB0947D}"/>
              </a:ext>
            </a:extLst>
          </p:cNvPr>
          <p:cNvSpPr/>
          <p:nvPr/>
        </p:nvSpPr>
        <p:spPr>
          <a:xfrm>
            <a:off x="1498600" y="26797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W13">
            <a:extLst>
              <a:ext uri="{FF2B5EF4-FFF2-40B4-BE49-F238E27FC236}">
                <a16:creationId xmlns:a16="http://schemas.microsoft.com/office/drawing/2014/main" id="{B79DC512-8978-F240-8831-858227546350}"/>
              </a:ext>
            </a:extLst>
          </p:cNvPr>
          <p:cNvSpPr/>
          <p:nvPr/>
        </p:nvSpPr>
        <p:spPr>
          <a:xfrm>
            <a:off x="1866900" y="26797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W14">
            <a:extLst>
              <a:ext uri="{FF2B5EF4-FFF2-40B4-BE49-F238E27FC236}">
                <a16:creationId xmlns:a16="http://schemas.microsoft.com/office/drawing/2014/main" id="{68F3E425-BC01-2A48-89F7-7C74D9D5F12E}"/>
              </a:ext>
            </a:extLst>
          </p:cNvPr>
          <p:cNvSpPr/>
          <p:nvPr/>
        </p:nvSpPr>
        <p:spPr>
          <a:xfrm>
            <a:off x="2235200" y="26797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W15">
            <a:extLst>
              <a:ext uri="{FF2B5EF4-FFF2-40B4-BE49-F238E27FC236}">
                <a16:creationId xmlns:a16="http://schemas.microsoft.com/office/drawing/2014/main" id="{AABAB5F9-59F0-594D-B553-544802372855}"/>
              </a:ext>
            </a:extLst>
          </p:cNvPr>
          <p:cNvSpPr/>
          <p:nvPr/>
        </p:nvSpPr>
        <p:spPr>
          <a:xfrm>
            <a:off x="2603500" y="26797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W16">
            <a:extLst>
              <a:ext uri="{FF2B5EF4-FFF2-40B4-BE49-F238E27FC236}">
                <a16:creationId xmlns:a16="http://schemas.microsoft.com/office/drawing/2014/main" id="{4F838DCD-D6CD-EA43-9F37-AD35B563F266}"/>
              </a:ext>
            </a:extLst>
          </p:cNvPr>
          <p:cNvSpPr/>
          <p:nvPr/>
        </p:nvSpPr>
        <p:spPr>
          <a:xfrm>
            <a:off x="2971800" y="26797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W17">
            <a:extLst>
              <a:ext uri="{FF2B5EF4-FFF2-40B4-BE49-F238E27FC236}">
                <a16:creationId xmlns:a16="http://schemas.microsoft.com/office/drawing/2014/main" id="{58DA6D36-0D74-8540-B704-56573CB5E057}"/>
              </a:ext>
            </a:extLst>
          </p:cNvPr>
          <p:cNvSpPr/>
          <p:nvPr/>
        </p:nvSpPr>
        <p:spPr>
          <a:xfrm>
            <a:off x="3340100" y="26797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W18">
            <a:extLst>
              <a:ext uri="{FF2B5EF4-FFF2-40B4-BE49-F238E27FC236}">
                <a16:creationId xmlns:a16="http://schemas.microsoft.com/office/drawing/2014/main" id="{05F7FBDB-82A9-DA42-A4C8-A3BC58530032}"/>
              </a:ext>
            </a:extLst>
          </p:cNvPr>
          <p:cNvSpPr/>
          <p:nvPr/>
        </p:nvSpPr>
        <p:spPr>
          <a:xfrm>
            <a:off x="3708400" y="26797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W19">
            <a:extLst>
              <a:ext uri="{FF2B5EF4-FFF2-40B4-BE49-F238E27FC236}">
                <a16:creationId xmlns:a16="http://schemas.microsoft.com/office/drawing/2014/main" id="{5DAE2796-4510-3E42-881C-F35C204EB26E}"/>
              </a:ext>
            </a:extLst>
          </p:cNvPr>
          <p:cNvSpPr/>
          <p:nvPr/>
        </p:nvSpPr>
        <p:spPr>
          <a:xfrm>
            <a:off x="4076700" y="26797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W20">
            <a:extLst>
              <a:ext uri="{FF2B5EF4-FFF2-40B4-BE49-F238E27FC236}">
                <a16:creationId xmlns:a16="http://schemas.microsoft.com/office/drawing/2014/main" id="{081C3B7E-C2C6-6542-8BAD-C2B113002D89}"/>
              </a:ext>
            </a:extLst>
          </p:cNvPr>
          <p:cNvSpPr/>
          <p:nvPr/>
        </p:nvSpPr>
        <p:spPr>
          <a:xfrm>
            <a:off x="762000" y="30480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W21">
            <a:extLst>
              <a:ext uri="{FF2B5EF4-FFF2-40B4-BE49-F238E27FC236}">
                <a16:creationId xmlns:a16="http://schemas.microsoft.com/office/drawing/2014/main" id="{3DE65EFE-C3AB-7C47-B100-85DCBDAF0F3C}"/>
              </a:ext>
            </a:extLst>
          </p:cNvPr>
          <p:cNvSpPr/>
          <p:nvPr/>
        </p:nvSpPr>
        <p:spPr>
          <a:xfrm>
            <a:off x="1130300" y="30480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W22">
            <a:extLst>
              <a:ext uri="{FF2B5EF4-FFF2-40B4-BE49-F238E27FC236}">
                <a16:creationId xmlns:a16="http://schemas.microsoft.com/office/drawing/2014/main" id="{8240AC6C-355E-CA41-95CA-AC8CD278C6B9}"/>
              </a:ext>
            </a:extLst>
          </p:cNvPr>
          <p:cNvSpPr/>
          <p:nvPr/>
        </p:nvSpPr>
        <p:spPr>
          <a:xfrm>
            <a:off x="1498600" y="30480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W23">
            <a:extLst>
              <a:ext uri="{FF2B5EF4-FFF2-40B4-BE49-F238E27FC236}">
                <a16:creationId xmlns:a16="http://schemas.microsoft.com/office/drawing/2014/main" id="{CC25F49E-058F-DA4D-A18E-447E44DE6574}"/>
              </a:ext>
            </a:extLst>
          </p:cNvPr>
          <p:cNvSpPr/>
          <p:nvPr/>
        </p:nvSpPr>
        <p:spPr>
          <a:xfrm>
            <a:off x="1866900" y="30480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W24">
            <a:extLst>
              <a:ext uri="{FF2B5EF4-FFF2-40B4-BE49-F238E27FC236}">
                <a16:creationId xmlns:a16="http://schemas.microsoft.com/office/drawing/2014/main" id="{0FCBDF29-56B3-1849-823A-FE00A0320015}"/>
              </a:ext>
            </a:extLst>
          </p:cNvPr>
          <p:cNvSpPr/>
          <p:nvPr/>
        </p:nvSpPr>
        <p:spPr>
          <a:xfrm>
            <a:off x="2235200" y="30480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W25">
            <a:extLst>
              <a:ext uri="{FF2B5EF4-FFF2-40B4-BE49-F238E27FC236}">
                <a16:creationId xmlns:a16="http://schemas.microsoft.com/office/drawing/2014/main" id="{5043FD41-0A1D-6A46-BA47-B97C92F68F66}"/>
              </a:ext>
            </a:extLst>
          </p:cNvPr>
          <p:cNvSpPr/>
          <p:nvPr/>
        </p:nvSpPr>
        <p:spPr>
          <a:xfrm>
            <a:off x="2603500" y="30480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W26">
            <a:extLst>
              <a:ext uri="{FF2B5EF4-FFF2-40B4-BE49-F238E27FC236}">
                <a16:creationId xmlns:a16="http://schemas.microsoft.com/office/drawing/2014/main" id="{59287444-097C-4B44-96F1-6767A8193F21}"/>
              </a:ext>
            </a:extLst>
          </p:cNvPr>
          <p:cNvSpPr/>
          <p:nvPr/>
        </p:nvSpPr>
        <p:spPr>
          <a:xfrm>
            <a:off x="2971800" y="30480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W27">
            <a:extLst>
              <a:ext uri="{FF2B5EF4-FFF2-40B4-BE49-F238E27FC236}">
                <a16:creationId xmlns:a16="http://schemas.microsoft.com/office/drawing/2014/main" id="{608A0455-1EF0-E94E-B273-37370EB2E99D}"/>
              </a:ext>
            </a:extLst>
          </p:cNvPr>
          <p:cNvSpPr/>
          <p:nvPr/>
        </p:nvSpPr>
        <p:spPr>
          <a:xfrm>
            <a:off x="3340100" y="30480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W28">
            <a:extLst>
              <a:ext uri="{FF2B5EF4-FFF2-40B4-BE49-F238E27FC236}">
                <a16:creationId xmlns:a16="http://schemas.microsoft.com/office/drawing/2014/main" id="{0CC80F97-5976-F647-A478-FA21EC24205F}"/>
              </a:ext>
            </a:extLst>
          </p:cNvPr>
          <p:cNvSpPr/>
          <p:nvPr/>
        </p:nvSpPr>
        <p:spPr>
          <a:xfrm>
            <a:off x="3708400" y="30480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W29">
            <a:extLst>
              <a:ext uri="{FF2B5EF4-FFF2-40B4-BE49-F238E27FC236}">
                <a16:creationId xmlns:a16="http://schemas.microsoft.com/office/drawing/2014/main" id="{DE6FE1CD-7E28-784A-BED3-6500DD30889D}"/>
              </a:ext>
            </a:extLst>
          </p:cNvPr>
          <p:cNvSpPr/>
          <p:nvPr/>
        </p:nvSpPr>
        <p:spPr>
          <a:xfrm>
            <a:off x="4076700" y="30480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W30">
            <a:extLst>
              <a:ext uri="{FF2B5EF4-FFF2-40B4-BE49-F238E27FC236}">
                <a16:creationId xmlns:a16="http://schemas.microsoft.com/office/drawing/2014/main" id="{FE58A743-B70C-1C41-99A4-6A4633522387}"/>
              </a:ext>
            </a:extLst>
          </p:cNvPr>
          <p:cNvSpPr/>
          <p:nvPr/>
        </p:nvSpPr>
        <p:spPr>
          <a:xfrm>
            <a:off x="762000" y="34163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6" name="W31">
            <a:extLst>
              <a:ext uri="{FF2B5EF4-FFF2-40B4-BE49-F238E27FC236}">
                <a16:creationId xmlns:a16="http://schemas.microsoft.com/office/drawing/2014/main" id="{16BBEBF4-D4DB-D048-A932-A556EE3E54CE}"/>
              </a:ext>
            </a:extLst>
          </p:cNvPr>
          <p:cNvSpPr/>
          <p:nvPr/>
        </p:nvSpPr>
        <p:spPr>
          <a:xfrm>
            <a:off x="1130300" y="34163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7" name="W32">
            <a:extLst>
              <a:ext uri="{FF2B5EF4-FFF2-40B4-BE49-F238E27FC236}">
                <a16:creationId xmlns:a16="http://schemas.microsoft.com/office/drawing/2014/main" id="{15BC5046-2A0E-F34B-B73F-3D7C8FDCACD6}"/>
              </a:ext>
            </a:extLst>
          </p:cNvPr>
          <p:cNvSpPr/>
          <p:nvPr/>
        </p:nvSpPr>
        <p:spPr>
          <a:xfrm>
            <a:off x="1498600" y="34163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8" name="W33">
            <a:extLst>
              <a:ext uri="{FF2B5EF4-FFF2-40B4-BE49-F238E27FC236}">
                <a16:creationId xmlns:a16="http://schemas.microsoft.com/office/drawing/2014/main" id="{3C378EB1-9BEF-F54C-99B6-B29777C40B43}"/>
              </a:ext>
            </a:extLst>
          </p:cNvPr>
          <p:cNvSpPr/>
          <p:nvPr/>
        </p:nvSpPr>
        <p:spPr>
          <a:xfrm>
            <a:off x="1866900" y="34163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9" name="W34">
            <a:extLst>
              <a:ext uri="{FF2B5EF4-FFF2-40B4-BE49-F238E27FC236}">
                <a16:creationId xmlns:a16="http://schemas.microsoft.com/office/drawing/2014/main" id="{0912E0CF-5938-324A-B76B-B431F40CEBEE}"/>
              </a:ext>
            </a:extLst>
          </p:cNvPr>
          <p:cNvSpPr/>
          <p:nvPr/>
        </p:nvSpPr>
        <p:spPr>
          <a:xfrm>
            <a:off x="2235200" y="34163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W35">
            <a:extLst>
              <a:ext uri="{FF2B5EF4-FFF2-40B4-BE49-F238E27FC236}">
                <a16:creationId xmlns:a16="http://schemas.microsoft.com/office/drawing/2014/main" id="{68B54BB3-BA2D-FC45-BED7-96147DD75F64}"/>
              </a:ext>
            </a:extLst>
          </p:cNvPr>
          <p:cNvSpPr/>
          <p:nvPr/>
        </p:nvSpPr>
        <p:spPr>
          <a:xfrm>
            <a:off x="2603500" y="34163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W36">
            <a:extLst>
              <a:ext uri="{FF2B5EF4-FFF2-40B4-BE49-F238E27FC236}">
                <a16:creationId xmlns:a16="http://schemas.microsoft.com/office/drawing/2014/main" id="{7AC15CDA-2F58-C947-BFBE-036DCB0EA4A4}"/>
              </a:ext>
            </a:extLst>
          </p:cNvPr>
          <p:cNvSpPr/>
          <p:nvPr/>
        </p:nvSpPr>
        <p:spPr>
          <a:xfrm>
            <a:off x="2971800" y="34163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2" name="W37">
            <a:extLst>
              <a:ext uri="{FF2B5EF4-FFF2-40B4-BE49-F238E27FC236}">
                <a16:creationId xmlns:a16="http://schemas.microsoft.com/office/drawing/2014/main" id="{A4573AE8-BF60-1748-9F7D-63D131D7F0FA}"/>
              </a:ext>
            </a:extLst>
          </p:cNvPr>
          <p:cNvSpPr/>
          <p:nvPr/>
        </p:nvSpPr>
        <p:spPr>
          <a:xfrm>
            <a:off x="3340100" y="34163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3" name="W38">
            <a:extLst>
              <a:ext uri="{FF2B5EF4-FFF2-40B4-BE49-F238E27FC236}">
                <a16:creationId xmlns:a16="http://schemas.microsoft.com/office/drawing/2014/main" id="{F826F0F8-4DDE-2B43-B187-CAF5BF9872F6}"/>
              </a:ext>
            </a:extLst>
          </p:cNvPr>
          <p:cNvSpPr/>
          <p:nvPr/>
        </p:nvSpPr>
        <p:spPr>
          <a:xfrm>
            <a:off x="3708400" y="34163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4" name="W39">
            <a:extLst>
              <a:ext uri="{FF2B5EF4-FFF2-40B4-BE49-F238E27FC236}">
                <a16:creationId xmlns:a16="http://schemas.microsoft.com/office/drawing/2014/main" id="{6B7C2CAC-0C05-F145-A4D7-C6652E09ECB6}"/>
              </a:ext>
            </a:extLst>
          </p:cNvPr>
          <p:cNvSpPr/>
          <p:nvPr/>
        </p:nvSpPr>
        <p:spPr>
          <a:xfrm>
            <a:off x="4076700" y="34163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5" name="W40">
            <a:extLst>
              <a:ext uri="{FF2B5EF4-FFF2-40B4-BE49-F238E27FC236}">
                <a16:creationId xmlns:a16="http://schemas.microsoft.com/office/drawing/2014/main" id="{0848CB82-1566-FB48-9841-043F50C72230}"/>
              </a:ext>
            </a:extLst>
          </p:cNvPr>
          <p:cNvSpPr/>
          <p:nvPr/>
        </p:nvSpPr>
        <p:spPr>
          <a:xfrm>
            <a:off x="762000" y="37846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6" name="W41">
            <a:extLst>
              <a:ext uri="{FF2B5EF4-FFF2-40B4-BE49-F238E27FC236}">
                <a16:creationId xmlns:a16="http://schemas.microsoft.com/office/drawing/2014/main" id="{C2777FC0-F6D9-7E47-A50A-FD981E83819D}"/>
              </a:ext>
            </a:extLst>
          </p:cNvPr>
          <p:cNvSpPr/>
          <p:nvPr/>
        </p:nvSpPr>
        <p:spPr>
          <a:xfrm>
            <a:off x="1130300" y="37846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7" name="W42">
            <a:extLst>
              <a:ext uri="{FF2B5EF4-FFF2-40B4-BE49-F238E27FC236}">
                <a16:creationId xmlns:a16="http://schemas.microsoft.com/office/drawing/2014/main" id="{6FA684F4-0F92-1945-8BBD-0FEF57632BA2}"/>
              </a:ext>
            </a:extLst>
          </p:cNvPr>
          <p:cNvSpPr/>
          <p:nvPr/>
        </p:nvSpPr>
        <p:spPr>
          <a:xfrm>
            <a:off x="1498600" y="37846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8" name="W43">
            <a:extLst>
              <a:ext uri="{FF2B5EF4-FFF2-40B4-BE49-F238E27FC236}">
                <a16:creationId xmlns:a16="http://schemas.microsoft.com/office/drawing/2014/main" id="{ADD4D2B6-FB80-EC4A-ADF0-8894E14D7C8E}"/>
              </a:ext>
            </a:extLst>
          </p:cNvPr>
          <p:cNvSpPr/>
          <p:nvPr/>
        </p:nvSpPr>
        <p:spPr>
          <a:xfrm>
            <a:off x="1866900" y="37846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9" name="W44">
            <a:extLst>
              <a:ext uri="{FF2B5EF4-FFF2-40B4-BE49-F238E27FC236}">
                <a16:creationId xmlns:a16="http://schemas.microsoft.com/office/drawing/2014/main" id="{A5C9E1AF-54FC-9B4F-9231-BE2FAB5E6BC8}"/>
              </a:ext>
            </a:extLst>
          </p:cNvPr>
          <p:cNvSpPr/>
          <p:nvPr/>
        </p:nvSpPr>
        <p:spPr>
          <a:xfrm>
            <a:off x="2235200" y="37846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0" name="W45">
            <a:extLst>
              <a:ext uri="{FF2B5EF4-FFF2-40B4-BE49-F238E27FC236}">
                <a16:creationId xmlns:a16="http://schemas.microsoft.com/office/drawing/2014/main" id="{C2792DA4-AC43-6C42-B994-6ED28B55DB4A}"/>
              </a:ext>
            </a:extLst>
          </p:cNvPr>
          <p:cNvSpPr/>
          <p:nvPr/>
        </p:nvSpPr>
        <p:spPr>
          <a:xfrm>
            <a:off x="2603500" y="37846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1" name="W46">
            <a:extLst>
              <a:ext uri="{FF2B5EF4-FFF2-40B4-BE49-F238E27FC236}">
                <a16:creationId xmlns:a16="http://schemas.microsoft.com/office/drawing/2014/main" id="{7328EA1B-32D9-ED4C-B418-3CCB63313218}"/>
              </a:ext>
            </a:extLst>
          </p:cNvPr>
          <p:cNvSpPr/>
          <p:nvPr/>
        </p:nvSpPr>
        <p:spPr>
          <a:xfrm>
            <a:off x="2971800" y="37846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2" name="W47">
            <a:extLst>
              <a:ext uri="{FF2B5EF4-FFF2-40B4-BE49-F238E27FC236}">
                <a16:creationId xmlns:a16="http://schemas.microsoft.com/office/drawing/2014/main" id="{94D06317-E520-BE4E-B89B-EF27924996D1}"/>
              </a:ext>
            </a:extLst>
          </p:cNvPr>
          <p:cNvSpPr/>
          <p:nvPr/>
        </p:nvSpPr>
        <p:spPr>
          <a:xfrm>
            <a:off x="3340100" y="37846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3" name="W48">
            <a:extLst>
              <a:ext uri="{FF2B5EF4-FFF2-40B4-BE49-F238E27FC236}">
                <a16:creationId xmlns:a16="http://schemas.microsoft.com/office/drawing/2014/main" id="{A03EDD71-1049-3843-BDD6-356D0E5D37C8}"/>
              </a:ext>
            </a:extLst>
          </p:cNvPr>
          <p:cNvSpPr/>
          <p:nvPr/>
        </p:nvSpPr>
        <p:spPr>
          <a:xfrm>
            <a:off x="3708400" y="37846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4" name="W49">
            <a:extLst>
              <a:ext uri="{FF2B5EF4-FFF2-40B4-BE49-F238E27FC236}">
                <a16:creationId xmlns:a16="http://schemas.microsoft.com/office/drawing/2014/main" id="{301265A3-37A3-0B4D-921B-FC2E6FB8C49D}"/>
              </a:ext>
            </a:extLst>
          </p:cNvPr>
          <p:cNvSpPr/>
          <p:nvPr/>
        </p:nvSpPr>
        <p:spPr>
          <a:xfrm>
            <a:off x="4076700" y="37846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5" name="W50">
            <a:extLst>
              <a:ext uri="{FF2B5EF4-FFF2-40B4-BE49-F238E27FC236}">
                <a16:creationId xmlns:a16="http://schemas.microsoft.com/office/drawing/2014/main" id="{8A6783B0-0A22-3644-9449-B6D23A2A6D34}"/>
              </a:ext>
            </a:extLst>
          </p:cNvPr>
          <p:cNvSpPr/>
          <p:nvPr/>
        </p:nvSpPr>
        <p:spPr>
          <a:xfrm>
            <a:off x="762000" y="41529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6" name="W51">
            <a:extLst>
              <a:ext uri="{FF2B5EF4-FFF2-40B4-BE49-F238E27FC236}">
                <a16:creationId xmlns:a16="http://schemas.microsoft.com/office/drawing/2014/main" id="{34DF8E69-B459-4A42-98B4-30C148E5E223}"/>
              </a:ext>
            </a:extLst>
          </p:cNvPr>
          <p:cNvSpPr/>
          <p:nvPr/>
        </p:nvSpPr>
        <p:spPr>
          <a:xfrm>
            <a:off x="1130300" y="41529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7" name="W52">
            <a:extLst>
              <a:ext uri="{FF2B5EF4-FFF2-40B4-BE49-F238E27FC236}">
                <a16:creationId xmlns:a16="http://schemas.microsoft.com/office/drawing/2014/main" id="{CACDC18A-485B-8744-B2E0-89CFF9F1A17D}"/>
              </a:ext>
            </a:extLst>
          </p:cNvPr>
          <p:cNvSpPr/>
          <p:nvPr/>
        </p:nvSpPr>
        <p:spPr>
          <a:xfrm>
            <a:off x="1498600" y="41529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8" name="W53">
            <a:extLst>
              <a:ext uri="{FF2B5EF4-FFF2-40B4-BE49-F238E27FC236}">
                <a16:creationId xmlns:a16="http://schemas.microsoft.com/office/drawing/2014/main" id="{7CA5127A-7C53-7B43-871D-C8CFB135B8FF}"/>
              </a:ext>
            </a:extLst>
          </p:cNvPr>
          <p:cNvSpPr/>
          <p:nvPr/>
        </p:nvSpPr>
        <p:spPr>
          <a:xfrm>
            <a:off x="1866900" y="41529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9" name="W54">
            <a:extLst>
              <a:ext uri="{FF2B5EF4-FFF2-40B4-BE49-F238E27FC236}">
                <a16:creationId xmlns:a16="http://schemas.microsoft.com/office/drawing/2014/main" id="{6B299053-FDBC-594A-84A3-4764962D0810}"/>
              </a:ext>
            </a:extLst>
          </p:cNvPr>
          <p:cNvSpPr/>
          <p:nvPr/>
        </p:nvSpPr>
        <p:spPr>
          <a:xfrm>
            <a:off x="2235200" y="41529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0" name="W55">
            <a:extLst>
              <a:ext uri="{FF2B5EF4-FFF2-40B4-BE49-F238E27FC236}">
                <a16:creationId xmlns:a16="http://schemas.microsoft.com/office/drawing/2014/main" id="{22C9C6E9-C07A-A241-92FD-B6739BE34A78}"/>
              </a:ext>
            </a:extLst>
          </p:cNvPr>
          <p:cNvSpPr/>
          <p:nvPr/>
        </p:nvSpPr>
        <p:spPr>
          <a:xfrm>
            <a:off x="2603500" y="41529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1" name="W56">
            <a:extLst>
              <a:ext uri="{FF2B5EF4-FFF2-40B4-BE49-F238E27FC236}">
                <a16:creationId xmlns:a16="http://schemas.microsoft.com/office/drawing/2014/main" id="{5E0E8932-E83B-C14C-91DA-8412E4A65F96}"/>
              </a:ext>
            </a:extLst>
          </p:cNvPr>
          <p:cNvSpPr/>
          <p:nvPr/>
        </p:nvSpPr>
        <p:spPr>
          <a:xfrm>
            <a:off x="2971800" y="41529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2" name="W57">
            <a:extLst>
              <a:ext uri="{FF2B5EF4-FFF2-40B4-BE49-F238E27FC236}">
                <a16:creationId xmlns:a16="http://schemas.microsoft.com/office/drawing/2014/main" id="{1FF1994A-D7D4-8D42-9BF1-B8BDA48BF2C1}"/>
              </a:ext>
            </a:extLst>
          </p:cNvPr>
          <p:cNvSpPr/>
          <p:nvPr/>
        </p:nvSpPr>
        <p:spPr>
          <a:xfrm>
            <a:off x="3340100" y="41529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3" name="W58">
            <a:extLst>
              <a:ext uri="{FF2B5EF4-FFF2-40B4-BE49-F238E27FC236}">
                <a16:creationId xmlns:a16="http://schemas.microsoft.com/office/drawing/2014/main" id="{26E937D6-04FA-074A-A1FC-5CC045D56FC9}"/>
              </a:ext>
            </a:extLst>
          </p:cNvPr>
          <p:cNvSpPr/>
          <p:nvPr/>
        </p:nvSpPr>
        <p:spPr>
          <a:xfrm>
            <a:off x="3708400" y="41529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4" name="W59">
            <a:extLst>
              <a:ext uri="{FF2B5EF4-FFF2-40B4-BE49-F238E27FC236}">
                <a16:creationId xmlns:a16="http://schemas.microsoft.com/office/drawing/2014/main" id="{1D2B9943-06FA-B243-89D6-761218F6A301}"/>
              </a:ext>
            </a:extLst>
          </p:cNvPr>
          <p:cNvSpPr/>
          <p:nvPr/>
        </p:nvSpPr>
        <p:spPr>
          <a:xfrm>
            <a:off x="4076700" y="41529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5" name="W60">
            <a:extLst>
              <a:ext uri="{FF2B5EF4-FFF2-40B4-BE49-F238E27FC236}">
                <a16:creationId xmlns:a16="http://schemas.microsoft.com/office/drawing/2014/main" id="{AFBC69FB-A393-9F4C-8261-D9DE4B3147D2}"/>
              </a:ext>
            </a:extLst>
          </p:cNvPr>
          <p:cNvSpPr/>
          <p:nvPr/>
        </p:nvSpPr>
        <p:spPr>
          <a:xfrm>
            <a:off x="762000" y="45212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6" name="W61">
            <a:extLst>
              <a:ext uri="{FF2B5EF4-FFF2-40B4-BE49-F238E27FC236}">
                <a16:creationId xmlns:a16="http://schemas.microsoft.com/office/drawing/2014/main" id="{E52BC73B-8CCD-664E-84D4-0E332D3FBE49}"/>
              </a:ext>
            </a:extLst>
          </p:cNvPr>
          <p:cNvSpPr/>
          <p:nvPr/>
        </p:nvSpPr>
        <p:spPr>
          <a:xfrm>
            <a:off x="1130300" y="45212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7" name="W62">
            <a:extLst>
              <a:ext uri="{FF2B5EF4-FFF2-40B4-BE49-F238E27FC236}">
                <a16:creationId xmlns:a16="http://schemas.microsoft.com/office/drawing/2014/main" id="{596F5A4C-ECFC-C941-944C-A20AF7692973}"/>
              </a:ext>
            </a:extLst>
          </p:cNvPr>
          <p:cNvSpPr/>
          <p:nvPr/>
        </p:nvSpPr>
        <p:spPr>
          <a:xfrm>
            <a:off x="1498600" y="45212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8" name="W63">
            <a:extLst>
              <a:ext uri="{FF2B5EF4-FFF2-40B4-BE49-F238E27FC236}">
                <a16:creationId xmlns:a16="http://schemas.microsoft.com/office/drawing/2014/main" id="{A675A572-648F-0843-9584-6C5D9BFE3E55}"/>
              </a:ext>
            </a:extLst>
          </p:cNvPr>
          <p:cNvSpPr/>
          <p:nvPr/>
        </p:nvSpPr>
        <p:spPr>
          <a:xfrm>
            <a:off x="1866900" y="45212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9" name="W64">
            <a:extLst>
              <a:ext uri="{FF2B5EF4-FFF2-40B4-BE49-F238E27FC236}">
                <a16:creationId xmlns:a16="http://schemas.microsoft.com/office/drawing/2014/main" id="{1877C715-DF85-A741-99A4-FBDD84969920}"/>
              </a:ext>
            </a:extLst>
          </p:cNvPr>
          <p:cNvSpPr/>
          <p:nvPr/>
        </p:nvSpPr>
        <p:spPr>
          <a:xfrm>
            <a:off x="2235200" y="4521200"/>
            <a:ext cx="304800" cy="3048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0" name="W65">
            <a:extLst>
              <a:ext uri="{FF2B5EF4-FFF2-40B4-BE49-F238E27FC236}">
                <a16:creationId xmlns:a16="http://schemas.microsoft.com/office/drawing/2014/main" id="{FA97740F-281C-D64F-AA5D-3DF80B806B6A}"/>
              </a:ext>
            </a:extLst>
          </p:cNvPr>
          <p:cNvSpPr/>
          <p:nvPr/>
        </p:nvSpPr>
        <p:spPr>
          <a:xfrm>
            <a:off x="2603500" y="4521200"/>
            <a:ext cx="304800" cy="304800"/>
          </a:xfrm>
          <a:prstGeom prst="rect">
            <a:avLst/>
          </a:prstGeom>
          <a:solidFill>
            <a:srgbClr val="3D6B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1" name="W66">
            <a:extLst>
              <a:ext uri="{FF2B5EF4-FFF2-40B4-BE49-F238E27FC236}">
                <a16:creationId xmlns:a16="http://schemas.microsoft.com/office/drawing/2014/main" id="{DEDEDEA2-31F7-1C45-A350-9028AA05ED57}"/>
              </a:ext>
            </a:extLst>
          </p:cNvPr>
          <p:cNvSpPr/>
          <p:nvPr/>
        </p:nvSpPr>
        <p:spPr>
          <a:xfrm>
            <a:off x="2971800" y="45212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2" name="W67">
            <a:extLst>
              <a:ext uri="{FF2B5EF4-FFF2-40B4-BE49-F238E27FC236}">
                <a16:creationId xmlns:a16="http://schemas.microsoft.com/office/drawing/2014/main" id="{1B4FA8FF-33D2-3A47-88E1-20357A09E83C}"/>
              </a:ext>
            </a:extLst>
          </p:cNvPr>
          <p:cNvSpPr/>
          <p:nvPr/>
        </p:nvSpPr>
        <p:spPr>
          <a:xfrm>
            <a:off x="3340100" y="45212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3" name="W68">
            <a:extLst>
              <a:ext uri="{FF2B5EF4-FFF2-40B4-BE49-F238E27FC236}">
                <a16:creationId xmlns:a16="http://schemas.microsoft.com/office/drawing/2014/main" id="{8DDC53DE-7843-7143-9B4F-A5C12169B004}"/>
              </a:ext>
            </a:extLst>
          </p:cNvPr>
          <p:cNvSpPr/>
          <p:nvPr/>
        </p:nvSpPr>
        <p:spPr>
          <a:xfrm>
            <a:off x="3708400" y="45212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4" name="W69">
            <a:extLst>
              <a:ext uri="{FF2B5EF4-FFF2-40B4-BE49-F238E27FC236}">
                <a16:creationId xmlns:a16="http://schemas.microsoft.com/office/drawing/2014/main" id="{075FDB5D-2CD0-D24D-9F1D-EC1743941791}"/>
              </a:ext>
            </a:extLst>
          </p:cNvPr>
          <p:cNvSpPr/>
          <p:nvPr/>
        </p:nvSpPr>
        <p:spPr>
          <a:xfrm>
            <a:off x="4076700" y="45212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5" name="W70">
            <a:extLst>
              <a:ext uri="{FF2B5EF4-FFF2-40B4-BE49-F238E27FC236}">
                <a16:creationId xmlns:a16="http://schemas.microsoft.com/office/drawing/2014/main" id="{4B23C4FE-21DE-2B4A-B856-111FF8D95C2D}"/>
              </a:ext>
            </a:extLst>
          </p:cNvPr>
          <p:cNvSpPr/>
          <p:nvPr/>
        </p:nvSpPr>
        <p:spPr>
          <a:xfrm>
            <a:off x="762000" y="48895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6" name="W71">
            <a:extLst>
              <a:ext uri="{FF2B5EF4-FFF2-40B4-BE49-F238E27FC236}">
                <a16:creationId xmlns:a16="http://schemas.microsoft.com/office/drawing/2014/main" id="{307666A4-1D1A-D74A-B7EB-66CC39D24455}"/>
              </a:ext>
            </a:extLst>
          </p:cNvPr>
          <p:cNvSpPr/>
          <p:nvPr/>
        </p:nvSpPr>
        <p:spPr>
          <a:xfrm>
            <a:off x="1130300" y="48895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7" name="W72">
            <a:extLst>
              <a:ext uri="{FF2B5EF4-FFF2-40B4-BE49-F238E27FC236}">
                <a16:creationId xmlns:a16="http://schemas.microsoft.com/office/drawing/2014/main" id="{EBEA8951-4452-EB48-B674-274D91D5304A}"/>
              </a:ext>
            </a:extLst>
          </p:cNvPr>
          <p:cNvSpPr/>
          <p:nvPr/>
        </p:nvSpPr>
        <p:spPr>
          <a:xfrm>
            <a:off x="1498600" y="48895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8" name="W73">
            <a:extLst>
              <a:ext uri="{FF2B5EF4-FFF2-40B4-BE49-F238E27FC236}">
                <a16:creationId xmlns:a16="http://schemas.microsoft.com/office/drawing/2014/main" id="{A207FB3B-B7AE-8947-9081-6B24AE88B455}"/>
              </a:ext>
            </a:extLst>
          </p:cNvPr>
          <p:cNvSpPr/>
          <p:nvPr/>
        </p:nvSpPr>
        <p:spPr>
          <a:xfrm>
            <a:off x="1866900" y="48895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9" name="W74">
            <a:extLst>
              <a:ext uri="{FF2B5EF4-FFF2-40B4-BE49-F238E27FC236}">
                <a16:creationId xmlns:a16="http://schemas.microsoft.com/office/drawing/2014/main" id="{E2DBD28C-92A5-4E43-AE29-A7AB5383DF24}"/>
              </a:ext>
            </a:extLst>
          </p:cNvPr>
          <p:cNvSpPr/>
          <p:nvPr/>
        </p:nvSpPr>
        <p:spPr>
          <a:xfrm>
            <a:off x="2235200" y="48895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0" name="W75">
            <a:extLst>
              <a:ext uri="{FF2B5EF4-FFF2-40B4-BE49-F238E27FC236}">
                <a16:creationId xmlns:a16="http://schemas.microsoft.com/office/drawing/2014/main" id="{902FCC97-F70C-014A-AE8D-FA7EBCB939E5}"/>
              </a:ext>
            </a:extLst>
          </p:cNvPr>
          <p:cNvSpPr/>
          <p:nvPr/>
        </p:nvSpPr>
        <p:spPr>
          <a:xfrm>
            <a:off x="2603500" y="48895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1" name="W76">
            <a:extLst>
              <a:ext uri="{FF2B5EF4-FFF2-40B4-BE49-F238E27FC236}">
                <a16:creationId xmlns:a16="http://schemas.microsoft.com/office/drawing/2014/main" id="{55D52C08-A059-7A4C-A5BF-4AC7F69E4F23}"/>
              </a:ext>
            </a:extLst>
          </p:cNvPr>
          <p:cNvSpPr/>
          <p:nvPr/>
        </p:nvSpPr>
        <p:spPr>
          <a:xfrm>
            <a:off x="2971800" y="48895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2" name="W77">
            <a:extLst>
              <a:ext uri="{FF2B5EF4-FFF2-40B4-BE49-F238E27FC236}">
                <a16:creationId xmlns:a16="http://schemas.microsoft.com/office/drawing/2014/main" id="{5EE368FF-E626-D248-BE6A-D6C816CF3B0F}"/>
              </a:ext>
            </a:extLst>
          </p:cNvPr>
          <p:cNvSpPr/>
          <p:nvPr/>
        </p:nvSpPr>
        <p:spPr>
          <a:xfrm>
            <a:off x="3340100" y="48895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3" name="W78">
            <a:extLst>
              <a:ext uri="{FF2B5EF4-FFF2-40B4-BE49-F238E27FC236}">
                <a16:creationId xmlns:a16="http://schemas.microsoft.com/office/drawing/2014/main" id="{0B167AD0-85CD-764A-B946-4B477C360006}"/>
              </a:ext>
            </a:extLst>
          </p:cNvPr>
          <p:cNvSpPr/>
          <p:nvPr/>
        </p:nvSpPr>
        <p:spPr>
          <a:xfrm>
            <a:off x="3708400" y="48895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4" name="W79">
            <a:extLst>
              <a:ext uri="{FF2B5EF4-FFF2-40B4-BE49-F238E27FC236}">
                <a16:creationId xmlns:a16="http://schemas.microsoft.com/office/drawing/2014/main" id="{7EDE08B3-6237-174D-BCAB-F6C2F8390E29}"/>
              </a:ext>
            </a:extLst>
          </p:cNvPr>
          <p:cNvSpPr/>
          <p:nvPr/>
        </p:nvSpPr>
        <p:spPr>
          <a:xfrm>
            <a:off x="4076700" y="48895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5" name="W80">
            <a:extLst>
              <a:ext uri="{FF2B5EF4-FFF2-40B4-BE49-F238E27FC236}">
                <a16:creationId xmlns:a16="http://schemas.microsoft.com/office/drawing/2014/main" id="{C0698127-8069-1D43-8566-0098D18A4046}"/>
              </a:ext>
            </a:extLst>
          </p:cNvPr>
          <p:cNvSpPr/>
          <p:nvPr/>
        </p:nvSpPr>
        <p:spPr>
          <a:xfrm>
            <a:off x="762000" y="52578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6" name="W81">
            <a:extLst>
              <a:ext uri="{FF2B5EF4-FFF2-40B4-BE49-F238E27FC236}">
                <a16:creationId xmlns:a16="http://schemas.microsoft.com/office/drawing/2014/main" id="{DD90A644-EB7A-4848-987E-3087F076D617}"/>
              </a:ext>
            </a:extLst>
          </p:cNvPr>
          <p:cNvSpPr/>
          <p:nvPr/>
        </p:nvSpPr>
        <p:spPr>
          <a:xfrm>
            <a:off x="1130300" y="52578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7" name="W82">
            <a:extLst>
              <a:ext uri="{FF2B5EF4-FFF2-40B4-BE49-F238E27FC236}">
                <a16:creationId xmlns:a16="http://schemas.microsoft.com/office/drawing/2014/main" id="{F58DAFA1-B273-EC41-A31E-0373BAF746E5}"/>
              </a:ext>
            </a:extLst>
          </p:cNvPr>
          <p:cNvSpPr/>
          <p:nvPr/>
        </p:nvSpPr>
        <p:spPr>
          <a:xfrm>
            <a:off x="1498600" y="52578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8" name="W83">
            <a:extLst>
              <a:ext uri="{FF2B5EF4-FFF2-40B4-BE49-F238E27FC236}">
                <a16:creationId xmlns:a16="http://schemas.microsoft.com/office/drawing/2014/main" id="{7BBCBBCF-E0BC-D04E-BAF0-3108E998A4CC}"/>
              </a:ext>
            </a:extLst>
          </p:cNvPr>
          <p:cNvSpPr/>
          <p:nvPr/>
        </p:nvSpPr>
        <p:spPr>
          <a:xfrm>
            <a:off x="1866900" y="52578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9" name="W84">
            <a:extLst>
              <a:ext uri="{FF2B5EF4-FFF2-40B4-BE49-F238E27FC236}">
                <a16:creationId xmlns:a16="http://schemas.microsoft.com/office/drawing/2014/main" id="{D24602BD-F514-4045-8DC4-6BBA8C3F9351}"/>
              </a:ext>
            </a:extLst>
          </p:cNvPr>
          <p:cNvSpPr/>
          <p:nvPr/>
        </p:nvSpPr>
        <p:spPr>
          <a:xfrm>
            <a:off x="2235200" y="52578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0" name="W85">
            <a:extLst>
              <a:ext uri="{FF2B5EF4-FFF2-40B4-BE49-F238E27FC236}">
                <a16:creationId xmlns:a16="http://schemas.microsoft.com/office/drawing/2014/main" id="{418123E5-4FD0-AE42-AF76-C9AFE6ECD3DB}"/>
              </a:ext>
            </a:extLst>
          </p:cNvPr>
          <p:cNvSpPr/>
          <p:nvPr/>
        </p:nvSpPr>
        <p:spPr>
          <a:xfrm>
            <a:off x="2603500" y="52578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1" name="W86">
            <a:extLst>
              <a:ext uri="{FF2B5EF4-FFF2-40B4-BE49-F238E27FC236}">
                <a16:creationId xmlns:a16="http://schemas.microsoft.com/office/drawing/2014/main" id="{2302D55A-3D25-0345-8F57-4276C1A95633}"/>
              </a:ext>
            </a:extLst>
          </p:cNvPr>
          <p:cNvSpPr/>
          <p:nvPr/>
        </p:nvSpPr>
        <p:spPr>
          <a:xfrm>
            <a:off x="2971800" y="52578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2" name="W87">
            <a:extLst>
              <a:ext uri="{FF2B5EF4-FFF2-40B4-BE49-F238E27FC236}">
                <a16:creationId xmlns:a16="http://schemas.microsoft.com/office/drawing/2014/main" id="{FDF8F459-04DD-4A4D-B29F-EF46CE9324C9}"/>
              </a:ext>
            </a:extLst>
          </p:cNvPr>
          <p:cNvSpPr/>
          <p:nvPr/>
        </p:nvSpPr>
        <p:spPr>
          <a:xfrm>
            <a:off x="3340100" y="52578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3" name="W88">
            <a:extLst>
              <a:ext uri="{FF2B5EF4-FFF2-40B4-BE49-F238E27FC236}">
                <a16:creationId xmlns:a16="http://schemas.microsoft.com/office/drawing/2014/main" id="{02154F86-8A3D-B94A-8AE7-320DF06DBC2E}"/>
              </a:ext>
            </a:extLst>
          </p:cNvPr>
          <p:cNvSpPr/>
          <p:nvPr/>
        </p:nvSpPr>
        <p:spPr>
          <a:xfrm>
            <a:off x="3708400" y="52578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4" name="W89">
            <a:extLst>
              <a:ext uri="{FF2B5EF4-FFF2-40B4-BE49-F238E27FC236}">
                <a16:creationId xmlns:a16="http://schemas.microsoft.com/office/drawing/2014/main" id="{B4548485-D2A0-3141-8D7E-F201D6F8E0F0}"/>
              </a:ext>
            </a:extLst>
          </p:cNvPr>
          <p:cNvSpPr/>
          <p:nvPr/>
        </p:nvSpPr>
        <p:spPr>
          <a:xfrm>
            <a:off x="4076700" y="52578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5" name="W90">
            <a:extLst>
              <a:ext uri="{FF2B5EF4-FFF2-40B4-BE49-F238E27FC236}">
                <a16:creationId xmlns:a16="http://schemas.microsoft.com/office/drawing/2014/main" id="{8AFC09E3-EDF1-D24D-B86E-C924C1976FA1}"/>
              </a:ext>
            </a:extLst>
          </p:cNvPr>
          <p:cNvSpPr/>
          <p:nvPr/>
        </p:nvSpPr>
        <p:spPr>
          <a:xfrm>
            <a:off x="762000" y="56261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6" name="W91">
            <a:extLst>
              <a:ext uri="{FF2B5EF4-FFF2-40B4-BE49-F238E27FC236}">
                <a16:creationId xmlns:a16="http://schemas.microsoft.com/office/drawing/2014/main" id="{74D5D3F0-F0C2-B346-A87F-8550A95ECC53}"/>
              </a:ext>
            </a:extLst>
          </p:cNvPr>
          <p:cNvSpPr/>
          <p:nvPr/>
        </p:nvSpPr>
        <p:spPr>
          <a:xfrm>
            <a:off x="1130300" y="56261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7" name="W92">
            <a:extLst>
              <a:ext uri="{FF2B5EF4-FFF2-40B4-BE49-F238E27FC236}">
                <a16:creationId xmlns:a16="http://schemas.microsoft.com/office/drawing/2014/main" id="{19687E6C-EDB0-B84C-AC24-9BD777623499}"/>
              </a:ext>
            </a:extLst>
          </p:cNvPr>
          <p:cNvSpPr/>
          <p:nvPr/>
        </p:nvSpPr>
        <p:spPr>
          <a:xfrm>
            <a:off x="1498600" y="56261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8" name="W93">
            <a:extLst>
              <a:ext uri="{FF2B5EF4-FFF2-40B4-BE49-F238E27FC236}">
                <a16:creationId xmlns:a16="http://schemas.microsoft.com/office/drawing/2014/main" id="{71B5A335-A339-F846-8457-49D8DD7547CB}"/>
              </a:ext>
            </a:extLst>
          </p:cNvPr>
          <p:cNvSpPr/>
          <p:nvPr/>
        </p:nvSpPr>
        <p:spPr>
          <a:xfrm>
            <a:off x="1866900" y="56261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9" name="W94">
            <a:extLst>
              <a:ext uri="{FF2B5EF4-FFF2-40B4-BE49-F238E27FC236}">
                <a16:creationId xmlns:a16="http://schemas.microsoft.com/office/drawing/2014/main" id="{70069D4F-5531-6843-B930-3C56D7C110CF}"/>
              </a:ext>
            </a:extLst>
          </p:cNvPr>
          <p:cNvSpPr/>
          <p:nvPr/>
        </p:nvSpPr>
        <p:spPr>
          <a:xfrm>
            <a:off x="2235200" y="56261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0" name="W95">
            <a:extLst>
              <a:ext uri="{FF2B5EF4-FFF2-40B4-BE49-F238E27FC236}">
                <a16:creationId xmlns:a16="http://schemas.microsoft.com/office/drawing/2014/main" id="{82379085-C0B2-9F4C-BC3F-5CBF976D8B6A}"/>
              </a:ext>
            </a:extLst>
          </p:cNvPr>
          <p:cNvSpPr/>
          <p:nvPr/>
        </p:nvSpPr>
        <p:spPr>
          <a:xfrm>
            <a:off x="2603500" y="56261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1" name="W96">
            <a:extLst>
              <a:ext uri="{FF2B5EF4-FFF2-40B4-BE49-F238E27FC236}">
                <a16:creationId xmlns:a16="http://schemas.microsoft.com/office/drawing/2014/main" id="{E99595A7-A9BA-324C-8B6A-4DA10E4E7FEE}"/>
              </a:ext>
            </a:extLst>
          </p:cNvPr>
          <p:cNvSpPr/>
          <p:nvPr/>
        </p:nvSpPr>
        <p:spPr>
          <a:xfrm>
            <a:off x="2971800" y="56261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2" name="W97">
            <a:extLst>
              <a:ext uri="{FF2B5EF4-FFF2-40B4-BE49-F238E27FC236}">
                <a16:creationId xmlns:a16="http://schemas.microsoft.com/office/drawing/2014/main" id="{60B2315D-D400-7E49-A476-89D7EF2E71BD}"/>
              </a:ext>
            </a:extLst>
          </p:cNvPr>
          <p:cNvSpPr/>
          <p:nvPr/>
        </p:nvSpPr>
        <p:spPr>
          <a:xfrm>
            <a:off x="3340100" y="56261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3" name="W98">
            <a:extLst>
              <a:ext uri="{FF2B5EF4-FFF2-40B4-BE49-F238E27FC236}">
                <a16:creationId xmlns:a16="http://schemas.microsoft.com/office/drawing/2014/main" id="{ED43C394-F1F9-C94B-9031-3C2576F726EF}"/>
              </a:ext>
            </a:extLst>
          </p:cNvPr>
          <p:cNvSpPr/>
          <p:nvPr/>
        </p:nvSpPr>
        <p:spPr>
          <a:xfrm>
            <a:off x="3708400" y="56261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4" name="W99">
            <a:extLst>
              <a:ext uri="{FF2B5EF4-FFF2-40B4-BE49-F238E27FC236}">
                <a16:creationId xmlns:a16="http://schemas.microsoft.com/office/drawing/2014/main" id="{28835A38-9B7D-3243-B8C4-20C1B1EA8066}"/>
              </a:ext>
            </a:extLst>
          </p:cNvPr>
          <p:cNvSpPr/>
          <p:nvPr/>
        </p:nvSpPr>
        <p:spPr>
          <a:xfrm>
            <a:off x="4076700" y="5626100"/>
            <a:ext cx="304800" cy="3048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0" name="CalcFwd">
            <a:extLst>
              <a:ext uri="{FF2B5EF4-FFF2-40B4-BE49-F238E27FC236}">
                <a16:creationId xmlns:a16="http://schemas.microsoft.com/office/drawing/2014/main" id="{17199BAE-4C3E-554C-A6E8-DE9CD627F88C}"/>
              </a:ext>
            </a:extLst>
          </p:cNvPr>
          <p:cNvSpPr/>
          <p:nvPr/>
        </p:nvSpPr>
        <p:spPr>
          <a:xfrm>
            <a:off x="7696200" y="2311400"/>
            <a:ext cx="3810000" cy="1549400"/>
          </a:xfrm>
          <a:prstGeom prst="roundRect">
            <a:avLst/>
          </a:prstGeom>
          <a:solidFill>
            <a:srgbClr val="F7EDE9"/>
          </a:solidFill>
          <a:ln w="19050" cap="flat" cmpd="sng" algn="ctr">
            <a:solidFill>
              <a:srgbClr val="B347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91440" tIns="45720" rIns="91440" bIns="45720" rtlCol="0" anchor="ctr"/>
          <a:lstStyle/>
          <a:p>
            <a:pPr marL="0" indent="0" algn="l">
              <a:buNone/>
            </a:pPr>
            <a:r>
              <a:rPr lang="en-US" sz="1400" b="1" dirty="0">
                <a:solidFill>
                  <a:srgbClr val="B3472A"/>
                </a:solidFill>
                <a:latin typeface="Calibri"/>
                <a:cs typeface="Calibri"/>
              </a:rPr>
              <a:t>THE FORWARD DIRECTION</a:t>
            </a:r>
          </a:p>
          <a:p>
            <a:pPr marL="0" indent="0" algn="l">
              <a:buNone/>
            </a:pPr>
            <a:r>
              <a:rPr lang="en-US" sz="1600" b="1" dirty="0">
                <a:solidFill>
                  <a:srgbClr val="262320"/>
                </a:solidFill>
                <a:latin typeface="Calibri"/>
                <a:cs typeface="Calibri"/>
              </a:rPr>
              <a:t>P( lung cancer | cigarettes )</a:t>
            </a:r>
          </a:p>
          <a:p>
            <a:pPr marL="0" indent="0" algn="l">
              <a:buNone/>
            </a:pPr>
            <a:r>
              <a:rPr lang="en-US" sz="2400" b="1" dirty="0">
                <a:solidFill>
                  <a:srgbClr val="B3472A"/>
                </a:solidFill>
                <a:latin typeface="Calibri"/>
                <a:cs typeface="Calibri"/>
              </a:rPr>
              <a:t>10 / 65  =  16%</a:t>
            </a:r>
          </a:p>
          <a:p>
            <a:pPr marL="0" indent="0" algn="l">
              <a:buNone/>
            </a:pPr>
            <a:r>
              <a:rPr lang="en-US" sz="1400" dirty="0">
                <a:solidFill>
                  <a:srgbClr val="4A453F"/>
                </a:solidFill>
                <a:latin typeface="Calibri"/>
                <a:cs typeface="Calibri"/>
              </a:rPr>
              <a:t>Never-smokers: 2%. Eight times apart.</a:t>
            </a:r>
          </a:p>
        </p:txBody>
      </p:sp>
      <p:sp>
        <p:nvSpPr>
          <p:cNvPr id="111" name="CalcRev">
            <a:extLst>
              <a:ext uri="{FF2B5EF4-FFF2-40B4-BE49-F238E27FC236}">
                <a16:creationId xmlns:a16="http://schemas.microsoft.com/office/drawing/2014/main" id="{02B293BD-05BC-2A4E-8466-DAEAB873E8EE}"/>
              </a:ext>
            </a:extLst>
          </p:cNvPr>
          <p:cNvSpPr/>
          <p:nvPr/>
        </p:nvSpPr>
        <p:spPr>
          <a:xfrm>
            <a:off x="7696200" y="4089400"/>
            <a:ext cx="3810000" cy="1549400"/>
          </a:xfrm>
          <a:prstGeom prst="roundRect">
            <a:avLst/>
          </a:prstGeom>
          <a:solidFill>
            <a:srgbClr val="EDF2F6"/>
          </a:solidFill>
          <a:ln w="19050" cap="flat" cmpd="sng" algn="ctr">
            <a:solidFill>
              <a:srgbClr val="3D6B8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91440" tIns="45720" rIns="91440" bIns="45720" rtlCol="0" anchor="ctr"/>
          <a:lstStyle/>
          <a:p>
            <a:pPr marL="0" indent="0" algn="l">
              <a:buNone/>
            </a:pPr>
            <a:r>
              <a:rPr lang="en-US" sz="1400" b="1" dirty="0">
                <a:solidFill>
                  <a:srgbClr val="3D6B8A"/>
                </a:solidFill>
                <a:latin typeface="Calibri"/>
                <a:cs typeface="Calibri"/>
              </a:rPr>
              <a:t>THE REVERSE DIRECTION</a:t>
            </a:r>
          </a:p>
          <a:p>
            <a:pPr marL="0" indent="0" algn="l">
              <a:buNone/>
            </a:pPr>
            <a:r>
              <a:rPr lang="en-US" sz="1600" b="1" dirty="0">
                <a:solidFill>
                  <a:srgbClr val="262320"/>
                </a:solidFill>
                <a:latin typeface="Calibri"/>
                <a:cs typeface="Calibri"/>
              </a:rPr>
              <a:t>P( cigarettes | lung cancer )</a:t>
            </a:r>
          </a:p>
          <a:p>
            <a:pPr marL="0" indent="0" algn="l">
              <a:buNone/>
            </a:pPr>
            <a:r>
              <a:rPr lang="en-US" sz="2400" b="1" dirty="0">
                <a:solidFill>
                  <a:srgbClr val="3D6B8A"/>
                </a:solidFill>
                <a:latin typeface="Calibri"/>
                <a:cs typeface="Calibri"/>
              </a:rPr>
              <a:t>10 / 11  =  91%</a:t>
            </a:r>
          </a:p>
          <a:p>
            <a:pPr marL="0" indent="0" algn="l">
              <a:buNone/>
            </a:pPr>
            <a:r>
              <a:rPr lang="en-US" sz="1400" dirty="0">
                <a:solidFill>
                  <a:srgbClr val="4A453F"/>
                </a:solidFill>
                <a:latin typeface="Calibri"/>
                <a:cs typeface="Calibri"/>
              </a:rPr>
              <a:t>But 65% of all men smoked anyway.</a:t>
            </a:r>
          </a:p>
        </p:txBody>
      </p:sp>
      <p:sp>
        <p:nvSpPr>
          <p:cNvPr id="3" name="LegSw0">
            <a:extLst>
              <a:ext uri="{FF2B5EF4-FFF2-40B4-BE49-F238E27FC236}">
                <a16:creationId xmlns:a16="http://schemas.microsoft.com/office/drawing/2014/main" id="{D49ACADA-3C58-1A4A-B842-389BBB20D532}"/>
              </a:ext>
            </a:extLst>
          </p:cNvPr>
          <p:cNvSpPr/>
          <p:nvPr/>
        </p:nvSpPr>
        <p:spPr>
          <a:xfrm>
            <a:off x="4724400" y="3733800"/>
            <a:ext cx="152400" cy="152400"/>
          </a:xfrm>
          <a:prstGeom prst="rect">
            <a:avLst/>
          </a:prstGeom>
          <a:solidFill>
            <a:srgbClr val="B347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LegSw1">
            <a:extLst>
              <a:ext uri="{FF2B5EF4-FFF2-40B4-BE49-F238E27FC236}">
                <a16:creationId xmlns:a16="http://schemas.microsoft.com/office/drawing/2014/main" id="{FB5D0CA7-A1D9-164E-A754-8EC59BF44D5F}"/>
              </a:ext>
            </a:extLst>
          </p:cNvPr>
          <p:cNvSpPr/>
          <p:nvPr/>
        </p:nvSpPr>
        <p:spPr>
          <a:xfrm>
            <a:off x="4724400" y="3975100"/>
            <a:ext cx="152400" cy="152400"/>
          </a:xfrm>
          <a:prstGeom prst="rect">
            <a:avLst/>
          </a:prstGeom>
          <a:solidFill>
            <a:srgbClr val="E8B9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2" name="LegSw2">
            <a:extLst>
              <a:ext uri="{FF2B5EF4-FFF2-40B4-BE49-F238E27FC236}">
                <a16:creationId xmlns:a16="http://schemas.microsoft.com/office/drawing/2014/main" id="{3CC7A3E1-68DB-C740-9A0F-563D2C1560B4}"/>
              </a:ext>
            </a:extLst>
          </p:cNvPr>
          <p:cNvSpPr/>
          <p:nvPr/>
        </p:nvSpPr>
        <p:spPr>
          <a:xfrm>
            <a:off x="4724400" y="4216400"/>
            <a:ext cx="152400" cy="152400"/>
          </a:xfrm>
          <a:prstGeom prst="rect">
            <a:avLst/>
          </a:prstGeom>
          <a:solidFill>
            <a:srgbClr val="3D6B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3" name="LegSw3">
            <a:extLst>
              <a:ext uri="{FF2B5EF4-FFF2-40B4-BE49-F238E27FC236}">
                <a16:creationId xmlns:a16="http://schemas.microsoft.com/office/drawing/2014/main" id="{1B481AA5-C071-E04C-98BF-12F7DEE0077D}"/>
              </a:ext>
            </a:extLst>
          </p:cNvPr>
          <p:cNvSpPr/>
          <p:nvPr/>
        </p:nvSpPr>
        <p:spPr>
          <a:xfrm>
            <a:off x="4724400" y="4457700"/>
            <a:ext cx="152400" cy="152400"/>
          </a:xfrm>
          <a:prstGeom prst="rect">
            <a:avLst/>
          </a:prstGeom>
          <a:solidFill>
            <a:srgbClr val="C6D4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5" name="LegendColA">
            <a:extLst>
              <a:ext uri="{FF2B5EF4-FFF2-40B4-BE49-F238E27FC236}">
                <a16:creationId xmlns:a16="http://schemas.microsoft.com/office/drawing/2014/main" id="{F694722B-9D5C-FE47-B1B9-6CF9920CA7A3}"/>
              </a:ext>
            </a:extLst>
          </p:cNvPr>
          <p:cNvSpPr txBox="1"/>
          <p:nvPr/>
        </p:nvSpPr>
        <p:spPr>
          <a:xfrm>
            <a:off x="4978400" y="3695700"/>
            <a:ext cx="2667000" cy="1041400"/>
          </a:xfrm>
          <a:prstGeom prst="rect">
            <a:avLst/>
          </a:prstGeom>
          <a:noFill/>
        </p:spPr>
        <p:txBody>
          <a:bodyPr vertOverflow="overflow" vert="horz" wrap="none" rtlCol="0" anchor="t" anchorCtr="0">
            <a:noAutofit/>
          </a:bodyPr>
          <a:lstStyle/>
          <a:p>
            <a:pPr marL="0" indent="0" algn="l">
              <a:buNone/>
            </a:pPr>
            <a:r>
              <a:rPr lang="en-US" sz="1400" dirty="0">
                <a:solidFill>
                  <a:srgbClr val="262320"/>
                </a:solidFill>
                <a:latin typeface="Calibri"/>
                <a:cs typeface="Calibri"/>
              </a:rPr>
              <a:t>Smoked, lung cancer: 10</a:t>
            </a:r>
          </a:p>
          <a:p>
            <a:pPr marL="0" indent="0" algn="l">
              <a:buNone/>
            </a:pPr>
            <a:r>
              <a:rPr lang="en-US" sz="1400" dirty="0">
                <a:solidFill>
                  <a:srgbClr val="262320"/>
                </a:solidFill>
                <a:latin typeface="Calibri"/>
                <a:cs typeface="Calibri"/>
              </a:rPr>
              <a:t>Smoked, no cancer: 55</a:t>
            </a:r>
          </a:p>
          <a:p>
            <a:pPr marL="0" indent="0" algn="l">
              <a:buNone/>
            </a:pPr>
            <a:r>
              <a:rPr lang="en-US" sz="1400" dirty="0">
                <a:solidFill>
                  <a:srgbClr val="262320"/>
                </a:solidFill>
                <a:latin typeface="Calibri"/>
                <a:cs typeface="Calibri"/>
              </a:rPr>
              <a:t>Never smoked, lung cancer: 1</a:t>
            </a:r>
          </a:p>
          <a:p>
            <a:pPr marL="0" indent="0" algn="l">
              <a:buNone/>
            </a:pPr>
            <a:r>
              <a:rPr lang="en-US" sz="1400" dirty="0">
                <a:solidFill>
                  <a:srgbClr val="262320"/>
                </a:solidFill>
                <a:latin typeface="Calibri"/>
                <a:cs typeface="Calibri"/>
              </a:rPr>
              <a:t>Never smoked, no cancer: 34</a:t>
            </a:r>
          </a:p>
        </p:txBody>
      </p:sp>
    </p:spTree>
    <p:extLst>
      <p:ext uri="{BB962C8B-B14F-4D97-AF65-F5344CB8AC3E}">
        <p14:creationId xmlns:p14="http://schemas.microsoft.com/office/powerpoint/2010/main" val="39111668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 name="Title"/>
          <p:cNvSpPr>
            <a:spLocks noGrp="1"/>
          </p:cNvSpPr>
          <p:nvPr>
            <p:ph type="title" idx="102"/>
          </p:nvPr>
        </p:nvSpPr>
        <p:spPr>
          <a:xfrm>
            <a:off x="1854200" y="868680"/>
            <a:ext cx="9652000" cy="1117600"/>
          </a:xfrm>
          <a:prstGeom prst="rect">
            <a:avLst/>
          </a:prstGeom>
          <a:noFill/>
          <a:ln/>
        </p:spPr>
        <p:txBody>
          <a:bodyPr wrap="square" lIns="0" tIns="0" rIns="0" bIns="0" rtlCol="0" anchor="ctr"/>
          <a:lstStyle/>
          <a:p>
            <a:pPr marL="0" indent="0" algn="l">
              <a:buNone/>
            </a:pPr>
            <a:r>
              <a:rPr lang="en-US" sz="3800" dirty="0"/>
              <a:t>How Big Would Fisher's Gene Have to Be?</a:t>
            </a:r>
          </a:p>
        </p:txBody>
      </p:sp>
      <p:sp>
        <p:nvSpPr>
          <p:cNvPr id="702" name="Eyebrow"/>
          <p:cNvSpPr txBox="1"/>
          <p:nvPr/>
        </p:nvSpPr>
        <p:spPr>
          <a:xfrm>
            <a:off x="685800" y="2037080"/>
            <a:ext cx="10820400" cy="431800"/>
          </a:xfrm>
          <a:prstGeom prst="rect">
            <a:avLst/>
          </a:prstGeom>
          <a:noFill/>
        </p:spPr>
        <p:txBody>
          <a:bodyPr wrap="none" lIns="0" tIns="0" rIns="0" bIns="0" rtlCol="0" anchor="t">
            <a:noAutofit/>
          </a:bodyPr>
          <a:lstStyle/>
          <a:p>
            <a:pPr marL="0" indent="0" algn="l">
              <a:buNone/>
            </a:pPr>
            <a:endParaRPr/>
          </a:p>
        </p:txBody>
      </p:sp>
      <p:sp>
        <p:nvSpPr>
          <p:cNvPr id="703" name="TextBox"/>
          <p:cNvSpPr txBox="1"/>
          <p:nvPr/>
        </p:nvSpPr>
        <p:spPr>
          <a:xfrm>
            <a:off x="685800" y="2350000"/>
            <a:ext cx="10820400" cy="640000"/>
          </a:xfrm>
          <a:prstGeom prst="rect">
            <a:avLst/>
          </a:prstGeom>
          <a:noFill/>
        </p:spPr>
        <p:txBody>
          <a:bodyPr wrap="square" lIns="0" tIns="0" rIns="0" bIns="0" rtlCol="0" anchor="t">
            <a:noAutofit/>
          </a:bodyPr>
          <a:lstStyle/>
          <a:p>
            <a:pPr marL="0" indent="0" algn="l">
              <a:buNone/>
            </a:pPr>
            <a:r>
              <a:rPr lang="en-US" sz="1800" b="1" dirty="0">
                <a:solidFill>
                  <a:srgbClr val="262320"/>
                </a:solidFill>
                <a:latin typeface="Calibri"/>
                <a:cs typeface="Calibri"/>
              </a:rPr>
              <a:t>For a gene to produce an eightfold risk on its own, it would have to be at least eight times as common among smokers as among never-smokers. That is a prevalence, and it can be checked.</a:t>
            </a:r>
          </a:p>
        </p:txBody>
      </p:sp>
      <p:pic>
        <p:nvPicPr>
          <p:cNvPr id="704" name="CornfieldWaffle" descr="Two waffle grids of 100: one in 100 never-smokers carries the gene, eight in 100 smokers would have to"/>
          <p:cNvPicPr>
            <a:picLocks noChangeAspect="1"/>
          </p:cNvPicPr>
          <p:nvPr/>
        </p:nvPicPr>
        <p:blipFill>
          <a:blip r:embed="rId2"/>
          <a:stretch>
            <a:fillRect/>
          </a:stretch>
        </p:blipFill>
        <p:spPr>
          <a:xfrm>
            <a:off x="3565408" y="3020000"/>
            <a:ext cx="5061184" cy="2450000"/>
          </a:xfrm>
          <a:prstGeom prst="rect">
            <a:avLst/>
          </a:prstGeom>
        </p:spPr>
      </p:pic>
      <p:sp>
        <p:nvSpPr>
          <p:cNvPr id="705" name="Band"/>
          <p:cNvSpPr/>
          <p:nvPr/>
        </p:nvSpPr>
        <p:spPr>
          <a:xfrm>
            <a:off x="685800" y="5560000"/>
            <a:ext cx="10820400" cy="640000"/>
          </a:xfrm>
          <a:prstGeom prst="roundRect">
            <a:avLst>
              <a:gd name="adj" fmla="val 8000"/>
            </a:avLst>
          </a:prstGeom>
          <a:solidFill>
            <a:srgbClr val="EFEFEF"/>
          </a:solidFill>
          <a:ln>
            <a:noFill/>
          </a:ln>
        </p:spPr>
        <p:txBody>
          <a:bodyPr lIns="182880" tIns="0" rIns="182880" bIns="0" rtlCol="0" anchor="ctr" anchorCtr="0"/>
          <a:lstStyle/>
          <a:p>
            <a:pPr marL="0" indent="0" algn="ctr">
              <a:buNone/>
            </a:pPr>
            <a:r>
              <a:rPr lang="en-US" sz="1400" b="1" dirty="0">
                <a:solidFill>
                  <a:srgbClr val="000000"/>
                </a:solidFill>
                <a:latin typeface="Calibri"/>
                <a:cs typeface="Calibri"/>
              </a:rPr>
              <a:t>The rival was ruled out by a prevalence it would need and does not have. The arrow survives because the arithmetic was done, not because the correlation was strong.</a:t>
            </a:r>
          </a:p>
        </p:txBody>
      </p:sp>
      <p:sp>
        <p:nvSpPr>
          <p:cNvPr id="706" name="Source"/>
          <p:cNvSpPr txBox="1"/>
          <p:nvPr/>
        </p:nvSpPr>
        <p:spPr>
          <a:xfrm>
            <a:off x="685800" y="6480000"/>
            <a:ext cx="10820400" cy="300000"/>
          </a:xfrm>
          <a:prstGeom prst="rect">
            <a:avLst/>
          </a:prstGeom>
          <a:noFill/>
        </p:spPr>
        <p:txBody>
          <a:bodyPr wrap="square" lIns="0" tIns="0" rIns="0" bIns="0" rtlCol="0" anchor="t">
            <a:noAutofit/>
          </a:bodyPr>
          <a:lstStyle/>
          <a:p>
            <a:pPr marL="0" indent="0" algn="l">
              <a:buNone/>
            </a:pPr>
            <a:r>
              <a:rPr lang="en-US" sz="1000" i="1" dirty="0">
                <a:solidFill>
                  <a:srgbClr val="6B6660"/>
                </a:solidFill>
                <a:latin typeface="Calibri"/>
                <a:cs typeface="Calibri"/>
              </a:rPr>
              <a:t>Cornfield J et al. Smoking and lung cancer: recent evidence and a discussion of some questions. J Natl Cancer Inst 1959;22:173-203. The 1-in-100 and 8-in-100 prevalences are illustrative; only the ratio is forced by the eightfold risk. Later confirmation from twins discordant for smoking: the smoking twin carried the excess risk (NorTwinCan, Hjelmborg J et al. Thorax 2017;72:1021-1027).</a:t>
            </a:r>
          </a:p>
        </p:txBody>
      </p:sp>
    </p:spTree>
    <p:extLst>
      <p:ext uri="{BB962C8B-B14F-4D97-AF65-F5344CB8AC3E}">
        <p14:creationId xmlns:p14="http://schemas.microsoft.com/office/powerpoint/2010/main" val="31843489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Title"/>
          <p:cNvSpPr>
            <a:spLocks noGrp="1"/>
          </p:cNvSpPr>
          <p:nvPr>
            <p:ph type="title" idx="102"/>
          </p:nvPr>
        </p:nvSpPr>
        <p:spPr>
          <a:xfrm>
            <a:off x="1854200" y="868680"/>
            <a:ext cx="9652000" cy="868680"/>
          </a:xfrm>
          <a:prstGeom prst="rect">
            <a:avLst/>
          </a:prstGeom>
          <a:noFill/>
          <a:ln/>
        </p:spPr>
        <p:txBody>
          <a:bodyPr wrap="square" lIns="0" tIns="0" rIns="0" bIns="0" rtlCol="0" anchor="ctr"/>
          <a:lstStyle/>
          <a:p>
            <a:pPr marL="0" indent="0" algn="l">
              <a:buNone/>
            </a:pPr>
            <a:r>
              <a:rPr lang="en-US" sz="3800" dirty="0"/>
              <a:t>Calling Something a Cause Takes More Than a Correlation</a:t>
            </a:r>
          </a:p>
        </p:txBody>
      </p:sp>
      <p:sp>
        <p:nvSpPr>
          <p:cNvPr id="402" name="Eyebrow"/>
          <p:cNvSpPr txBox="1"/>
          <p:nvPr/>
        </p:nvSpPr>
        <p:spPr>
          <a:xfrm>
            <a:off x="685800" y="1728399"/>
            <a:ext cx="10820400" cy="431800"/>
          </a:xfrm>
          <a:prstGeom prst="rect">
            <a:avLst/>
          </a:prstGeom>
          <a:noFill/>
        </p:spPr>
        <p:txBody>
          <a:bodyPr wrap="none" lIns="0" tIns="0" rIns="0" bIns="0" rtlCol="0" anchor="t">
            <a:noAutofit/>
          </a:bodyPr>
          <a:lstStyle/>
          <a:p>
            <a:pPr marL="0" indent="0" algn="l">
              <a:buNone/>
            </a:pPr>
            <a:endParaRPr/>
          </a:p>
        </p:txBody>
      </p:sp>
      <p:sp>
        <p:nvSpPr>
          <p:cNvPr id="403" name="Card"/>
          <p:cNvSpPr/>
          <p:nvPr/>
        </p:nvSpPr>
        <p:spPr>
          <a:xfrm>
            <a:off x="685800" y="2250000"/>
            <a:ext cx="10820400" cy="980000"/>
          </a:xfrm>
          <a:prstGeom prst="roundRect">
            <a:avLst>
              <a:gd name="adj" fmla="val 8000"/>
            </a:avLst>
          </a:prstGeom>
          <a:solidFill>
            <a:srgbClr val="FFFFFF"/>
          </a:solidFill>
          <a:ln w="15875" cap="flat" cmpd="sng" algn="ctr">
            <a:solidFill>
              <a:srgbClr val="C2683F"/>
            </a:solidFill>
            <a:prstDash val="solid"/>
            <a:miter lim="800000"/>
          </a:ln>
        </p:spPr>
        <p:txBody>
          <a:bodyPr rtlCol="0" anchor="t"/>
          <a:lstStyle/>
          <a:p>
            <a:endParaRPr lang="en-US"/>
          </a:p>
        </p:txBody>
      </p:sp>
      <p:sp>
        <p:nvSpPr>
          <p:cNvPr id="404" name="TextBox"/>
          <p:cNvSpPr txBox="1"/>
          <p:nvPr/>
        </p:nvSpPr>
        <p:spPr>
          <a:xfrm>
            <a:off x="960120" y="2425000"/>
            <a:ext cx="6900000" cy="330000"/>
          </a:xfrm>
          <a:prstGeom prst="rect">
            <a:avLst/>
          </a:prstGeom>
          <a:noFill/>
        </p:spPr>
        <p:txBody>
          <a:bodyPr wrap="square" lIns="0" tIns="0" rIns="0" bIns="0" rtlCol="0" anchor="t">
            <a:noAutofit/>
          </a:bodyPr>
          <a:lstStyle/>
          <a:p>
            <a:pPr marL="0" indent="0" algn="l">
              <a:buNone/>
            </a:pPr>
            <a:r>
              <a:rPr lang="en-US" sz="1700" b="1" dirty="0">
                <a:solidFill>
                  <a:srgbClr val="262320"/>
                </a:solidFill>
                <a:latin typeface="Calibri"/>
                <a:cs typeface="Calibri"/>
              </a:rPr>
              <a:t>The correlation is the easy part</a:t>
            </a:r>
          </a:p>
        </p:txBody>
      </p:sp>
      <p:sp>
        <p:nvSpPr>
          <p:cNvPr id="405" name="TextBox"/>
          <p:cNvSpPr txBox="1"/>
          <p:nvPr/>
        </p:nvSpPr>
        <p:spPr>
          <a:xfrm>
            <a:off x="960120" y="2805000"/>
            <a:ext cx="7100000" cy="300000"/>
          </a:xfrm>
          <a:prstGeom prst="rect">
            <a:avLst/>
          </a:prstGeom>
          <a:noFill/>
        </p:spPr>
        <p:txBody>
          <a:bodyPr wrap="square" lIns="0" tIns="0" rIns="0" bIns="0" rtlCol="0" anchor="t">
            <a:noAutofit/>
          </a:bodyPr>
          <a:lstStyle/>
          <a:p>
            <a:pPr marL="0" indent="0" algn="l">
              <a:buNone/>
            </a:pPr>
            <a:r>
              <a:rPr lang="en-US" sz="1600" dirty="0">
                <a:solidFill>
                  <a:srgbClr val="C2683F"/>
                </a:solidFill>
                <a:latin typeface="Calibri"/>
                <a:cs typeface="Calibri"/>
              </a:rPr>
              <a:t>r and p come from the two columns alone. Saturn and the cheese had both.</a:t>
            </a:r>
          </a:p>
        </p:txBody>
      </p:sp>
      <p:sp>
        <p:nvSpPr>
          <p:cNvPr id="406" name="TextBox"/>
          <p:cNvSpPr txBox="1"/>
          <p:nvPr/>
        </p:nvSpPr>
        <p:spPr>
          <a:xfrm>
            <a:off x="8000000" y="2590000"/>
            <a:ext cx="3230000" cy="300000"/>
          </a:xfrm>
          <a:prstGeom prst="rect">
            <a:avLst/>
          </a:prstGeom>
          <a:noFill/>
        </p:spPr>
        <p:txBody>
          <a:bodyPr wrap="square" lIns="0" tIns="0" rIns="0" bIns="0" rtlCol="0" anchor="t">
            <a:noAutofit/>
          </a:bodyPr>
          <a:lstStyle/>
          <a:p>
            <a:pPr marL="0" indent="0" algn="r">
              <a:buNone/>
            </a:pPr>
            <a:r>
              <a:rPr lang="en-US" sz="1200" b="1" dirty="0">
                <a:solidFill>
                  <a:srgbClr val="C2683F"/>
                </a:solidFill>
                <a:latin typeface="Calibri"/>
                <a:cs typeface="Calibri"/>
              </a:rPr>
              <a:t>FAULT 5</a:t>
            </a:r>
          </a:p>
        </p:txBody>
      </p:sp>
      <p:sp>
        <p:nvSpPr>
          <p:cNvPr id="407" name="Card"/>
          <p:cNvSpPr/>
          <p:nvPr/>
        </p:nvSpPr>
        <p:spPr>
          <a:xfrm>
            <a:off x="685800" y="3320000"/>
            <a:ext cx="10820400" cy="980000"/>
          </a:xfrm>
          <a:prstGeom prst="roundRect">
            <a:avLst>
              <a:gd name="adj" fmla="val 8000"/>
            </a:avLst>
          </a:prstGeom>
          <a:solidFill>
            <a:srgbClr val="FFFFFF"/>
          </a:solidFill>
          <a:ln w="15875" cap="flat" cmpd="sng" algn="ctr">
            <a:solidFill>
              <a:srgbClr val="1F3864"/>
            </a:solidFill>
            <a:prstDash val="solid"/>
            <a:miter lim="800000"/>
          </a:ln>
        </p:spPr>
        <p:txBody>
          <a:bodyPr rtlCol="0" anchor="t"/>
          <a:lstStyle/>
          <a:p>
            <a:endParaRPr lang="en-US"/>
          </a:p>
        </p:txBody>
      </p:sp>
      <p:sp>
        <p:nvSpPr>
          <p:cNvPr id="408" name="TextBox"/>
          <p:cNvSpPr txBox="1"/>
          <p:nvPr/>
        </p:nvSpPr>
        <p:spPr>
          <a:xfrm>
            <a:off x="960120" y="3495000"/>
            <a:ext cx="6900000" cy="330000"/>
          </a:xfrm>
          <a:prstGeom prst="rect">
            <a:avLst/>
          </a:prstGeom>
          <a:noFill/>
        </p:spPr>
        <p:txBody>
          <a:bodyPr wrap="square" lIns="0" tIns="0" rIns="0" bIns="0" rtlCol="0" anchor="t">
            <a:noAutofit/>
          </a:bodyPr>
          <a:lstStyle/>
          <a:p>
            <a:pPr marL="0" indent="0" algn="l">
              <a:buNone/>
            </a:pPr>
            <a:r>
              <a:rPr lang="en-US" sz="1700" b="1" dirty="0">
                <a:solidFill>
                  <a:srgbClr val="262320"/>
                </a:solidFill>
                <a:latin typeface="Calibri"/>
                <a:cs typeface="Calibri"/>
              </a:rPr>
              <a:t>The direction needs a prevalence</a:t>
            </a:r>
          </a:p>
        </p:txBody>
      </p:sp>
      <p:sp>
        <p:nvSpPr>
          <p:cNvPr id="409" name="TextBox"/>
          <p:cNvSpPr txBox="1"/>
          <p:nvPr/>
        </p:nvSpPr>
        <p:spPr>
          <a:xfrm>
            <a:off x="960120" y="3875000"/>
            <a:ext cx="7100000" cy="300000"/>
          </a:xfrm>
          <a:prstGeom prst="rect">
            <a:avLst/>
          </a:prstGeom>
          <a:noFill/>
        </p:spPr>
        <p:txBody>
          <a:bodyPr wrap="square" lIns="0" tIns="0" rIns="0" bIns="0" rtlCol="0" anchor="t">
            <a:noAutofit/>
          </a:bodyPr>
          <a:lstStyle/>
          <a:p>
            <a:pPr marL="0" indent="0" algn="l">
              <a:buNone/>
            </a:pPr>
            <a:r>
              <a:rPr lang="en-US" sz="1600" dirty="0">
                <a:solidFill>
                  <a:srgbClr val="1F3864"/>
                </a:solidFill>
                <a:latin typeface="Calibri"/>
                <a:cs typeface="Calibri"/>
              </a:rPr>
              <a:t>P( cancer | cigarettes ) is the claim. The 91% reverse is only how common smoking was.</a:t>
            </a:r>
          </a:p>
        </p:txBody>
      </p:sp>
      <p:sp>
        <p:nvSpPr>
          <p:cNvPr id="410" name="TextBox"/>
          <p:cNvSpPr txBox="1"/>
          <p:nvPr/>
        </p:nvSpPr>
        <p:spPr>
          <a:xfrm>
            <a:off x="8000000" y="3660000"/>
            <a:ext cx="3230000" cy="300000"/>
          </a:xfrm>
          <a:prstGeom prst="rect">
            <a:avLst/>
          </a:prstGeom>
          <a:noFill/>
        </p:spPr>
        <p:txBody>
          <a:bodyPr wrap="square" lIns="0" tIns="0" rIns="0" bIns="0" rtlCol="0" anchor="t">
            <a:noAutofit/>
          </a:bodyPr>
          <a:lstStyle/>
          <a:p>
            <a:pPr marL="0" indent="0" algn="r">
              <a:buNone/>
            </a:pPr>
            <a:r>
              <a:rPr lang="en-US" sz="1200" b="1" dirty="0">
                <a:solidFill>
                  <a:srgbClr val="1F3864"/>
                </a:solidFill>
                <a:latin typeface="Calibri"/>
                <a:cs typeface="Calibri"/>
              </a:rPr>
              <a:t>PROBABILITY REVERSAL</a:t>
            </a:r>
          </a:p>
        </p:txBody>
      </p:sp>
      <p:sp>
        <p:nvSpPr>
          <p:cNvPr id="411" name="Card"/>
          <p:cNvSpPr/>
          <p:nvPr/>
        </p:nvSpPr>
        <p:spPr>
          <a:xfrm>
            <a:off x="685800" y="4390000"/>
            <a:ext cx="10820400" cy="980000"/>
          </a:xfrm>
          <a:prstGeom prst="roundRect">
            <a:avLst>
              <a:gd name="adj" fmla="val 8000"/>
            </a:avLst>
          </a:prstGeom>
          <a:solidFill>
            <a:srgbClr val="FFFFFF"/>
          </a:solidFill>
          <a:ln w="15875" cap="flat" cmpd="sng" algn="ctr">
            <a:solidFill>
              <a:srgbClr val="8A2A2A"/>
            </a:solidFill>
            <a:prstDash val="solid"/>
            <a:miter lim="800000"/>
          </a:ln>
        </p:spPr>
        <p:txBody>
          <a:bodyPr rtlCol="0" anchor="t"/>
          <a:lstStyle/>
          <a:p>
            <a:endParaRPr lang="en-US"/>
          </a:p>
        </p:txBody>
      </p:sp>
      <p:sp>
        <p:nvSpPr>
          <p:cNvPr id="412" name="TextBox"/>
          <p:cNvSpPr txBox="1"/>
          <p:nvPr/>
        </p:nvSpPr>
        <p:spPr>
          <a:xfrm>
            <a:off x="960120" y="4565000"/>
            <a:ext cx="6900000" cy="330000"/>
          </a:xfrm>
          <a:prstGeom prst="rect">
            <a:avLst/>
          </a:prstGeom>
          <a:noFill/>
        </p:spPr>
        <p:txBody>
          <a:bodyPr wrap="square" lIns="0" tIns="0" rIns="0" bIns="0" rtlCol="0" anchor="t">
            <a:noAutofit/>
          </a:bodyPr>
          <a:lstStyle/>
          <a:p>
            <a:pPr marL="0" indent="0" algn="l">
              <a:buNone/>
            </a:pPr>
            <a:r>
              <a:rPr lang="en-US" sz="1700" b="1" dirty="0">
                <a:solidFill>
                  <a:srgbClr val="262320"/>
                </a:solidFill>
                <a:latin typeface="Calibri"/>
                <a:cs typeface="Calibri"/>
              </a:rPr>
              <a:t>Ruling out the rival needs another one</a:t>
            </a:r>
          </a:p>
        </p:txBody>
      </p:sp>
      <p:sp>
        <p:nvSpPr>
          <p:cNvPr id="413" name="TextBox"/>
          <p:cNvSpPr txBox="1"/>
          <p:nvPr/>
        </p:nvSpPr>
        <p:spPr>
          <a:xfrm>
            <a:off x="960120" y="4945000"/>
            <a:ext cx="7100000" cy="300000"/>
          </a:xfrm>
          <a:prstGeom prst="rect">
            <a:avLst/>
          </a:prstGeom>
          <a:noFill/>
        </p:spPr>
        <p:txBody>
          <a:bodyPr wrap="square" lIns="0" tIns="0" rIns="0" bIns="0" rtlCol="0" anchor="t">
            <a:noAutofit/>
          </a:bodyPr>
          <a:lstStyle/>
          <a:p>
            <a:pPr marL="0" indent="0" algn="l">
              <a:buNone/>
            </a:pPr>
            <a:r>
              <a:rPr lang="en-US" sz="1600" dirty="0">
                <a:solidFill>
                  <a:srgbClr val="8A2A2A"/>
                </a:solidFill>
                <a:latin typeface="Calibri"/>
                <a:cs typeface="Calibri"/>
              </a:rPr>
              <a:t>The gene would have to be eight times as common among smokers. It is not.</a:t>
            </a:r>
          </a:p>
        </p:txBody>
      </p:sp>
      <p:sp>
        <p:nvSpPr>
          <p:cNvPr id="414" name="TextBox"/>
          <p:cNvSpPr txBox="1"/>
          <p:nvPr/>
        </p:nvSpPr>
        <p:spPr>
          <a:xfrm>
            <a:off x="8000000" y="4730000"/>
            <a:ext cx="3230000" cy="300000"/>
          </a:xfrm>
          <a:prstGeom prst="rect">
            <a:avLst/>
          </a:prstGeom>
          <a:noFill/>
        </p:spPr>
        <p:txBody>
          <a:bodyPr wrap="square" lIns="0" tIns="0" rIns="0" bIns="0" rtlCol="0" anchor="t">
            <a:noAutofit/>
          </a:bodyPr>
          <a:lstStyle/>
          <a:p>
            <a:pPr marL="0" indent="0" algn="r">
              <a:buNone/>
            </a:pPr>
            <a:r>
              <a:rPr lang="en-US" sz="1200" b="1" dirty="0">
                <a:solidFill>
                  <a:srgbClr val="8A2A2A"/>
                </a:solidFill>
                <a:latin typeface="Calibri"/>
                <a:cs typeface="Calibri"/>
              </a:rPr>
              <a:t>THE CONFOUNDER</a:t>
            </a:r>
          </a:p>
        </p:txBody>
      </p:sp>
      <p:sp>
        <p:nvSpPr>
          <p:cNvPr id="415" name="Band"/>
          <p:cNvSpPr/>
          <p:nvPr/>
        </p:nvSpPr>
        <p:spPr>
          <a:xfrm>
            <a:off x="685800" y="5600000"/>
            <a:ext cx="10820400" cy="840000"/>
          </a:xfrm>
          <a:prstGeom prst="roundRect">
            <a:avLst>
              <a:gd name="adj" fmla="val 8000"/>
            </a:avLst>
          </a:prstGeom>
          <a:solidFill>
            <a:srgbClr val="EFEFEF"/>
          </a:solidFill>
          <a:ln>
            <a:noFill/>
          </a:ln>
        </p:spPr>
        <p:txBody>
          <a:bodyPr lIns="182880" tIns="0" rIns="182880" bIns="0" rtlCol="0" anchor="ctr" anchorCtr="0"/>
          <a:lstStyle/>
          <a:p>
            <a:pPr marL="0" indent="0" algn="ctr">
              <a:buNone/>
            </a:pPr>
            <a:r>
              <a:rPr lang="en-US" sz="1400" b="1" dirty="0">
                <a:solidFill>
                  <a:srgbClr val="000000"/>
                </a:solidFill>
                <a:latin typeface="Calibri"/>
                <a:cs typeface="Calibri"/>
              </a:rPr>
              <a:t>Every step past the correlation needed a prevalence the correlation never contained.</a:t>
            </a:r>
          </a:p>
          <a:p>
            <a:pPr marL="0" indent="0" algn="ctr">
              <a:buNone/>
            </a:pPr>
            <a:r>
              <a:rPr lang="en-US" sz="1400" b="1" dirty="0">
                <a:solidFill>
                  <a:srgbClr val="000000"/>
                </a:solidFill>
                <a:latin typeface="Calibri"/>
                <a:cs typeface="Calibri"/>
              </a:rPr>
              <a:t>That is why the leap is a leap, and why the reversal's arithmetic is what closes it.</a:t>
            </a:r>
          </a:p>
        </p:txBody>
      </p:sp>
      <p:sp>
        <p:nvSpPr>
          <p:cNvPr id="416" name="Source"/>
          <p:cNvSpPr txBox="1"/>
          <p:nvPr/>
        </p:nvSpPr>
        <p:spPr>
          <a:xfrm>
            <a:off x="685800" y="6520000"/>
            <a:ext cx="10820400" cy="274320"/>
          </a:xfrm>
          <a:prstGeom prst="rect">
            <a:avLst/>
          </a:prstGeom>
          <a:noFill/>
        </p:spPr>
        <p:txBody>
          <a:bodyPr wrap="square" lIns="0" tIns="0" rIns="0" bIns="0" rtlCol="0" anchor="t">
            <a:noAutofit/>
          </a:bodyPr>
          <a:lstStyle/>
          <a:p>
            <a:pPr marL="0" indent="0" algn="l">
              <a:buNone/>
            </a:pPr>
            <a:r>
              <a:rPr lang="en-US" sz="1000" i="1" dirty="0">
                <a:solidFill>
                  <a:srgbClr val="6B6660"/>
                </a:solidFill>
                <a:latin typeface="Calibri"/>
                <a:cs typeface="Calibri"/>
              </a:rPr>
              <a:t>Doll R. Br J Cancer 1953;7:303 (about 65% of British men smoked cigarettes c. 1950). Cornfield J et al. J Natl Cancer Inst 1959;22:173-203. The counts on the previous two slides are rounded to whole men and labelled illustrative where noted.</a:t>
            </a:r>
          </a:p>
        </p:txBody>
      </p:sp>
    </p:spTree>
    <p:extLst>
      <p:ext uri="{BB962C8B-B14F-4D97-AF65-F5344CB8AC3E}">
        <p14:creationId xmlns:p14="http://schemas.microsoft.com/office/powerpoint/2010/main" val="42125146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Title"/>
          <p:cNvSpPr>
            <a:spLocks noGrp="1"/>
          </p:cNvSpPr>
          <p:nvPr>
            <p:ph type="title" idx="102"/>
          </p:nvPr>
        </p:nvSpPr>
        <p:spPr>
          <a:xfrm>
            <a:off x="685800" y="868680"/>
            <a:ext cx="10820400" cy="868680"/>
          </a:xfrm>
          <a:prstGeom prst="rect">
            <a:avLst/>
          </a:prstGeom>
          <a:noFill/>
          <a:ln/>
        </p:spPr>
        <p:txBody>
          <a:bodyPr wrap="square" lIns="0" tIns="0" rIns="0" bIns="0" rtlCol="0" anchor="ctr"/>
          <a:lstStyle/>
          <a:p>
            <a:pPr marL="0" indent="0" algn="l">
              <a:buNone/>
            </a:pPr>
            <a:r>
              <a:rPr lang="en-US" sz="3800" dirty="0"/>
              <a:t>The Whole Day in Three Questions</a:t>
            </a:r>
          </a:p>
        </p:txBody>
      </p:sp>
      <p:sp>
        <p:nvSpPr>
          <p:cNvPr id="233" name="TextBox"/>
          <p:cNvSpPr txBox="1"/>
          <p:nvPr/>
        </p:nvSpPr>
        <p:spPr>
          <a:xfrm>
            <a:off x="685800" y="1830000"/>
            <a:ext cx="10820400" cy="380000"/>
          </a:xfrm>
          <a:prstGeom prst="rect">
            <a:avLst/>
          </a:prstGeom>
          <a:noFill/>
        </p:spPr>
        <p:txBody>
          <a:bodyPr wrap="square" lIns="0" tIns="0" rIns="0" bIns="0" rtlCol="0" anchor="t">
            <a:noAutofit/>
          </a:bodyPr>
          <a:lstStyle/>
          <a:p>
            <a:pPr marL="0" indent="0" algn="l">
              <a:buNone/>
            </a:pPr>
            <a:endParaRPr/>
          </a:p>
        </p:txBody>
      </p:sp>
      <p:pic>
        <p:nvPicPr>
          <p:cNvPr id="234" name="SummaryFlow" descr="Three questions in sequence: can you draw the grid of people (no: coincidence); could something else drive both columns (yes and it fits: a confounder); how big would it have to be (too big to exist: a cause)"/>
          <p:cNvPicPr>
            <a:picLocks noChangeAspect="1"/>
          </p:cNvPicPr>
          <p:nvPr/>
        </p:nvPicPr>
        <p:blipFill>
          <a:blip r:embed="rId3"/>
          <a:stretch>
            <a:fillRect/>
          </a:stretch>
        </p:blipFill>
        <p:spPr>
          <a:xfrm>
            <a:off x="1321877" y="2050000"/>
            <a:ext cx="9548246" cy="3300000"/>
          </a:xfrm>
          <a:prstGeom prst="rect">
            <a:avLst/>
          </a:prstGeom>
        </p:spPr>
      </p:pic>
      <p:sp>
        <p:nvSpPr>
          <p:cNvPr id="235" name="Band"/>
          <p:cNvSpPr/>
          <p:nvPr/>
        </p:nvSpPr>
        <p:spPr>
          <a:xfrm>
            <a:off x="685800" y="5560000"/>
            <a:ext cx="10820400" cy="700000"/>
          </a:xfrm>
          <a:prstGeom prst="roundRect">
            <a:avLst>
              <a:gd name="adj" fmla="val 8000"/>
            </a:avLst>
          </a:prstGeom>
          <a:solidFill>
            <a:srgbClr val="EFEFEF"/>
          </a:solidFill>
          <a:ln>
            <a:noFill/>
          </a:ln>
        </p:spPr>
        <p:txBody>
          <a:bodyPr lIns="182880" tIns="0" rIns="182880" bIns="0" rtlCol="0" anchor="ctr" anchorCtr="0"/>
          <a:lstStyle/>
          <a:p>
            <a:pPr marL="0" indent="0" algn="ctr">
              <a:buNone/>
            </a:pPr>
            <a:r>
              <a:rPr lang="en-US" sz="1400" b="1" dirty="0">
                <a:solidFill>
                  <a:srgbClr val="000000"/>
                </a:solidFill>
                <a:latin typeface="Calibri"/>
                <a:cs typeface="Calibri"/>
              </a:rPr>
              <a:t>Each question needs something the correlation does not contain: a population, a rival, a prevalence. That is why the leap is a leap.</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50126-7440-1590-4C70-F58F33D427B8}"/>
              </a:ext>
            </a:extLst>
          </p:cNvPr>
          <p:cNvSpPr>
            <a:spLocks noGrp="1"/>
          </p:cNvSpPr>
          <p:nvPr>
            <p:ph type="title" idx="102"/>
          </p:nvPr>
        </p:nvSpPr>
        <p:spPr/>
        <p:txBody>
          <a:bodyPr/>
          <a:lstStyle/>
          <a:p>
            <a:pPr algn="l">
              <a:buNone/>
            </a:pPr>
            <a:r>
              <a:rPr lang="en-US" b="1" dirty="0"/>
              <a:t>The Course Topics and Takeaways</a:t>
            </a:r>
          </a:p>
        </p:txBody>
      </p:sp>
      <p:grpSp>
        <p:nvGrpSpPr>
          <p:cNvPr id="13" name="Group 12">
            <a:extLst>
              <a:ext uri="{FF2B5EF4-FFF2-40B4-BE49-F238E27FC236}">
                <a16:creationId xmlns:a16="http://schemas.microsoft.com/office/drawing/2014/main" id="{C5CB8C89-50DD-22CD-174B-BC09CF7AACEB}"/>
              </a:ext>
            </a:extLst>
          </p:cNvPr>
          <p:cNvGrpSpPr/>
          <p:nvPr/>
        </p:nvGrpSpPr>
        <p:grpSpPr>
          <a:xfrm>
            <a:off x="951186" y="2108200"/>
            <a:ext cx="10288314" cy="4216400"/>
            <a:chOff x="762000" y="596603"/>
            <a:chExt cx="10288314" cy="4216400"/>
          </a:xfrm>
        </p:grpSpPr>
        <p:sp>
          <p:nvSpPr>
            <p:cNvPr id="80" name="ErrBadge1">
              <a:extLst>
                <a:ext uri="{FF2B5EF4-FFF2-40B4-BE49-F238E27FC236}">
                  <a16:creationId xmlns:a16="http://schemas.microsoft.com/office/drawing/2014/main" id="{F0998706-CCA9-D843-9E12-327649D378EE}"/>
                </a:ext>
              </a:extLst>
            </p:cNvPr>
            <p:cNvSpPr/>
            <p:nvPr/>
          </p:nvSpPr>
          <p:spPr>
            <a:xfrm>
              <a:off x="762000" y="596603"/>
              <a:ext cx="609600" cy="609600"/>
            </a:xfrm>
            <a:prstGeom prst="ellipse">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200" b="1" dirty="0">
                  <a:solidFill>
                    <a:srgbClr val="FFFFFF"/>
                  </a:solidFill>
                </a:rPr>
                <a:t>1</a:t>
              </a:r>
            </a:p>
          </p:txBody>
        </p:sp>
        <p:sp>
          <p:nvSpPr>
            <p:cNvPr id="81" name="ErrTitle1">
              <a:extLst>
                <a:ext uri="{FF2B5EF4-FFF2-40B4-BE49-F238E27FC236}">
                  <a16:creationId xmlns:a16="http://schemas.microsoft.com/office/drawing/2014/main" id="{FCC03E0A-53C5-6045-B806-A3AF5C0A7D8F}"/>
                </a:ext>
              </a:extLst>
            </p:cNvPr>
            <p:cNvSpPr txBox="1"/>
            <p:nvPr/>
          </p:nvSpPr>
          <p:spPr>
            <a:xfrm>
              <a:off x="1652314" y="596603"/>
              <a:ext cx="9398000" cy="400110"/>
            </a:xfrm>
            <a:prstGeom prst="rect">
              <a:avLst/>
            </a:prstGeom>
            <a:noFill/>
          </p:spPr>
          <p:txBody>
            <a:bodyPr vertOverflow="overflow" vert="horz" wrap="square" rtlCol="0" anchor="t" anchorCtr="0">
              <a:spAutoFit/>
            </a:bodyPr>
            <a:lstStyle/>
            <a:p>
              <a:pPr algn="l"/>
              <a:r>
                <a:rPr lang="en-US" sz="2000" b="1" dirty="0">
                  <a:solidFill>
                    <a:srgbClr val="15686B"/>
                  </a:solidFill>
                </a:rPr>
                <a:t>Relative reporting</a:t>
              </a:r>
              <a:r>
                <a:rPr lang="en-US" sz="2000" b="1" dirty="0">
                  <a:solidFill>
                    <a:srgbClr val="A8C4C5"/>
                  </a:solidFill>
                </a:rPr>
                <a:t>  |  </a:t>
              </a:r>
              <a:r>
                <a:rPr lang="en-US" sz="2000" b="1" dirty="0"/>
                <a:t>Ask: 36% of what?</a:t>
              </a:r>
            </a:p>
          </p:txBody>
        </p:sp>
        <p:sp>
          <p:nvSpPr>
            <p:cNvPr id="82" name="ErrBadge2">
              <a:extLst>
                <a:ext uri="{FF2B5EF4-FFF2-40B4-BE49-F238E27FC236}">
                  <a16:creationId xmlns:a16="http://schemas.microsoft.com/office/drawing/2014/main" id="{F0998706-CCA9-D843-9E12-327649D378EE}"/>
                </a:ext>
              </a:extLst>
            </p:cNvPr>
            <p:cNvSpPr/>
            <p:nvPr/>
          </p:nvSpPr>
          <p:spPr>
            <a:xfrm>
              <a:off x="762000" y="1358603"/>
              <a:ext cx="609600" cy="609600"/>
            </a:xfrm>
            <a:prstGeom prst="ellipse">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200" b="1" dirty="0">
                  <a:solidFill>
                    <a:srgbClr val="FFFFFF"/>
                  </a:solidFill>
                </a:rPr>
                <a:t>2</a:t>
              </a:r>
            </a:p>
          </p:txBody>
        </p:sp>
        <p:sp>
          <p:nvSpPr>
            <p:cNvPr id="83" name="ErrTitle2">
              <a:extLst>
                <a:ext uri="{FF2B5EF4-FFF2-40B4-BE49-F238E27FC236}">
                  <a16:creationId xmlns:a16="http://schemas.microsoft.com/office/drawing/2014/main" id="{FCC03E0A-53C5-6045-B806-A3AF5C0A7D8F}"/>
                </a:ext>
              </a:extLst>
            </p:cNvPr>
            <p:cNvSpPr txBox="1"/>
            <p:nvPr/>
          </p:nvSpPr>
          <p:spPr>
            <a:xfrm>
              <a:off x="1652314" y="1358603"/>
              <a:ext cx="9398000" cy="400110"/>
            </a:xfrm>
            <a:prstGeom prst="rect">
              <a:avLst/>
            </a:prstGeom>
            <a:noFill/>
          </p:spPr>
          <p:txBody>
            <a:bodyPr vertOverflow="overflow" vert="horz" wrap="square" rtlCol="0" anchor="t" anchorCtr="0">
              <a:spAutoFit/>
            </a:bodyPr>
            <a:lstStyle/>
            <a:p>
              <a:pPr algn="l"/>
              <a:r>
                <a:rPr lang="en-US" sz="2000" b="1" dirty="0">
                  <a:solidFill>
                    <a:srgbClr val="15686B"/>
                  </a:solidFill>
                </a:rPr>
                <a:t>Probability reversal</a:t>
              </a:r>
              <a:r>
                <a:rPr lang="en-US" sz="2000" b="1" dirty="0">
                  <a:solidFill>
                    <a:srgbClr val="A8C4C5"/>
                  </a:solidFill>
                </a:rPr>
                <a:t>  |  </a:t>
              </a:r>
              <a:r>
                <a:rPr lang="en-US" sz="2000" b="1" dirty="0"/>
                <a:t>A positive test is not a diagnosis.</a:t>
              </a:r>
            </a:p>
          </p:txBody>
        </p:sp>
        <p:sp>
          <p:nvSpPr>
            <p:cNvPr id="84" name="ErrBadge3">
              <a:extLst>
                <a:ext uri="{FF2B5EF4-FFF2-40B4-BE49-F238E27FC236}">
                  <a16:creationId xmlns:a16="http://schemas.microsoft.com/office/drawing/2014/main" id="{F0998706-CCA9-D843-9E12-327649D378EE}"/>
                </a:ext>
              </a:extLst>
            </p:cNvPr>
            <p:cNvSpPr/>
            <p:nvPr/>
          </p:nvSpPr>
          <p:spPr>
            <a:xfrm>
              <a:off x="762000" y="2120603"/>
              <a:ext cx="609600" cy="609600"/>
            </a:xfrm>
            <a:prstGeom prst="ellipse">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200" b="1" dirty="0">
                  <a:solidFill>
                    <a:srgbClr val="FFFFFF"/>
                  </a:solidFill>
                </a:rPr>
                <a:t>3</a:t>
              </a:r>
            </a:p>
          </p:txBody>
        </p:sp>
        <p:sp>
          <p:nvSpPr>
            <p:cNvPr id="85" name="ErrTitle3">
              <a:extLst>
                <a:ext uri="{FF2B5EF4-FFF2-40B4-BE49-F238E27FC236}">
                  <a16:creationId xmlns:a16="http://schemas.microsoft.com/office/drawing/2014/main" id="{FCC03E0A-53C5-6045-B806-A3AF5C0A7D8F}"/>
                </a:ext>
              </a:extLst>
            </p:cNvPr>
            <p:cNvSpPr txBox="1"/>
            <p:nvPr/>
          </p:nvSpPr>
          <p:spPr>
            <a:xfrm>
              <a:off x="1652314" y="2120603"/>
              <a:ext cx="9398000" cy="400110"/>
            </a:xfrm>
            <a:prstGeom prst="rect">
              <a:avLst/>
            </a:prstGeom>
            <a:noFill/>
          </p:spPr>
          <p:txBody>
            <a:bodyPr vertOverflow="overflow" vert="horz" wrap="square" rtlCol="0" anchor="t" anchorCtr="0">
              <a:spAutoFit/>
            </a:bodyPr>
            <a:lstStyle/>
            <a:p>
              <a:pPr algn="l"/>
              <a:r>
                <a:rPr lang="en-US" sz="2000" b="1" dirty="0">
                  <a:solidFill>
                    <a:srgbClr val="15686B"/>
                  </a:solidFill>
                </a:rPr>
                <a:t>Arbitrary categories</a:t>
              </a:r>
              <a:r>
                <a:rPr lang="en-US" sz="2000" b="1" dirty="0">
                  <a:solidFill>
                    <a:srgbClr val="A8C4C5"/>
                  </a:solidFill>
                </a:rPr>
                <a:t>  |  </a:t>
              </a:r>
              <a:r>
                <a:rPr lang="en-US" sz="2000" b="1" dirty="0"/>
                <a:t>Just over the line is still you.</a:t>
              </a:r>
            </a:p>
          </p:txBody>
        </p:sp>
        <p:sp>
          <p:nvSpPr>
            <p:cNvPr id="86" name="ErrBadge4">
              <a:extLst>
                <a:ext uri="{FF2B5EF4-FFF2-40B4-BE49-F238E27FC236}">
                  <a16:creationId xmlns:a16="http://schemas.microsoft.com/office/drawing/2014/main" id="{F0998706-CCA9-D843-9E12-327649D378EE}"/>
                </a:ext>
              </a:extLst>
            </p:cNvPr>
            <p:cNvSpPr/>
            <p:nvPr/>
          </p:nvSpPr>
          <p:spPr>
            <a:xfrm>
              <a:off x="762000" y="2882603"/>
              <a:ext cx="609600" cy="609600"/>
            </a:xfrm>
            <a:prstGeom prst="ellipse">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200" b="1" dirty="0">
                  <a:solidFill>
                    <a:srgbClr val="FFFFFF"/>
                  </a:solidFill>
                </a:rPr>
                <a:t>4</a:t>
              </a:r>
            </a:p>
          </p:txBody>
        </p:sp>
        <p:sp>
          <p:nvSpPr>
            <p:cNvPr id="87" name="ErrTitle4">
              <a:extLst>
                <a:ext uri="{FF2B5EF4-FFF2-40B4-BE49-F238E27FC236}">
                  <a16:creationId xmlns:a16="http://schemas.microsoft.com/office/drawing/2014/main" id="{FCC03E0A-53C5-6045-B806-A3AF5C0A7D8F}"/>
                </a:ext>
              </a:extLst>
            </p:cNvPr>
            <p:cNvSpPr txBox="1"/>
            <p:nvPr/>
          </p:nvSpPr>
          <p:spPr>
            <a:xfrm>
              <a:off x="1652314" y="2882603"/>
              <a:ext cx="9398000" cy="400110"/>
            </a:xfrm>
            <a:prstGeom prst="rect">
              <a:avLst/>
            </a:prstGeom>
            <a:noFill/>
          </p:spPr>
          <p:txBody>
            <a:bodyPr vertOverflow="overflow" vert="horz" wrap="square" rtlCol="0" anchor="t" anchorCtr="0">
              <a:spAutoFit/>
            </a:bodyPr>
            <a:lstStyle/>
            <a:p>
              <a:pPr algn="l"/>
              <a:r>
                <a:rPr lang="en-US" sz="2000" b="1" dirty="0">
                  <a:solidFill>
                    <a:srgbClr val="15686B"/>
                  </a:solidFill>
                </a:rPr>
                <a:t>The Bernoulli fallacy</a:t>
              </a:r>
              <a:r>
                <a:rPr lang="en-US" sz="2000" b="1" dirty="0">
                  <a:solidFill>
                    <a:srgbClr val="A8C4C5"/>
                  </a:solidFill>
                </a:rPr>
                <a:t>  |  </a:t>
              </a:r>
              <a:r>
                <a:rPr lang="en-US" sz="2000" b="1" dirty="0"/>
                <a:t>One study is not proof.</a:t>
              </a:r>
            </a:p>
          </p:txBody>
        </p:sp>
        <p:sp>
          <p:nvSpPr>
            <p:cNvPr id="88" name="ErrBadge5">
              <a:extLst>
                <a:ext uri="{FF2B5EF4-FFF2-40B4-BE49-F238E27FC236}">
                  <a16:creationId xmlns:a16="http://schemas.microsoft.com/office/drawing/2014/main" id="{F0998706-CCA9-D843-9E12-327649D378EE}"/>
                </a:ext>
              </a:extLst>
            </p:cNvPr>
            <p:cNvSpPr/>
            <p:nvPr/>
          </p:nvSpPr>
          <p:spPr>
            <a:xfrm>
              <a:off x="762000" y="3644603"/>
              <a:ext cx="609600" cy="609600"/>
            </a:xfrm>
            <a:prstGeom prst="ellipse">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200" b="1" dirty="0">
                  <a:solidFill>
                    <a:srgbClr val="FFFFFF"/>
                  </a:solidFill>
                </a:rPr>
                <a:t>5</a:t>
              </a:r>
            </a:p>
          </p:txBody>
        </p:sp>
        <p:sp>
          <p:nvSpPr>
            <p:cNvPr id="89" name="ErrTitle5">
              <a:extLst>
                <a:ext uri="{FF2B5EF4-FFF2-40B4-BE49-F238E27FC236}">
                  <a16:creationId xmlns:a16="http://schemas.microsoft.com/office/drawing/2014/main" id="{FCC03E0A-53C5-6045-B806-A3AF5C0A7D8F}"/>
                </a:ext>
              </a:extLst>
            </p:cNvPr>
            <p:cNvSpPr txBox="1"/>
            <p:nvPr/>
          </p:nvSpPr>
          <p:spPr>
            <a:xfrm>
              <a:off x="1652314" y="3644603"/>
              <a:ext cx="9398000" cy="400110"/>
            </a:xfrm>
            <a:prstGeom prst="rect">
              <a:avLst/>
            </a:prstGeom>
            <a:noFill/>
          </p:spPr>
          <p:txBody>
            <a:bodyPr vertOverflow="overflow" vert="horz" wrap="square" rtlCol="0" anchor="t" anchorCtr="0">
              <a:spAutoFit/>
            </a:bodyPr>
            <a:lstStyle/>
            <a:p>
              <a:pPr algn="l"/>
              <a:r>
                <a:rPr lang="en-US" sz="2000" b="1" dirty="0">
                  <a:solidFill>
                    <a:srgbClr val="15686B"/>
                  </a:solidFill>
                </a:rPr>
                <a:t>The causal leap</a:t>
              </a:r>
              <a:r>
                <a:rPr lang="en-US" sz="2000" b="1" dirty="0">
                  <a:solidFill>
                    <a:srgbClr val="A8C4C5"/>
                  </a:solidFill>
                </a:rPr>
                <a:t>  |  </a:t>
              </a:r>
              <a:r>
                <a:rPr lang="en-US" sz="2000" b="1" dirty="0"/>
                <a:t>Moving together is not cause.</a:t>
              </a:r>
            </a:p>
          </p:txBody>
        </p:sp>
        <p:sp>
          <p:nvSpPr>
            <p:cNvPr id="300" name="FaultTag300">
              <a:extLst>
                <a:ext uri="{FF2B5EF4-FFF2-40B4-BE49-F238E27FC236}">
                  <a16:creationId xmlns:a16="http://schemas.microsoft.com/office/drawing/2014/main" id="{6D74C8DC-CDBB-EE4C-BA2A-F94E81E7ED83}"/>
                </a:ext>
              </a:extLst>
            </p:cNvPr>
            <p:cNvSpPr txBox="1"/>
            <p:nvPr/>
          </p:nvSpPr>
          <p:spPr>
            <a:xfrm>
              <a:off x="1652314" y="964903"/>
              <a:ext cx="9398000" cy="330200"/>
            </a:xfrm>
            <a:prstGeom prst="rect">
              <a:avLst/>
            </a:prstGeom>
            <a:noFill/>
          </p:spPr>
          <p:txBody>
            <a:bodyPr vertOverflow="overflow" vert="horz" wrap="square" rtlCol="0" anchor="t" anchorCtr="0">
              <a:spAutoFit/>
            </a:bodyPr>
            <a:lstStyle/>
            <a:p>
              <a:pPr algn="l"/>
              <a:r>
                <a:rPr lang="en-US" sz="1600" i="1" dirty="0">
                  <a:solidFill>
                    <a:srgbClr val="404040"/>
                  </a:solidFill>
                </a:rPr>
                <a:t>A change with no baseline is half a fact.</a:t>
              </a:r>
            </a:p>
          </p:txBody>
        </p:sp>
        <p:sp>
          <p:nvSpPr>
            <p:cNvPr id="301" name="FaultTag301">
              <a:extLst>
                <a:ext uri="{FF2B5EF4-FFF2-40B4-BE49-F238E27FC236}">
                  <a16:creationId xmlns:a16="http://schemas.microsoft.com/office/drawing/2014/main" id="{6D74C8DC-CDBB-EE4C-BA2A-F94E81E7ED83}"/>
                </a:ext>
              </a:extLst>
            </p:cNvPr>
            <p:cNvSpPr txBox="1"/>
            <p:nvPr/>
          </p:nvSpPr>
          <p:spPr>
            <a:xfrm>
              <a:off x="1652314" y="1726903"/>
              <a:ext cx="9398000" cy="330200"/>
            </a:xfrm>
            <a:prstGeom prst="rect">
              <a:avLst/>
            </a:prstGeom>
            <a:noFill/>
          </p:spPr>
          <p:txBody>
            <a:bodyPr vertOverflow="overflow" vert="horz" wrap="square" rtlCol="0" anchor="t" anchorCtr="0">
              <a:spAutoFit/>
            </a:bodyPr>
            <a:lstStyle/>
            <a:p>
              <a:pPr algn="l"/>
              <a:r>
                <a:rPr lang="en-US" sz="1600" i="1" dirty="0">
                  <a:solidFill>
                    <a:srgbClr val="404040"/>
                  </a:solidFill>
                </a:rPr>
                <a:t>What it means depends on how common the condition is.</a:t>
              </a:r>
            </a:p>
          </p:txBody>
        </p:sp>
        <p:sp>
          <p:nvSpPr>
            <p:cNvPr id="302" name="FaultTag302">
              <a:extLst>
                <a:ext uri="{FF2B5EF4-FFF2-40B4-BE49-F238E27FC236}">
                  <a16:creationId xmlns:a16="http://schemas.microsoft.com/office/drawing/2014/main" id="{6D74C8DC-CDBB-EE4C-BA2A-F94E81E7ED83}"/>
                </a:ext>
              </a:extLst>
            </p:cNvPr>
            <p:cNvSpPr txBox="1"/>
            <p:nvPr/>
          </p:nvSpPr>
          <p:spPr>
            <a:xfrm>
              <a:off x="1652314" y="2488903"/>
              <a:ext cx="9398000" cy="330200"/>
            </a:xfrm>
            <a:prstGeom prst="rect">
              <a:avLst/>
            </a:prstGeom>
            <a:noFill/>
          </p:spPr>
          <p:txBody>
            <a:bodyPr vertOverflow="overflow" vert="horz" wrap="square" rtlCol="0" anchor="t" anchorCtr="0">
              <a:spAutoFit/>
            </a:bodyPr>
            <a:lstStyle/>
            <a:p>
              <a:pPr algn="l"/>
              <a:r>
                <a:rPr lang="en-US" sz="1600" i="1" dirty="0">
                  <a:solidFill>
                    <a:srgbClr val="404040"/>
                  </a:solidFill>
                </a:rPr>
                <a:t>119 to 120 moved the label, not your body.</a:t>
              </a:r>
            </a:p>
          </p:txBody>
        </p:sp>
        <p:sp>
          <p:nvSpPr>
            <p:cNvPr id="303" name="FaultTag303">
              <a:extLst>
                <a:ext uri="{FF2B5EF4-FFF2-40B4-BE49-F238E27FC236}">
                  <a16:creationId xmlns:a16="http://schemas.microsoft.com/office/drawing/2014/main" id="{6D74C8DC-CDBB-EE4C-BA2A-F94E81E7ED83}"/>
                </a:ext>
              </a:extLst>
            </p:cNvPr>
            <p:cNvSpPr txBox="1"/>
            <p:nvPr/>
          </p:nvSpPr>
          <p:spPr>
            <a:xfrm>
              <a:off x="1652314" y="3250903"/>
              <a:ext cx="9398000" cy="330200"/>
            </a:xfrm>
            <a:prstGeom prst="rect">
              <a:avLst/>
            </a:prstGeom>
            <a:noFill/>
          </p:spPr>
          <p:txBody>
            <a:bodyPr vertOverflow="overflow" vert="horz" wrap="square" rtlCol="0" anchor="t" anchorCtr="0">
              <a:spAutoFit/>
            </a:bodyPr>
            <a:lstStyle/>
            <a:p>
              <a:pPr algn="l"/>
              <a:r>
                <a:rPr lang="en-US" sz="1600" i="1" dirty="0">
                  <a:solidFill>
                    <a:srgbClr val="404040"/>
                  </a:solidFill>
                </a:rPr>
                <a:t>Run enough studies and something looks significant.</a:t>
              </a:r>
            </a:p>
          </p:txBody>
        </p:sp>
        <p:sp>
          <p:nvSpPr>
            <p:cNvPr id="304" name="FaultTag304">
              <a:extLst>
                <a:ext uri="{FF2B5EF4-FFF2-40B4-BE49-F238E27FC236}">
                  <a16:creationId xmlns:a16="http://schemas.microsoft.com/office/drawing/2014/main" id="{6D74C8DC-CDBB-EE4C-BA2A-F94E81E7ED83}"/>
                </a:ext>
              </a:extLst>
            </p:cNvPr>
            <p:cNvSpPr txBox="1"/>
            <p:nvPr/>
          </p:nvSpPr>
          <p:spPr>
            <a:xfrm>
              <a:off x="1652314" y="4012903"/>
              <a:ext cx="9398000" cy="330200"/>
            </a:xfrm>
            <a:prstGeom prst="rect">
              <a:avLst/>
            </a:prstGeom>
            <a:noFill/>
          </p:spPr>
          <p:txBody>
            <a:bodyPr vertOverflow="overflow" vert="horz" wrap="square" rtlCol="0" anchor="t" anchorCtr="0">
              <a:spAutoFit/>
            </a:bodyPr>
            <a:lstStyle/>
            <a:p>
              <a:pPr algn="l"/>
              <a:r>
                <a:rPr lang="en-US" sz="1600" i="1" dirty="0">
                  <a:solidFill>
                    <a:srgbClr val="404040"/>
                  </a:solidFill>
                </a:rPr>
                <a:t>Two things track, and a third usually drives both.</a:t>
              </a:r>
            </a:p>
          </p:txBody>
        </p:sp>
        <p:sp>
          <p:nvSpPr>
            <p:cNvPr id="95" name="Tagline">
              <a:extLst>
                <a:ext uri="{FF2B5EF4-FFF2-40B4-BE49-F238E27FC236}">
                  <a16:creationId xmlns:a16="http://schemas.microsoft.com/office/drawing/2014/main" id="{6D74C8DC-CDBB-EE4C-BA2A-F94E81E7ED83}"/>
                </a:ext>
              </a:extLst>
            </p:cNvPr>
            <p:cNvSpPr txBox="1"/>
            <p:nvPr/>
          </p:nvSpPr>
          <p:spPr>
            <a:xfrm>
              <a:off x="1652314" y="4508203"/>
              <a:ext cx="8890000" cy="304800"/>
            </a:xfrm>
            <a:prstGeom prst="rect">
              <a:avLst/>
            </a:prstGeom>
            <a:noFill/>
          </p:spPr>
          <p:txBody>
            <a:bodyPr vertOverflow="overflow" vert="horz" wrap="square" rtlCol="0" anchor="t" anchorCtr="0">
              <a:spAutoFit/>
            </a:bodyPr>
            <a:lstStyle/>
            <a:p>
              <a:pPr algn="l"/>
              <a:r>
                <a:rPr lang="en-US" sz="2000" i="1" dirty="0">
                  <a:solidFill>
                    <a:srgbClr val="15686B"/>
                  </a:solidFill>
                </a:rPr>
                <a:t>Once you see them, you can’t unsee them.</a:t>
              </a:r>
            </a:p>
          </p:txBody>
        </p:sp>
      </p:grpSp>
    </p:spTree>
    <p:extLst>
      <p:ext uri="{BB962C8B-B14F-4D97-AF65-F5344CB8AC3E}">
        <p14:creationId xmlns:p14="http://schemas.microsoft.com/office/powerpoint/2010/main" val="23757564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9079992" y="3749040"/>
            <a:ext cx="4572000" cy="4572000"/>
          </a:xfrm>
          <a:prstGeom prst="ellipse">
            <a:avLst/>
          </a:prstGeom>
          <a:solidFill>
            <a:srgbClr val="C2683F">
              <a:alpha val="10000"/>
            </a:srgbClr>
          </a:solidFill>
          <a:ln/>
        </p:spPr>
        <p:txBody>
          <a:bodyPr/>
          <a:lstStyle/>
          <a:p>
            <a:endParaRPr lang="en-US"/>
          </a:p>
        </p:txBody>
      </p:sp>
      <p:sp>
        <p:nvSpPr>
          <p:cNvPr id="3" name="Shape 1"/>
          <p:cNvSpPr/>
          <p:nvPr/>
        </p:nvSpPr>
        <p:spPr>
          <a:xfrm>
            <a:off x="10360152" y="2834640"/>
            <a:ext cx="2011680" cy="2011680"/>
          </a:xfrm>
          <a:prstGeom prst="ellipse">
            <a:avLst/>
          </a:prstGeom>
          <a:solidFill>
            <a:srgbClr val="15686B">
              <a:alpha val="8000"/>
            </a:srgbClr>
          </a:solidFill>
          <a:ln/>
        </p:spPr>
        <p:txBody>
          <a:bodyPr/>
          <a:lstStyle/>
          <a:p>
            <a:endParaRPr lang="en-US"/>
          </a:p>
        </p:txBody>
      </p:sp>
      <p:sp>
        <p:nvSpPr>
          <p:cNvPr id="4" name="Shape 2"/>
          <p:cNvSpPr/>
          <p:nvPr/>
        </p:nvSpPr>
        <p:spPr>
          <a:xfrm>
            <a:off x="685800" y="1371600"/>
            <a:ext cx="868680" cy="868680"/>
          </a:xfrm>
          <a:prstGeom prst="ellipse">
            <a:avLst/>
          </a:prstGeom>
          <a:solidFill>
            <a:srgbClr val="C2683F"/>
          </a:solidFill>
          <a:ln/>
        </p:spPr>
        <p:txBody>
          <a:bodyPr/>
          <a:lstStyle/>
          <a:p>
            <a:endParaRPr lang="en-US"/>
          </a:p>
        </p:txBody>
      </p:sp>
      <p:pic>
        <p:nvPicPr>
          <p:cNvPr id="5" name="Image 0" descr="/home/claude/assets/emblem.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0849" y="1536649"/>
            <a:ext cx="538582" cy="538582"/>
          </a:xfrm>
          <a:prstGeom prst="rect">
            <a:avLst/>
          </a:prstGeom>
        </p:spPr>
      </p:pic>
      <p:sp>
        <p:nvSpPr>
          <p:cNvPr id="6" name="Text 3"/>
          <p:cNvSpPr/>
          <p:nvPr/>
        </p:nvSpPr>
        <p:spPr>
          <a:xfrm>
            <a:off x="685800" y="2514600"/>
            <a:ext cx="9875520" cy="1371600"/>
          </a:xfrm>
          <a:prstGeom prst="rect">
            <a:avLst/>
          </a:prstGeom>
          <a:noFill/>
          <a:ln/>
        </p:spPr>
        <p:txBody>
          <a:bodyPr wrap="square" lIns="0" tIns="0" rIns="0" bIns="0" rtlCol="0" anchor="ctr"/>
          <a:lstStyle/>
          <a:p>
            <a:pPr marL="0" indent="0" algn="l">
              <a:buNone/>
            </a:pPr>
            <a:r>
              <a:rPr lang="en-US" sz="5000" b="1" dirty="0">
                <a:solidFill>
                  <a:srgbClr val="262320"/>
                </a:solidFill>
                <a:latin typeface="Bookman Old Style" pitchFamily="34" charset="0"/>
                <a:ea typeface="Bookman Old Style" pitchFamily="34" charset="-122"/>
                <a:cs typeface="Bookman Old Style" pitchFamily="34" charset="-120"/>
              </a:rPr>
              <a:t>Questions, and a conversation</a:t>
            </a:r>
            <a:endParaRPr lang="en-US" sz="5000" dirty="0"/>
          </a:p>
        </p:txBody>
      </p:sp>
      <p:sp>
        <p:nvSpPr>
          <p:cNvPr id="7" name="Text 4"/>
          <p:cNvSpPr/>
          <p:nvPr/>
        </p:nvSpPr>
        <p:spPr>
          <a:xfrm>
            <a:off x="685800" y="4114800"/>
            <a:ext cx="10058400" cy="457200"/>
          </a:xfrm>
          <a:prstGeom prst="rect">
            <a:avLst/>
          </a:prstGeom>
          <a:noFill/>
          <a:ln/>
        </p:spPr>
        <p:txBody>
          <a:bodyPr wrap="square" lIns="0" tIns="0" rIns="0" bIns="0" rtlCol="0" anchor="ctr"/>
          <a:lstStyle/>
          <a:p>
            <a:pPr marL="0" indent="0" algn="l">
              <a:buNone/>
            </a:pPr>
            <a:r>
              <a:rPr lang="en-US" sz="2200" b="1" dirty="0">
                <a:solidFill>
                  <a:srgbClr val="262320"/>
                </a:solidFill>
                <a:latin typeface="Calibri" pitchFamily="34" charset="0"/>
                <a:ea typeface="Calibri" pitchFamily="34" charset="-122"/>
                <a:cs typeface="Calibri" pitchFamily="34" charset="-120"/>
              </a:rPr>
              <a:t>Murray Cantor PhD</a:t>
            </a:r>
            <a:r>
              <a:rPr lang="en-US" sz="2200" dirty="0">
                <a:solidFill>
                  <a:srgbClr val="8A8076"/>
                </a:solidFill>
                <a:latin typeface="Calibri" pitchFamily="34" charset="0"/>
                <a:ea typeface="Calibri" pitchFamily="34" charset="-122"/>
                <a:cs typeface="Calibri" pitchFamily="34" charset="-120"/>
              </a:rPr>
              <a:t>      </a:t>
            </a:r>
            <a:r>
              <a:rPr lang="en-US" sz="2200" dirty="0" err="1">
                <a:solidFill>
                  <a:srgbClr val="8A8076"/>
                </a:solidFill>
                <a:latin typeface="Calibri" pitchFamily="34" charset="0"/>
                <a:ea typeface="Calibri" pitchFamily="34" charset="-122"/>
                <a:cs typeface="Calibri" pitchFamily="34" charset="-120"/>
              </a:rPr>
              <a:t>murray@murraycantor.com</a:t>
            </a:r>
            <a:endParaRPr lang="en-US" sz="2200" dirty="0"/>
          </a:p>
        </p:txBody>
      </p:sp>
      <p:sp>
        <p:nvSpPr>
          <p:cNvPr id="8" name="Text 4">
            <a:extLst>
              <a:ext uri="{FF2B5EF4-FFF2-40B4-BE49-F238E27FC236}">
                <a16:creationId xmlns:a16="http://schemas.microsoft.com/office/drawing/2014/main" id="{525C5454-4728-2B5E-FBFD-5DD5FF3624A4}"/>
              </a:ext>
            </a:extLst>
          </p:cNvPr>
          <p:cNvSpPr/>
          <p:nvPr/>
        </p:nvSpPr>
        <p:spPr>
          <a:xfrm>
            <a:off x="685800" y="4800600"/>
            <a:ext cx="10058400" cy="457200"/>
          </a:xfrm>
          <a:prstGeom prst="rect">
            <a:avLst/>
          </a:prstGeom>
          <a:noFill/>
          <a:ln/>
        </p:spPr>
        <p:txBody>
          <a:bodyPr wrap="square" lIns="0" tIns="0" rIns="0" bIns="0" rtlCol="0" anchor="ctr"/>
          <a:lstStyle/>
          <a:p>
            <a:r>
              <a:rPr lang="en-US" sz="2200" b="1" dirty="0">
                <a:solidFill>
                  <a:srgbClr val="262320"/>
                </a:solidFill>
                <a:latin typeface="Calibri" pitchFamily="34" charset="0"/>
                <a:ea typeface="Calibri" pitchFamily="34" charset="-122"/>
                <a:cs typeface="Calibri" pitchFamily="34" charset="-120"/>
              </a:rPr>
              <a:t>Joel Keenan MD </a:t>
            </a:r>
            <a:r>
              <a:rPr lang="en-US" sz="2200" dirty="0">
                <a:solidFill>
                  <a:srgbClr val="8A8076"/>
                </a:solidFill>
                <a:latin typeface="Calibri" pitchFamily="34" charset="0"/>
                <a:ea typeface="Calibri" pitchFamily="34" charset="-122"/>
                <a:cs typeface="Calibri" pitchFamily="34" charset="-120"/>
              </a:rPr>
              <a:t>	</a:t>
            </a:r>
            <a:r>
              <a:rPr lang="en-US" sz="2200" dirty="0" err="1">
                <a:solidFill>
                  <a:srgbClr val="8A8076"/>
                </a:solidFill>
                <a:latin typeface="Calibri" pitchFamily="34" charset="0"/>
                <a:ea typeface="Calibri" pitchFamily="34" charset="-122"/>
                <a:cs typeface="Calibri" pitchFamily="34" charset="-120"/>
              </a:rPr>
              <a:t>drkeenan@mdvip.com</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lthy_Skepticism_template" id="{A475EFBF-EC16-804F-804C-E378F4DD18F0}" vid="{6A4D0C99-FC8E-6640-8839-28A56828CE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4ECEDE5C-0805-304A-84E1-7603506FB6F1}">
  <we:reference id="wa200010001" version="1.0.0.1" store="en-US" storeType="OMEX"/>
  <we:alternateReferences>
    <we:reference id="WA200010001" version="1.0.0.1" store="WA200010001" storeType="OMEX"/>
  </we:alternateReferences>
  <we:properties>
    <we:property name="claude.fileId" value="&quot;a7861329-2e06-4a86-8236-388c24162ff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F51CC192-F50A-3F41-AE91-C225F640879A}">
  <we:reference id="wa200010725" version="1.0.0.1" store="en-US" storeType="OMEX"/>
  <we:alternateReferences>
    <we:reference id="wa200010725" version="1.0.0.1" store="WA200010725" storeType="OMEX"/>
  </we:alternateReferences>
  <we:properties>
    <we:property name="claude.fileId" value="&quot;2a9c50b0-bb74-477e-99bc-7d03fbba4a5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21899</TotalTime>
  <Words>4250</Words>
  <Application>Microsoft Macintosh PowerPoint</Application>
  <PresentationFormat>Widescreen</PresentationFormat>
  <Paragraphs>307</Paragraphs>
  <Slides>30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Bookman Old Style</vt:lpstr>
      <vt:lpstr>Calibri</vt:lpstr>
      <vt:lpstr>Office Theme</vt:lpstr>
      <vt:lpstr>PowerPoint Presentation</vt:lpstr>
      <vt:lpstr>About Us</vt:lpstr>
      <vt:lpstr>Disclaimer</vt:lpstr>
      <vt:lpstr>The Five Faults</vt:lpstr>
      <vt:lpstr>PowerPoint Presentation</vt:lpstr>
      <vt:lpstr>A Positive Correlation: Two Things That Move Together</vt:lpstr>
      <vt:lpstr>How Tight Is the Pattern? Strong and Weak Correlations</vt:lpstr>
      <vt:lpstr>Three Explanations for a Strong Correlation</vt:lpstr>
      <vt:lpstr>Case 1: Pure Coincidence, Nothing Behind the Correlation</vt:lpstr>
      <vt:lpstr>Coincidence: Saturn and Physical Science Degrees</vt:lpstr>
      <vt:lpstr>Coincidence: Cheese and BlackRock's Share Price</vt:lpstr>
      <vt:lpstr>What Both Charts Are Missing: A Population</vt:lpstr>
      <vt:lpstr>Case 2: Confounders, a Third Factor Drives Both</vt:lpstr>
      <vt:lpstr>Reading the Diagram: Boxes, Arrows, Crossed Arrows</vt:lpstr>
      <vt:lpstr>The Claim: Statins Prevent Car Crashes</vt:lpstr>
      <vt:lpstr>Faithful Takers of a Sugar Pill: The Coronary Drug Project</vt:lpstr>
      <vt:lpstr>The Claim: Bird Watching Prevents Dementia</vt:lpstr>
      <vt:lpstr>Three Candidates for the Bird Watching Correlation</vt:lpstr>
      <vt:lpstr>What Explains the Bird Watching Data Instead</vt:lpstr>
      <vt:lpstr>The Claim: Vaccines Cause Autism</vt:lpstr>
      <vt:lpstr>The Autism Count Measures a Moving Category</vt:lpstr>
      <vt:lpstr>The Studies That Settled It: Child Against Child, Same Era</vt:lpstr>
      <vt:lpstr>Case 3: A Genuine Cause, Smoking and Lung Cancer</vt:lpstr>
      <vt:lpstr>Fisher's Objection: Perhaps a Gene Causes Both</vt:lpstr>
      <vt:lpstr>Lung Cancer in One Hundred British Men, Around 1950</vt:lpstr>
      <vt:lpstr>How Big Would Fisher's Gene Have to Be?</vt:lpstr>
      <vt:lpstr>Calling Something a Cause Takes More Than a Correlation</vt:lpstr>
      <vt:lpstr>The Whole Day in Three Questions</vt:lpstr>
      <vt:lpstr>The Course Topics and Takeaways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PptxGenJS Presentation</dc:subject>
  <dc:creator>Murray Cantor</dc:creator>
  <cp:lastModifiedBy>Murray Cantor</cp:lastModifiedBy>
  <cp:revision>53</cp:revision>
  <cp:lastPrinted>2026-06-18T15:28:25Z</cp:lastPrinted>
  <dcterms:created xsi:type="dcterms:W3CDTF">2026-06-10T15:36:34Z</dcterms:created>
  <dcterms:modified xsi:type="dcterms:W3CDTF">2026-08-20T21:55:25Z</dcterms:modified>
</cp:coreProperties>
</file>