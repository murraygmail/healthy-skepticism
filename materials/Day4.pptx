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75" r:id="rId2"/>
    <p:sldId id="378" r:id="rId3"/>
    <p:sldId id="414" r:id="rId4"/>
    <p:sldId id="442" r:id="rId5"/>
    <p:sldId id="456" r:id="rId6"/>
    <p:sldId id="517" r:id="rId7"/>
    <p:sldId id="477" r:id="rId8"/>
    <p:sldId id="501" r:id="rId9"/>
    <p:sldId id="475" r:id="rId10"/>
    <p:sldId id="476" r:id="rId11"/>
    <p:sldId id="506" r:id="rId12"/>
    <p:sldId id="502" r:id="rId13"/>
    <p:sldId id="503" r:id="rId14"/>
    <p:sldId id="507" r:id="rId15"/>
    <p:sldId id="452" r:id="rId16"/>
    <p:sldId id="504" r:id="rId17"/>
    <p:sldId id="455" r:id="rId18"/>
    <p:sldId id="505" r:id="rId19"/>
    <p:sldId id="508" r:id="rId20"/>
    <p:sldId id="509" r:id="rId21"/>
    <p:sldId id="510" r:id="rId22"/>
    <p:sldId id="534" r:id="rId23"/>
    <p:sldId id="522" r:id="rId24"/>
    <p:sldId id="521" r:id="rId25"/>
    <p:sldId id="262" r:id="rId26"/>
    <p:sldId id="411" r:id="rId27"/>
    <p:sldId id="511" r:id="rId28"/>
    <p:sldId id="512" r:id="rId29"/>
    <p:sldId id="513" r:id="rId30"/>
    <p:sldId id="514"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9DDD94B-1509-DCC6-97CA-BFFAFB482CC6}" name="Murray Cantor" initials="MC" userId="S::contact@murraycantor.com::4c14c09f-f573-4990-929e-1c221c9daca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68"/>
    <p:restoredTop sz="86438"/>
  </p:normalViewPr>
  <p:slideViewPr>
    <p:cSldViewPr snapToGrid="0" snapToObjects="1">
      <p:cViewPr varScale="1">
        <p:scale>
          <a:sx n="73" d="100"/>
          <a:sy n="73" d="100"/>
        </p:scale>
        <p:origin x="208" y="96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600" b="1"/>
            </a:pPr>
            <a:r>
              <a:rPr lang="en-US" sz="1600" b="1"/>
              <a:t>Two Series Moving Together</a:t>
            </a:r>
          </a:p>
        </c:rich>
      </c:tx>
      <c:overlay val="0"/>
    </c:title>
    <c:autoTitleDeleted val="0"/>
    <c:plotArea>
      <c:layout/>
      <c:lineChart>
        <c:grouping val="standard"/>
        <c:varyColors val="0"/>
        <c:ser>
          <c:idx val="0"/>
          <c:order val="0"/>
          <c:tx>
            <c:strRef>
              <c:f>A</c:f>
              <c:strCache>
                <c:ptCount val="1"/>
                <c:pt idx="0">
                  <c:v>Measure A</c:v>
                </c:pt>
              </c:strCache>
            </c:strRef>
          </c:tx>
          <c:spPr>
            <a:ln w="28575" cap="rnd">
              <a:solidFill>
                <a:srgbClr val="C2683F"/>
              </a:solidFill>
              <a:round/>
            </a:ln>
            <a:effectLst/>
          </c:spPr>
          <c:marker>
            <c:symbol val="circle"/>
            <c:size val="6"/>
            <c:spPr>
              <a:solidFill>
                <a:srgbClr val="C2683F"/>
              </a:solidFill>
              <a:ln>
                <a:solidFill>
                  <a:srgbClr val="C2683F"/>
                </a:solidFill>
              </a:ln>
            </c:spPr>
          </c:marker>
          <c:cat>
            <c:strLit>
              <c:ptCount val="10"/>
              <c:pt idx="0">
                <c:v>1</c:v>
              </c:pt>
              <c:pt idx="1">
                <c:v>2</c:v>
              </c:pt>
              <c:pt idx="2">
                <c:v>3</c:v>
              </c:pt>
              <c:pt idx="3">
                <c:v>4</c:v>
              </c:pt>
              <c:pt idx="4">
                <c:v>5</c:v>
              </c:pt>
              <c:pt idx="5">
                <c:v>6</c:v>
              </c:pt>
              <c:pt idx="6">
                <c:v>7</c:v>
              </c:pt>
              <c:pt idx="7">
                <c:v>8</c:v>
              </c:pt>
              <c:pt idx="8">
                <c:v>9</c:v>
              </c:pt>
              <c:pt idx="9">
                <c:v>10</c:v>
              </c:pt>
            </c:strLit>
          </c:cat>
          <c:val>
            <c:numLit>
              <c:formatCode>General</c:formatCode>
              <c:ptCount val="10"/>
              <c:pt idx="0">
                <c:v>22</c:v>
              </c:pt>
              <c:pt idx="1">
                <c:v>28</c:v>
              </c:pt>
              <c:pt idx="2">
                <c:v>26</c:v>
              </c:pt>
              <c:pt idx="3">
                <c:v>34</c:v>
              </c:pt>
              <c:pt idx="4">
                <c:v>39</c:v>
              </c:pt>
              <c:pt idx="5">
                <c:v>37</c:v>
              </c:pt>
              <c:pt idx="6">
                <c:v>45</c:v>
              </c:pt>
              <c:pt idx="7">
                <c:v>49</c:v>
              </c:pt>
              <c:pt idx="8">
                <c:v>47</c:v>
              </c:pt>
              <c:pt idx="9">
                <c:v>54</c:v>
              </c:pt>
            </c:numLit>
          </c:val>
          <c:smooth val="0"/>
          <c:extLst>
            <c:ext xmlns:c16="http://schemas.microsoft.com/office/drawing/2014/chart" uri="{C3380CC4-5D6E-409C-BE32-E72D297353CC}">
              <c16:uniqueId val="{00000000-2FC4-7A45-AD67-8C966B5C0DB4}"/>
            </c:ext>
          </c:extLst>
        </c:ser>
        <c:ser>
          <c:idx val="1"/>
          <c:order val="1"/>
          <c:tx>
            <c:strRef>
              <c:f>B</c:f>
              <c:strCache>
                <c:ptCount val="1"/>
                <c:pt idx="0">
                  <c:v>Measure B</c:v>
                </c:pt>
              </c:strCache>
            </c:strRef>
          </c:tx>
          <c:spPr>
            <a:ln w="28575" cap="rnd">
              <a:solidFill>
                <a:srgbClr val="1F3864"/>
              </a:solidFill>
              <a:round/>
            </a:ln>
            <a:effectLst/>
          </c:spPr>
          <c:marker>
            <c:symbol val="circle"/>
            <c:size val="6"/>
            <c:spPr>
              <a:solidFill>
                <a:srgbClr val="1F3864"/>
              </a:solidFill>
              <a:ln>
                <a:solidFill>
                  <a:srgbClr val="1F3864"/>
                </a:solidFill>
              </a:ln>
            </c:spPr>
          </c:marker>
          <c:cat>
            <c:strLit>
              <c:ptCount val="10"/>
              <c:pt idx="0">
                <c:v>1</c:v>
              </c:pt>
              <c:pt idx="1">
                <c:v>2</c:v>
              </c:pt>
              <c:pt idx="2">
                <c:v>3</c:v>
              </c:pt>
              <c:pt idx="3">
                <c:v>4</c:v>
              </c:pt>
              <c:pt idx="4">
                <c:v>5</c:v>
              </c:pt>
              <c:pt idx="5">
                <c:v>6</c:v>
              </c:pt>
              <c:pt idx="6">
                <c:v>7</c:v>
              </c:pt>
              <c:pt idx="7">
                <c:v>8</c:v>
              </c:pt>
              <c:pt idx="8">
                <c:v>9</c:v>
              </c:pt>
              <c:pt idx="9">
                <c:v>10</c:v>
              </c:pt>
            </c:strLit>
          </c:cat>
          <c:val>
            <c:numLit>
              <c:formatCode>General</c:formatCode>
              <c:ptCount val="10"/>
              <c:pt idx="0">
                <c:v>31</c:v>
              </c:pt>
              <c:pt idx="1">
                <c:v>35</c:v>
              </c:pt>
              <c:pt idx="2">
                <c:v>34</c:v>
              </c:pt>
              <c:pt idx="3">
                <c:v>42</c:v>
              </c:pt>
              <c:pt idx="4">
                <c:v>48</c:v>
              </c:pt>
              <c:pt idx="5">
                <c:v>45</c:v>
              </c:pt>
              <c:pt idx="6">
                <c:v>52</c:v>
              </c:pt>
              <c:pt idx="7">
                <c:v>58</c:v>
              </c:pt>
              <c:pt idx="8">
                <c:v>55</c:v>
              </c:pt>
              <c:pt idx="9">
                <c:v>63</c:v>
              </c:pt>
            </c:numLit>
          </c:val>
          <c:smooth val="0"/>
          <c:extLst>
            <c:ext xmlns:c16="http://schemas.microsoft.com/office/drawing/2014/chart" uri="{C3380CC4-5D6E-409C-BE32-E72D297353CC}">
              <c16:uniqueId val="{00000001-2FC4-7A45-AD67-8C966B5C0DB4}"/>
            </c:ext>
          </c:extLst>
        </c:ser>
        <c:dLbls>
          <c:showLegendKey val="0"/>
          <c:showVal val="0"/>
          <c:showCatName val="0"/>
          <c:showSerName val="0"/>
          <c:showPercent val="0"/>
          <c:showBubbleSize val="0"/>
        </c:dLbls>
        <c:marker val="1"/>
        <c:smooth val="0"/>
        <c:axId val="111111111"/>
        <c:axId val="222222222"/>
      </c:lineChart>
      <c:catAx>
        <c:axId val="111111111"/>
        <c:scaling>
          <c:orientation val="minMax"/>
        </c:scaling>
        <c:delete val="0"/>
        <c:axPos val="b"/>
        <c:title>
          <c:tx>
            <c:rich>
              <a:bodyPr/>
              <a:lstStyle/>
              <a:p>
                <a:pPr>
                  <a:defRPr sz="1400"/>
                </a:pPr>
                <a:r>
                  <a:rPr lang="en-US" sz="1400"/>
                  <a:t>Time period</a:t>
                </a:r>
              </a:p>
            </c:rich>
          </c:tx>
          <c:overlay val="0"/>
        </c:title>
        <c:numFmt formatCode="General" sourceLinked="0"/>
        <c:majorTickMark val="none"/>
        <c:minorTickMark val="none"/>
        <c:tickLblPos val="nextTo"/>
        <c:txPr>
          <a:bodyPr/>
          <a:lstStyle/>
          <a:p>
            <a:pPr>
              <a:defRPr sz="1400"/>
            </a:pPr>
            <a:endParaRPr lang="en-US"/>
          </a:p>
        </c:txPr>
        <c:crossAx val="222222222"/>
        <c:crosses val="autoZero"/>
        <c:auto val="1"/>
        <c:lblAlgn val="ctr"/>
        <c:lblOffset val="100"/>
        <c:noMultiLvlLbl val="1"/>
      </c:catAx>
      <c:valAx>
        <c:axId val="222222222"/>
        <c:scaling>
          <c:orientation val="minMax"/>
        </c:scaling>
        <c:delete val="0"/>
        <c:axPos val="l"/>
        <c:majorGridlines/>
        <c:numFmt formatCode="General" sourceLinked="1"/>
        <c:majorTickMark val="out"/>
        <c:minorTickMark val="none"/>
        <c:tickLblPos val="nextTo"/>
        <c:txPr>
          <a:bodyPr/>
          <a:lstStyle/>
          <a:p>
            <a:pPr>
              <a:defRPr sz="1400"/>
            </a:pPr>
            <a:endParaRPr lang="en-US"/>
          </a:p>
        </c:txPr>
        <c:crossAx val="111111111"/>
        <c:crosses val="autoZero"/>
        <c:crossBetween val="between"/>
      </c:valAx>
    </c:plotArea>
    <c:legend>
      <c:legendPos val="t"/>
      <c:overlay val="0"/>
      <c:txPr>
        <a:bodyPr/>
        <a:lstStyle/>
        <a:p>
          <a:pPr>
            <a:defRPr sz="1400"/>
          </a:pPr>
          <a:endParaRPr lang="en-US"/>
        </a:p>
      </c:txPr>
    </c:legend>
    <c:plotVisOnly val="1"/>
    <c:dispBlanksAs val="zero"/>
    <c:showDLblsOverMax val="1"/>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600" b="1">
                <a:solidFill>
                  <a:srgbClr val="15686B"/>
                </a:solidFill>
                <a:latin typeface="Calibri"/>
              </a:defRPr>
            </a:pPr>
            <a:r>
              <a:rPr lang="en-US" sz="1600" b="1">
                <a:solidFill>
                  <a:srgbClr val="15686B"/>
                </a:solidFill>
                <a:latin typeface="Calibri"/>
              </a:rPr>
              <a:t>Performance vs. Target</a:t>
            </a:r>
          </a:p>
        </c:rich>
      </c:tx>
      <c:overlay val="0"/>
    </c:title>
    <c:autoTitleDeleted val="0"/>
    <c:plotArea>
      <c:layout/>
      <c:barChart>
        <c:barDir val="bar"/>
        <c:grouping val="stacked"/>
        <c:varyColors val="0"/>
        <c:ser>
          <c:idx val="0"/>
          <c:order val="0"/>
          <c:tx>
            <c:strRef>
              <c:f>Sheet1!$A$2</c:f>
              <c:strCache>
                <c:ptCount val="1"/>
                <c:pt idx="0">
                  <c:v>Range: Low</c:v>
                </c:pt>
              </c:strCache>
            </c:strRef>
          </c:tx>
          <c:spPr>
            <a:solidFill>
              <a:srgbClr val="E2E8E8"/>
            </a:solidFill>
            <a:ln>
              <a:noFill/>
            </a:ln>
          </c:spPr>
          <c:invertIfNegative val="1"/>
          <c:cat>
            <c:strLit>
              <c:ptCount val="4"/>
              <c:pt idx="0">
                <c:v>Revenue</c:v>
              </c:pt>
              <c:pt idx="1">
                <c:v>Margin</c:v>
              </c:pt>
              <c:pt idx="2">
                <c:v>Retention</c:v>
              </c:pt>
              <c:pt idx="3">
                <c:v>NPS</c:v>
              </c:pt>
            </c:strLit>
          </c:cat>
          <c:val>
            <c:numLit>
              <c:formatCode>General</c:formatCode>
              <c:ptCount val="4"/>
              <c:pt idx="0">
                <c:v>40</c:v>
              </c:pt>
              <c:pt idx="1">
                <c:v>40</c:v>
              </c:pt>
              <c:pt idx="2">
                <c:v>40</c:v>
              </c:pt>
              <c:pt idx="3">
                <c:v>40</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68AE-F54B-9E91-201DDFCF08B9}"/>
            </c:ext>
          </c:extLst>
        </c:ser>
        <c:ser>
          <c:idx val="1"/>
          <c:order val="1"/>
          <c:tx>
            <c:strRef>
              <c:f>Sheet1!$A$3</c:f>
              <c:strCache>
                <c:ptCount val="1"/>
                <c:pt idx="0">
                  <c:v>Range: Mid</c:v>
                </c:pt>
              </c:strCache>
            </c:strRef>
          </c:tx>
          <c:spPr>
            <a:solidFill>
              <a:srgbClr val="C9D6D6"/>
            </a:solidFill>
            <a:ln>
              <a:noFill/>
            </a:ln>
          </c:spPr>
          <c:invertIfNegative val="1"/>
          <c:cat>
            <c:strLit>
              <c:ptCount val="4"/>
              <c:pt idx="0">
                <c:v>Revenue</c:v>
              </c:pt>
              <c:pt idx="1">
                <c:v>Margin</c:v>
              </c:pt>
              <c:pt idx="2">
                <c:v>Retention</c:v>
              </c:pt>
              <c:pt idx="3">
                <c:v>NPS</c:v>
              </c:pt>
            </c:strLit>
          </c:cat>
          <c:val>
            <c:numLit>
              <c:formatCode>General</c:formatCode>
              <c:ptCount val="4"/>
              <c:pt idx="0">
                <c:v>25</c:v>
              </c:pt>
              <c:pt idx="1">
                <c:v>25</c:v>
              </c:pt>
              <c:pt idx="2">
                <c:v>25</c:v>
              </c:pt>
              <c:pt idx="3">
                <c:v>25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68AE-F54B-9E91-201DDFCF08B9}"/>
            </c:ext>
          </c:extLst>
        </c:ser>
        <c:ser>
          <c:idx val="2"/>
          <c:order val="2"/>
          <c:tx>
            <c:strRef>
              <c:f>Sheet1!$A$4</c:f>
              <c:strCache>
                <c:ptCount val="1"/>
                <c:pt idx="0">
                  <c:v>Range: High</c:v>
                </c:pt>
              </c:strCache>
            </c:strRef>
          </c:tx>
          <c:spPr>
            <a:solidFill>
              <a:srgbClr val="AEC4C4"/>
            </a:solidFill>
            <a:ln>
              <a:noFill/>
            </a:ln>
          </c:spPr>
          <c:invertIfNegative val="1"/>
          <c:cat>
            <c:strLit>
              <c:ptCount val="4"/>
              <c:pt idx="0">
                <c:v>Revenue</c:v>
              </c:pt>
              <c:pt idx="1">
                <c:v>Margin</c:v>
              </c:pt>
              <c:pt idx="2">
                <c:v>Retention</c:v>
              </c:pt>
              <c:pt idx="3">
                <c:v>NPS</c:v>
              </c:pt>
            </c:strLit>
          </c:cat>
          <c:val>
            <c:numLit>
              <c:formatCode>General</c:formatCode>
              <c:ptCount val="4"/>
              <c:pt idx="0">
                <c:v>35</c:v>
              </c:pt>
              <c:pt idx="1">
                <c:v>35</c:v>
              </c:pt>
              <c:pt idx="2">
                <c:v>35</c:v>
              </c:pt>
              <c:pt idx="3">
                <c:v>35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68AE-F54B-9E91-201DDFCF08B9}"/>
            </c:ext>
          </c:extLst>
        </c:ser>
        <c:dLbls>
          <c:showLegendKey val="0"/>
          <c:showVal val="0"/>
          <c:showCatName val="0"/>
          <c:showSerName val="0"/>
          <c:showPercent val="0"/>
          <c:showBubbleSize val="0"/>
        </c:dLbls>
        <c:gapWidth val="60"/>
        <c:overlap val="100"/>
        <c:axId val="111"/>
        <c:axId val="222"/>
      </c:barChart>
      <c:barChart>
        <c:barDir val="bar"/>
        <c:grouping val="clustered"/>
        <c:varyColors val="0"/>
        <c:ser>
          <c:idx val="3"/>
          <c:order val="3"/>
          <c:tx>
            <c:strRef>
              <c:f>Sheet1!$A$5</c:f>
              <c:strCache>
                <c:ptCount val="1"/>
                <c:pt idx="0">
                  <c:v>Actual</c:v>
                </c:pt>
              </c:strCache>
            </c:strRef>
          </c:tx>
          <c:spPr>
            <a:solidFill>
              <a:srgbClr val="15686B"/>
            </a:solidFill>
            <a:ln>
              <a:noFill/>
            </a:ln>
          </c:spPr>
          <c:invertIfNegative val="1"/>
          <c:dLbls>
            <c:spPr>
              <a:noFill/>
              <a:ln>
                <a:noFill/>
              </a:ln>
            </c:spPr>
            <c:txPr>
              <a:bodyPr/>
              <a:lstStyle/>
              <a:p>
                <a:pPr>
                  <a:defRPr sz="1400" b="1">
                    <a:solidFill>
                      <a:srgbClr val="FFFFFF"/>
                    </a:solidFill>
                    <a:latin typeface="Calibri"/>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Revenue</c:v>
              </c:pt>
              <c:pt idx="1">
                <c:v>Margin</c:v>
              </c:pt>
              <c:pt idx="2">
                <c:v>Retention</c:v>
              </c:pt>
              <c:pt idx="3">
                <c:v>NPS</c:v>
              </c:pt>
            </c:strLit>
          </c:cat>
          <c:val>
            <c:numLit>
              <c:formatCode>General</c:formatCode>
              <c:ptCount val="4"/>
              <c:pt idx="0">
                <c:v>78</c:v>
              </c:pt>
              <c:pt idx="1">
                <c:v>62</c:v>
              </c:pt>
              <c:pt idx="2">
                <c:v>91</c:v>
              </c:pt>
              <c:pt idx="3">
                <c:v>55</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3-68AE-F54B-9E91-201DDFCF08B9}"/>
            </c:ext>
          </c:extLst>
        </c:ser>
        <c:dLbls>
          <c:showLegendKey val="0"/>
          <c:showVal val="0"/>
          <c:showCatName val="0"/>
          <c:showSerName val="0"/>
          <c:showPercent val="0"/>
          <c:showBubbleSize val="0"/>
        </c:dLbls>
        <c:gapWidth val="260"/>
        <c:overlap val="-20"/>
        <c:axId val="111"/>
        <c:axId val="222"/>
      </c:barChart>
      <c:scatterChart>
        <c:scatterStyle val="lineMarker"/>
        <c:varyColors val="0"/>
        <c:ser>
          <c:idx val="4"/>
          <c:order val="4"/>
          <c:tx>
            <c:strRef>
              <c:f>Sheet1!$A$6</c:f>
              <c:strCache>
                <c:ptCount val="1"/>
                <c:pt idx="0">
                  <c:v>Target</c:v>
                </c:pt>
              </c:strCache>
            </c:strRef>
          </c:tx>
          <c:spPr>
            <a:ln w="0">
              <a:noFill/>
            </a:ln>
          </c:spPr>
          <c:marker>
            <c:symbol val="dash"/>
            <c:size val="17"/>
            <c:spPr>
              <a:solidFill>
                <a:srgbClr val="C2683F"/>
              </a:solidFill>
              <a:ln w="28575">
                <a:solidFill>
                  <a:srgbClr val="C2683F"/>
                </a:solidFill>
              </a:ln>
            </c:spPr>
          </c:marker>
          <c:xVal>
            <c:numLit>
              <c:formatCode>General</c:formatCode>
              <c:ptCount val="4"/>
              <c:pt idx="0">
                <c:v>85</c:v>
              </c:pt>
              <c:pt idx="1">
                <c:v>70</c:v>
              </c:pt>
              <c:pt idx="2">
                <c:v>80</c:v>
              </c:pt>
              <c:pt idx="3">
                <c:v>65</c:v>
              </c:pt>
            </c:numLit>
          </c:xVal>
          <c:yVal>
            <c:numLit>
              <c:formatCode>General</c:formatCode>
              <c:ptCount val="4"/>
              <c:pt idx="0">
                <c:v>1</c:v>
              </c:pt>
              <c:pt idx="1">
                <c:v>2</c:v>
              </c:pt>
              <c:pt idx="2">
                <c:v>3</c:v>
              </c:pt>
              <c:pt idx="3">
                <c:v>4</c:v>
              </c:pt>
            </c:numLit>
          </c:yVal>
          <c:smooth val="0"/>
          <c:extLst>
            <c:ext xmlns:c16="http://schemas.microsoft.com/office/drawing/2014/chart" uri="{C3380CC4-5D6E-409C-BE32-E72D297353CC}">
              <c16:uniqueId val="{00000004-68AE-F54B-9E91-201DDFCF08B9}"/>
            </c:ext>
          </c:extLst>
        </c:ser>
        <c:dLbls>
          <c:showLegendKey val="0"/>
          <c:showVal val="0"/>
          <c:showCatName val="0"/>
          <c:showSerName val="0"/>
          <c:showPercent val="0"/>
          <c:showBubbleSize val="0"/>
        </c:dLbls>
        <c:axId val="333"/>
        <c:axId val="444"/>
      </c:scatterChart>
      <c:catAx>
        <c:axId val="111"/>
        <c:scaling>
          <c:orientation val="maxMin"/>
        </c:scaling>
        <c:delete val="0"/>
        <c:axPos val="l"/>
        <c:numFmt formatCode="General" sourceLinked="1"/>
        <c:majorTickMark val="none"/>
        <c:minorTickMark val="none"/>
        <c:tickLblPos val="low"/>
        <c:spPr>
          <a:ln>
            <a:solidFill>
              <a:srgbClr val="AEC4C4"/>
            </a:solidFill>
          </a:ln>
        </c:spPr>
        <c:txPr>
          <a:bodyPr/>
          <a:lstStyle/>
          <a:p>
            <a:pPr>
              <a:defRPr sz="1400" b="1">
                <a:solidFill>
                  <a:srgbClr val="333333"/>
                </a:solidFill>
                <a:latin typeface="Calibri"/>
              </a:defRPr>
            </a:pPr>
            <a:endParaRPr lang="en-US"/>
          </a:p>
        </c:txPr>
        <c:crossAx val="222"/>
        <c:crosses val="autoZero"/>
        <c:auto val="1"/>
        <c:lblAlgn val="ctr"/>
        <c:lblOffset val="100"/>
        <c:noMultiLvlLbl val="1"/>
      </c:catAx>
      <c:valAx>
        <c:axId val="222"/>
        <c:scaling>
          <c:orientation val="minMax"/>
          <c:max val="100"/>
          <c:min val="0"/>
        </c:scaling>
        <c:delete val="0"/>
        <c:axPos val="t"/>
        <c:majorGridlines>
          <c:spPr>
            <a:ln>
              <a:solidFill>
                <a:srgbClr val="EFEFEF"/>
              </a:solidFill>
            </a:ln>
          </c:spPr>
        </c:majorGridlines>
        <c:numFmt formatCode="General" sourceLinked="0"/>
        <c:majorTickMark val="out"/>
        <c:minorTickMark val="none"/>
        <c:tickLblPos val="nextTo"/>
        <c:spPr>
          <a:ln>
            <a:solidFill>
              <a:srgbClr val="AEC4C4"/>
            </a:solidFill>
          </a:ln>
        </c:spPr>
        <c:txPr>
          <a:bodyPr/>
          <a:lstStyle/>
          <a:p>
            <a:pPr>
              <a:defRPr sz="1400">
                <a:solidFill>
                  <a:srgbClr val="333333"/>
                </a:solidFill>
                <a:latin typeface="Calibri"/>
              </a:defRPr>
            </a:pPr>
            <a:endParaRPr lang="en-US"/>
          </a:p>
        </c:txPr>
        <c:crossAx val="111"/>
        <c:crosses val="autoZero"/>
        <c:crossBetween val="between"/>
      </c:valAx>
      <c:valAx>
        <c:axId val="444"/>
        <c:scaling>
          <c:orientation val="maxMin"/>
          <c:max val="4.5"/>
          <c:min val="0.5"/>
        </c:scaling>
        <c:delete val="1"/>
        <c:axPos val="l"/>
        <c:numFmt formatCode="General" sourceLinked="1"/>
        <c:majorTickMark val="none"/>
        <c:minorTickMark val="none"/>
        <c:tickLblPos val="none"/>
        <c:crossAx val="333"/>
        <c:crosses val="autoZero"/>
        <c:crossBetween val="midCat"/>
      </c:valAx>
      <c:valAx>
        <c:axId val="333"/>
        <c:scaling>
          <c:orientation val="minMax"/>
          <c:max val="100"/>
          <c:min val="0"/>
        </c:scaling>
        <c:delete val="1"/>
        <c:axPos val="t"/>
        <c:numFmt formatCode="General" sourceLinked="1"/>
        <c:majorTickMark val="none"/>
        <c:minorTickMark val="none"/>
        <c:tickLblPos val="none"/>
        <c:crossAx val="444"/>
        <c:crosses val="autoZero"/>
        <c:crossBetween val="midCat"/>
      </c:valAx>
      <c:spPr>
        <a:noFill/>
        <a:ln>
          <a:noFill/>
        </a:ln>
      </c:spPr>
    </c:plotArea>
    <c:legend>
      <c:legendPos val="t"/>
      <c:overlay val="0"/>
      <c:txPr>
        <a:bodyPr/>
        <a:lstStyle/>
        <a:p>
          <a:pPr>
            <a:defRPr sz="1400">
              <a:solidFill>
                <a:srgbClr val="333333"/>
              </a:solidFill>
              <a:latin typeface="Calibri"/>
            </a:defRPr>
          </a:pPr>
          <a:endParaRPr lang="en-US"/>
        </a:p>
      </c:txPr>
    </c:legend>
    <c:plotVisOnly val="1"/>
    <c:dispBlanksAs val="gap"/>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600" b="1">
                <a:solidFill>
                  <a:srgbClr val="15686B"/>
                </a:solidFill>
                <a:latin typeface="Calibri"/>
              </a:defRPr>
            </a:pPr>
            <a:r>
              <a:rPr lang="en-US" sz="1600" b="1">
                <a:solidFill>
                  <a:srgbClr val="15686B"/>
                </a:solidFill>
                <a:latin typeface="Calibri"/>
              </a:rPr>
              <a:t>Quarterly Trend</a:t>
            </a:r>
          </a:p>
        </c:rich>
      </c:tx>
      <c:overlay val="0"/>
    </c:title>
    <c:autoTitleDeleted val="0"/>
    <c:plotArea>
      <c:layout/>
      <c:barChart>
        <c:barDir val="col"/>
        <c:grouping val="clustered"/>
        <c:varyColors val="0"/>
        <c:ser>
          <c:idx val="0"/>
          <c:order val="0"/>
          <c:tx>
            <c:strRef>
              <c:f>Sheet1!$B$1</c:f>
              <c:strCache>
                <c:ptCount val="1"/>
                <c:pt idx="0">
                  <c:v>This Year</c:v>
                </c:pt>
              </c:strCache>
            </c:strRef>
          </c:tx>
          <c:spPr>
            <a:solidFill>
              <a:srgbClr val="15686B"/>
            </a:solidFill>
            <a:ln>
              <a:noFill/>
            </a:ln>
          </c:spPr>
          <c:invertIfNegative val="1"/>
          <c:dLbls>
            <c:spPr>
              <a:noFill/>
              <a:ln>
                <a:noFill/>
              </a:ln>
            </c:spPr>
            <c:txPr>
              <a:bodyPr/>
              <a:lstStyle/>
              <a:p>
                <a:pPr>
                  <a:defRPr sz="1400" b="1">
                    <a:solidFill>
                      <a:srgbClr val="333333"/>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Q1</c:v>
              </c:pt>
              <c:pt idx="1">
                <c:v>Q2</c:v>
              </c:pt>
              <c:pt idx="2">
                <c:v>Q3</c:v>
              </c:pt>
              <c:pt idx="3">
                <c:v>Q4</c:v>
              </c:pt>
            </c:strLit>
          </c:cat>
          <c:val>
            <c:numLit>
              <c:formatCode>General</c:formatCode>
              <c:ptCount val="4"/>
              <c:pt idx="0">
                <c:v>42</c:v>
              </c:pt>
              <c:pt idx="1">
                <c:v>55</c:v>
              </c:pt>
              <c:pt idx="2">
                <c:v>61</c:v>
              </c:pt>
              <c:pt idx="3">
                <c:v>74</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069D-0149-8752-3CA526A1B41D}"/>
            </c:ext>
          </c:extLst>
        </c:ser>
        <c:ser>
          <c:idx val="1"/>
          <c:order val="1"/>
          <c:tx>
            <c:strRef>
              <c:f>Sheet1!$C$1</c:f>
              <c:strCache>
                <c:ptCount val="1"/>
                <c:pt idx="0">
                  <c:v>Last Year</c:v>
                </c:pt>
              </c:strCache>
            </c:strRef>
          </c:tx>
          <c:spPr>
            <a:solidFill>
              <a:srgbClr val="C2683F"/>
            </a:solidFill>
            <a:ln>
              <a:noFill/>
            </a:ln>
          </c:spPr>
          <c:invertIfNegative val="1"/>
          <c:dLbls>
            <c:spPr>
              <a:noFill/>
              <a:ln>
                <a:noFill/>
              </a:ln>
            </c:spPr>
            <c:txPr>
              <a:bodyPr/>
              <a:lstStyle/>
              <a:p>
                <a:pPr>
                  <a:defRPr sz="1400" b="1">
                    <a:solidFill>
                      <a:srgbClr val="333333"/>
                    </a:solidFill>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4"/>
              <c:pt idx="0">
                <c:v>Q1</c:v>
              </c:pt>
              <c:pt idx="1">
                <c:v>Q2</c:v>
              </c:pt>
              <c:pt idx="2">
                <c:v>Q3</c:v>
              </c:pt>
              <c:pt idx="3">
                <c:v>Q4</c:v>
              </c:pt>
            </c:strLit>
          </c:cat>
          <c:val>
            <c:numLit>
              <c:formatCode>General</c:formatCode>
              <c:ptCount val="4"/>
              <c:pt idx="0">
                <c:v>38</c:v>
              </c:pt>
              <c:pt idx="1">
                <c:v>44</c:v>
              </c:pt>
              <c:pt idx="2">
                <c:v>52</c:v>
              </c:pt>
              <c:pt idx="3">
                <c:v>58</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069D-0149-8752-3CA526A1B41D}"/>
            </c:ext>
          </c:extLst>
        </c:ser>
        <c:dLbls>
          <c:showLegendKey val="0"/>
          <c:showVal val="0"/>
          <c:showCatName val="0"/>
          <c:showSerName val="0"/>
          <c:showPercent val="0"/>
          <c:showBubbleSize val="0"/>
        </c:dLbls>
        <c:gapWidth val="80"/>
        <c:overlap val="-10"/>
        <c:axId val="111"/>
        <c:axId val="222"/>
      </c:barChart>
      <c:catAx>
        <c:axId val="111"/>
        <c:scaling>
          <c:orientation val="minMax"/>
        </c:scaling>
        <c:delete val="0"/>
        <c:axPos val="b"/>
        <c:numFmt formatCode="General" sourceLinked="1"/>
        <c:majorTickMark val="none"/>
        <c:minorTickMark val="none"/>
        <c:tickLblPos val="nextTo"/>
        <c:spPr>
          <a:ln>
            <a:solidFill>
              <a:srgbClr val="AEC4C4"/>
            </a:solidFill>
          </a:ln>
        </c:spPr>
        <c:txPr>
          <a:bodyPr/>
          <a:lstStyle/>
          <a:p>
            <a:pPr>
              <a:defRPr sz="1400" b="1">
                <a:solidFill>
                  <a:srgbClr val="333333"/>
                </a:solidFill>
                <a:latin typeface="Calibri"/>
              </a:defRPr>
            </a:pPr>
            <a:endParaRPr lang="en-US"/>
          </a:p>
        </c:txPr>
        <c:crossAx val="222"/>
        <c:crosses val="autoZero"/>
        <c:auto val="1"/>
        <c:lblAlgn val="ctr"/>
        <c:lblOffset val="100"/>
        <c:noMultiLvlLbl val="1"/>
      </c:catAx>
      <c:valAx>
        <c:axId val="222"/>
        <c:scaling>
          <c:orientation val="minMax"/>
          <c:min val="0"/>
        </c:scaling>
        <c:delete val="0"/>
        <c:axPos val="l"/>
        <c:majorGridlines>
          <c:spPr>
            <a:ln>
              <a:solidFill>
                <a:srgbClr val="EFEFEF"/>
              </a:solidFill>
            </a:ln>
          </c:spPr>
        </c:majorGridlines>
        <c:numFmt formatCode="General" sourceLinked="0"/>
        <c:majorTickMark val="out"/>
        <c:minorTickMark val="none"/>
        <c:tickLblPos val="nextTo"/>
        <c:spPr>
          <a:ln>
            <a:solidFill>
              <a:srgbClr val="AEC4C4"/>
            </a:solidFill>
          </a:ln>
        </c:spPr>
        <c:txPr>
          <a:bodyPr/>
          <a:lstStyle/>
          <a:p>
            <a:pPr>
              <a:defRPr sz="1400">
                <a:solidFill>
                  <a:srgbClr val="333333"/>
                </a:solidFill>
                <a:latin typeface="Calibri"/>
              </a:defRPr>
            </a:pPr>
            <a:endParaRPr lang="en-US"/>
          </a:p>
        </c:txPr>
        <c:crossAx val="111"/>
        <c:crosses val="autoZero"/>
        <c:crossBetween val="between"/>
      </c:valAx>
      <c:spPr>
        <a:noFill/>
        <a:ln>
          <a:noFill/>
        </a:ln>
      </c:spPr>
    </c:plotArea>
    <c:legend>
      <c:legendPos val="t"/>
      <c:overlay val="0"/>
      <c:txPr>
        <a:bodyPr/>
        <a:lstStyle/>
        <a:p>
          <a:pPr>
            <a:defRPr sz="1400">
              <a:solidFill>
                <a:srgbClr val="333333"/>
              </a:solidFill>
              <a:latin typeface="Calibri"/>
            </a:defRPr>
          </a:pPr>
          <a:endParaRPr lang="en-US"/>
        </a:p>
      </c:txPr>
    </c:legend>
    <c:plotVisOnly val="1"/>
    <c:dispBlanksAs val="gap"/>
    <c:showDLblsOverMax val="1"/>
  </c:chart>
  <c:spPr>
    <a:noFill/>
    <a:ln>
      <a:noFill/>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935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The course mark (top-right) and white background live in the slide master — change them once under View &gt; Slide Master. To reuse a layout, right-click a slide and Duplicate. Swap the bell-curve graphic for a topic image on other talks. Palette: teal 15686B, terracotta C2683F, ink 262320. Fonts: Bookman Old Style (headings), Calibri (body).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content layout. Title is a placeholder — click and type. Points left, one big number right.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39683959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25838686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5768925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closer, and it is deliberately not a confounding case. The bird watching claim is most likely reverse causality: dementia stops people going out with binoculars, years before anyone gives the disease a name.</a:t>
            </a:r>
          </a:p>
          <a:p>
            <a:r>
              <a:rPr lang="en-US" dirty="0"/>
              <a:t>The waffle test cannot settle this one. Both groups are real people, one population, one split. The grid looks fine. What is wrong is the direction of the arrow, and a count of two groups holds no information about direction.</a:t>
            </a:r>
          </a:p>
          <a:p>
            <a:r>
              <a:rPr lang="en-US" dirty="0"/>
              <a:t>Whitehall II is the real version, with exercise instead of birds. They asked when the two trajectories separate. Identical from 28 years before diagnosis down to about 10, then activity falls away over the last nine. The timing is what identifies the direction.</a:t>
            </a:r>
          </a:p>
          <a:p>
            <a:r>
              <a:rPr lang="en-US" dirty="0"/>
              <a:t>Point at the right-hand diagram and say that this is what the data fits. Then go to the four-diagram slide.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Fisher's hypothesis is the constitutional hypothesis. In diagram terms it is the middle card from earlier: a common cause, plus the deliberate claim that the arrow between smoking and cancer is not there at all. That is why the arrow on the right is struck through.</a:t>
            </a:r>
          </a:p>
          <a:p>
            <a:r>
              <a:rPr lang="en-US" dirty="0"/>
              <a:t>Say plainly that the right-hand diagram is a fair thing to draw. It is the question this session teaches them to ask. What makes Fisher a cautionary tale is that he would accept no answer, and that he was on the payroll while asking.</a:t>
            </a:r>
          </a:p>
          <a:p>
            <a:r>
              <a:rPr lang="en-US" dirty="0"/>
              <a:t>The next slide is the answer, and it is about the size of the two arrows coming out of the gene.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population, two denominators. That is the whole slide, and it is Day 2's machinery on the day's one genuine cause.</a:t>
            </a:r>
          </a:p>
          <a:p>
            <a:r>
              <a:rPr lang="en-US" dirty="0"/>
              <a:t>The split is cigarettes, because that is what the argument was about. Everyone else is in the other group: pipe and cigar smokers, ex-smokers, and the few who never smoked. Nobody is left out.</a:t>
            </a:r>
          </a:p>
          <a:p>
            <a:r>
              <a:rPr lang="en-US" dirty="0"/>
              <a:t>Point at the grid. 65 of the 100 smoked cigarettes, and 10 of those 65 got lung cancer by 75. One of the other 35 got it too.</a:t>
            </a:r>
          </a:p>
          <a:p>
            <a:r>
              <a:rPr lang="en-US" dirty="0"/>
              <a:t>Forward: the denominator is 65. 10 of 65, about 16 in 100, against 1 in 35, about 2 in 100. Eight times apart.</a:t>
            </a:r>
          </a:p>
          <a:p>
            <a:r>
              <a:rPr lang="en-US" dirty="0"/>
              <a:t>Reverse: the denominator is the 11 who got lung cancer. 10 of the 11 smoked cigarettes. About 94%.</a:t>
            </a:r>
          </a:p>
          <a:p>
            <a:r>
              <a:rPr lang="en-US" dirty="0"/>
              <a:t>The trap, and the line to land: the 94% is inflated by the base rate. Two men in three smoked cigarettes, so two in three of any group of them smoked, whether or not the group has anything to do with smoking. Two in three of the men run over by buses smoked too.</a:t>
            </a:r>
          </a:p>
          <a:p>
            <a:r>
              <a:rPr lang="en-US" dirty="0"/>
              <a:t>The forward comparison owes nothing to how common smoking was. That is the difference between the two directions, and it is the whole point of the slide.</a:t>
            </a:r>
          </a:p>
          <a:p>
            <a:r>
              <a:rPr lang="en-US" dirty="0"/>
              <a:t>The 2% is the one approximate figure here. It is mostly pipe, cigar and ex-cigarette smokers, so it sits above the never-smoker rate of under 1% and well below the cigarette rate. Nothing turns on it: at 1% the reverse conditional is 97%, at 3% it is 91%, and the story is the same.</a:t>
            </a:r>
          </a:p>
          <a:p>
            <a:r>
              <a:rPr lang="en-US" dirty="0"/>
              <a:t>This slide does not answer Fisher. His gene predicts this grid just as well. The next slide is the answer.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day. Every case they saw, in one notation, with the dashed observation identical in all four.</a:t>
            </a:r>
          </a:p>
          <a:p>
            <a:r>
              <a:rPr lang="en-US" dirty="0"/>
              <a:t>Walk left to right. Saturn and the degrees: no arrow anywhere, and no population to draw, because the unit is a year. The pill takers: two arrows out of something else, and Dormuth's own conclusion was that adherers are systematically more health-seeking. Bird watching: the same arrow, pointing back. Smoking: the arrow survived, and it survived because Cornfield showed how large the rival would have to be.</a:t>
            </a:r>
          </a:p>
          <a:p>
            <a:r>
              <a:rPr lang="en-US" dirty="0"/>
              <a:t>The closing question is the one to leave them with. When you read a claim, ask which of these four the claim assumes, and ask what evidence would rule the other three out.</a:t>
            </a:r>
          </a:p>
          <a:p>
            <a:r>
              <a:rPr lang="en-US" dirty="0"/>
              <a:t>If anyone asks what the diagrams are called and where this goes next: they are causal diagrams, and Pearl's Book of Why, already on the reading slide, is the entry point. Reasoning with them by arithmetic is a Bayesian network.</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Leave it up during Q&amp;A.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2E226-7E68-9CF6-0474-61FFF48943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631BF1-4012-77F1-CF86-FFE22B699173}"/>
              </a:ext>
            </a:extLst>
          </p:cNvPr>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1F09DA29-9705-9F6B-3D49-BD41018A3204}"/>
              </a:ext>
            </a:extLst>
          </p:cNvPr>
          <p:cNvSpPr>
            <a:spLocks noGrp="1"/>
          </p:cNvSpPr>
          <p:nvPr>
            <p:ph type="body" idx="1"/>
          </p:nvPr>
        </p:nvSpPr>
        <p:spPr>
          <a:xfrm>
            <a:off x="685800" y="5867400"/>
            <a:ext cx="5486400" cy="4800600"/>
          </a:xfrm>
          <a:prstGeom prst="rect">
            <a:avLst/>
          </a:prstGeom>
        </p:spPr>
        <p:txBody>
          <a:bodyPr/>
          <a:lstStyle/>
          <a:p>
            <a:endParaRPr lang="en-US"/>
          </a:p>
        </p:txBody>
      </p:sp>
    </p:spTree>
    <p:extLst>
      <p:ext uri="{BB962C8B-B14F-4D97-AF65-F5344CB8AC3E}">
        <p14:creationId xmlns:p14="http://schemas.microsoft.com/office/powerpoint/2010/main" val="2398303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RAND_PLAIN">
    <p:bg>
      <p:bgPr>
        <a:solidFill>
          <a:srgbClr val="FFFFFF"/>
        </a:solidFill>
        <a:effectLst/>
      </p:bgPr>
    </p:bg>
    <p:spTree>
      <p:nvGrpSpPr>
        <p:cNvPr id="1" name=""/>
        <p:cNvGrpSpPr/>
        <p:nvPr/>
      </p:nvGrpSpPr>
      <p:grpSpPr>
        <a:xfrm>
          <a:off x="0" y="0"/>
          <a:ext cx="0" cy="0"/>
          <a:chOff x="0" y="0"/>
          <a:chExt cx="0" cy="0"/>
        </a:xfrm>
      </p:grpSpPr>
      <p:pic>
        <p:nvPicPr>
          <p:cNvPr id="2" name="Image 0" descr="/home/claude/assets/emblem.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84280" y="292608"/>
            <a:ext cx="530352" cy="530352"/>
          </a:xfrm>
          <a:prstGeom prst="rect">
            <a:avLst/>
          </a:prstGeom>
        </p:spPr>
      </p:pic>
      <p:sp>
        <p:nvSpPr>
          <p:cNvPr id="3" name="Text 0"/>
          <p:cNvSpPr/>
          <p:nvPr/>
        </p:nvSpPr>
        <p:spPr>
          <a:xfrm>
            <a:off x="9052560" y="310896"/>
            <a:ext cx="2212848" cy="502920"/>
          </a:xfrm>
          <a:prstGeom prst="rect">
            <a:avLst/>
          </a:prstGeom>
          <a:noFill/>
          <a:ln/>
        </p:spPr>
        <p:txBody>
          <a:bodyPr wrap="square" lIns="0" tIns="0" rIns="0" bIns="0" rtlCol="0" anchor="ctr"/>
          <a:lstStyle/>
          <a:p>
            <a:pPr marL="0" indent="0" algn="r">
              <a:buNone/>
            </a:pPr>
            <a:r>
              <a:rPr lang="en-US" sz="1200" dirty="0">
                <a:solidFill>
                  <a:srgbClr val="15686B"/>
                </a:solidFill>
                <a:latin typeface="Calibri" pitchFamily="34" charset="0"/>
                <a:ea typeface="Calibri" pitchFamily="34" charset="-122"/>
                <a:cs typeface="Calibri" pitchFamily="34" charset="-120"/>
              </a:rPr>
              <a:t>Healthy Skepticism</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RAND_CONTENT">
    <p:bg>
      <p:bgPr>
        <a:solidFill>
          <a:srgbClr val="FFFFFF"/>
        </a:solidFill>
        <a:effectLst/>
      </p:bgPr>
    </p:bg>
    <p:spTree>
      <p:nvGrpSpPr>
        <p:cNvPr id="1" name=""/>
        <p:cNvGrpSpPr/>
        <p:nvPr/>
      </p:nvGrpSpPr>
      <p:grpSpPr>
        <a:xfrm>
          <a:off x="0" y="0"/>
          <a:ext cx="0" cy="0"/>
          <a:chOff x="0" y="0"/>
          <a:chExt cx="0" cy="0"/>
        </a:xfrm>
      </p:grpSpPr>
      <p:pic>
        <p:nvPicPr>
          <p:cNvPr id="2" name="Image 0" descr="/home/claude/assets/emblem.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384280" y="292608"/>
            <a:ext cx="530352" cy="530352"/>
          </a:xfrm>
          <a:prstGeom prst="rect">
            <a:avLst/>
          </a:prstGeom>
        </p:spPr>
      </p:pic>
      <p:sp>
        <p:nvSpPr>
          <p:cNvPr id="3" name="Text 0"/>
          <p:cNvSpPr/>
          <p:nvPr/>
        </p:nvSpPr>
        <p:spPr>
          <a:xfrm>
            <a:off x="9052560" y="310896"/>
            <a:ext cx="2212848" cy="502920"/>
          </a:xfrm>
          <a:prstGeom prst="rect">
            <a:avLst/>
          </a:prstGeom>
          <a:noFill/>
          <a:ln/>
        </p:spPr>
        <p:txBody>
          <a:bodyPr wrap="square" lIns="0" tIns="0" rIns="0" bIns="0" rtlCol="0" anchor="ctr"/>
          <a:lstStyle/>
          <a:p>
            <a:pPr marL="0" indent="0" algn="r">
              <a:buNone/>
            </a:pPr>
            <a:r>
              <a:rPr lang="en-US" sz="1200" dirty="0">
                <a:solidFill>
                  <a:srgbClr val="15686B"/>
                </a:solidFill>
                <a:latin typeface="Calibri" pitchFamily="34" charset="0"/>
                <a:ea typeface="Calibri" pitchFamily="34" charset="-122"/>
                <a:cs typeface="Calibri" pitchFamily="34" charset="-120"/>
              </a:rPr>
              <a:t>Healthy Skepticism</a:t>
            </a:r>
            <a:endParaRPr lang="en-US" sz="1200" dirty="0"/>
          </a:p>
        </p:txBody>
      </p:sp>
      <p:sp>
        <p:nvSpPr>
          <p:cNvPr id="4" name="Text 1"/>
          <p:cNvSpPr>
            <a:spLocks noGrp="1"/>
          </p:cNvSpPr>
          <p:nvPr>
            <p:ph type="title" idx="102" hasCustomPrompt="1"/>
          </p:nvPr>
        </p:nvSpPr>
        <p:spPr>
          <a:xfrm>
            <a:off x="685800" y="868680"/>
            <a:ext cx="8046720" cy="868680"/>
          </a:xfrm>
          <a:prstGeom prst="rect">
            <a:avLst/>
          </a:prstGeom>
          <a:noFill/>
          <a:ln/>
        </p:spPr>
        <p:txBody>
          <a:bodyPr wrap="square" rtlCol="0"/>
          <a:lstStyle>
            <a:lvl1pPr marL="0" indent="0" algn="l">
              <a:buNone/>
              <a:defRPr lang="en-US" sz="3800" b="1" dirty="0">
                <a:solidFill>
                  <a:srgbClr val="15686B"/>
                </a:solidFill>
                <a:latin typeface="Bookman Old Style" pitchFamily="34" charset="0"/>
                <a:ea typeface="Bookman Old Style" pitchFamily="34" charset="-122"/>
                <a:cs typeface="Bookman Old Style" pitchFamily="34" charset="-120"/>
              </a:defRPr>
            </a:lvl1pPr>
          </a:lstStyle>
          <a:p>
            <a:pPr marL="0" indent="0" algn="l">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5.emf"/></Relationships>
</file>

<file path=ppt/slides/_rels/slide1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p:nvPr/>
        </p:nvSpPr>
        <p:spPr>
          <a:xfrm>
            <a:off x="777240" y="1444752"/>
            <a:ext cx="6126480" cy="1920240"/>
          </a:xfrm>
          <a:prstGeom prst="rect">
            <a:avLst/>
          </a:prstGeom>
          <a:noFill/>
          <a:ln/>
        </p:spPr>
        <p:txBody>
          <a:bodyPr wrap="square" lIns="0" tIns="0" rIns="0" bIns="0" rtlCol="0" anchor="ctr"/>
          <a:lstStyle/>
          <a:p>
            <a:pPr marL="0" indent="0" algn="l">
              <a:buNone/>
            </a:pPr>
            <a:r>
              <a:rPr lang="en-US" sz="5600" b="1" dirty="0">
                <a:solidFill>
                  <a:srgbClr val="262320"/>
                </a:solidFill>
                <a:latin typeface="Bookman Old Style" pitchFamily="34" charset="0"/>
                <a:ea typeface="Bookman Old Style" pitchFamily="34" charset="-122"/>
                <a:cs typeface="Bookman Old Style" pitchFamily="34" charset="-120"/>
              </a:rPr>
              <a:t>Healthy Skepticism</a:t>
            </a:r>
          </a:p>
          <a:p>
            <a:pPr marL="0" indent="0" algn="l">
              <a:buNone/>
            </a:pPr>
            <a:r>
              <a:rPr lang="en-US" sz="5600" b="1" dirty="0">
                <a:solidFill>
                  <a:srgbClr val="262320"/>
                </a:solidFill>
                <a:latin typeface="Bookman Old Style" pitchFamily="34" charset="0"/>
                <a:ea typeface="Bookman Old Style" pitchFamily="34" charset="-122"/>
                <a:cs typeface="Bookman Old Style" pitchFamily="34" charset="-120"/>
              </a:rPr>
              <a:t>Day 4</a:t>
            </a:r>
            <a:endParaRPr lang="en-US" sz="5600" dirty="0"/>
          </a:p>
        </p:txBody>
      </p:sp>
      <p:sp>
        <p:nvSpPr>
          <p:cNvPr id="4" name="Text 1"/>
          <p:cNvSpPr/>
          <p:nvPr/>
        </p:nvSpPr>
        <p:spPr>
          <a:xfrm>
            <a:off x="685800" y="3931920"/>
            <a:ext cx="6035040" cy="1005840"/>
          </a:xfrm>
          <a:prstGeom prst="rect">
            <a:avLst/>
          </a:prstGeom>
          <a:noFill/>
          <a:ln/>
        </p:spPr>
        <p:txBody>
          <a:bodyPr wrap="square" lIns="0" tIns="0" rIns="0" bIns="0" rtlCol="0" anchor="t"/>
          <a:lstStyle/>
          <a:p>
            <a:pPr marL="0" indent="0" algn="l">
              <a:buNone/>
            </a:pPr>
            <a:r>
              <a:rPr lang="en-US" sz="2500" dirty="0">
                <a:solidFill>
                  <a:srgbClr val="514B44"/>
                </a:solidFill>
                <a:latin typeface="Calibri" pitchFamily="34" charset="0"/>
                <a:ea typeface="Calibri" pitchFamily="34" charset="-122"/>
                <a:cs typeface="Calibri" pitchFamily="34" charset="-120"/>
              </a:rPr>
              <a:t>Does bird watching prevent dementia?</a:t>
            </a:r>
            <a:endParaRPr lang="en-US" sz="2500" dirty="0"/>
          </a:p>
        </p:txBody>
      </p:sp>
      <p:sp>
        <p:nvSpPr>
          <p:cNvPr id="5" name="Text 2"/>
          <p:cNvSpPr/>
          <p:nvPr/>
        </p:nvSpPr>
        <p:spPr>
          <a:xfrm>
            <a:off x="685800" y="5897880"/>
            <a:ext cx="10515600" cy="457200"/>
          </a:xfrm>
          <a:prstGeom prst="rect">
            <a:avLst/>
          </a:prstGeom>
          <a:noFill/>
          <a:ln/>
        </p:spPr>
        <p:txBody>
          <a:bodyPr wrap="square" lIns="0" tIns="0" rIns="0" bIns="0" rtlCol="0" anchor="ctr"/>
          <a:lstStyle/>
          <a:p>
            <a:pPr marL="0" indent="0" algn="l">
              <a:buNone/>
            </a:pPr>
            <a:r>
              <a:rPr lang="en-US" sz="2000" b="1" dirty="0">
                <a:solidFill>
                  <a:srgbClr val="262320"/>
                </a:solidFill>
                <a:latin typeface="Calibri" pitchFamily="34" charset="0"/>
                <a:ea typeface="Calibri" pitchFamily="34" charset="-122"/>
                <a:cs typeface="Calibri" pitchFamily="34" charset="-120"/>
              </a:rPr>
              <a:t>Murray Cantor, PhD</a:t>
            </a:r>
            <a:r>
              <a:rPr lang="en-US" sz="2000" dirty="0">
                <a:solidFill>
                  <a:srgbClr val="8A8076"/>
                </a:solidFill>
                <a:latin typeface="Calibri" pitchFamily="34" charset="0"/>
                <a:ea typeface="Calibri" pitchFamily="34" charset="-122"/>
                <a:cs typeface="Calibri" pitchFamily="34" charset="-120"/>
              </a:rPr>
              <a:t> &amp; </a:t>
            </a:r>
            <a:r>
              <a:rPr lang="en-US" sz="2000" b="1" dirty="0">
                <a:solidFill>
                  <a:srgbClr val="262320"/>
                </a:solidFill>
                <a:latin typeface="Calibri" pitchFamily="34" charset="0"/>
                <a:ea typeface="Calibri" pitchFamily="34" charset="-122"/>
                <a:cs typeface="Calibri" pitchFamily="34" charset="-120"/>
              </a:rPr>
              <a:t>Joel Keenan, MD</a:t>
            </a:r>
            <a:r>
              <a:rPr lang="en-US" sz="2000" dirty="0">
                <a:solidFill>
                  <a:srgbClr val="8A8076"/>
                </a:solidFill>
                <a:latin typeface="Calibri" pitchFamily="34" charset="0"/>
                <a:ea typeface="Calibri" pitchFamily="34" charset="-122"/>
                <a:cs typeface="Calibri" pitchFamily="34" charset="-120"/>
              </a:rPr>
              <a:t>      [venue and date]</a:t>
            </a:r>
            <a:endParaRPr lang="en-US" sz="2000" dirty="0"/>
          </a:p>
        </p:txBody>
      </p:sp>
      <p:pic>
        <p:nvPicPr>
          <p:cNvPr id="8" name="Picture 7">
            <a:extLst>
              <a:ext uri="{FF2B5EF4-FFF2-40B4-BE49-F238E27FC236}">
                <a16:creationId xmlns:a16="http://schemas.microsoft.com/office/drawing/2014/main" id="{39FCB6C9-B600-3075-6ECF-8170100C8225}"/>
              </a:ext>
            </a:extLst>
          </p:cNvPr>
          <p:cNvPicPr>
            <a:picLocks noChangeAspect="1"/>
          </p:cNvPicPr>
          <p:nvPr/>
        </p:nvPicPr>
        <p:blipFill>
          <a:blip r:embed="rId3"/>
          <a:stretch>
            <a:fillRect/>
          </a:stretch>
        </p:blipFill>
        <p:spPr>
          <a:xfrm>
            <a:off x="7147560" y="883920"/>
            <a:ext cx="4053840" cy="4053840"/>
          </a:xfrm>
          <a:prstGeom prst="rect">
            <a:avLst/>
          </a:prstGeom>
        </p:spPr>
      </p:pic>
    </p:spTree>
    <p:extLst>
      <p:ext uri="{BB962C8B-B14F-4D97-AF65-F5344CB8AC3E}">
        <p14:creationId xmlns:p14="http://schemas.microsoft.com/office/powerpoint/2010/main" val="30315074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685800" y="868680"/>
            <a:ext cx="8046720" cy="868680"/>
          </a:xfrm>
          <a:prstGeom prst="rect">
            <a:avLst/>
          </a:prstGeom>
          <a:noFill/>
          <a:ln/>
        </p:spPr>
        <p:txBody>
          <a:bodyPr wrap="square" lIns="0" tIns="0" rIns="0" bIns="0" rtlCol="0" anchor="ctr"/>
          <a:lstStyle/>
          <a:p>
            <a:pPr marL="0" indent="0" algn="l">
              <a:buNone/>
            </a:pPr>
            <a:r>
              <a:rPr lang="en-US" dirty="0"/>
              <a:t>About Us</a:t>
            </a:r>
            <a:endParaRPr lang="en-US" sz="3800" dirty="0"/>
          </a:p>
        </p:txBody>
      </p:sp>
      <p:sp>
        <p:nvSpPr>
          <p:cNvPr id="3" name="Text 1"/>
          <p:cNvSpPr/>
          <p:nvPr/>
        </p:nvSpPr>
        <p:spPr>
          <a:xfrm>
            <a:off x="457200" y="4064000"/>
            <a:ext cx="5461000" cy="2540000"/>
          </a:xfrm>
          <a:prstGeom prst="rect">
            <a:avLst/>
          </a:prstGeom>
          <a:noFill/>
          <a:ln/>
        </p:spPr>
        <p:txBody>
          <a:bodyPr wrap="square" lIns="0" tIns="0" rIns="0" bIns="0" rtlCol="0" anchor="t"/>
          <a:lstStyle/>
          <a:p>
            <a:pPr marL="285750" indent="-285750" algn="l">
              <a:spcAft>
                <a:spcPts val="800"/>
              </a:spcAft>
              <a:buSzPct val="100000"/>
              <a:buChar char="•"/>
            </a:pPr>
            <a:r>
              <a:rPr lang="en-US" sz="1600" dirty="0">
                <a:solidFill>
                  <a:srgbClr val="262320"/>
                </a:solidFill>
                <a:latin typeface="Calibri" pitchFamily="34" charset="0"/>
              </a:rPr>
              <a:t>Not anti-vax or MAHA</a:t>
            </a:r>
          </a:p>
          <a:p>
            <a:pPr marL="285750" indent="-285750" algn="l">
              <a:spcAft>
                <a:spcPts val="800"/>
              </a:spcAft>
              <a:buSzPct val="100000"/>
              <a:buChar char="•"/>
            </a:pPr>
            <a:r>
              <a:rPr lang="en-US" sz="1600" dirty="0">
                <a:solidFill>
                  <a:srgbClr val="262320"/>
                </a:solidFill>
                <a:latin typeface="Calibri" pitchFamily="34" charset="0"/>
              </a:rPr>
              <a:t>From that perspective, there is a lot of confusion about medical claims</a:t>
            </a:r>
          </a:p>
          <a:p>
            <a:pPr marL="285750" indent="-285750" algn="l">
              <a:spcAft>
                <a:spcPts val="800"/>
              </a:spcAft>
              <a:buSzPct val="100000"/>
              <a:buChar char="•"/>
            </a:pPr>
            <a:r>
              <a:rPr lang="en-US" sz="1600" dirty="0">
                <a:solidFill>
                  <a:srgbClr val="262320"/>
                </a:solidFill>
                <a:latin typeface="Calibri" pitchFamily="34" charset="0"/>
              </a:rPr>
              <a:t>Respect for the challenge of medical research</a:t>
            </a:r>
          </a:p>
        </p:txBody>
      </p:sp>
      <p:sp>
        <p:nvSpPr>
          <p:cNvPr id="12" name="Author1Name">
            <a:extLst>
              <a:ext uri="{FF2B5EF4-FFF2-40B4-BE49-F238E27FC236}">
                <a16:creationId xmlns:a16="http://schemas.microsoft.com/office/drawing/2014/main" id="{A0374D37-4D8F-534D-8318-7D0F494F9845}"/>
              </a:ext>
            </a:extLst>
          </p:cNvPr>
          <p:cNvSpPr txBox="1"/>
          <p:nvPr/>
        </p:nvSpPr>
        <p:spPr>
          <a:xfrm>
            <a:off x="2489200" y="2006600"/>
            <a:ext cx="3429000" cy="707886"/>
          </a:xfrm>
          <a:prstGeom prst="rect">
            <a:avLst/>
          </a:prstGeom>
          <a:noFill/>
        </p:spPr>
        <p:txBody>
          <a:bodyPr vertOverflow="overflow" vert="horz" wrap="square" rtlCol="0" anchor="t">
            <a:spAutoFit/>
          </a:bodyPr>
          <a:lstStyle/>
          <a:p>
            <a:pPr algn="l">
              <a:buNone/>
            </a:pPr>
            <a:r>
              <a:rPr lang="en-US" sz="2400" b="1" dirty="0">
                <a:solidFill>
                  <a:srgbClr val="262320"/>
                </a:solidFill>
                <a:latin typeface="Calibri" pitchFamily="34" charset="0"/>
              </a:rPr>
              <a:t>Dr. Murray Cantor</a:t>
            </a:r>
          </a:p>
          <a:p>
            <a:pPr algn="l">
              <a:buNone/>
            </a:pPr>
            <a:r>
              <a:rPr lang="en-US" sz="1600" i="1" dirty="0">
                <a:solidFill>
                  <a:srgbClr val="B0A49B"/>
                </a:solidFill>
                <a:latin typeface="Calibri" pitchFamily="34" charset="0"/>
              </a:rPr>
              <a:t>PhD, Mathematics — UC Berkeley</a:t>
            </a:r>
          </a:p>
        </p:txBody>
      </p:sp>
      <p:sp>
        <p:nvSpPr>
          <p:cNvPr id="14" name="Author2Name">
            <a:extLst>
              <a:ext uri="{FF2B5EF4-FFF2-40B4-BE49-F238E27FC236}">
                <a16:creationId xmlns:a16="http://schemas.microsoft.com/office/drawing/2014/main" id="{B70976CA-5470-A145-A158-B3E352864C71}"/>
              </a:ext>
            </a:extLst>
          </p:cNvPr>
          <p:cNvSpPr txBox="1"/>
          <p:nvPr/>
        </p:nvSpPr>
        <p:spPr>
          <a:xfrm>
            <a:off x="8305800" y="2006600"/>
            <a:ext cx="3429000" cy="707886"/>
          </a:xfrm>
          <a:prstGeom prst="rect">
            <a:avLst/>
          </a:prstGeom>
          <a:noFill/>
        </p:spPr>
        <p:txBody>
          <a:bodyPr vertOverflow="overflow" vert="horz" wrap="square" rtlCol="0" anchor="t">
            <a:spAutoFit/>
          </a:bodyPr>
          <a:lstStyle/>
          <a:p>
            <a:pPr algn="l">
              <a:buNone/>
            </a:pPr>
            <a:r>
              <a:rPr lang="en-US" sz="2400" b="1" dirty="0">
                <a:solidFill>
                  <a:srgbClr val="262320"/>
                </a:solidFill>
                <a:latin typeface="Calibri" pitchFamily="34" charset="0"/>
              </a:rPr>
              <a:t>Dr. Joel Keenan</a:t>
            </a:r>
          </a:p>
          <a:p>
            <a:pPr algn="l">
              <a:buNone/>
            </a:pPr>
            <a:r>
              <a:rPr lang="en-US" sz="1600" i="1" dirty="0">
                <a:solidFill>
                  <a:srgbClr val="B0A49B"/>
                </a:solidFill>
                <a:latin typeface="Calibri" pitchFamily="34" charset="0"/>
              </a:rPr>
              <a:t>MD, Univ of Vermont</a:t>
            </a:r>
          </a:p>
        </p:txBody>
      </p:sp>
      <p:sp>
        <p:nvSpPr>
          <p:cNvPr id="15" name="Author2Bio">
            <a:extLst>
              <a:ext uri="{FF2B5EF4-FFF2-40B4-BE49-F238E27FC236}">
                <a16:creationId xmlns:a16="http://schemas.microsoft.com/office/drawing/2014/main" id="{E4ED606C-E906-7C4D-9255-9C15AD3BBE2B}"/>
              </a:ext>
            </a:extLst>
          </p:cNvPr>
          <p:cNvSpPr txBox="1"/>
          <p:nvPr/>
        </p:nvSpPr>
        <p:spPr>
          <a:xfrm>
            <a:off x="6273800" y="4064000"/>
            <a:ext cx="5461000" cy="1282402"/>
          </a:xfrm>
          <a:prstGeom prst="rect">
            <a:avLst/>
          </a:prstGeom>
          <a:noFill/>
        </p:spPr>
        <p:txBody>
          <a:bodyPr vertOverflow="overflow" vert="horz" wrap="square" rtlCol="0" anchor="t">
            <a:spAutoFit/>
          </a:bodyPr>
          <a:lstStyle/>
          <a:p>
            <a:pPr marL="285750" indent="-285750" algn="l">
              <a:spcAft>
                <a:spcPts val="800"/>
              </a:spcAft>
              <a:buSzPct val="100000"/>
              <a:buChar char="•"/>
            </a:pPr>
            <a:r>
              <a:rPr lang="en-US" sz="1600" dirty="0">
                <a:solidFill>
                  <a:srgbClr val="262320"/>
                </a:solidFill>
                <a:latin typeface="Calibri" pitchFamily="34" charset="0"/>
              </a:rPr>
              <a:t>Practicing physician with direct patient-care experience</a:t>
            </a:r>
          </a:p>
          <a:p>
            <a:pPr marL="285750" indent="-285750" algn="l">
              <a:spcAft>
                <a:spcPts val="800"/>
              </a:spcAft>
              <a:buSzPct val="100000"/>
              <a:buChar char="•"/>
            </a:pPr>
            <a:r>
              <a:rPr lang="en-US" sz="1600" dirty="0">
                <a:solidFill>
                  <a:srgbClr val="262320"/>
                </a:solidFill>
                <a:latin typeface="Calibri" pitchFamily="34" charset="0"/>
              </a:rPr>
              <a:t>Translates clinical evidence into plain-language guidance</a:t>
            </a:r>
          </a:p>
          <a:p>
            <a:pPr marL="285750" indent="-285750" algn="l">
              <a:spcAft>
                <a:spcPts val="800"/>
              </a:spcAft>
              <a:buSzPct val="100000"/>
              <a:buChar char="•"/>
            </a:pPr>
            <a:r>
              <a:rPr lang="en-US" sz="1600" dirty="0">
                <a:solidFill>
                  <a:srgbClr val="262320"/>
                </a:solidFill>
                <a:latin typeface="Calibri" pitchFamily="34" charset="0"/>
              </a:rPr>
              <a:t>Shares a commitment to honest, balanced medical communication</a:t>
            </a:r>
          </a:p>
        </p:txBody>
      </p:sp>
      <p:pic>
        <p:nvPicPr>
          <p:cNvPr id="10" name="Picture 9">
            <a:extLst>
              <a:ext uri="{FF2B5EF4-FFF2-40B4-BE49-F238E27FC236}">
                <a16:creationId xmlns:a16="http://schemas.microsoft.com/office/drawing/2014/main" id="{4F386765-C060-1015-FF45-DCD3212C9DF7}"/>
              </a:ext>
            </a:extLst>
          </p:cNvPr>
          <p:cNvPicPr>
            <a:picLocks noChangeAspect="1"/>
          </p:cNvPicPr>
          <p:nvPr/>
        </p:nvPicPr>
        <p:blipFill>
          <a:blip r:embed="rId3"/>
          <a:stretch>
            <a:fillRect/>
          </a:stretch>
        </p:blipFill>
        <p:spPr>
          <a:xfrm>
            <a:off x="662329" y="2087680"/>
            <a:ext cx="1752600" cy="1752600"/>
          </a:xfrm>
          <a:prstGeom prst="rect">
            <a:avLst/>
          </a:prstGeom>
        </p:spPr>
      </p:pic>
      <p:pic>
        <p:nvPicPr>
          <p:cNvPr id="16" name="Picture 15">
            <a:extLst>
              <a:ext uri="{FF2B5EF4-FFF2-40B4-BE49-F238E27FC236}">
                <a16:creationId xmlns:a16="http://schemas.microsoft.com/office/drawing/2014/main" id="{20A23C5E-5904-1DAD-351B-167A4F393114}"/>
              </a:ext>
            </a:extLst>
          </p:cNvPr>
          <p:cNvPicPr>
            <a:picLocks noChangeAspect="1"/>
          </p:cNvPicPr>
          <p:nvPr/>
        </p:nvPicPr>
        <p:blipFill>
          <a:blip r:embed="rId4"/>
          <a:stretch>
            <a:fillRect/>
          </a:stretch>
        </p:blipFill>
        <p:spPr>
          <a:xfrm>
            <a:off x="6477000" y="2082800"/>
            <a:ext cx="1752600" cy="1752600"/>
          </a:xfrm>
          <a:prstGeom prst="rect">
            <a:avLst/>
          </a:prstGeom>
        </p:spPr>
      </p:pic>
    </p:spTree>
    <p:extLst>
      <p:ext uri="{BB962C8B-B14F-4D97-AF65-F5344CB8AC3E}">
        <p14:creationId xmlns:p14="http://schemas.microsoft.com/office/powerpoint/2010/main" val="1026915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C6434-DFB8-E1FE-E272-5F4490BA0C23}"/>
              </a:ext>
            </a:extLst>
          </p:cNvPr>
          <p:cNvSpPr>
            <a:spLocks noGrp="1"/>
          </p:cNvSpPr>
          <p:nvPr>
            <p:ph type="title" idx="102"/>
          </p:nvPr>
        </p:nvSpPr>
        <p:spPr/>
        <p:txBody>
          <a:bodyPr/>
          <a:lstStyle/>
          <a:p>
            <a:r>
              <a:rPr lang="en-US" dirty="0"/>
              <a:t>Disclaimer</a:t>
            </a:r>
          </a:p>
        </p:txBody>
      </p:sp>
      <p:sp>
        <p:nvSpPr>
          <p:cNvPr id="3" name="Rounded Rectangle 2">
            <a:extLst>
              <a:ext uri="{FF2B5EF4-FFF2-40B4-BE49-F238E27FC236}">
                <a16:creationId xmlns:a16="http://schemas.microsoft.com/office/drawing/2014/main" id="{C612B187-63AC-484D-96FF-F51A43C7A849}"/>
              </a:ext>
            </a:extLst>
          </p:cNvPr>
          <p:cNvSpPr/>
          <p:nvPr/>
        </p:nvSpPr>
        <p:spPr>
          <a:xfrm>
            <a:off x="685800" y="2095500"/>
            <a:ext cx="10820400" cy="3810000"/>
          </a:xfrm>
          <a:prstGeom prst="roundRect">
            <a:avLst/>
          </a:prstGeom>
          <a:solidFill>
            <a:srgbClr val="F7F4EF"/>
          </a:solidFill>
          <a:ln w="15875" cap="flat" cmpd="sng" algn="ctr">
            <a:solidFill>
              <a:srgbClr val="15686B"/>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Rectangle 3">
            <a:extLst>
              <a:ext uri="{FF2B5EF4-FFF2-40B4-BE49-F238E27FC236}">
                <a16:creationId xmlns:a16="http://schemas.microsoft.com/office/drawing/2014/main" id="{017521CD-DA07-AC4E-A7A3-3D3A710E92CB}"/>
              </a:ext>
            </a:extLst>
          </p:cNvPr>
          <p:cNvSpPr/>
          <p:nvPr/>
        </p:nvSpPr>
        <p:spPr>
          <a:xfrm>
            <a:off x="685800" y="2095500"/>
            <a:ext cx="127000" cy="38100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817C05EF-D295-C643-A361-AF4175794819}"/>
              </a:ext>
            </a:extLst>
          </p:cNvPr>
          <p:cNvSpPr txBox="1"/>
          <p:nvPr/>
        </p:nvSpPr>
        <p:spPr>
          <a:xfrm>
            <a:off x="1168400" y="2438400"/>
            <a:ext cx="9906000" cy="508000"/>
          </a:xfrm>
          <a:prstGeom prst="rect">
            <a:avLst/>
          </a:prstGeom>
          <a:noFill/>
        </p:spPr>
        <p:txBody>
          <a:bodyPr vertOverflow="overflow" vert="horz" wrap="square" rtlCol="0" anchor="t">
            <a:noAutofit/>
          </a:bodyPr>
          <a:lstStyle/>
          <a:p>
            <a:pPr algn="l"/>
            <a:r>
              <a:rPr lang="en-US" sz="2200" b="1">
                <a:solidFill>
                  <a:srgbClr val="15686B"/>
                </a:solidFill>
                <a:latin typeface="Bookman Old Style"/>
              </a:rPr>
              <a:t>This presentation is for educational purposes only.</a:t>
            </a:r>
          </a:p>
        </p:txBody>
      </p:sp>
      <p:sp>
        <p:nvSpPr>
          <p:cNvPr id="6" name="TextBox 5">
            <a:extLst>
              <a:ext uri="{FF2B5EF4-FFF2-40B4-BE49-F238E27FC236}">
                <a16:creationId xmlns:a16="http://schemas.microsoft.com/office/drawing/2014/main" id="{01985791-1FC6-B047-8506-DF1BFD2D57D3}"/>
              </a:ext>
            </a:extLst>
          </p:cNvPr>
          <p:cNvSpPr txBox="1"/>
          <p:nvPr/>
        </p:nvSpPr>
        <p:spPr>
          <a:xfrm>
            <a:off x="1168400" y="3048000"/>
            <a:ext cx="10033000" cy="2603500"/>
          </a:xfrm>
          <a:prstGeom prst="rect">
            <a:avLst/>
          </a:prstGeom>
          <a:noFill/>
        </p:spPr>
        <p:txBody>
          <a:bodyPr vertOverflow="overflow" vert="horz" wrap="square" rtlCol="0" anchor="t">
            <a:noAutofit/>
          </a:bodyPr>
          <a:lstStyle/>
          <a:p>
            <a:pPr algn="l"/>
            <a:r>
              <a:rPr lang="en-US" sz="1600">
                <a:solidFill>
                  <a:srgbClr val="262320"/>
                </a:solidFill>
                <a:latin typeface="Calibri"/>
                <a:cs typeface="Calibri"/>
              </a:rPr>
              <a:t>The content does not constitute medical advice and is not a substitute for professional diagnosis, treatment, or care. Nothing presented here should be used to make decisions about your health or the health of others.
Always seek the advice of a qualified physician or other licensed healthcare provider with any questions you may have regarding a medical condition, test result, or treatment. Never disregard professional medical advice or delay seeking it because of something discussed in this presentation.</a:t>
            </a:r>
          </a:p>
        </p:txBody>
      </p:sp>
    </p:spTree>
    <p:extLst>
      <p:ext uri="{BB962C8B-B14F-4D97-AF65-F5344CB8AC3E}">
        <p14:creationId xmlns:p14="http://schemas.microsoft.com/office/powerpoint/2010/main" val="25825260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50126-7440-1590-4C70-F58F33D427B8}"/>
              </a:ext>
            </a:extLst>
          </p:cNvPr>
          <p:cNvSpPr>
            <a:spLocks noGrp="1"/>
          </p:cNvSpPr>
          <p:nvPr>
            <p:ph type="title" idx="102"/>
          </p:nvPr>
        </p:nvSpPr>
        <p:spPr/>
        <p:txBody>
          <a:bodyPr/>
          <a:lstStyle/>
          <a:p>
            <a:pPr algn="l">
              <a:buNone/>
            </a:pPr>
            <a:r>
              <a:rPr lang="en-US" b="1" dirty="0"/>
              <a:t>The Five Faults</a:t>
            </a:r>
          </a:p>
        </p:txBody>
      </p:sp>
      <p:grpSp>
        <p:nvGrpSpPr>
          <p:cNvPr id="13" name="Group 12">
            <a:extLst>
              <a:ext uri="{FF2B5EF4-FFF2-40B4-BE49-F238E27FC236}">
                <a16:creationId xmlns:a16="http://schemas.microsoft.com/office/drawing/2014/main" id="{C5CB8C89-50DD-22CD-174B-BC09CF7AACEB}"/>
              </a:ext>
            </a:extLst>
          </p:cNvPr>
          <p:cNvGrpSpPr/>
          <p:nvPr/>
        </p:nvGrpSpPr>
        <p:grpSpPr>
          <a:xfrm>
            <a:off x="951186" y="3385933"/>
            <a:ext cx="10541000" cy="688348"/>
            <a:chOff x="762000" y="1874336"/>
            <a:chExt cx="10541000" cy="688348"/>
          </a:xfrm>
        </p:grpSpPr>
        <p:sp>
          <p:nvSpPr>
            <p:cNvPr id="80" name="ErrBadge1">
              <a:extLst>
                <a:ext uri="{FF2B5EF4-FFF2-40B4-BE49-F238E27FC236}">
                  <a16:creationId xmlns:a16="http://schemas.microsoft.com/office/drawing/2014/main" id="{F0998706-CCA9-D843-9E12-327649D378EE}"/>
                </a:ext>
              </a:extLst>
            </p:cNvPr>
            <p:cNvSpPr/>
            <p:nvPr/>
          </p:nvSpPr>
          <p:spPr>
            <a:xfrm>
              <a:off x="762000" y="70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1</a:t>
              </a:r>
            </a:p>
          </p:txBody>
        </p:sp>
        <p:sp>
          <p:nvSpPr>
            <p:cNvPr id="81" name="ErrTitle1">
              <a:extLst>
                <a:ext uri="{FF2B5EF4-FFF2-40B4-BE49-F238E27FC236}">
                  <a16:creationId xmlns:a16="http://schemas.microsoft.com/office/drawing/2014/main" id="{FCC03E0A-53C5-6045-B806-A3AF5C0A7D8F}"/>
                </a:ext>
              </a:extLst>
            </p:cNvPr>
            <p:cNvSpPr txBox="1"/>
            <p:nvPr/>
          </p:nvSpPr>
          <p:spPr>
            <a:xfrm>
              <a:off x="1651000" y="680000"/>
              <a:ext cx="9652000" cy="400110"/>
            </a:xfrm>
            <a:prstGeom prst="rect">
              <a:avLst/>
            </a:prstGeom>
            <a:noFill/>
          </p:spPr>
          <p:txBody>
            <a:bodyPr vertOverflow="overflow" vert="horz" wrap="square" rtlCol="0" anchor="t" anchorCtr="0">
              <a:spAutoFit/>
            </a:bodyPr>
            <a:lstStyle/>
            <a:p>
              <a:pPr algn="l"/>
              <a:r>
                <a:rPr lang="en-US" sz="2000" b="1" dirty="0"/>
                <a:t>Relative reporting</a:t>
              </a:r>
            </a:p>
          </p:txBody>
        </p:sp>
        <p:sp>
          <p:nvSpPr>
            <p:cNvPr id="82" name="ErrBadge2">
              <a:extLst>
                <a:ext uri="{FF2B5EF4-FFF2-40B4-BE49-F238E27FC236}">
                  <a16:creationId xmlns:a16="http://schemas.microsoft.com/office/drawing/2014/main" id="{F0998706-CCA9-D843-9E12-327649D378EE}"/>
                </a:ext>
              </a:extLst>
            </p:cNvPr>
            <p:cNvSpPr/>
            <p:nvPr/>
          </p:nvSpPr>
          <p:spPr>
            <a:xfrm>
              <a:off x="762000" y="145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2</a:t>
              </a:r>
            </a:p>
          </p:txBody>
        </p:sp>
        <p:sp>
          <p:nvSpPr>
            <p:cNvPr id="83" name="ErrTitle2">
              <a:extLst>
                <a:ext uri="{FF2B5EF4-FFF2-40B4-BE49-F238E27FC236}">
                  <a16:creationId xmlns:a16="http://schemas.microsoft.com/office/drawing/2014/main" id="{FCC03E0A-53C5-6045-B806-A3AF5C0A7D8F}"/>
                </a:ext>
              </a:extLst>
            </p:cNvPr>
            <p:cNvSpPr txBox="1"/>
            <p:nvPr/>
          </p:nvSpPr>
          <p:spPr>
            <a:xfrm>
              <a:off x="1651000" y="1430000"/>
              <a:ext cx="9652000" cy="400110"/>
            </a:xfrm>
            <a:prstGeom prst="rect">
              <a:avLst/>
            </a:prstGeom>
            <a:noFill/>
          </p:spPr>
          <p:txBody>
            <a:bodyPr vertOverflow="overflow" vert="horz" wrap="square" rtlCol="0" anchor="t" anchorCtr="0">
              <a:spAutoFit/>
            </a:bodyPr>
            <a:lstStyle/>
            <a:p>
              <a:pPr algn="l"/>
              <a:r>
                <a:rPr lang="en-US" sz="2000" b="1" dirty="0"/>
                <a:t>Probability reversal</a:t>
              </a:r>
            </a:p>
          </p:txBody>
        </p:sp>
        <p:sp>
          <p:nvSpPr>
            <p:cNvPr id="84" name="ErrBadge3">
              <a:extLst>
                <a:ext uri="{FF2B5EF4-FFF2-40B4-BE49-F238E27FC236}">
                  <a16:creationId xmlns:a16="http://schemas.microsoft.com/office/drawing/2014/main" id="{F0998706-CCA9-D843-9E12-327649D378EE}"/>
                </a:ext>
              </a:extLst>
            </p:cNvPr>
            <p:cNvSpPr/>
            <p:nvPr/>
          </p:nvSpPr>
          <p:spPr>
            <a:xfrm>
              <a:off x="762000" y="220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3</a:t>
              </a:r>
            </a:p>
          </p:txBody>
        </p:sp>
        <p:sp>
          <p:nvSpPr>
            <p:cNvPr id="85" name="ErrTitle3">
              <a:extLst>
                <a:ext uri="{FF2B5EF4-FFF2-40B4-BE49-F238E27FC236}">
                  <a16:creationId xmlns:a16="http://schemas.microsoft.com/office/drawing/2014/main" id="{FCC03E0A-53C5-6045-B806-A3AF5C0A7D8F}"/>
                </a:ext>
              </a:extLst>
            </p:cNvPr>
            <p:cNvSpPr txBox="1"/>
            <p:nvPr/>
          </p:nvSpPr>
          <p:spPr>
            <a:xfrm>
              <a:off x="1651000" y="2180000"/>
              <a:ext cx="9652000" cy="400110"/>
            </a:xfrm>
            <a:prstGeom prst="rect">
              <a:avLst/>
            </a:prstGeom>
            <a:noFill/>
          </p:spPr>
          <p:txBody>
            <a:bodyPr vertOverflow="overflow" vert="horz" wrap="square" rtlCol="0" anchor="t" anchorCtr="0">
              <a:spAutoFit/>
            </a:bodyPr>
            <a:lstStyle/>
            <a:p>
              <a:pPr algn="l"/>
              <a:r>
                <a:rPr lang="en-US" sz="2000" b="1" dirty="0"/>
                <a:t>Arbitrary categories</a:t>
              </a:r>
            </a:p>
          </p:txBody>
        </p:sp>
        <p:sp>
          <p:nvSpPr>
            <p:cNvPr id="86" name="ErrBadge4">
              <a:extLst>
                <a:ext uri="{FF2B5EF4-FFF2-40B4-BE49-F238E27FC236}">
                  <a16:creationId xmlns:a16="http://schemas.microsoft.com/office/drawing/2014/main" id="{F0998706-CCA9-D843-9E12-327649D378EE}"/>
                </a:ext>
              </a:extLst>
            </p:cNvPr>
            <p:cNvSpPr/>
            <p:nvPr/>
          </p:nvSpPr>
          <p:spPr>
            <a:xfrm>
              <a:off x="762000" y="295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4</a:t>
              </a:r>
            </a:p>
          </p:txBody>
        </p:sp>
        <p:sp>
          <p:nvSpPr>
            <p:cNvPr id="87" name="ErrTitle4">
              <a:extLst>
                <a:ext uri="{FF2B5EF4-FFF2-40B4-BE49-F238E27FC236}">
                  <a16:creationId xmlns:a16="http://schemas.microsoft.com/office/drawing/2014/main" id="{FCC03E0A-53C5-6045-B806-A3AF5C0A7D8F}"/>
                </a:ext>
              </a:extLst>
            </p:cNvPr>
            <p:cNvSpPr txBox="1"/>
            <p:nvPr/>
          </p:nvSpPr>
          <p:spPr>
            <a:xfrm>
              <a:off x="1651000" y="2930000"/>
              <a:ext cx="9652000" cy="400110"/>
            </a:xfrm>
            <a:prstGeom prst="rect">
              <a:avLst/>
            </a:prstGeom>
            <a:noFill/>
          </p:spPr>
          <p:txBody>
            <a:bodyPr vertOverflow="overflow" vert="horz" wrap="square" rtlCol="0" anchor="t" anchorCtr="0">
              <a:spAutoFit/>
            </a:bodyPr>
            <a:lstStyle/>
            <a:p>
              <a:pPr algn="l"/>
              <a:r>
                <a:rPr lang="en-US" sz="2000" b="1" dirty="0"/>
                <a:t>The Bernoulli fallacy</a:t>
              </a:r>
            </a:p>
          </p:txBody>
        </p:sp>
        <p:sp>
          <p:nvSpPr>
            <p:cNvPr id="88" name="ErrBadge5">
              <a:extLst>
                <a:ext uri="{FF2B5EF4-FFF2-40B4-BE49-F238E27FC236}">
                  <a16:creationId xmlns:a16="http://schemas.microsoft.com/office/drawing/2014/main" id="{F0998706-CCA9-D843-9E12-327649D378EE}"/>
                </a:ext>
              </a:extLst>
            </p:cNvPr>
            <p:cNvSpPr/>
            <p:nvPr/>
          </p:nvSpPr>
          <p:spPr>
            <a:xfrm>
              <a:off x="762000" y="3705400"/>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5</a:t>
              </a:r>
            </a:p>
          </p:txBody>
        </p:sp>
        <p:sp>
          <p:nvSpPr>
            <p:cNvPr id="89" name="ErrTitle5">
              <a:extLst>
                <a:ext uri="{FF2B5EF4-FFF2-40B4-BE49-F238E27FC236}">
                  <a16:creationId xmlns:a16="http://schemas.microsoft.com/office/drawing/2014/main" id="{FCC03E0A-53C5-6045-B806-A3AF5C0A7D8F}"/>
                </a:ext>
              </a:extLst>
            </p:cNvPr>
            <p:cNvSpPr txBox="1"/>
            <p:nvPr/>
          </p:nvSpPr>
          <p:spPr>
            <a:xfrm>
              <a:off x="1651000" y="3680000"/>
              <a:ext cx="9652000" cy="400110"/>
            </a:xfrm>
            <a:prstGeom prst="rect">
              <a:avLst/>
            </a:prstGeom>
            <a:noFill/>
          </p:spPr>
          <p:txBody>
            <a:bodyPr vertOverflow="overflow" vert="horz" wrap="square" rtlCol="0" anchor="t" anchorCtr="0">
              <a:spAutoFit/>
            </a:bodyPr>
            <a:lstStyle/>
            <a:p>
              <a:pPr algn="l"/>
              <a:r>
                <a:rPr lang="en-US" sz="2000" b="1" dirty="0"/>
                <a:t>The causal leap</a:t>
              </a:r>
            </a:p>
          </p:txBody>
        </p:sp>
        <p:sp>
          <p:nvSpPr>
            <p:cNvPr id="300" name="FaultTag300">
              <a:extLst>
                <a:ext uri="{FF2B5EF4-FFF2-40B4-BE49-F238E27FC236}">
                  <a16:creationId xmlns:a16="http://schemas.microsoft.com/office/drawing/2014/main" id="{6D74C8DC-CDBB-EE4C-BA2A-F94E81E7ED83}"/>
                </a:ext>
              </a:extLst>
            </p:cNvPr>
            <p:cNvSpPr txBox="1"/>
            <p:nvPr/>
          </p:nvSpPr>
          <p:spPr>
            <a:xfrm>
              <a:off x="1651000" y="106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What does a 36% improvement from taking a drug really mean?</a:t>
              </a:r>
            </a:p>
          </p:txBody>
        </p:sp>
        <p:sp>
          <p:nvSpPr>
            <p:cNvPr id="301" name="FaultTag301">
              <a:extLst>
                <a:ext uri="{FF2B5EF4-FFF2-40B4-BE49-F238E27FC236}">
                  <a16:creationId xmlns:a16="http://schemas.microsoft.com/office/drawing/2014/main" id="{6D74C8DC-CDBB-EE4C-BA2A-F94E81E7ED83}"/>
                </a:ext>
              </a:extLst>
            </p:cNvPr>
            <p:cNvSpPr txBox="1"/>
            <p:nvPr/>
          </p:nvSpPr>
          <p:spPr>
            <a:xfrm>
              <a:off x="1651000" y="181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What does a positive COVID test really mean?</a:t>
              </a:r>
            </a:p>
          </p:txBody>
        </p:sp>
        <p:sp>
          <p:nvSpPr>
            <p:cNvPr id="302" name="FaultTag302">
              <a:extLst>
                <a:ext uri="{FF2B5EF4-FFF2-40B4-BE49-F238E27FC236}">
                  <a16:creationId xmlns:a16="http://schemas.microsoft.com/office/drawing/2014/main" id="{6D74C8DC-CDBB-EE4C-BA2A-F94E81E7ED83}"/>
                </a:ext>
              </a:extLst>
            </p:cNvPr>
            <p:cNvSpPr txBox="1"/>
            <p:nvPr/>
          </p:nvSpPr>
          <p:spPr>
            <a:xfrm>
              <a:off x="1651000" y="256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How concerned should you be if your systolic BP goes from 119 to 120?</a:t>
              </a:r>
            </a:p>
          </p:txBody>
        </p:sp>
        <p:sp>
          <p:nvSpPr>
            <p:cNvPr id="303" name="FaultTag303">
              <a:extLst>
                <a:ext uri="{FF2B5EF4-FFF2-40B4-BE49-F238E27FC236}">
                  <a16:creationId xmlns:a16="http://schemas.microsoft.com/office/drawing/2014/main" id="{6D74C8DC-CDBB-EE4C-BA2A-F94E81E7ED83}"/>
                </a:ext>
              </a:extLst>
            </p:cNvPr>
            <p:cNvSpPr txBox="1"/>
            <p:nvPr/>
          </p:nvSpPr>
          <p:spPr>
            <a:xfrm>
              <a:off x="1651000" y="331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Why does the published medical advice keep changing?</a:t>
              </a:r>
            </a:p>
          </p:txBody>
        </p:sp>
        <p:sp>
          <p:nvSpPr>
            <p:cNvPr id="304" name="FaultTag304">
              <a:extLst>
                <a:ext uri="{FF2B5EF4-FFF2-40B4-BE49-F238E27FC236}">
                  <a16:creationId xmlns:a16="http://schemas.microsoft.com/office/drawing/2014/main" id="{6D74C8DC-CDBB-EE4C-BA2A-F94E81E7ED83}"/>
                </a:ext>
              </a:extLst>
            </p:cNvPr>
            <p:cNvSpPr txBox="1"/>
            <p:nvPr/>
          </p:nvSpPr>
          <p:spPr>
            <a:xfrm>
              <a:off x="1651000" y="4063548"/>
              <a:ext cx="8000000" cy="304800"/>
            </a:xfrm>
            <a:prstGeom prst="rect">
              <a:avLst/>
            </a:prstGeom>
            <a:noFill/>
          </p:spPr>
          <p:txBody>
            <a:bodyPr vertOverflow="overflow" vert="horz" wrap="square" rtlCol="0" anchor="t" anchorCtr="0">
              <a:spAutoFit/>
            </a:bodyPr>
            <a:lstStyle/>
            <a:p>
              <a:pPr algn="l"/>
              <a:r>
                <a:rPr lang="en-US" sz="1300" i="1" dirty="0">
                  <a:solidFill>
                    <a:srgbClr val="5A5A5A"/>
                  </a:solidFill>
                </a:rPr>
                <a:t>Does bird watching prevent dementia?</a:t>
              </a:r>
            </a:p>
          </p:txBody>
        </p:sp>
        <p:sp>
          <p:nvSpPr>
            <p:cNvPr id="210" name="DayTag210">
              <a:extLst>
                <a:ext uri="{FF2B5EF4-FFF2-40B4-BE49-F238E27FC236}">
                  <a16:creationId xmlns:a16="http://schemas.microsoft.com/office/drawing/2014/main" id="{6D74C8DC-CDBB-EE4C-BA2A-F94E81E7ED83}"/>
                </a:ext>
              </a:extLst>
            </p:cNvPr>
            <p:cNvSpPr txBox="1"/>
            <p:nvPr/>
          </p:nvSpPr>
          <p:spPr>
            <a:xfrm>
              <a:off x="6200000" y="75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1</a:t>
              </a:r>
            </a:p>
          </p:txBody>
        </p:sp>
        <p:sp>
          <p:nvSpPr>
            <p:cNvPr id="211" name="DayTag211">
              <a:extLst>
                <a:ext uri="{FF2B5EF4-FFF2-40B4-BE49-F238E27FC236}">
                  <a16:creationId xmlns:a16="http://schemas.microsoft.com/office/drawing/2014/main" id="{6D74C8DC-CDBB-EE4C-BA2A-F94E81E7ED83}"/>
                </a:ext>
              </a:extLst>
            </p:cNvPr>
            <p:cNvSpPr txBox="1"/>
            <p:nvPr/>
          </p:nvSpPr>
          <p:spPr>
            <a:xfrm>
              <a:off x="6200000" y="150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2</a:t>
              </a:r>
            </a:p>
          </p:txBody>
        </p:sp>
        <p:sp>
          <p:nvSpPr>
            <p:cNvPr id="212" name="DayTag212">
              <a:extLst>
                <a:ext uri="{FF2B5EF4-FFF2-40B4-BE49-F238E27FC236}">
                  <a16:creationId xmlns:a16="http://schemas.microsoft.com/office/drawing/2014/main" id="{6D74C8DC-CDBB-EE4C-BA2A-F94E81E7ED83}"/>
                </a:ext>
              </a:extLst>
            </p:cNvPr>
            <p:cNvSpPr txBox="1"/>
            <p:nvPr/>
          </p:nvSpPr>
          <p:spPr>
            <a:xfrm>
              <a:off x="6200000" y="225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3</a:t>
              </a:r>
            </a:p>
          </p:txBody>
        </p:sp>
        <p:sp>
          <p:nvSpPr>
            <p:cNvPr id="213" name="DayTag213">
              <a:extLst>
                <a:ext uri="{FF2B5EF4-FFF2-40B4-BE49-F238E27FC236}">
                  <a16:creationId xmlns:a16="http://schemas.microsoft.com/office/drawing/2014/main" id="{6D74C8DC-CDBB-EE4C-BA2A-F94E81E7ED83}"/>
                </a:ext>
              </a:extLst>
            </p:cNvPr>
            <p:cNvSpPr txBox="1"/>
            <p:nvPr/>
          </p:nvSpPr>
          <p:spPr>
            <a:xfrm>
              <a:off x="6200000" y="300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3</a:t>
              </a:r>
            </a:p>
          </p:txBody>
        </p:sp>
        <p:sp>
          <p:nvSpPr>
            <p:cNvPr id="214" name="DayTag214">
              <a:extLst>
                <a:ext uri="{FF2B5EF4-FFF2-40B4-BE49-F238E27FC236}">
                  <a16:creationId xmlns:a16="http://schemas.microsoft.com/office/drawing/2014/main" id="{6D74C8DC-CDBB-EE4C-BA2A-F94E81E7ED83}"/>
                </a:ext>
              </a:extLst>
            </p:cNvPr>
            <p:cNvSpPr txBox="1"/>
            <p:nvPr/>
          </p:nvSpPr>
          <p:spPr>
            <a:xfrm>
              <a:off x="6200000" y="3752000"/>
              <a:ext cx="1600000" cy="304800"/>
            </a:xfrm>
            <a:prstGeom prst="rect">
              <a:avLst/>
            </a:prstGeom>
            <a:noFill/>
          </p:spPr>
          <p:txBody>
            <a:bodyPr vertOverflow="overflow" vert="horz" wrap="square" rtlCol="0" anchor="t" anchorCtr="0">
              <a:spAutoFit/>
            </a:bodyPr>
            <a:lstStyle/>
            <a:p>
              <a:pPr algn="l"/>
              <a:r>
                <a:rPr lang="en-US" sz="1400" dirty="0">
                  <a:solidFill>
                    <a:srgbClr val="15686B"/>
                  </a:solidFill>
                </a:rPr>
                <a:t>Day 4</a:t>
              </a:r>
            </a:p>
          </p:txBody>
        </p:sp>
        <p:sp>
          <p:nvSpPr>
            <p:cNvPr id="95" name="Tagline">
              <a:extLst>
                <a:ext uri="{FF2B5EF4-FFF2-40B4-BE49-F238E27FC236}">
                  <a16:creationId xmlns:a16="http://schemas.microsoft.com/office/drawing/2014/main" id="{6D74C8DC-CDBB-EE4C-BA2A-F94E81E7ED83}"/>
                </a:ext>
              </a:extLst>
            </p:cNvPr>
            <p:cNvSpPr txBox="1"/>
            <p:nvPr/>
          </p:nvSpPr>
          <p:spPr>
            <a:xfrm>
              <a:off x="1651000" y="4500000"/>
              <a:ext cx="9652000" cy="304800"/>
            </a:xfrm>
            <a:prstGeom prst="rect">
              <a:avLst/>
            </a:prstGeom>
            <a:noFill/>
          </p:spPr>
          <p:txBody>
            <a:bodyPr vertOverflow="overflow" vert="horz" wrap="square" rtlCol="0" anchor="t" anchorCtr="0">
              <a:spAutoFit/>
            </a:bodyPr>
            <a:lstStyle/>
            <a:p>
              <a:pPr algn="l"/>
              <a:r>
                <a:rPr lang="en-US" sz="2000" i="1" dirty="0">
                  <a:solidFill>
                    <a:srgbClr val="15686B"/>
                  </a:solidFill>
                </a:rPr>
                <a:t>Once you see them, you can’t unsee them.</a:t>
              </a:r>
            </a:p>
          </p:txBody>
        </p:sp>
      </p:grpSp>
    </p:spTree>
    <p:extLst>
      <p:ext uri="{BB962C8B-B14F-4D97-AF65-F5344CB8AC3E}">
        <p14:creationId xmlns:p14="http://schemas.microsoft.com/office/powerpoint/2010/main" val="16312740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EAE2">
            <a:alpha val="100000"/>
          </a:srgbClr>
        </a:solidFill>
        <a:effectLst/>
      </p:bgPr>
    </p:bg>
    <p:spTree>
      <p:nvGrpSpPr>
        <p:cNvPr id="1" name=""/>
        <p:cNvGrpSpPr/>
        <p:nvPr/>
      </p:nvGrpSpPr>
      <p:grpSpPr>
        <a:xfrm>
          <a:off x="0" y="0"/>
          <a:ext cx="0" cy="0"/>
          <a:chOff x="0" y="0"/>
          <a:chExt cx="0" cy="0"/>
        </a:xfrm>
      </p:grpSpPr>
      <p:sp>
        <p:nvSpPr>
          <p:cNvPr id="2" name="DividerEyebrow">
            <a:extLst>
              <a:ext uri="{FF2B5EF4-FFF2-40B4-BE49-F238E27FC236}">
                <a16:creationId xmlns:a16="http://schemas.microsoft.com/office/drawing/2014/main" id="{43DCC678-91EF-7B44-B2D7-D2CC82E0E9AA}"/>
              </a:ext>
            </a:extLst>
          </p:cNvPr>
          <p:cNvSpPr txBox="1"/>
          <p:nvPr/>
        </p:nvSpPr>
        <p:spPr>
          <a:xfrm>
            <a:off x="1066800" y="1905000"/>
            <a:ext cx="5080000" cy="430887"/>
          </a:xfrm>
          <a:prstGeom prst="rect">
            <a:avLst/>
          </a:prstGeom>
          <a:noFill/>
        </p:spPr>
        <p:txBody>
          <a:bodyPr vertOverflow="overflow" vert="horz" wrap="square" rtlCol="0" anchor="t" anchorCtr="0">
            <a:spAutoFit/>
          </a:bodyPr>
          <a:lstStyle/>
          <a:p>
            <a:pPr algn="l"/>
            <a:r>
              <a:rPr lang="en-US" sz="2200" b="1" dirty="0">
                <a:solidFill>
                  <a:srgbClr val="15686B"/>
                </a:solidFill>
              </a:rPr>
              <a:t>FAULT 5</a:t>
            </a:r>
          </a:p>
        </p:txBody>
      </p:sp>
      <p:sp>
        <p:nvSpPr>
          <p:cNvPr id="3" name="DividerNum">
            <a:extLst>
              <a:ext uri="{FF2B5EF4-FFF2-40B4-BE49-F238E27FC236}">
                <a16:creationId xmlns:a16="http://schemas.microsoft.com/office/drawing/2014/main" id="{07FB2CF1-E663-8246-8037-8D6C8382576B}"/>
              </a:ext>
            </a:extLst>
          </p:cNvPr>
          <p:cNvSpPr txBox="1"/>
          <p:nvPr/>
        </p:nvSpPr>
        <p:spPr>
          <a:xfrm>
            <a:off x="1041400" y="2349500"/>
            <a:ext cx="9652000" cy="1905000"/>
          </a:xfrm>
          <a:prstGeom prst="rect">
            <a:avLst/>
          </a:prstGeom>
          <a:noFill/>
        </p:spPr>
        <p:txBody>
          <a:bodyPr vertOverflow="overflow" vert="horz" wrap="square" rtlCol="0" anchor="ctr" anchorCtr="0">
            <a:spAutoFit/>
          </a:bodyPr>
          <a:lstStyle/>
          <a:p>
            <a:pPr algn="l"/>
            <a:r>
              <a:rPr lang="en-US" sz="5400" b="1" dirty="0">
                <a:solidFill>
                  <a:srgbClr val="15686B"/>
                </a:solidFill>
              </a:rPr>
              <a:t>The Causal Leap</a:t>
            </a:r>
          </a:p>
        </p:txBody>
      </p:sp>
      <p:sp>
        <p:nvSpPr>
          <p:cNvPr id="4" name="DividerRule">
            <a:extLst>
              <a:ext uri="{FF2B5EF4-FFF2-40B4-BE49-F238E27FC236}">
                <a16:creationId xmlns:a16="http://schemas.microsoft.com/office/drawing/2014/main" id="{9B746F38-27CC-8F48-9AB8-524EE588C1AC}"/>
              </a:ext>
            </a:extLst>
          </p:cNvPr>
          <p:cNvSpPr/>
          <p:nvPr/>
        </p:nvSpPr>
        <p:spPr>
          <a:xfrm>
            <a:off x="1066800" y="4445000"/>
            <a:ext cx="1143000" cy="63500"/>
          </a:xfrm>
          <a:prstGeom prst="rect">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DividerTitle">
            <a:extLst>
              <a:ext uri="{FF2B5EF4-FFF2-40B4-BE49-F238E27FC236}">
                <a16:creationId xmlns:a16="http://schemas.microsoft.com/office/drawing/2014/main" id="{423C2191-AB8A-764E-9F15-6ADA4D84F2D4}"/>
              </a:ext>
            </a:extLst>
          </p:cNvPr>
          <p:cNvSpPr txBox="1"/>
          <p:nvPr/>
        </p:nvSpPr>
        <p:spPr>
          <a:xfrm>
            <a:off x="1016000" y="4762500"/>
            <a:ext cx="10160000" cy="707886"/>
          </a:xfrm>
          <a:prstGeom prst="rect">
            <a:avLst/>
          </a:prstGeom>
          <a:noFill/>
        </p:spPr>
        <p:txBody>
          <a:bodyPr vertOverflow="overflow" vert="horz" wrap="square" rtlCol="0" anchor="t" anchorCtr="0">
            <a:spAutoFit/>
          </a:bodyPr>
          <a:lstStyle/>
          <a:p>
            <a:r>
              <a:rPr lang="en-US" sz="4000" b="1" i="1" dirty="0">
                <a:solidFill>
                  <a:srgbClr val="5A5A5A"/>
                </a:solidFill>
              </a:rPr>
              <a:t>Confusing Correlation with Causation</a:t>
            </a:r>
            <a:endParaRPr lang="en-US" sz="4000" b="1" dirty="0">
              <a:solidFill>
                <a:srgbClr val="15686B"/>
              </a:solidFill>
            </a:endParaRPr>
          </a:p>
        </p:txBody>
      </p:sp>
    </p:spTree>
    <p:extLst>
      <p:ext uri="{BB962C8B-B14F-4D97-AF65-F5344CB8AC3E}">
        <p14:creationId xmlns:p14="http://schemas.microsoft.com/office/powerpoint/2010/main" val="4325868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WHAT A CORRELATION IS</a:t>
            </a:r>
          </a:p>
        </p:txBody>
      </p:sp>
      <p:sp>
        <p:nvSpPr>
          <p:cNvPr id="402" name="Eyebrow"/>
          <p:cNvSpPr txBox="1"/>
          <p:nvPr/>
        </p:nvSpPr>
        <p:spPr>
          <a:xfrm>
            <a:off x="685800" y="1765300"/>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Two Things That Move Together</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A correlation is where every claim on this day begins, and it never says why.</a:t>
            </a:r>
          </a:p>
          <a:p>
            <a:pPr marL="0" indent="0" algn="ctr">
              <a:buNone/>
            </a:pPr>
            <a:r>
              <a:rPr lang="en-US" sz="1400" b="1" dirty="0">
                <a:solidFill>
                  <a:srgbClr val="000000"/>
                </a:solidFill>
                <a:latin typeface="Calibri"/>
                <a:cs typeface="Calibri"/>
              </a:rPr>
              <a:t>The next slide lays out the three ways two things come to move together.</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Fault 5, the causal leap: treating this pattern as if it named a cause. The two series above are illustrative, drawn to show the shape rather than measured.</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graphicFrame>
        <p:nvGraphicFramePr>
          <p:cNvPr id="950" name="CorrelationChart"/>
          <p:cNvGraphicFramePr/>
          <p:nvPr/>
        </p:nvGraphicFramePr>
        <p:xfrm>
          <a:off x="685800" y="2286000"/>
          <a:ext cx="5664200" cy="3175000"/>
        </p:xfrm>
        <a:graphic>
          <a:graphicData uri="http://schemas.openxmlformats.org/drawingml/2006/chart">
            <c:chart xmlns:c="http://schemas.openxmlformats.org/drawingml/2006/chart" xmlns:r="http://schemas.openxmlformats.org/officeDocument/2006/relationships" r:id="rId3"/>
          </a:graphicData>
        </a:graphic>
      </p:graphicFrame>
      <p:sp>
        <p:nvSpPr>
          <p:cNvPr id="3" name="Rectangle 2">
            <a:extLst>
              <a:ext uri="{FF2B5EF4-FFF2-40B4-BE49-F238E27FC236}">
                <a16:creationId xmlns:a16="http://schemas.microsoft.com/office/drawing/2014/main" id="{3AF61C18-9F8E-7840-BBD5-C4C33AAC8A31}"/>
              </a:ext>
            </a:extLst>
          </p:cNvPr>
          <p:cNvSpPr/>
          <p:nvPr/>
        </p:nvSpPr>
        <p:spPr>
          <a:xfrm>
            <a:off x="6604000" y="2286000"/>
            <a:ext cx="50800" cy="990600"/>
          </a:xfrm>
          <a:prstGeom prst="rect">
            <a:avLst/>
          </a:prstGeom>
          <a:solidFill>
            <a:srgbClr val="C268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C0A14CB4-4DC2-E949-B3AE-1ADC282B0D18}"/>
              </a:ext>
            </a:extLst>
          </p:cNvPr>
          <p:cNvSpPr txBox="1"/>
          <p:nvPr/>
        </p:nvSpPr>
        <p:spPr>
          <a:xfrm>
            <a:off x="6807200" y="2286000"/>
            <a:ext cx="4699000" cy="990600"/>
          </a:xfrm>
          <a:prstGeom prst="rect">
            <a:avLst/>
          </a:prstGeom>
          <a:noFill/>
        </p:spPr>
        <p:txBody>
          <a:bodyPr vertOverflow="overflow" vert="horz" wrap="square" rtlCol="0" anchor="t" anchorCtr="0">
            <a:noAutofit/>
          </a:bodyPr>
          <a:lstStyle/>
          <a:p>
            <a:pPr marL="0" indent="0" algn="l">
              <a:spcAft>
                <a:spcPts val="200"/>
              </a:spcAft>
              <a:buNone/>
            </a:pPr>
            <a:r>
              <a:rPr lang="en-US" sz="1400" b="1" spc="120" dirty="0">
                <a:solidFill>
                  <a:srgbClr val="C2683F"/>
                </a:solidFill>
                <a:latin typeface="Calibri"/>
                <a:cs typeface="Calibri"/>
              </a:rPr>
              <a:t>THE PATTERN</a:t>
            </a:r>
          </a:p>
          <a:p>
            <a:pPr marL="0" indent="0" algn="l">
              <a:buNone/>
            </a:pPr>
            <a:r>
              <a:rPr lang="en-US" sz="1700" b="1" dirty="0">
                <a:solidFill>
                  <a:srgbClr val="262320"/>
                </a:solidFill>
                <a:latin typeface="Calibri"/>
                <a:cs typeface="Calibri"/>
              </a:rPr>
              <a:t>They rise and fall together</a:t>
            </a:r>
          </a:p>
          <a:p>
            <a:pPr marL="0" indent="0" algn="l">
              <a:buNone/>
            </a:pPr>
            <a:r>
              <a:rPr lang="en-US" sz="1600" dirty="0">
                <a:solidFill>
                  <a:srgbClr val="262320"/>
                </a:solidFill>
                <a:latin typeface="Calibri"/>
                <a:cs typeface="Calibri"/>
              </a:rPr>
              <a:t>When one moves, the other tends to move with it.</a:t>
            </a:r>
          </a:p>
        </p:txBody>
      </p:sp>
      <p:sp>
        <p:nvSpPr>
          <p:cNvPr id="5" name="Rectangle 4">
            <a:extLst>
              <a:ext uri="{FF2B5EF4-FFF2-40B4-BE49-F238E27FC236}">
                <a16:creationId xmlns:a16="http://schemas.microsoft.com/office/drawing/2014/main" id="{8E1AA0BF-729D-B74B-87D6-4428FE598169}"/>
              </a:ext>
            </a:extLst>
          </p:cNvPr>
          <p:cNvSpPr/>
          <p:nvPr/>
        </p:nvSpPr>
        <p:spPr>
          <a:xfrm>
            <a:off x="6604000" y="3403600"/>
            <a:ext cx="50800" cy="990600"/>
          </a:xfrm>
          <a:prstGeom prst="rect">
            <a:avLst/>
          </a:prstGeom>
          <a:solidFill>
            <a:srgbClr val="1F386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extBox 5">
            <a:extLst>
              <a:ext uri="{FF2B5EF4-FFF2-40B4-BE49-F238E27FC236}">
                <a16:creationId xmlns:a16="http://schemas.microsoft.com/office/drawing/2014/main" id="{81C8B040-6D3F-CF4E-A31F-F4BC9C1E5B97}"/>
              </a:ext>
            </a:extLst>
          </p:cNvPr>
          <p:cNvSpPr txBox="1"/>
          <p:nvPr/>
        </p:nvSpPr>
        <p:spPr>
          <a:xfrm>
            <a:off x="6807200" y="3403600"/>
            <a:ext cx="4699000" cy="990600"/>
          </a:xfrm>
          <a:prstGeom prst="rect">
            <a:avLst/>
          </a:prstGeom>
          <a:noFill/>
        </p:spPr>
        <p:txBody>
          <a:bodyPr vertOverflow="overflow" vert="horz" wrap="square" rtlCol="0" anchor="t" anchorCtr="0">
            <a:noAutofit/>
          </a:bodyPr>
          <a:lstStyle/>
          <a:p>
            <a:pPr marL="0" indent="0" algn="l">
              <a:spcAft>
                <a:spcPts val="200"/>
              </a:spcAft>
              <a:buNone/>
            </a:pPr>
            <a:r>
              <a:rPr lang="en-US" sz="1400" b="1" spc="120" dirty="0">
                <a:solidFill>
                  <a:srgbClr val="1F3864"/>
                </a:solidFill>
                <a:latin typeface="Calibri"/>
                <a:cs typeface="Calibri"/>
              </a:rPr>
              <a:t>WHAT YOU SEE</a:t>
            </a:r>
          </a:p>
          <a:p>
            <a:pPr marL="0" indent="0" algn="l">
              <a:buNone/>
            </a:pPr>
            <a:r>
              <a:rPr lang="en-US" sz="1700" b="1" dirty="0">
                <a:solidFill>
                  <a:srgbClr val="262320"/>
                </a:solidFill>
                <a:latin typeface="Calibri"/>
                <a:cs typeface="Calibri"/>
              </a:rPr>
              <a:t>You can see it in the numbers</a:t>
            </a:r>
          </a:p>
          <a:p>
            <a:pPr marL="0" indent="0" algn="l">
              <a:buNone/>
            </a:pPr>
            <a:r>
              <a:rPr lang="en-US" sz="1600" dirty="0">
                <a:solidFill>
                  <a:srgbClr val="262320"/>
                </a:solidFill>
                <a:latin typeface="Calibri"/>
                <a:cs typeface="Calibri"/>
              </a:rPr>
              <a:t>Plot the two over time and the lines echo each other.</a:t>
            </a:r>
          </a:p>
        </p:txBody>
      </p:sp>
      <p:sp>
        <p:nvSpPr>
          <p:cNvPr id="7" name="Rectangle 6">
            <a:extLst>
              <a:ext uri="{FF2B5EF4-FFF2-40B4-BE49-F238E27FC236}">
                <a16:creationId xmlns:a16="http://schemas.microsoft.com/office/drawing/2014/main" id="{CBF2D40E-4949-5545-B48A-0580C50DEB69}"/>
              </a:ext>
            </a:extLst>
          </p:cNvPr>
          <p:cNvSpPr/>
          <p:nvPr/>
        </p:nvSpPr>
        <p:spPr>
          <a:xfrm>
            <a:off x="6604000" y="4521200"/>
            <a:ext cx="50800" cy="990600"/>
          </a:xfrm>
          <a:prstGeom prst="rect">
            <a:avLst/>
          </a:prstGeom>
          <a:solidFill>
            <a:srgbClr val="8A2A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TextBox 7">
            <a:extLst>
              <a:ext uri="{FF2B5EF4-FFF2-40B4-BE49-F238E27FC236}">
                <a16:creationId xmlns:a16="http://schemas.microsoft.com/office/drawing/2014/main" id="{BEAE1328-05F2-6F4B-AC21-094042E7759B}"/>
              </a:ext>
            </a:extLst>
          </p:cNvPr>
          <p:cNvSpPr txBox="1"/>
          <p:nvPr/>
        </p:nvSpPr>
        <p:spPr>
          <a:xfrm>
            <a:off x="6807200" y="4521200"/>
            <a:ext cx="4699000" cy="990600"/>
          </a:xfrm>
          <a:prstGeom prst="rect">
            <a:avLst/>
          </a:prstGeom>
          <a:noFill/>
        </p:spPr>
        <p:txBody>
          <a:bodyPr vertOverflow="overflow" vert="horz" wrap="square" rtlCol="0" anchor="t" anchorCtr="0">
            <a:noAutofit/>
          </a:bodyPr>
          <a:lstStyle/>
          <a:p>
            <a:pPr marL="0" indent="0" algn="l">
              <a:spcAft>
                <a:spcPts val="200"/>
              </a:spcAft>
              <a:buNone/>
            </a:pPr>
            <a:r>
              <a:rPr lang="en-US" sz="1400" b="1" spc="120" dirty="0">
                <a:solidFill>
                  <a:srgbClr val="8A2A2A"/>
                </a:solidFill>
                <a:latin typeface="Calibri"/>
                <a:cs typeface="Calibri"/>
              </a:rPr>
              <a:t>NOT A CAUSE</a:t>
            </a:r>
          </a:p>
          <a:p>
            <a:pPr marL="0" indent="0" algn="l">
              <a:buNone/>
            </a:pPr>
            <a:r>
              <a:rPr lang="en-US" sz="1700" b="1" dirty="0">
                <a:solidFill>
                  <a:srgbClr val="262320"/>
                </a:solidFill>
                <a:latin typeface="Calibri"/>
                <a:cs typeface="Calibri"/>
              </a:rPr>
              <a:t>The reason is a separate question</a:t>
            </a:r>
          </a:p>
          <a:p>
            <a:pPr marL="0" indent="0" algn="l">
              <a:buNone/>
            </a:pPr>
            <a:r>
              <a:rPr lang="en-US" sz="1600" dirty="0">
                <a:solidFill>
                  <a:srgbClr val="262320"/>
                </a:solidFill>
                <a:latin typeface="Calibri"/>
                <a:cs typeface="Calibri"/>
              </a:rPr>
              <a:t>A correlation is a fact about the data, not an explanation.</a:t>
            </a:r>
          </a:p>
        </p:txBody>
      </p:sp>
    </p:spTree>
    <p:extLst>
      <p:ext uri="{BB962C8B-B14F-4D97-AF65-F5344CB8AC3E}">
        <p14:creationId xmlns:p14="http://schemas.microsoft.com/office/powerpoint/2010/main" val="33190081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685800" y="868680"/>
            <a:ext cx="10820400" cy="868680"/>
          </a:xfrm>
          <a:prstGeom prst="rect">
            <a:avLst/>
          </a:prstGeom>
          <a:noFill/>
          <a:ln/>
        </p:spPr>
        <p:txBody>
          <a:bodyPr wrap="square" lIns="0" tIns="0" rIns="0" bIns="0" rtlCol="0" anchor="ctr"/>
          <a:lstStyle/>
          <a:p>
            <a:pPr marL="0" indent="0" algn="l">
              <a:buNone/>
            </a:pPr>
            <a:r>
              <a:rPr lang="en-US" sz="3800" dirty="0"/>
              <a:t>Three Explanations for a Correlation</a:t>
            </a:r>
          </a:p>
        </p:txBody>
      </p:sp>
      <p:grpSp>
        <p:nvGrpSpPr>
          <p:cNvPr id="716" name="Card1Graphic"/>
          <p:cNvGrpSpPr/>
          <p:nvPr/>
        </p:nvGrpSpPr>
        <p:grpSpPr>
          <a:xfrm>
            <a:off x="685800" y="1905000"/>
            <a:ext cx="3416300" cy="2984500"/>
            <a:chOff x="685800" y="1905000"/>
            <a:chExt cx="3416300" cy="2984500"/>
          </a:xfrm>
        </p:grpSpPr>
        <p:sp>
          <p:nvSpPr>
            <p:cNvPr id="702" name="Card"/>
            <p:cNvSpPr/>
            <p:nvPr/>
          </p:nvSpPr>
          <p:spPr>
            <a:xfrm>
              <a:off x="685800" y="1900000"/>
              <a:ext cx="3413760" cy="2880000"/>
            </a:xfrm>
            <a:prstGeom prst="roundRect">
              <a:avLst>
                <a:gd name="adj" fmla="val 6000"/>
              </a:avLst>
            </a:prstGeom>
            <a:solidFill>
              <a:srgbClr val="FFFFFF"/>
            </a:solidFill>
            <a:ln w="15875" cap="flat" cmpd="sng" algn="ctr">
              <a:solidFill>
                <a:srgbClr val="C2683F"/>
              </a:solidFill>
              <a:prstDash val="solid"/>
              <a:miter lim="800000"/>
            </a:ln>
          </p:spPr>
          <p:txBody>
            <a:bodyPr rtlCol="0" anchor="t"/>
            <a:lstStyle/>
            <a:p>
              <a:endParaRPr lang="en-US"/>
            </a:p>
          </p:txBody>
        </p:sp>
        <p:grpSp>
          <p:nvGrpSpPr>
            <p:cNvPr id="2" name="Group 1">
              <a:extLst>
                <a:ext uri="{FF2B5EF4-FFF2-40B4-BE49-F238E27FC236}">
                  <a16:creationId xmlns:a16="http://schemas.microsoft.com/office/drawing/2014/main" id="{B21234BF-63BE-FCBC-4EE1-0B241A7C7928}"/>
                </a:ext>
              </a:extLst>
            </p:cNvPr>
            <p:cNvGrpSpPr/>
            <p:nvPr/>
          </p:nvGrpSpPr>
          <p:grpSpPr>
            <a:xfrm>
              <a:off x="862680" y="2100000"/>
              <a:ext cx="3060000" cy="2790000"/>
              <a:chOff x="862680" y="2100000"/>
              <a:chExt cx="3060000" cy="2790000"/>
            </a:xfrm>
          </p:grpSpPr>
          <p:sp>
            <p:nvSpPr>
              <p:cNvPr id="703" name="TextBox"/>
              <p:cNvSpPr txBox="1"/>
              <p:nvPr/>
            </p:nvSpPr>
            <p:spPr>
              <a:xfrm>
                <a:off x="914400" y="2100000"/>
                <a:ext cx="2956560" cy="300000"/>
              </a:xfrm>
              <a:prstGeom prst="rect">
                <a:avLst/>
              </a:prstGeom>
              <a:noFill/>
            </p:spPr>
            <p:txBody>
              <a:bodyPr wrap="square" lIns="0" tIns="0" rIns="0" bIns="0" rtlCol="0" anchor="t">
                <a:noAutofit/>
              </a:bodyPr>
              <a:lstStyle/>
              <a:p>
                <a:pPr marL="0" indent="0" algn="ctr">
                  <a:buNone/>
                </a:pPr>
                <a:r>
                  <a:rPr lang="en-US" sz="1300" b="1" dirty="0">
                    <a:solidFill>
                      <a:srgbClr val="C2683F"/>
                    </a:solidFill>
                    <a:latin typeface="Calibri"/>
                    <a:cs typeface="Calibri"/>
                  </a:rPr>
                  <a:t>PURE COINCIDENCE</a:t>
                </a:r>
              </a:p>
            </p:txBody>
          </p:sp>
          <p:pic>
            <p:nvPicPr>
              <p:cNvPr id="704" name="KindrIdG1" descr="Pure coincidence"/>
              <p:cNvPicPr>
                <a:picLocks noChangeAspect="1"/>
              </p:cNvPicPr>
              <p:nvPr/>
            </p:nvPicPr>
            <p:blipFill>
              <a:blip r:embed="rId3"/>
              <a:stretch>
                <a:fillRect/>
              </a:stretch>
            </p:blipFill>
            <p:spPr>
              <a:xfrm>
                <a:off x="862680" y="2945640"/>
                <a:ext cx="3060000" cy="648720"/>
              </a:xfrm>
              <a:prstGeom prst="rect">
                <a:avLst/>
              </a:prstGeom>
            </p:spPr>
          </p:pic>
          <p:sp>
            <p:nvSpPr>
              <p:cNvPr id="705" name="TextBox"/>
              <p:cNvSpPr txBox="1"/>
              <p:nvPr/>
            </p:nvSpPr>
            <p:spPr>
              <a:xfrm>
                <a:off x="914400" y="4190000"/>
                <a:ext cx="2956560" cy="700000"/>
              </a:xfrm>
              <a:prstGeom prst="rect">
                <a:avLst/>
              </a:prstGeom>
              <a:noFill/>
            </p:spPr>
            <p:txBody>
              <a:bodyPr wrap="square" lIns="0" tIns="0" rIns="0" bIns="0" rtlCol="0" anchor="t">
                <a:noAutofit/>
              </a:bodyPr>
              <a:lstStyle/>
              <a:p>
                <a:pPr marL="0" indent="0" algn="ctr">
                  <a:buNone/>
                </a:pPr>
                <a:r>
                  <a:rPr lang="en-US" sz="1800" b="1" dirty="0">
                    <a:solidFill>
                      <a:srgbClr val="262320"/>
                    </a:solidFill>
                    <a:latin typeface="Calibri"/>
                    <a:cs typeface="Calibri"/>
                  </a:rPr>
                  <a:t>Nothing connects them.</a:t>
                </a:r>
              </a:p>
            </p:txBody>
          </p:sp>
        </p:grpSp>
      </p:grpSp>
      <p:grpSp>
        <p:nvGrpSpPr>
          <p:cNvPr id="717" name="Card2Graphic"/>
          <p:cNvGrpSpPr/>
          <p:nvPr/>
        </p:nvGrpSpPr>
        <p:grpSpPr>
          <a:xfrm>
            <a:off x="8089900" y="1905000"/>
            <a:ext cx="3416300" cy="2984500"/>
            <a:chOff x="4394200" y="1905000"/>
            <a:chExt cx="3416300" cy="2984500"/>
          </a:xfrm>
        </p:grpSpPr>
        <p:sp>
          <p:nvSpPr>
            <p:cNvPr id="706" name="Card"/>
            <p:cNvSpPr/>
            <p:nvPr/>
          </p:nvSpPr>
          <p:spPr>
            <a:xfrm>
              <a:off x="4389120" y="1900000"/>
              <a:ext cx="3413760" cy="288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707" name="TextBox"/>
            <p:cNvSpPr txBox="1"/>
            <p:nvPr/>
          </p:nvSpPr>
          <p:spPr>
            <a:xfrm>
              <a:off x="4617720" y="2100000"/>
              <a:ext cx="2956560" cy="300000"/>
            </a:xfrm>
            <a:prstGeom prst="rect">
              <a:avLst/>
            </a:prstGeom>
            <a:noFill/>
          </p:spPr>
          <p:txBody>
            <a:bodyPr wrap="square" lIns="0" tIns="0" rIns="0" bIns="0" rtlCol="0" anchor="t">
              <a:noAutofit/>
            </a:bodyPr>
            <a:lstStyle/>
            <a:p>
              <a:pPr marL="0" indent="0" algn="ctr">
                <a:buNone/>
              </a:pPr>
              <a:r>
                <a:rPr lang="en-US" sz="1300" b="1" dirty="0">
                  <a:solidFill>
                    <a:srgbClr val="15686B"/>
                  </a:solidFill>
                  <a:latin typeface="Calibri"/>
                  <a:cs typeface="Calibri"/>
                </a:rPr>
                <a:t>A GENUINE CAUSE</a:t>
              </a:r>
            </a:p>
          </p:txBody>
        </p:sp>
        <p:pic>
          <p:nvPicPr>
            <p:cNvPr id="708" name="KindrIdG3" descr="A genuine cause"/>
            <p:cNvPicPr>
              <a:picLocks noChangeAspect="1"/>
            </p:cNvPicPr>
            <p:nvPr/>
          </p:nvPicPr>
          <p:blipFill>
            <a:blip r:embed="rId4"/>
            <a:stretch>
              <a:fillRect/>
            </a:stretch>
          </p:blipFill>
          <p:spPr>
            <a:xfrm>
              <a:off x="4566000" y="2945640"/>
              <a:ext cx="3060000" cy="648720"/>
            </a:xfrm>
            <a:prstGeom prst="rect">
              <a:avLst/>
            </a:prstGeom>
          </p:spPr>
        </p:pic>
        <p:sp>
          <p:nvSpPr>
            <p:cNvPr id="709" name="TextBox"/>
            <p:cNvSpPr txBox="1"/>
            <p:nvPr/>
          </p:nvSpPr>
          <p:spPr>
            <a:xfrm>
              <a:off x="4617720" y="4190000"/>
              <a:ext cx="2956560" cy="700000"/>
            </a:xfrm>
            <a:prstGeom prst="rect">
              <a:avLst/>
            </a:prstGeom>
            <a:noFill/>
          </p:spPr>
          <p:txBody>
            <a:bodyPr wrap="square" lIns="0" tIns="0" rIns="0" bIns="0" rtlCol="0" anchor="t">
              <a:noAutofit/>
            </a:bodyPr>
            <a:lstStyle/>
            <a:p>
              <a:pPr marL="0" indent="0" algn="ctr">
                <a:buNone/>
              </a:pPr>
              <a:r>
                <a:rPr lang="en-US" sz="1800" b="1" dirty="0">
                  <a:solidFill>
                    <a:srgbClr val="262320"/>
                  </a:solidFill>
                  <a:latin typeface="Calibri"/>
                  <a:cs typeface="Calibri"/>
                </a:rPr>
                <a:t>The claim is true.</a:t>
              </a:r>
            </a:p>
          </p:txBody>
        </p:sp>
      </p:grpSp>
      <p:grpSp>
        <p:nvGrpSpPr>
          <p:cNvPr id="718" name="Card3Graphic"/>
          <p:cNvGrpSpPr/>
          <p:nvPr/>
        </p:nvGrpSpPr>
        <p:grpSpPr>
          <a:xfrm>
            <a:off x="4394200" y="1905000"/>
            <a:ext cx="3416300" cy="2984500"/>
            <a:chOff x="8089900" y="1905000"/>
            <a:chExt cx="3416300" cy="2984500"/>
          </a:xfrm>
        </p:grpSpPr>
        <p:sp>
          <p:nvSpPr>
            <p:cNvPr id="710" name="Card"/>
            <p:cNvSpPr/>
            <p:nvPr/>
          </p:nvSpPr>
          <p:spPr>
            <a:xfrm>
              <a:off x="8092440" y="1900000"/>
              <a:ext cx="3413760" cy="2880000"/>
            </a:xfrm>
            <a:prstGeom prst="roundRect">
              <a:avLst>
                <a:gd name="adj" fmla="val 6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711" name="TextBox"/>
            <p:cNvSpPr txBox="1"/>
            <p:nvPr/>
          </p:nvSpPr>
          <p:spPr>
            <a:xfrm>
              <a:off x="8321040" y="2100000"/>
              <a:ext cx="2956560" cy="300000"/>
            </a:xfrm>
            <a:prstGeom prst="rect">
              <a:avLst/>
            </a:prstGeom>
            <a:noFill/>
          </p:spPr>
          <p:txBody>
            <a:bodyPr wrap="square" lIns="0" tIns="0" rIns="0" bIns="0" rtlCol="0" anchor="t">
              <a:noAutofit/>
            </a:bodyPr>
            <a:lstStyle/>
            <a:p>
              <a:pPr marL="0" indent="0" algn="ctr">
                <a:buNone/>
              </a:pPr>
              <a:r>
                <a:rPr lang="en-US" sz="1300" b="1" dirty="0">
                  <a:solidFill>
                    <a:srgbClr val="1F3864"/>
                  </a:solidFill>
                  <a:latin typeface="Calibri"/>
                  <a:cs typeface="Calibri"/>
                </a:rPr>
                <a:t>CONFOUNDERS</a:t>
              </a:r>
            </a:p>
          </p:txBody>
        </p:sp>
        <p:pic>
          <p:nvPicPr>
            <p:cNvPr id="712" name="KindrIdG2" descr="Confounders"/>
            <p:cNvPicPr>
              <a:picLocks noChangeAspect="1"/>
            </p:cNvPicPr>
            <p:nvPr/>
          </p:nvPicPr>
          <p:blipFill>
            <a:blip r:embed="rId5"/>
            <a:stretch>
              <a:fillRect/>
            </a:stretch>
          </p:blipFill>
          <p:spPr>
            <a:xfrm>
              <a:off x="8269320" y="2492760"/>
              <a:ext cx="3060000" cy="1554480"/>
            </a:xfrm>
            <a:prstGeom prst="rect">
              <a:avLst/>
            </a:prstGeom>
          </p:spPr>
        </p:pic>
        <p:sp>
          <p:nvSpPr>
            <p:cNvPr id="713" name="TextBox"/>
            <p:cNvSpPr txBox="1"/>
            <p:nvPr/>
          </p:nvSpPr>
          <p:spPr>
            <a:xfrm>
              <a:off x="8321040" y="4190000"/>
              <a:ext cx="2956560" cy="700000"/>
            </a:xfrm>
            <a:prstGeom prst="rect">
              <a:avLst/>
            </a:prstGeom>
            <a:noFill/>
          </p:spPr>
          <p:txBody>
            <a:bodyPr wrap="square" lIns="0" tIns="0" rIns="0" bIns="0" rtlCol="0" anchor="t">
              <a:noAutofit/>
            </a:bodyPr>
            <a:lstStyle/>
            <a:p>
              <a:pPr marL="0" indent="0" algn="ctr">
                <a:buNone/>
              </a:pPr>
              <a:r>
                <a:rPr lang="en-US" sz="1800" b="1" dirty="0">
                  <a:solidFill>
                    <a:srgbClr val="262320"/>
                  </a:solidFill>
                  <a:latin typeface="Calibri"/>
                  <a:cs typeface="Calibri"/>
                </a:rPr>
                <a:t>Something else produces both.</a:t>
              </a:r>
            </a:p>
          </p:txBody>
        </p:sp>
      </p:grpSp>
      <p:sp>
        <p:nvSpPr>
          <p:cNvPr id="714" name="TextBox"/>
          <p:cNvSpPr txBox="1"/>
          <p:nvPr/>
        </p:nvSpPr>
        <p:spPr>
          <a:xfrm>
            <a:off x="685800" y="4910000"/>
            <a:ext cx="10820400" cy="300000"/>
          </a:xfrm>
          <a:prstGeom prst="rect">
            <a:avLst/>
          </a:prstGeom>
          <a:noFill/>
        </p:spPr>
        <p:txBody>
          <a:bodyPr wrap="square" lIns="0" tIns="0" rIns="0" bIns="0" rtlCol="0" anchor="t">
            <a:noAutofit/>
          </a:bodyPr>
          <a:lstStyle/>
          <a:p>
            <a:pPr marL="0" indent="0" algn="ctr">
              <a:buNone/>
            </a:pPr>
            <a:r>
              <a:rPr lang="en-US" sz="1400" i="1" dirty="0">
                <a:solidFill>
                  <a:srgbClr val="6B6660"/>
                </a:solidFill>
                <a:latin typeface="Calibri"/>
                <a:cs typeface="Calibri"/>
              </a:rPr>
              <a:t>Solid arrow: causes.    Dashed line: moves together, which is all the data shows you.</a:t>
            </a:r>
          </a:p>
        </p:txBody>
      </p:sp>
      <p:sp>
        <p:nvSpPr>
          <p:cNvPr id="715" name="Band"/>
          <p:cNvSpPr/>
          <p:nvPr/>
        </p:nvSpPr>
        <p:spPr>
          <a:xfrm>
            <a:off x="685800" y="5420000"/>
            <a:ext cx="10820400" cy="880000"/>
          </a:xfrm>
          <a:prstGeom prst="rect">
            <a:avLst/>
          </a:prstGeom>
          <a:solidFill>
            <a:srgbClr val="EDEDED"/>
          </a:solidFill>
          <a:ln>
            <a:noFill/>
          </a:ln>
        </p:spPr>
        <p:txBody>
          <a:bodyPr lIns="182880" tIns="0" rIns="182880" bIns="0" rtlCol="0" anchor="ctr"/>
          <a:lstStyle/>
          <a:p>
            <a:pPr marL="0" indent="0" algn="ctr">
              <a:buNone/>
            </a:pPr>
            <a:r>
              <a:rPr lang="en-US" sz="1700" b="1" dirty="0">
                <a:solidFill>
                  <a:srgbClr val="262320"/>
                </a:solidFill>
                <a:latin typeface="Calibri"/>
                <a:cs typeface="Calibri"/>
              </a:rPr>
              <a:t>Only </a:t>
            </a:r>
            <a:r>
              <a:rPr lang="en-US" sz="1700" b="1">
                <a:solidFill>
                  <a:srgbClr val="262320"/>
                </a:solidFill>
                <a:latin typeface="Calibri"/>
                <a:cs typeface="Calibri"/>
              </a:rPr>
              <a:t>the right </a:t>
            </a:r>
            <a:r>
              <a:rPr lang="en-US" sz="1700" b="1" dirty="0">
                <a:solidFill>
                  <a:srgbClr val="262320"/>
                </a:solidFill>
                <a:latin typeface="Calibri"/>
                <a:cs typeface="Calibri"/>
              </a:rPr>
              <a:t>one is the claim being made.</a:t>
            </a:r>
          </a:p>
          <a:p>
            <a:pPr marL="0" indent="0" algn="ctr">
              <a:buNone/>
            </a:pPr>
            <a:r>
              <a:rPr lang="en-US" sz="1700" b="1" dirty="0">
                <a:solidFill>
                  <a:srgbClr val="262320"/>
                </a:solidFill>
                <a:latin typeface="Calibri"/>
                <a:cs typeface="Calibri"/>
              </a:rPr>
              <a:t>All three produce the same correlation, and the data cannot tell you which one you are looking at.</a:t>
            </a:r>
          </a:p>
        </p:txBody>
      </p:sp>
    </p:spTree>
    <p:extLst>
      <p:ext uri="{BB962C8B-B14F-4D97-AF65-F5344CB8AC3E}">
        <p14:creationId xmlns:p14="http://schemas.microsoft.com/office/powerpoint/2010/main" val="42156322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PURE COINCIDENCE</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Correlation Without a Cause</a:t>
            </a: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Tyler Vigen’s Spurious Correlations</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A project that hunts for variables that happen to move together.</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SOURCE</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Thousands of variables, every pair tried</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Out of hundreds of millions of pairs, the tightest are kept.</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SEARCH</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fits are genuinely strong</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High correlation, small p-value, and nothing connecting them.</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NO CAUSE</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Search enough pairs and a near-perfect match turns up somewhere, meaning nothing.</a:t>
            </a:r>
          </a:p>
          <a:p>
            <a:pPr marL="0" indent="0" algn="ctr">
              <a:buNone/>
            </a:pPr>
            <a:r>
              <a:rPr lang="en-US" sz="1400" b="1" dirty="0">
                <a:solidFill>
                  <a:srgbClr val="000000"/>
                </a:solidFill>
                <a:latin typeface="Calibri"/>
                <a:cs typeface="Calibri"/>
              </a:rPr>
              <a:t>The next two charts are convincing on their face. Neither has a cause behind it.</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Charts from Tyler Vigen, Spurious Correlations (tylervigen.com), CC BY 4.0. The next two: Saturn’s distance and physical-science degrees; cheese consumption and a share price.</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2849033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Saturn and the Physical Sciences</a:t>
            </a:r>
          </a:p>
        </p:txBody>
      </p:sp>
      <p:pic>
        <p:nvPicPr>
          <p:cNvPr id="703" name="SaturnChart" descr="Distance from Saturn to the moon and physical sciences degrees awarded, 2012 to 2021, tracking closely"/>
          <p:cNvPicPr>
            <a:picLocks noChangeAspect="1"/>
          </p:cNvPicPr>
          <p:nvPr/>
        </p:nvPicPr>
        <p:blipFill>
          <a:blip r:embed="rId3"/>
          <a:stretch>
            <a:fillRect/>
          </a:stretch>
        </p:blipFill>
        <p:spPr>
          <a:xfrm>
            <a:off x="5960000" y="2250000"/>
            <a:ext cx="5400000" cy="3356756"/>
          </a:xfrm>
          <a:prstGeom prst="rect">
            <a:avLst/>
          </a:prstGeom>
        </p:spPr>
      </p:pic>
      <p:sp>
        <p:nvSpPr>
          <p:cNvPr id="704" name="TextBox"/>
          <p:cNvSpPr txBox="1"/>
          <p:nvPr/>
        </p:nvSpPr>
        <p:spPr>
          <a:xfrm>
            <a:off x="685800" y="2380000"/>
            <a:ext cx="4900000" cy="320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How far Saturn sits from the moon tracks how many physical sciences degrees America awards.</a:t>
            </a:r>
          </a:p>
          <a:p>
            <a:pPr marL="0" indent="0" algn="l">
              <a:buNone/>
            </a:pPr>
            <a:r>
              <a:rPr lang="en-US" sz="1700" b="1" dirty="0">
                <a:solidFill>
                  <a:srgbClr val="8A2A2A"/>
                </a:solidFill>
                <a:latin typeface="Calibri"/>
                <a:cs typeface="Calibri"/>
              </a:rPr>
              <a:t>p = 0.00000012. Past five sigma.</a:t>
            </a:r>
          </a:p>
          <a:p>
            <a:pPr marL="0" indent="0" algn="l">
              <a:buNone/>
            </a:pPr>
            <a:r>
              <a:rPr lang="en-US" sz="1800" b="1" dirty="0">
                <a:solidFill>
                  <a:srgbClr val="15686B"/>
                </a:solidFill>
                <a:latin typeface="Calibri"/>
                <a:cs typeface="Calibri"/>
              </a:rPr>
              <a:t>It would clear any journal's bar. It means nothing at all.</a:t>
            </a:r>
          </a:p>
        </p:txBody>
      </p:sp>
      <p:sp>
        <p:nvSpPr>
          <p:cNvPr id="706" name="Source"/>
          <p:cNvSpPr txBox="1"/>
          <p:nvPr/>
        </p:nvSpPr>
        <p:spPr>
          <a:xfrm>
            <a:off x="685800" y="6480000"/>
            <a:ext cx="10820400" cy="30000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Data compiled by Tyler Vigen, tylervigen.com, spurious correlation #2,656, CC BY 4.0. Planetary distances calculated with Astropy; degrees from the National Center for Education Statistics, Digest of Education Statistics 2022. r = 0.987, r² = 0.974, p = 1.2 × 10⁻⁷ over 2012-2021.</a:t>
            </a:r>
          </a:p>
        </p:txBody>
      </p:sp>
      <p:pic>
        <p:nvPicPr>
          <p:cNvPr id="2" name="Picture 1">
            <a:extLst>
              <a:ext uri="{FF2B5EF4-FFF2-40B4-BE49-F238E27FC236}">
                <a16:creationId xmlns:a16="http://schemas.microsoft.com/office/drawing/2014/main" id="{CF5010FB-18F2-10C6-CA15-C5C22C292EBA}"/>
              </a:ext>
            </a:extLst>
          </p:cNvPr>
          <p:cNvPicPr>
            <a:picLocks noChangeAspect="1"/>
          </p:cNvPicPr>
          <p:nvPr/>
        </p:nvPicPr>
        <p:blipFill>
          <a:blip r:embed="rId4"/>
          <a:stretch>
            <a:fillRect/>
          </a:stretch>
        </p:blipFill>
        <p:spPr>
          <a:xfrm>
            <a:off x="685800" y="863600"/>
            <a:ext cx="965200" cy="850900"/>
          </a:xfrm>
          <a:prstGeom prst="rect">
            <a:avLst/>
          </a:prstGeom>
        </p:spPr>
      </p:pic>
    </p:spTree>
    <p:extLst>
      <p:ext uri="{BB962C8B-B14F-4D97-AF65-F5344CB8AC3E}">
        <p14:creationId xmlns:p14="http://schemas.microsoft.com/office/powerpoint/2010/main" val="2753029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Cheese and BlackRock</a:t>
            </a:r>
          </a:p>
        </p:txBody>
      </p:sp>
      <p:pic>
        <p:nvPicPr>
          <p:cNvPr id="703" name="CheeseChart" descr="American cheese consumption per person and BlackRock share price, 2002 to 2021, both climbing"/>
          <p:cNvPicPr>
            <a:picLocks noChangeAspect="1"/>
          </p:cNvPicPr>
          <p:nvPr/>
        </p:nvPicPr>
        <p:blipFill>
          <a:blip r:embed="rId2"/>
          <a:stretch>
            <a:fillRect/>
          </a:stretch>
        </p:blipFill>
        <p:spPr>
          <a:xfrm>
            <a:off x="5960000" y="2250000"/>
            <a:ext cx="5400000" cy="3356756"/>
          </a:xfrm>
          <a:prstGeom prst="rect">
            <a:avLst/>
          </a:prstGeom>
        </p:spPr>
      </p:pic>
      <p:sp>
        <p:nvSpPr>
          <p:cNvPr id="704" name="TextBox"/>
          <p:cNvSpPr txBox="1"/>
          <p:nvPr/>
        </p:nvSpPr>
        <p:spPr>
          <a:xfrm>
            <a:off x="685800" y="2380000"/>
            <a:ext cx="4900000" cy="320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American cheese eaten per person tracks BlackRock's share price.</a:t>
            </a:r>
          </a:p>
          <a:p>
            <a:pPr marL="0" indent="0" algn="l">
              <a:buNone/>
            </a:pPr>
            <a:r>
              <a:rPr lang="en-US" sz="1700" b="1" dirty="0">
                <a:solidFill>
                  <a:srgbClr val="8A2A2A"/>
                </a:solidFill>
                <a:latin typeface="Calibri"/>
                <a:cs typeface="Calibri"/>
              </a:rPr>
              <a:t>r = 0.94.  p = 0.0000000008.</a:t>
            </a:r>
          </a:p>
          <a:p>
            <a:pPr marL="0" indent="0" algn="l">
              <a:buNone/>
            </a:pPr>
            <a:r>
              <a:rPr lang="en-US" sz="1700" dirty="0">
                <a:solidFill>
                  <a:srgbClr val="262320"/>
                </a:solidFill>
                <a:latin typeface="Calibri"/>
                <a:cs typeface="Calibri"/>
              </a:rPr>
              <a:t>Both went up. That is the entire connection.</a:t>
            </a:r>
          </a:p>
          <a:p>
            <a:pPr marL="0" indent="0" algn="l">
              <a:buNone/>
            </a:pPr>
            <a:r>
              <a:rPr lang="en-US" sz="1800" b="1" dirty="0">
                <a:solidFill>
                  <a:srgbClr val="15686B"/>
                </a:solidFill>
                <a:latin typeface="Calibri"/>
                <a:cs typeface="Calibri"/>
              </a:rPr>
              <a:t>Correlate the year-to-year changes instead, and it is gone: r = 0.29, p = 0.23.</a:t>
            </a:r>
          </a:p>
        </p:txBody>
      </p:sp>
      <p:sp>
        <p:nvSpPr>
          <p:cNvPr id="705" name="Band"/>
          <p:cNvSpPr/>
          <p:nvPr/>
        </p:nvSpPr>
        <p:spPr>
          <a:xfrm>
            <a:off x="685800" y="5760000"/>
            <a:ext cx="10820400" cy="620000"/>
          </a:xfrm>
          <a:prstGeom prst="roundRect">
            <a:avLst>
              <a:gd name="adj" fmla="val 8000"/>
            </a:avLst>
          </a:prstGeom>
          <a:solidFill>
            <a:srgbClr val="15686B"/>
          </a:solidFill>
          <a:ln>
            <a:noFill/>
          </a:ln>
        </p:spPr>
        <p:txBody>
          <a:bodyPr lIns="182880" tIns="0" rIns="182880" bIns="0" rtlCol="0" anchor="ctr"/>
          <a:lstStyle/>
          <a:p>
            <a:pPr marL="0" indent="0" algn="ctr">
              <a:buNone/>
            </a:pPr>
            <a:r>
              <a:rPr lang="en-US" sz="1700" b="1" dirty="0">
                <a:solidFill>
                  <a:srgbClr val="FFFFFF"/>
                </a:solidFill>
                <a:latin typeface="Calibri"/>
                <a:cs typeface="Calibri"/>
              </a:rPr>
              <a:t>Any two things that grow will correlate. The trend is not the evidence.</a:t>
            </a:r>
          </a:p>
        </p:txBody>
      </p:sp>
      <p:sp>
        <p:nvSpPr>
          <p:cNvPr id="706" name="Source"/>
          <p:cNvSpPr txBox="1"/>
          <p:nvPr/>
        </p:nvSpPr>
        <p:spPr>
          <a:xfrm>
            <a:off x="685800" y="6480000"/>
            <a:ext cx="10820400" cy="30000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Data compiled by Tyler Vigen, tylervigen.com, spurious correlation #4,018, CC BY 4.0. Cheese consumption from the USDA Economic Research Service; BlackRock opening price on the first trading day of each year from LSEG Analytics (Refinitiv). r = 0.940, r² = 0.883, p = 8.1 × 10⁻¹⁰ over 2002-2021. The differenced figures are calculated from the same data.</a:t>
            </a:r>
          </a:p>
        </p:txBody>
      </p:sp>
      <p:pic>
        <p:nvPicPr>
          <p:cNvPr id="2" name="Picture 1">
            <a:extLst>
              <a:ext uri="{FF2B5EF4-FFF2-40B4-BE49-F238E27FC236}">
                <a16:creationId xmlns:a16="http://schemas.microsoft.com/office/drawing/2014/main" id="{D37738E1-8C64-0CFD-2779-5226E46460B2}"/>
              </a:ext>
            </a:extLst>
          </p:cNvPr>
          <p:cNvPicPr>
            <a:picLocks noChangeAspect="1"/>
          </p:cNvPicPr>
          <p:nvPr/>
        </p:nvPicPr>
        <p:blipFill>
          <a:blip r:embed="rId3"/>
          <a:stretch>
            <a:fillRect/>
          </a:stretch>
        </p:blipFill>
        <p:spPr>
          <a:xfrm>
            <a:off x="685800" y="863600"/>
            <a:ext cx="965200" cy="850900"/>
          </a:xfrm>
          <a:prstGeom prst="rect">
            <a:avLst/>
          </a:prstGeom>
        </p:spPr>
      </p:pic>
    </p:spTree>
    <p:extLst>
      <p:ext uri="{BB962C8B-B14F-4D97-AF65-F5344CB8AC3E}">
        <p14:creationId xmlns:p14="http://schemas.microsoft.com/office/powerpoint/2010/main" val="3943584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There Is No Shared Population</a:t>
            </a:r>
          </a:p>
        </p:txBody>
      </p:sp>
      <p:sp>
        <p:nvSpPr>
          <p:cNvPr id="702" name="Eyebrow"/>
          <p:cNvSpPr txBox="1"/>
          <p:nvPr/>
        </p:nvSpPr>
        <p:spPr>
          <a:xfrm>
            <a:off x="1854200" y="1728399"/>
            <a:ext cx="96520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WHAT BOTH CHARTS ARE MISSING</a:t>
            </a:r>
          </a:p>
        </p:txBody>
      </p:sp>
      <p:sp>
        <p:nvSpPr>
          <p:cNvPr id="703" name="TextBox"/>
          <p:cNvSpPr txBox="1"/>
          <p:nvPr/>
        </p:nvSpPr>
        <p:spPr>
          <a:xfrm>
            <a:off x="685800" y="2260000"/>
            <a:ext cx="10820400" cy="42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One square would be a year, not a person. There is no group of people the number could be about.</a:t>
            </a:r>
          </a:p>
        </p:txBody>
      </p:sp>
      <p:sp>
        <p:nvSpPr>
          <p:cNvPr id="704" name="Card"/>
          <p:cNvSpPr/>
          <p:nvPr/>
        </p:nvSpPr>
        <p:spPr>
          <a:xfrm>
            <a:off x="685800" y="2820000"/>
            <a:ext cx="523240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705" name="TextBox"/>
          <p:cNvSpPr txBox="1"/>
          <p:nvPr/>
        </p:nvSpPr>
        <p:spPr>
          <a:xfrm>
            <a:off x="960120" y="3060000"/>
            <a:ext cx="4683760" cy="300000"/>
          </a:xfrm>
          <a:prstGeom prst="rect">
            <a:avLst/>
          </a:prstGeom>
          <a:noFill/>
        </p:spPr>
        <p:txBody>
          <a:bodyPr wrap="square" lIns="0" tIns="0" rIns="0" bIns="0" rtlCol="0" anchor="t">
            <a:noAutofit/>
          </a:bodyPr>
          <a:lstStyle/>
          <a:p>
            <a:pPr marL="0" indent="0" algn="l">
              <a:buNone/>
            </a:pPr>
            <a:r>
              <a:rPr lang="en-US" sz="1250" b="1" dirty="0">
                <a:solidFill>
                  <a:srgbClr val="15686B"/>
                </a:solidFill>
                <a:latin typeface="Calibri"/>
                <a:cs typeface="Calibri"/>
              </a:rPr>
              <a:t>SATURN AND THE DEGREES</a:t>
            </a:r>
          </a:p>
        </p:txBody>
      </p:sp>
      <p:sp>
        <p:nvSpPr>
          <p:cNvPr id="706" name="TextBox"/>
          <p:cNvSpPr txBox="1"/>
          <p:nvPr/>
        </p:nvSpPr>
        <p:spPr>
          <a:xfrm>
            <a:off x="960120" y="3480000"/>
            <a:ext cx="4683760" cy="460000"/>
          </a:xfrm>
          <a:prstGeom prst="rect">
            <a:avLst/>
          </a:prstGeom>
          <a:noFill/>
        </p:spPr>
        <p:txBody>
          <a:bodyPr wrap="square" lIns="0" tIns="0" rIns="0" bIns="0" rtlCol="0" anchor="t">
            <a:noAutofit/>
          </a:bodyPr>
          <a:lstStyle/>
          <a:p>
            <a:pPr marL="0" indent="0" algn="l">
              <a:buNone/>
            </a:pPr>
            <a:r>
              <a:rPr lang="en-US" sz="2100" b="1" dirty="0">
                <a:solidFill>
                  <a:srgbClr val="15686B"/>
                </a:solidFill>
                <a:latin typeface="Calibri"/>
                <a:cs typeface="Calibri"/>
              </a:rPr>
              <a:t>Found by extensive search.</a:t>
            </a:r>
          </a:p>
        </p:txBody>
      </p:sp>
      <p:sp>
        <p:nvSpPr>
          <p:cNvPr id="707" name="TextBox"/>
          <p:cNvSpPr txBox="1"/>
          <p:nvPr/>
        </p:nvSpPr>
        <p:spPr>
          <a:xfrm>
            <a:off x="960120" y="4020000"/>
            <a:ext cx="4683760" cy="600000"/>
          </a:xfrm>
          <a:prstGeom prst="rect">
            <a:avLst/>
          </a:prstGeom>
          <a:noFill/>
        </p:spPr>
        <p:txBody>
          <a:bodyPr wrap="square" lIns="0" tIns="0" rIns="0" bIns="0" rtlCol="0" anchor="t">
            <a:noAutofit/>
          </a:bodyPr>
          <a:lstStyle/>
          <a:p>
            <a:pPr marL="0" indent="0" algn="l">
              <a:buNone/>
            </a:pPr>
            <a:r>
              <a:rPr lang="en-US" sz="1550" dirty="0">
                <a:solidFill>
                  <a:srgbClr val="262320"/>
                </a:solidFill>
                <a:latin typeface="Calibri"/>
                <a:cs typeface="Calibri"/>
              </a:rPr>
              <a:t>Millions of pairs of numbers were compared against each other. Some pairs were bound to line up.</a:t>
            </a:r>
          </a:p>
        </p:txBody>
      </p:sp>
      <p:sp>
        <p:nvSpPr>
          <p:cNvPr id="708" name="Card"/>
          <p:cNvSpPr/>
          <p:nvPr/>
        </p:nvSpPr>
        <p:spPr>
          <a:xfrm>
            <a:off x="6273800" y="2820000"/>
            <a:ext cx="5232400" cy="1900000"/>
          </a:xfrm>
          <a:prstGeom prst="roundRect">
            <a:avLst>
              <a:gd name="adj" fmla="val 6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709" name="TextBox"/>
          <p:cNvSpPr txBox="1"/>
          <p:nvPr/>
        </p:nvSpPr>
        <p:spPr>
          <a:xfrm>
            <a:off x="6548120" y="3060000"/>
            <a:ext cx="4683760" cy="300000"/>
          </a:xfrm>
          <a:prstGeom prst="rect">
            <a:avLst/>
          </a:prstGeom>
          <a:noFill/>
        </p:spPr>
        <p:txBody>
          <a:bodyPr wrap="square" lIns="0" tIns="0" rIns="0" bIns="0" rtlCol="0" anchor="t">
            <a:noAutofit/>
          </a:bodyPr>
          <a:lstStyle/>
          <a:p>
            <a:pPr marL="0" indent="0" algn="l">
              <a:buNone/>
            </a:pPr>
            <a:r>
              <a:rPr lang="en-US" sz="1250" b="1" dirty="0">
                <a:solidFill>
                  <a:srgbClr val="1F3864"/>
                </a:solidFill>
                <a:latin typeface="Calibri"/>
                <a:cs typeface="Calibri"/>
              </a:rPr>
              <a:t>CHEESE AND BLACKROCK</a:t>
            </a:r>
          </a:p>
        </p:txBody>
      </p:sp>
      <p:sp>
        <p:nvSpPr>
          <p:cNvPr id="710" name="TextBox"/>
          <p:cNvSpPr txBox="1"/>
          <p:nvPr/>
        </p:nvSpPr>
        <p:spPr>
          <a:xfrm>
            <a:off x="6548120" y="3480000"/>
            <a:ext cx="4683760" cy="460000"/>
          </a:xfrm>
          <a:prstGeom prst="rect">
            <a:avLst/>
          </a:prstGeom>
          <a:noFill/>
        </p:spPr>
        <p:txBody>
          <a:bodyPr wrap="square" lIns="0" tIns="0" rIns="0" bIns="0" rtlCol="0" anchor="t">
            <a:noAutofit/>
          </a:bodyPr>
          <a:lstStyle/>
          <a:p>
            <a:pPr marL="0" indent="0" algn="l">
              <a:buNone/>
            </a:pPr>
            <a:r>
              <a:rPr lang="en-US" sz="2100" b="1" dirty="0">
                <a:solidFill>
                  <a:srgbClr val="1F3864"/>
                </a:solidFill>
                <a:latin typeface="Calibri"/>
                <a:cs typeface="Calibri"/>
              </a:rPr>
              <a:t>Many things rise year to year.</a:t>
            </a:r>
          </a:p>
        </p:txBody>
      </p:sp>
      <p:sp>
        <p:nvSpPr>
          <p:cNvPr id="711" name="TextBox"/>
          <p:cNvSpPr txBox="1"/>
          <p:nvPr/>
        </p:nvSpPr>
        <p:spPr>
          <a:xfrm>
            <a:off x="6548120" y="4020000"/>
            <a:ext cx="4683760" cy="600000"/>
          </a:xfrm>
          <a:prstGeom prst="rect">
            <a:avLst/>
          </a:prstGeom>
          <a:noFill/>
        </p:spPr>
        <p:txBody>
          <a:bodyPr wrap="square" lIns="0" tIns="0" rIns="0" bIns="0" rtlCol="0" anchor="t">
            <a:noAutofit/>
          </a:bodyPr>
          <a:lstStyle/>
          <a:p>
            <a:pPr marL="0" indent="0" algn="l">
              <a:buNone/>
            </a:pPr>
            <a:r>
              <a:rPr lang="en-US" sz="1550" dirty="0">
                <a:solidFill>
                  <a:srgbClr val="262320"/>
                </a:solidFill>
                <a:latin typeface="Calibri"/>
                <a:cs typeface="Calibri"/>
              </a:rPr>
              <a:t>Cheese eaten per person went up. So did the share price. So did most other things over those twenty years.</a:t>
            </a:r>
          </a:p>
        </p:txBody>
      </p:sp>
      <p:sp>
        <p:nvSpPr>
          <p:cNvPr id="712" name="TextBox"/>
          <p:cNvSpPr txBox="1"/>
          <p:nvPr/>
        </p:nvSpPr>
        <p:spPr>
          <a:xfrm>
            <a:off x="685800" y="4880000"/>
            <a:ext cx="10820400" cy="400000"/>
          </a:xfrm>
          <a:prstGeom prst="rect">
            <a:avLst/>
          </a:prstGeom>
          <a:noFill/>
        </p:spPr>
        <p:txBody>
          <a:bodyPr wrap="square" lIns="0" tIns="0" rIns="0" bIns="0" rtlCol="0" anchor="t">
            <a:noAutofit/>
          </a:bodyPr>
          <a:lstStyle/>
          <a:p>
            <a:pPr marL="0" indent="0" algn="l">
              <a:buNone/>
            </a:pPr>
            <a:r>
              <a:rPr lang="en-US" sz="1500" i="1" dirty="0">
                <a:solidFill>
                  <a:srgbClr val="1F3864"/>
                </a:solidFill>
                <a:latin typeface="Calibri"/>
                <a:cs typeface="Calibri"/>
              </a:rPr>
              <a:t>Compare the year-to-year changes instead of the totals, and the cheese link disappears: 0.94 becomes 0.29.</a:t>
            </a:r>
          </a:p>
        </p:txBody>
      </p:sp>
      <p:sp>
        <p:nvSpPr>
          <p:cNvPr id="713" name="Band"/>
          <p:cNvSpPr/>
          <p:nvPr/>
        </p:nvSpPr>
        <p:spPr>
          <a:xfrm>
            <a:off x="685800" y="5400000"/>
            <a:ext cx="10820400" cy="850000"/>
          </a:xfrm>
          <a:prstGeom prst="roundRect">
            <a:avLst>
              <a:gd name="adj" fmla="val 8000"/>
            </a:avLst>
          </a:prstGeom>
          <a:solidFill>
            <a:srgbClr val="15686B"/>
          </a:solidFill>
          <a:ln>
            <a:noFill/>
          </a:ln>
        </p:spPr>
        <p:txBody>
          <a:bodyPr lIns="182880" tIns="0" rIns="182880" bIns="0" rtlCol="0" anchor="ctr"/>
          <a:lstStyle/>
          <a:p>
            <a:pPr marL="0" indent="0" algn="ctr">
              <a:buNone/>
            </a:pPr>
            <a:r>
              <a:rPr lang="en-US" sz="1900" b="1" dirty="0">
                <a:solidFill>
                  <a:srgbClr val="FFFFFF"/>
                </a:solidFill>
                <a:latin typeface="Calibri"/>
                <a:cs typeface="Calibri"/>
              </a:rPr>
              <a:t>Neither chart has people in it.</a:t>
            </a:r>
          </a:p>
          <a:p>
            <a:pPr marL="0" indent="0" algn="ctr">
              <a:buNone/>
            </a:pPr>
            <a:r>
              <a:rPr lang="en-US" sz="1900" b="1" dirty="0">
                <a:solidFill>
                  <a:srgbClr val="FFFFFF"/>
                </a:solidFill>
                <a:latin typeface="Calibri"/>
                <a:cs typeface="Calibri"/>
              </a:rPr>
              <a:t>Ask what one square would be, and there is nothing left to explain.</a:t>
            </a:r>
          </a:p>
        </p:txBody>
      </p:sp>
      <p:sp>
        <p:nvSpPr>
          <p:cNvPr id="714" name="Source"/>
          <p:cNvSpPr txBox="1"/>
          <p:nvPr/>
        </p:nvSpPr>
        <p:spPr>
          <a:xfrm>
            <a:off x="685800" y="6480000"/>
            <a:ext cx="10820400" cy="30000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Both compiled by Tyler Vigen, tylervigen.com, CC BY 4.0: correlations #2,656 (Astropy and the National Center for Education Statistics, 2012-2021) and #4,018 (USDA Economic Research Service and LSEG Analytics, 2002-2021). Vigen notes on each page that using years as the base variable is itself the problem. The year-to-year figure is calculated from his data.</a:t>
            </a:r>
          </a:p>
        </p:txBody>
      </p:sp>
      <p:pic>
        <p:nvPicPr>
          <p:cNvPr id="2" name="Picture 1">
            <a:extLst>
              <a:ext uri="{FF2B5EF4-FFF2-40B4-BE49-F238E27FC236}">
                <a16:creationId xmlns:a16="http://schemas.microsoft.com/office/drawing/2014/main" id="{7367A321-FFE4-F8BE-AD8E-F4297D5F793C}"/>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3515080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CAUSALITY IS AN ILLUSION</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A Confounder, Not a Cause</a:t>
            </a: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It looks like cause and effect</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A strong correlation, and the natural reading is that one drives the other.</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ILLUSION</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 third factor drives both</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The confounder sits behind the two and manufactures the link.</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CONFOUNDER</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effect was never there</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Account for the confounder and the apparent cause disappears.</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NO REAL EFFECT</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Two examples ahead: statins and car crashes, then bird watching and dementia.</a:t>
            </a:r>
          </a:p>
          <a:p>
            <a:pPr marL="0" indent="0" algn="ctr">
              <a:buNone/>
            </a:pPr>
            <a:r>
              <a:rPr lang="en-US" sz="1400" b="1" dirty="0">
                <a:solidFill>
                  <a:srgbClr val="000000"/>
                </a:solidFill>
                <a:latin typeface="Calibri"/>
                <a:cs typeface="Calibri"/>
              </a:rPr>
              <a:t>In each, a confounder produces the correlation. The causal link is an illusion.</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A real correlation with no real causation, produced by a lurking common cause. Examples ahead: Dormuth 2009 (statins and accidents); Sabia 2017, Whitehall II (bird watching and dementia).</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32649518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CLAIM, AND THE STUDY</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Statins Prevent Car Crashes</a:t>
            </a: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141,086 people starting statins</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British Columbia, grouped by how faithfully they took the pill.</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STUDY</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Faithful takers had fewer accidents</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Car crashes, workplace injuries, falls, fractures, poisonings.</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FINDING</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And they used more screening</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Preventive services a cholesterol pill has no way to affect.</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TELL</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Published under the title, a cautionary tale.</a:t>
            </a:r>
          </a:p>
          <a:p>
            <a:pPr marL="0" indent="0" algn="ctr">
              <a:buNone/>
            </a:pPr>
            <a:r>
              <a:rPr lang="en-US" sz="1400" b="1" dirty="0">
                <a:solidFill>
                  <a:srgbClr val="000000"/>
                </a:solidFill>
                <a:latin typeface="Calibri"/>
                <a:cs typeface="Calibri"/>
              </a:rPr>
              <a:t>A real study in a real population. The next slides ask what produces the pattern.</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Dormuth CR et al. Statin adherence and risk of accidents: a cautionary tale. Circulation 2009;119:2051-2057. Adjusted hazard ratios 0.75 for vehicle accidents, 0.77 for workplace accidents, 1.17 for screening use, among 141,086 statin initiators.</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9044784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Statins Prevent Car Crashes</a:t>
            </a:r>
          </a:p>
        </p:txBody>
      </p:sp>
      <p:sp>
        <p:nvSpPr>
          <p:cNvPr id="114"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15686B"/>
                </a:solidFill>
                <a:latin typeface="Calibri"/>
                <a:cs typeface="Calibri"/>
              </a:rPr>
              <a:t>THE LATENT CAUSE</a:t>
            </a:r>
          </a:p>
        </p:txBody>
      </p:sp>
      <p:sp>
        <p:nvSpPr>
          <p:cNvPr id="115" name="Card"/>
          <p:cNvSpPr/>
          <p:nvPr/>
        </p:nvSpPr>
        <p:spPr>
          <a:xfrm>
            <a:off x="685800" y="2320000"/>
            <a:ext cx="341376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16" name="TextBox"/>
          <p:cNvSpPr txBox="1"/>
          <p:nvPr/>
        </p:nvSpPr>
        <p:spPr>
          <a:xfrm>
            <a:off x="822960" y="2502880"/>
            <a:ext cx="3139440" cy="1534240"/>
          </a:xfrm>
          <a:prstGeom prst="rect">
            <a:avLst/>
          </a:prstGeom>
          <a:noFill/>
        </p:spPr>
        <p:txBody>
          <a:bodyPr wrap="square" lIns="0" tIns="0" rIns="0" bIns="0" rtlCol="0" anchor="t">
            <a:noAutofit/>
          </a:bodyPr>
          <a:lstStyle/>
          <a:p>
            <a:pPr marL="0" indent="0" algn="ctr">
              <a:buNone/>
            </a:pPr>
            <a:r>
              <a:rPr lang="en-US" sz="4400" b="1" dirty="0">
                <a:solidFill>
                  <a:srgbClr val="15686B"/>
                </a:solidFill>
                <a:latin typeface="Bookman Old Style"/>
                <a:cs typeface="Bookman Old Style"/>
              </a:rPr>
              <a:t>0.75</a:t>
            </a:r>
          </a:p>
          <a:p>
            <a:pPr marL="0" indent="0" algn="ctr">
              <a:buNone/>
            </a:pPr>
            <a:r>
              <a:rPr lang="en-US" sz="1300" dirty="0">
                <a:solidFill>
                  <a:srgbClr val="262320"/>
                </a:solidFill>
                <a:latin typeface="Calibri"/>
                <a:cs typeface="Calibri"/>
              </a:rPr>
              <a:t>hazard of motor vehicle accidents, faithful statin takers vs not</a:t>
            </a:r>
          </a:p>
        </p:txBody>
      </p:sp>
      <p:sp>
        <p:nvSpPr>
          <p:cNvPr id="117" name="Card"/>
          <p:cNvSpPr/>
          <p:nvPr/>
        </p:nvSpPr>
        <p:spPr>
          <a:xfrm>
            <a:off x="4389120" y="2320000"/>
            <a:ext cx="341376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18" name="TextBox"/>
          <p:cNvSpPr txBox="1"/>
          <p:nvPr/>
        </p:nvSpPr>
        <p:spPr>
          <a:xfrm>
            <a:off x="4526280" y="2502880"/>
            <a:ext cx="3139440" cy="1534240"/>
          </a:xfrm>
          <a:prstGeom prst="rect">
            <a:avLst/>
          </a:prstGeom>
          <a:noFill/>
        </p:spPr>
        <p:txBody>
          <a:bodyPr wrap="square" lIns="0" tIns="0" rIns="0" bIns="0" rtlCol="0" anchor="t">
            <a:noAutofit/>
          </a:bodyPr>
          <a:lstStyle/>
          <a:p>
            <a:pPr marL="0" indent="0" algn="ctr">
              <a:buNone/>
            </a:pPr>
            <a:r>
              <a:rPr lang="en-US" sz="4400" b="1" dirty="0">
                <a:solidFill>
                  <a:srgbClr val="15686B"/>
                </a:solidFill>
                <a:latin typeface="Bookman Old Style"/>
                <a:cs typeface="Bookman Old Style"/>
              </a:rPr>
              <a:t>0.77</a:t>
            </a:r>
          </a:p>
          <a:p>
            <a:pPr marL="0" indent="0" algn="ctr">
              <a:buNone/>
            </a:pPr>
            <a:r>
              <a:rPr lang="en-US" sz="1300" dirty="0">
                <a:solidFill>
                  <a:srgbClr val="262320"/>
                </a:solidFill>
                <a:latin typeface="Calibri"/>
                <a:cs typeface="Calibri"/>
              </a:rPr>
              <a:t>hazard of workplace accidents</a:t>
            </a:r>
          </a:p>
        </p:txBody>
      </p:sp>
      <p:sp>
        <p:nvSpPr>
          <p:cNvPr id="119" name="Card"/>
          <p:cNvSpPr/>
          <p:nvPr/>
        </p:nvSpPr>
        <p:spPr>
          <a:xfrm>
            <a:off x="8092440" y="2320000"/>
            <a:ext cx="3413760" cy="190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0" name="TextBox"/>
          <p:cNvSpPr txBox="1"/>
          <p:nvPr/>
        </p:nvSpPr>
        <p:spPr>
          <a:xfrm>
            <a:off x="8229600" y="2502880"/>
            <a:ext cx="3139440" cy="1534240"/>
          </a:xfrm>
          <a:prstGeom prst="rect">
            <a:avLst/>
          </a:prstGeom>
          <a:noFill/>
        </p:spPr>
        <p:txBody>
          <a:bodyPr wrap="square" lIns="0" tIns="0" rIns="0" bIns="0" rtlCol="0" anchor="t">
            <a:noAutofit/>
          </a:bodyPr>
          <a:lstStyle/>
          <a:p>
            <a:pPr marL="0" indent="0" algn="ctr">
              <a:buNone/>
            </a:pPr>
            <a:r>
              <a:rPr lang="en-US" sz="4400" b="1" dirty="0">
                <a:solidFill>
                  <a:srgbClr val="C2683F"/>
                </a:solidFill>
                <a:latin typeface="Bookman Old Style"/>
                <a:cs typeface="Bookman Old Style"/>
              </a:rPr>
              <a:t>1.17</a:t>
            </a:r>
          </a:p>
          <a:p>
            <a:pPr marL="0" indent="0" algn="ctr">
              <a:buNone/>
            </a:pPr>
            <a:r>
              <a:rPr lang="en-US" sz="1300" dirty="0">
                <a:solidFill>
                  <a:srgbClr val="262320"/>
                </a:solidFill>
                <a:latin typeface="Calibri"/>
                <a:cs typeface="Calibri"/>
              </a:rPr>
              <a:t>likelihood of using screening services</a:t>
            </a:r>
          </a:p>
        </p:txBody>
      </p:sp>
      <p:sp>
        <p:nvSpPr>
          <p:cNvPr id="121" name="TextBox"/>
          <p:cNvSpPr txBox="1"/>
          <p:nvPr/>
        </p:nvSpPr>
        <p:spPr>
          <a:xfrm>
            <a:off x="685800" y="4420000"/>
            <a:ext cx="10820400" cy="320040"/>
          </a:xfrm>
          <a:prstGeom prst="rect">
            <a:avLst/>
          </a:prstGeom>
          <a:noFill/>
        </p:spPr>
        <p:txBody>
          <a:bodyPr wrap="square" lIns="0" tIns="0" rIns="0" bIns="0" rtlCol="0" anchor="t">
            <a:noAutofit/>
          </a:bodyPr>
          <a:lstStyle/>
          <a:p>
            <a:pPr marL="0" indent="0" algn="l">
              <a:buNone/>
            </a:pPr>
            <a:r>
              <a:rPr lang="en-US" sz="1500" dirty="0">
                <a:solidFill>
                  <a:srgbClr val="262320"/>
                </a:solidFill>
                <a:latin typeface="Calibri"/>
                <a:cs typeface="Calibri"/>
              </a:rPr>
              <a:t>Shared population: 141,086 people starting statins, British Columbia. Also fewer burns, falls, fractures, open wounds, and poisonings.</a:t>
            </a:r>
          </a:p>
        </p:txBody>
      </p:sp>
      <p:sp>
        <p:nvSpPr>
          <p:cNvPr id="122" name="Band"/>
          <p:cNvSpPr/>
          <p:nvPr/>
        </p:nvSpPr>
        <p:spPr>
          <a:xfrm>
            <a:off x="685800" y="5080000"/>
            <a:ext cx="10820400" cy="8382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800" b="1" dirty="0">
                <a:solidFill>
                  <a:srgbClr val="000000"/>
                </a:solidFill>
                <a:latin typeface="Calibri"/>
                <a:cs typeface="Calibri"/>
              </a:rPr>
              <a:t>No mechanism in the pill reaches any of these. Something about the people produces all of them.</a:t>
            </a:r>
          </a:p>
        </p:txBody>
      </p:sp>
      <p:sp>
        <p:nvSpPr>
          <p:cNvPr id="123" name="Source"/>
          <p:cNvSpPr txBox="1"/>
          <p:nvPr/>
        </p:nvSpPr>
        <p:spPr>
          <a:xfrm>
            <a:off x="685800" y="6480000"/>
            <a:ext cx="10820400" cy="274320"/>
          </a:xfrm>
          <a:prstGeom prst="rect">
            <a:avLst/>
          </a:prstGeom>
          <a:noFill/>
        </p:spPr>
        <p:txBody>
          <a:bodyPr wrap="square" lIns="0" tIns="0" rIns="0" bIns="0" rtlCol="0" anchor="t">
            <a:noAutofit/>
          </a:bodyPr>
          <a:lstStyle/>
          <a:p>
            <a:pPr marL="0" indent="0" algn="l">
              <a:buNone/>
            </a:pPr>
            <a:r>
              <a:rPr lang="en-US" sz="1100" i="1" dirty="0">
                <a:solidFill>
                  <a:srgbClr val="6B6660"/>
                </a:solidFill>
                <a:latin typeface="Calibri"/>
                <a:cs typeface="Calibri"/>
              </a:rPr>
              <a:t>Dormuth CR et al. Statin adherence and risk of accidents: a cautionary tale. Circulation 2009;119:2051-2057.</a:t>
            </a:r>
          </a:p>
        </p:txBody>
      </p:sp>
      <p:pic>
        <p:nvPicPr>
          <p:cNvPr id="2" name="Picture 1">
            <a:extLst>
              <a:ext uri="{FF2B5EF4-FFF2-40B4-BE49-F238E27FC236}">
                <a16:creationId xmlns:a16="http://schemas.microsoft.com/office/drawing/2014/main" id="{E7F17CE2-52DC-318A-581A-3A088B5AD096}"/>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21442656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Title"/>
          <p:cNvSpPr>
            <a:spLocks noGrp="1"/>
          </p:cNvSpPr>
          <p:nvPr>
            <p:ph type="title" idx="102"/>
          </p:nvPr>
        </p:nvSpPr>
        <p:spPr>
          <a:xfrm>
            <a:off x="1854200" y="868680"/>
            <a:ext cx="9652000" cy="1168400"/>
          </a:xfrm>
          <a:prstGeom prst="rect">
            <a:avLst/>
          </a:prstGeom>
          <a:noFill/>
          <a:ln/>
        </p:spPr>
        <p:txBody>
          <a:bodyPr wrap="square" lIns="0" tIns="0" rIns="0" bIns="0" rtlCol="0" anchor="ctr"/>
          <a:lstStyle/>
          <a:p>
            <a:pPr marL="0" indent="0" algn="l">
              <a:buNone/>
            </a:pPr>
            <a:r>
              <a:rPr lang="en-US" sz="3800" dirty="0"/>
              <a:t>People who follow health instructions live longer</a:t>
            </a:r>
          </a:p>
        </p:txBody>
      </p:sp>
      <p:sp>
        <p:nvSpPr>
          <p:cNvPr id="125" name="Card"/>
          <p:cNvSpPr/>
          <p:nvPr/>
        </p:nvSpPr>
        <p:spPr>
          <a:xfrm>
            <a:off x="685800" y="2150000"/>
            <a:ext cx="5232400" cy="198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6" name="TextBox"/>
          <p:cNvSpPr txBox="1"/>
          <p:nvPr/>
        </p:nvSpPr>
        <p:spPr>
          <a:xfrm>
            <a:off x="822960" y="2332880"/>
            <a:ext cx="4958080" cy="1614240"/>
          </a:xfrm>
          <a:prstGeom prst="rect">
            <a:avLst/>
          </a:prstGeom>
          <a:noFill/>
        </p:spPr>
        <p:txBody>
          <a:bodyPr wrap="square" lIns="0" tIns="0" rIns="0" bIns="0" rtlCol="0" anchor="t">
            <a:noAutofit/>
          </a:bodyPr>
          <a:lstStyle/>
          <a:p>
            <a:pPr marL="0" indent="0" algn="ctr">
              <a:buNone/>
            </a:pPr>
            <a:r>
              <a:rPr lang="en-US" sz="4400" b="1" dirty="0">
                <a:solidFill>
                  <a:srgbClr val="15686B"/>
                </a:solidFill>
                <a:latin typeface="Bookman Old Style"/>
                <a:cs typeface="Bookman Old Style"/>
              </a:rPr>
              <a:t>15.1%</a:t>
            </a:r>
          </a:p>
          <a:p>
            <a:pPr marL="0" indent="0" algn="ctr">
              <a:buNone/>
            </a:pPr>
            <a:r>
              <a:rPr lang="en-US" sz="1300" dirty="0">
                <a:solidFill>
                  <a:srgbClr val="262320"/>
                </a:solidFill>
                <a:latin typeface="Calibri"/>
                <a:cs typeface="Calibri"/>
              </a:rPr>
              <a:t>five-year mortality, faithful takers of the dummy pill</a:t>
            </a:r>
          </a:p>
        </p:txBody>
      </p:sp>
      <p:sp>
        <p:nvSpPr>
          <p:cNvPr id="127" name="Card"/>
          <p:cNvSpPr/>
          <p:nvPr/>
        </p:nvSpPr>
        <p:spPr>
          <a:xfrm>
            <a:off x="6273800" y="2150000"/>
            <a:ext cx="5232400" cy="1980000"/>
          </a:xfrm>
          <a:prstGeom prst="roundRect">
            <a:avLst>
              <a:gd name="adj" fmla="val 6000"/>
            </a:avLst>
          </a:prstGeom>
          <a:solidFill>
            <a:srgbClr val="FFFFFF"/>
          </a:solidFill>
          <a:ln w="15875" cap="flat" cmpd="sng" algn="ctr">
            <a:solidFill>
              <a:srgbClr val="15686B"/>
            </a:solidFill>
            <a:prstDash val="solid"/>
            <a:miter lim="800000"/>
          </a:ln>
        </p:spPr>
        <p:txBody>
          <a:bodyPr rtlCol="0" anchor="t"/>
          <a:lstStyle/>
          <a:p>
            <a:endParaRPr lang="en-US"/>
          </a:p>
        </p:txBody>
      </p:sp>
      <p:sp>
        <p:nvSpPr>
          <p:cNvPr id="128" name="TextBox"/>
          <p:cNvSpPr txBox="1"/>
          <p:nvPr/>
        </p:nvSpPr>
        <p:spPr>
          <a:xfrm>
            <a:off x="6410960" y="2332880"/>
            <a:ext cx="4958080" cy="1614240"/>
          </a:xfrm>
          <a:prstGeom prst="rect">
            <a:avLst/>
          </a:prstGeom>
          <a:noFill/>
        </p:spPr>
        <p:txBody>
          <a:bodyPr wrap="square" lIns="0" tIns="0" rIns="0" bIns="0" rtlCol="0" anchor="t">
            <a:noAutofit/>
          </a:bodyPr>
          <a:lstStyle/>
          <a:p>
            <a:pPr marL="0" indent="0" algn="ctr">
              <a:buNone/>
            </a:pPr>
            <a:r>
              <a:rPr lang="en-US" sz="4400" b="1" dirty="0">
                <a:solidFill>
                  <a:srgbClr val="8A2A2A"/>
                </a:solidFill>
                <a:latin typeface="Bookman Old Style"/>
                <a:cs typeface="Bookman Old Style"/>
              </a:rPr>
              <a:t>28.3%</a:t>
            </a:r>
          </a:p>
          <a:p>
            <a:pPr marL="0" indent="0" algn="ctr">
              <a:buNone/>
            </a:pPr>
            <a:r>
              <a:rPr lang="en-US" sz="1300" dirty="0">
                <a:solidFill>
                  <a:srgbClr val="262320"/>
                </a:solidFill>
                <a:latin typeface="Calibri"/>
                <a:cs typeface="Calibri"/>
              </a:rPr>
              <a:t>five-year mortality, unfaithful takers of the dummy pill</a:t>
            </a:r>
          </a:p>
        </p:txBody>
      </p:sp>
      <p:sp>
        <p:nvSpPr>
          <p:cNvPr id="129" name="TextBox"/>
          <p:cNvSpPr txBox="1"/>
          <p:nvPr/>
        </p:nvSpPr>
        <p:spPr>
          <a:xfrm>
            <a:off x="685800" y="4310000"/>
            <a:ext cx="10820400" cy="640080"/>
          </a:xfrm>
          <a:prstGeom prst="rect">
            <a:avLst/>
          </a:prstGeom>
          <a:noFill/>
        </p:spPr>
        <p:txBody>
          <a:bodyPr wrap="square" lIns="0" tIns="0" rIns="0" bIns="0" rtlCol="0" anchor="t">
            <a:noAutofit/>
          </a:bodyPr>
          <a:lstStyle/>
          <a:p>
            <a:pPr marL="0" indent="0" algn="l">
              <a:buNone/>
            </a:pPr>
            <a:r>
              <a:rPr lang="en-US" sz="2000" b="1" dirty="0">
                <a:solidFill>
                  <a:srgbClr val="262320"/>
                </a:solidFill>
                <a:latin typeface="Calibri"/>
                <a:cs typeface="Calibri"/>
              </a:rPr>
              <a:t>The pill was sugar. The difference was the person.</a:t>
            </a:r>
          </a:p>
          <a:p>
            <a:pPr marL="0" indent="0" algn="l">
              <a:buNone/>
            </a:pPr>
            <a:r>
              <a:rPr lang="en-US" sz="1400" i="1" dirty="0">
                <a:solidFill>
                  <a:srgbClr val="1F3864"/>
                </a:solidFill>
                <a:latin typeface="Calibri"/>
                <a:cs typeface="Calibri"/>
              </a:rPr>
              <a:t>The gap carries P = 4.7 × 10</a:t>
            </a:r>
            <a:r>
              <a:rPr lang="en-US" sz="1400" i="1" baseline="30000" dirty="0">
                <a:solidFill>
                  <a:srgbClr val="1F3864"/>
                </a:solidFill>
                <a:latin typeface="Calibri"/>
                <a:cs typeface="Calibri"/>
              </a:rPr>
              <a:t>−16</a:t>
            </a:r>
            <a:r>
              <a:rPr lang="en-US" sz="1400" i="1" dirty="0">
                <a:solidFill>
                  <a:srgbClr val="1F3864"/>
                </a:solidFill>
                <a:latin typeface="Calibri"/>
                <a:cs typeface="Calibri"/>
              </a:rPr>
              <a:t>. Significant at any bar you like, and still not the pill.</a:t>
            </a:r>
          </a:p>
        </p:txBody>
      </p:sp>
      <p:sp>
        <p:nvSpPr>
          <p:cNvPr id="130" name="Band"/>
          <p:cNvSpPr/>
          <p:nvPr/>
        </p:nvSpPr>
        <p:spPr>
          <a:xfrm>
            <a:off x="685800" y="5480000"/>
            <a:ext cx="10820400" cy="8382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700" b="1" dirty="0">
                <a:solidFill>
                  <a:srgbClr val="000000"/>
                </a:solidFill>
                <a:latin typeface="Calibri"/>
                <a:cs typeface="Calibri"/>
              </a:rPr>
              <a:t>People who reliably take a pill every day differ from people who do not, in ways that have nothing to do with the pill.</a:t>
            </a:r>
          </a:p>
        </p:txBody>
      </p:sp>
      <p:sp>
        <p:nvSpPr>
          <p:cNvPr id="131" name="Source"/>
          <p:cNvSpPr txBox="1"/>
          <p:nvPr/>
        </p:nvSpPr>
        <p:spPr>
          <a:xfrm>
            <a:off x="685800" y="6480000"/>
            <a:ext cx="10820400" cy="274320"/>
          </a:xfrm>
          <a:prstGeom prst="rect">
            <a:avLst/>
          </a:prstGeom>
          <a:noFill/>
        </p:spPr>
        <p:txBody>
          <a:bodyPr wrap="square" lIns="0" tIns="0" rIns="0" bIns="0" rtlCol="0" anchor="t">
            <a:noAutofit/>
          </a:bodyPr>
          <a:lstStyle/>
          <a:p>
            <a:pPr marL="0" indent="0" algn="l">
              <a:buNone/>
            </a:pPr>
            <a:r>
              <a:rPr lang="en-US" sz="1100" i="1" dirty="0">
                <a:solidFill>
                  <a:srgbClr val="6B6660"/>
                </a:solidFill>
                <a:latin typeface="Calibri"/>
                <a:cs typeface="Calibri"/>
              </a:rPr>
              <a:t>Coronary Drug Project Research Group. Influence of adherence to treatment and response of cholesterol on mortality. N Engl J Med 1980;303:1038-1041.</a:t>
            </a:r>
          </a:p>
        </p:txBody>
      </p:sp>
      <p:pic>
        <p:nvPicPr>
          <p:cNvPr id="2" name="Picture 1">
            <a:extLst>
              <a:ext uri="{FF2B5EF4-FFF2-40B4-BE49-F238E27FC236}">
                <a16:creationId xmlns:a16="http://schemas.microsoft.com/office/drawing/2014/main" id="{A897935A-B919-50D6-CA80-D1D7E11F306B}"/>
              </a:ext>
            </a:extLst>
          </p:cNvPr>
          <p:cNvPicPr>
            <a:picLocks noChangeAspect="1"/>
          </p:cNvPicPr>
          <p:nvPr/>
        </p:nvPicPr>
        <p:blipFill>
          <a:blip r:embed="rId3"/>
          <a:stretch>
            <a:fillRect/>
          </a:stretch>
        </p:blipFill>
        <p:spPr>
          <a:xfrm>
            <a:off x="685800" y="863600"/>
            <a:ext cx="965200" cy="8509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THE CLAIM, AND THE STUDY</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Bird Watching Prevents Dementia</a:t>
            </a: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headline is illustrative</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No study makes this exact claim about birds.</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ILLUSTRATIVE</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real study is Whitehall II</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10,308 British civil servants, followed for 28 years.</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STUDY</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It measured activity, not birds</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At first look, active people developed dementia less often.</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FINDING</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A real association, in one real population.</a:t>
            </a:r>
          </a:p>
          <a:p>
            <a:pPr marL="0" indent="0" algn="ctr">
              <a:buNone/>
            </a:pPr>
            <a:r>
              <a:rPr lang="en-US" sz="1400" b="1" dirty="0">
                <a:solidFill>
                  <a:srgbClr val="000000"/>
                </a:solidFill>
                <a:latin typeface="Calibri"/>
                <a:cs typeface="Calibri"/>
              </a:rPr>
              <a:t>The next slides ask what produces the pattern.</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Sabia S et al. Physical activity, cognitive decline, and risk of dementia: 28 year follow-up of the Whitehall II cohort. BMJ 2017;357:j2709. 10,308 participants. The bird-watching headline is illustrative.</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42668443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Title"/>
          <p:cNvSpPr>
            <a:spLocks noGrp="1"/>
          </p:cNvSpPr>
          <p:nvPr>
            <p:ph type="title" idx="102"/>
          </p:nvPr>
        </p:nvSpPr>
        <p:spPr>
          <a:xfrm>
            <a:off x="1854200" y="868680"/>
            <a:ext cx="9652000" cy="1117600"/>
          </a:xfrm>
          <a:prstGeom prst="rect">
            <a:avLst/>
          </a:prstGeom>
          <a:noFill/>
          <a:ln/>
        </p:spPr>
        <p:txBody>
          <a:bodyPr wrap="square" lIns="0" tIns="0" rIns="0" bIns="0" rtlCol="0" anchor="ctr"/>
          <a:lstStyle/>
          <a:p>
            <a:pPr marL="0" indent="0" algn="l">
              <a:buNone/>
            </a:pPr>
            <a:r>
              <a:rPr lang="en-US" sz="3800" dirty="0"/>
              <a:t>Does Bird Watching Prevent Dementia?</a:t>
            </a:r>
          </a:p>
        </p:txBody>
      </p:sp>
      <p:sp>
        <p:nvSpPr>
          <p:cNvPr id="224" name="Card"/>
          <p:cNvSpPr/>
          <p:nvPr/>
        </p:nvSpPr>
        <p:spPr>
          <a:xfrm>
            <a:off x="685800" y="2006600"/>
            <a:ext cx="10820400" cy="520000"/>
          </a:xfrm>
          <a:prstGeom prst="roundRect">
            <a:avLst>
              <a:gd name="adj" fmla="val 6000"/>
            </a:avLst>
          </a:prstGeom>
          <a:solidFill>
            <a:srgbClr val="F7EAE2"/>
          </a:solidFill>
          <a:ln>
            <a:noFill/>
          </a:ln>
        </p:spPr>
        <p:txBody>
          <a:bodyPr rtlCol="0" anchor="t"/>
          <a:lstStyle/>
          <a:p>
            <a:endParaRPr lang="en-US"/>
          </a:p>
        </p:txBody>
      </p:sp>
      <p:sp>
        <p:nvSpPr>
          <p:cNvPr id="225" name="TextBox"/>
          <p:cNvSpPr txBox="1"/>
          <p:nvPr/>
        </p:nvSpPr>
        <p:spPr>
          <a:xfrm>
            <a:off x="960120" y="2108200"/>
            <a:ext cx="10271760" cy="320000"/>
          </a:xfrm>
          <a:prstGeom prst="rect">
            <a:avLst/>
          </a:prstGeom>
          <a:noFill/>
        </p:spPr>
        <p:txBody>
          <a:bodyPr wrap="square" lIns="0" tIns="0" rIns="0" bIns="0" rtlCol="0" anchor="t">
            <a:noAutofit/>
          </a:bodyPr>
          <a:lstStyle/>
          <a:p>
            <a:pPr marL="0" indent="0" algn="l">
              <a:buNone/>
            </a:pPr>
            <a:r>
              <a:rPr lang="en-US" sz="1500" i="1" dirty="0">
                <a:solidFill>
                  <a:srgbClr val="262320"/>
                </a:solidFill>
                <a:latin typeface="Calibri"/>
                <a:cs typeface="Calibri"/>
              </a:rPr>
              <a:t>“Bird watchers show lower rates of dementia, study finds.”  </a:t>
            </a:r>
            <a:r>
              <a:rPr lang="en-US" sz="1200" dirty="0">
                <a:solidFill>
                  <a:srgbClr val="6B6660"/>
                </a:solidFill>
                <a:latin typeface="Calibri"/>
                <a:cs typeface="Calibri"/>
              </a:rPr>
              <a:t>(illustrative headline)</a:t>
            </a:r>
          </a:p>
        </p:txBody>
      </p:sp>
      <p:sp>
        <p:nvSpPr>
          <p:cNvPr id="226" name="TextBox"/>
          <p:cNvSpPr txBox="1"/>
          <p:nvPr/>
        </p:nvSpPr>
        <p:spPr>
          <a:xfrm>
            <a:off x="685800" y="2552700"/>
            <a:ext cx="10820400" cy="440000"/>
          </a:xfrm>
          <a:prstGeom prst="rect">
            <a:avLst/>
          </a:prstGeom>
          <a:noFill/>
        </p:spPr>
        <p:txBody>
          <a:bodyPr wrap="square" lIns="0" tIns="0" rIns="0" bIns="0" rtlCol="0" anchor="t">
            <a:noAutofit/>
          </a:bodyPr>
          <a:lstStyle/>
          <a:p>
            <a:pPr marL="0" indent="0" algn="l">
              <a:buNone/>
            </a:pPr>
            <a:r>
              <a:rPr lang="en-US" sz="1700" b="1" dirty="0">
                <a:solidFill>
                  <a:srgbClr val="15686B"/>
                </a:solidFill>
                <a:latin typeface="Calibri"/>
                <a:cs typeface="Calibri"/>
              </a:rPr>
              <a:t>A coincidence?   </a:t>
            </a:r>
            <a:r>
              <a:rPr lang="en-US" sz="1700" dirty="0">
                <a:solidFill>
                  <a:srgbClr val="262320"/>
                </a:solidFill>
                <a:latin typeface="Calibri"/>
                <a:cs typeface="Calibri"/>
              </a:rPr>
              <a:t>No. These are people, and the grid can be drawn.</a:t>
            </a:r>
          </a:p>
        </p:txBody>
      </p:sp>
      <p:sp>
        <p:nvSpPr>
          <p:cNvPr id="227" name="TextBox"/>
          <p:cNvSpPr txBox="1"/>
          <p:nvPr/>
        </p:nvSpPr>
        <p:spPr>
          <a:xfrm>
            <a:off x="685800" y="3000000"/>
            <a:ext cx="10820400" cy="440000"/>
          </a:xfrm>
          <a:prstGeom prst="rect">
            <a:avLst/>
          </a:prstGeom>
          <a:noFill/>
        </p:spPr>
        <p:txBody>
          <a:bodyPr wrap="square" lIns="0" tIns="0" rIns="0" bIns="0" rtlCol="0" anchor="t">
            <a:noAutofit/>
          </a:bodyPr>
          <a:lstStyle/>
          <a:p>
            <a:pPr marL="0" indent="0" algn="l">
              <a:buNone/>
            </a:pPr>
            <a:r>
              <a:rPr lang="en-US" sz="1700" b="1" dirty="0">
                <a:solidFill>
                  <a:srgbClr val="15686B"/>
                </a:solidFill>
                <a:latin typeface="Calibri"/>
                <a:cs typeface="Calibri"/>
              </a:rPr>
              <a:t>A common cause?   </a:t>
            </a:r>
            <a:r>
              <a:rPr lang="en-US" sz="1700" dirty="0">
                <a:solidFill>
                  <a:srgbClr val="262320"/>
                </a:solidFill>
                <a:latin typeface="Calibri"/>
                <a:cs typeface="Calibri"/>
              </a:rPr>
              <a:t>Maybe. Education, income, mobility, green space.</a:t>
            </a:r>
          </a:p>
        </p:txBody>
      </p:sp>
      <p:sp>
        <p:nvSpPr>
          <p:cNvPr id="228" name="TextBox"/>
          <p:cNvSpPr txBox="1"/>
          <p:nvPr/>
        </p:nvSpPr>
        <p:spPr>
          <a:xfrm>
            <a:off x="685800" y="3500000"/>
            <a:ext cx="10820400" cy="440000"/>
          </a:xfrm>
          <a:prstGeom prst="rect">
            <a:avLst/>
          </a:prstGeom>
          <a:noFill/>
        </p:spPr>
        <p:txBody>
          <a:bodyPr wrap="square" lIns="0" tIns="0" rIns="0" bIns="0" rtlCol="0" anchor="t">
            <a:noAutofit/>
          </a:bodyPr>
          <a:lstStyle/>
          <a:p>
            <a:pPr marL="0" indent="0" algn="l">
              <a:buNone/>
            </a:pPr>
            <a:r>
              <a:rPr lang="en-US" sz="1700" b="1" dirty="0">
                <a:solidFill>
                  <a:srgbClr val="15686B"/>
                </a:solidFill>
                <a:latin typeface="Calibri"/>
                <a:cs typeface="Calibri"/>
              </a:rPr>
              <a:t>The illness itself?   </a:t>
            </a:r>
            <a:r>
              <a:rPr lang="en-US" sz="1700" b="1" dirty="0">
                <a:solidFill>
                  <a:srgbClr val="1F3864"/>
                </a:solidFill>
                <a:latin typeface="Calibri"/>
                <a:cs typeface="Calibri"/>
              </a:rPr>
              <a:t>Already under way, it stops the hobby and is the diagnosis.</a:t>
            </a:r>
          </a:p>
        </p:txBody>
      </p:sp>
      <p:pic>
        <p:nvPicPr>
          <p:cNvPr id="229" name="BirdRivals" descr="Two diagrams: bird watching causing dementia, against dementia causing less bird watching"/>
          <p:cNvPicPr>
            <a:picLocks noChangeAspect="1"/>
          </p:cNvPicPr>
          <p:nvPr/>
        </p:nvPicPr>
        <p:blipFill>
          <a:blip r:embed="rId3"/>
          <a:stretch>
            <a:fillRect/>
          </a:stretch>
        </p:blipFill>
        <p:spPr>
          <a:xfrm>
            <a:off x="2596000" y="4020000"/>
            <a:ext cx="7000000" cy="1712765"/>
          </a:xfrm>
          <a:prstGeom prst="rect">
            <a:avLst/>
          </a:prstGeom>
        </p:spPr>
      </p:pic>
      <p:sp>
        <p:nvSpPr>
          <p:cNvPr id="230" name="Band"/>
          <p:cNvSpPr/>
          <p:nvPr/>
        </p:nvSpPr>
        <p:spPr>
          <a:xfrm>
            <a:off x="685800" y="5760000"/>
            <a:ext cx="10820400" cy="62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600" b="1" dirty="0">
                <a:solidFill>
                  <a:srgbClr val="000000"/>
                </a:solidFill>
                <a:latin typeface="Calibri"/>
                <a:cs typeface="Calibri"/>
              </a:rPr>
              <a:t>Counting the two groups cannot pick which diagram is right. The illness stops the hobby years before anyone gives the disease a name; the bird watching itself does nothing.</a:t>
            </a:r>
          </a:p>
        </p:txBody>
      </p:sp>
      <p:sp>
        <p:nvSpPr>
          <p:cNvPr id="231" name="Source"/>
          <p:cNvSpPr txBox="1"/>
          <p:nvPr/>
        </p:nvSpPr>
        <p:spPr>
          <a:xfrm>
            <a:off x="685800" y="6480000"/>
            <a:ext cx="10820400" cy="274320"/>
          </a:xfrm>
          <a:prstGeom prst="rect">
            <a:avLst/>
          </a:prstGeom>
          <a:noFill/>
        </p:spPr>
        <p:txBody>
          <a:bodyPr wrap="square" lIns="0" tIns="0" rIns="0" bIns="0" rtlCol="0" anchor="t">
            <a:noAutofit/>
          </a:bodyPr>
          <a:lstStyle/>
          <a:p>
            <a:pPr marL="0" indent="0" algn="l">
              <a:buNone/>
            </a:pPr>
            <a:r>
              <a:rPr lang="en-US" sz="1100" i="1" dirty="0">
                <a:solidFill>
                  <a:srgbClr val="6B6660"/>
                </a:solidFill>
                <a:latin typeface="Calibri"/>
                <a:cs typeface="Calibri"/>
              </a:rPr>
              <a:t>Sabia S et al. Physical activity and risk of dementia: 28 year follow-up of Whitehall II. BMJ 2017;357:j2709.</a:t>
            </a:r>
          </a:p>
        </p:txBody>
      </p:sp>
      <p:pic>
        <p:nvPicPr>
          <p:cNvPr id="2" name="Picture 1">
            <a:extLst>
              <a:ext uri="{FF2B5EF4-FFF2-40B4-BE49-F238E27FC236}">
                <a16:creationId xmlns:a16="http://schemas.microsoft.com/office/drawing/2014/main" id="{E2DC0C86-2B8E-64B5-2BED-77F06ABCFFA7}"/>
              </a:ext>
            </a:extLst>
          </p:cNvPr>
          <p:cNvPicPr>
            <a:picLocks noChangeAspect="1"/>
          </p:cNvPicPr>
          <p:nvPr/>
        </p:nvPicPr>
        <p:blipFill>
          <a:blip r:embed="rId4"/>
          <a:stretch>
            <a:fillRect/>
          </a:stretch>
        </p:blipFill>
        <p:spPr>
          <a:xfrm>
            <a:off x="685800" y="863600"/>
            <a:ext cx="965200" cy="8509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READING THE DIAGRAM</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What the Boxes and Arrows Mean</a:t>
            </a: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 box</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Something that can change: an activity, a trait, a diagnosis.</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A THING</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An arrow</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One thing makes another more likely. The arrow is a cause.</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A CAUSE</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 crossed-out arrow</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 cause we looked for and did not find.</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NOT A CAUSE</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One box with arrows to two others is a single cause behind both.</a:t>
            </a:r>
          </a:p>
          <a:p>
            <a:pPr marL="0" indent="0" algn="ctr">
              <a:buNone/>
            </a:pPr>
            <a:r>
              <a:rPr lang="en-US" sz="1400" b="1" dirty="0">
                <a:solidFill>
                  <a:srgbClr val="000000"/>
                </a:solidFill>
                <a:latin typeface="Calibri"/>
                <a:cs typeface="Calibri"/>
              </a:rPr>
              <a:t>The boxes stay the same. Only the arrows change the story.</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The same notation is used on every diagram in this session.</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34298101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1" name="Title"/>
          <p:cNvSpPr>
            <a:spLocks noGrp="1"/>
          </p:cNvSpPr>
          <p:nvPr>
            <p:ph type="title" idx="102"/>
          </p:nvPr>
        </p:nvSpPr>
        <p:spPr>
          <a:xfrm>
            <a:off x="1854200" y="868680"/>
            <a:ext cx="9652000" cy="1117600"/>
          </a:xfrm>
          <a:prstGeom prst="rect">
            <a:avLst/>
          </a:prstGeom>
          <a:noFill/>
          <a:ln/>
        </p:spPr>
        <p:txBody>
          <a:bodyPr wrap="square" lIns="0" tIns="0" rIns="0" bIns="0" rtlCol="0" anchor="ctr"/>
          <a:lstStyle/>
          <a:p>
            <a:pPr marL="0" indent="0" algn="l">
              <a:buNone/>
            </a:pPr>
            <a:r>
              <a:rPr lang="en-US" sz="3800" dirty="0"/>
              <a:t>Bird Watching Does Not Prevent Dementia</a:t>
            </a:r>
          </a:p>
        </p:txBody>
      </p:sp>
      <p:sp>
        <p:nvSpPr>
          <p:cNvPr id="702" name="Eyebrow"/>
          <p:cNvSpPr txBox="1"/>
          <p:nvPr/>
        </p:nvSpPr>
        <p:spPr>
          <a:xfrm>
            <a:off x="685800" y="2037080"/>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WHAT EXPLAINS THE DATA INSTEAD</a:t>
            </a:r>
          </a:p>
        </p:txBody>
      </p:sp>
      <p:sp>
        <p:nvSpPr>
          <p:cNvPr id="703" name="TextBox"/>
          <p:cNvSpPr txBox="1"/>
          <p:nvPr/>
        </p:nvSpPr>
        <p:spPr>
          <a:xfrm>
            <a:off x="685800" y="2514600"/>
            <a:ext cx="10820400" cy="380000"/>
          </a:xfrm>
          <a:prstGeom prst="rect">
            <a:avLst/>
          </a:prstGeom>
          <a:noFill/>
        </p:spPr>
        <p:txBody>
          <a:bodyPr wrap="square" lIns="0" tIns="0" rIns="0" bIns="0" rtlCol="0" anchor="t">
            <a:noAutofit/>
          </a:bodyPr>
          <a:lstStyle/>
          <a:p>
            <a:pPr marL="0" indent="0" algn="l">
              <a:buNone/>
            </a:pPr>
            <a:r>
              <a:rPr lang="en-US" sz="1800" b="1" dirty="0">
                <a:solidFill>
                  <a:srgbClr val="262320"/>
                </a:solidFill>
                <a:latin typeface="Calibri"/>
                <a:cs typeface="Calibri"/>
              </a:rPr>
              <a:t>Followed for 28 years, the activity made no difference. The correlation is real; the arrow is not.</a:t>
            </a:r>
          </a:p>
        </p:txBody>
      </p:sp>
      <p:pic>
        <p:nvPicPr>
          <p:cNvPr id="704" name="BirdNet" descr="Five boxes: schooling and money, heart joints and hearing, and the illness already starting, each with arrows into both bird watching and dementia, and the arrow between bird watching and dementia struck through"/>
          <p:cNvPicPr>
            <a:picLocks noChangeAspect="1"/>
          </p:cNvPicPr>
          <p:nvPr/>
        </p:nvPicPr>
        <p:blipFill>
          <a:blip r:embed="rId2"/>
          <a:stretch>
            <a:fillRect/>
          </a:stretch>
        </p:blipFill>
        <p:spPr>
          <a:xfrm>
            <a:off x="2508250" y="2946400"/>
            <a:ext cx="7175500" cy="2641600"/>
          </a:xfrm>
          <a:prstGeom prst="rect">
            <a:avLst/>
          </a:prstGeom>
        </p:spPr>
      </p:pic>
      <p:sp>
        <p:nvSpPr>
          <p:cNvPr id="705" name="Band"/>
          <p:cNvSpPr/>
          <p:nvPr/>
        </p:nvSpPr>
        <p:spPr>
          <a:xfrm>
            <a:off x="685800" y="5560000"/>
            <a:ext cx="10820400" cy="640000"/>
          </a:xfrm>
          <a:prstGeom prst="roundRect">
            <a:avLst>
              <a:gd name="adj" fmla="val 8000"/>
            </a:avLst>
          </a:prstGeom>
          <a:solidFill>
            <a:srgbClr val="15686B"/>
          </a:solidFill>
          <a:ln>
            <a:noFill/>
          </a:ln>
        </p:spPr>
        <p:txBody>
          <a:bodyPr lIns="182880" tIns="0" rIns="182880" bIns="0" rtlCol="0" anchor="ctr"/>
          <a:lstStyle/>
          <a:p>
            <a:pPr marL="0" indent="0" algn="ctr">
              <a:buNone/>
            </a:pPr>
            <a:r>
              <a:rPr lang="en-US" sz="1700" b="1" dirty="0">
                <a:solidFill>
                  <a:srgbClr val="FFFFFF"/>
                </a:solidFill>
                <a:latin typeface="Calibri"/>
                <a:cs typeface="Calibri"/>
              </a:rPr>
              <a:t>Two of the three can be measured and adjusted for. The third is the illness itself, and no study can subtract it.</a:t>
            </a:r>
          </a:p>
        </p:txBody>
      </p:sp>
      <p:sp>
        <p:nvSpPr>
          <p:cNvPr id="706" name="Source"/>
          <p:cNvSpPr txBox="1"/>
          <p:nvPr/>
        </p:nvSpPr>
        <p:spPr>
          <a:xfrm>
            <a:off x="685800" y="6480000"/>
            <a:ext cx="10820400" cy="30000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Sabia S et al., physical activity, cognitive decline, and risk of dementia: 28 year follow-up of the Whitehall II cohort. BMJ 2017;357:j2709. 10,308 people; hazard ratio for meeting activity guidelines 1.00, 95% CI 0.80 to 1.24; activity fell in the nine years before diagnosis.</a:t>
            </a:r>
          </a:p>
        </p:txBody>
      </p:sp>
      <p:pic>
        <p:nvPicPr>
          <p:cNvPr id="2" name="Picture 1">
            <a:extLst>
              <a:ext uri="{FF2B5EF4-FFF2-40B4-BE49-F238E27FC236}">
                <a16:creationId xmlns:a16="http://schemas.microsoft.com/office/drawing/2014/main" id="{F3137803-E446-4B89-1524-422191C4804E}"/>
              </a:ext>
            </a:extLst>
          </p:cNvPr>
          <p:cNvPicPr>
            <a:picLocks noChangeAspect="1"/>
          </p:cNvPicPr>
          <p:nvPr/>
        </p:nvPicPr>
        <p:blipFill>
          <a:blip r:embed="rId3"/>
          <a:stretch>
            <a:fillRect/>
          </a:stretch>
        </p:blipFill>
        <p:spPr>
          <a:xfrm>
            <a:off x="685800" y="863600"/>
            <a:ext cx="965200" cy="850900"/>
          </a:xfrm>
          <a:prstGeom prst="rect">
            <a:avLst/>
          </a:prstGeom>
        </p:spPr>
      </p:pic>
    </p:spTree>
    <p:extLst>
      <p:ext uri="{BB962C8B-B14F-4D97-AF65-F5344CB8AC3E}">
        <p14:creationId xmlns:p14="http://schemas.microsoft.com/office/powerpoint/2010/main" val="31843489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Smoking Causes Cancer</a:t>
            </a:r>
          </a:p>
        </p:txBody>
      </p:sp>
      <p:sp>
        <p:nvSpPr>
          <p:cNvPr id="402"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C2683F"/>
                </a:solidFill>
                <a:latin typeface="Calibri"/>
                <a:cs typeface="Calibri"/>
              </a:rPr>
              <a:t>THIS TIME, THE CAUSE IS REAL</a:t>
            </a:r>
          </a:p>
        </p:txBody>
      </p:sp>
      <p:sp>
        <p:nvSpPr>
          <p:cNvPr id="403" name="Card"/>
          <p:cNvSpPr/>
          <p:nvPr/>
        </p:nvSpPr>
        <p:spPr>
          <a:xfrm>
            <a:off x="685800" y="2250000"/>
            <a:ext cx="10820400" cy="980000"/>
          </a:xfrm>
          <a:prstGeom prst="roundRect">
            <a:avLst>
              <a:gd name="adj" fmla="val 8000"/>
            </a:avLst>
          </a:prstGeom>
          <a:solidFill>
            <a:srgbClr val="FFFFFF"/>
          </a:solidFill>
          <a:ln w="15875" cap="flat" cmpd="sng" algn="ctr">
            <a:solidFill>
              <a:srgbClr val="C2683F"/>
            </a:solidFill>
            <a:prstDash val="solid"/>
            <a:miter lim="800000"/>
          </a:ln>
        </p:spPr>
        <p:txBody>
          <a:bodyPr rtlCol="0" anchor="t"/>
          <a:lstStyle/>
          <a:p>
            <a:endParaRPr lang="en-US"/>
          </a:p>
        </p:txBody>
      </p:sp>
      <p:sp>
        <p:nvSpPr>
          <p:cNvPr id="404" name="TextBox"/>
          <p:cNvSpPr txBox="1"/>
          <p:nvPr/>
        </p:nvSpPr>
        <p:spPr>
          <a:xfrm>
            <a:off x="960120" y="242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correlation was real and huge</a:t>
            </a:r>
          </a:p>
        </p:txBody>
      </p:sp>
      <p:sp>
        <p:nvSpPr>
          <p:cNvPr id="405" name="TextBox"/>
          <p:cNvSpPr txBox="1"/>
          <p:nvPr/>
        </p:nvSpPr>
        <p:spPr>
          <a:xfrm>
            <a:off x="960120" y="2805000"/>
            <a:ext cx="6900000" cy="300000"/>
          </a:xfrm>
          <a:prstGeom prst="rect">
            <a:avLst/>
          </a:prstGeom>
          <a:noFill/>
        </p:spPr>
        <p:txBody>
          <a:bodyPr wrap="square" lIns="0" tIns="0" rIns="0" bIns="0" rtlCol="0" anchor="t">
            <a:noAutofit/>
          </a:bodyPr>
          <a:lstStyle/>
          <a:p>
            <a:pPr marL="0" indent="0" algn="l">
              <a:buNone/>
            </a:pPr>
            <a:r>
              <a:rPr lang="en-US" sz="1600" dirty="0">
                <a:solidFill>
                  <a:srgbClr val="C2683F"/>
                </a:solidFill>
                <a:latin typeface="Calibri"/>
                <a:cs typeface="Calibri"/>
              </a:rPr>
              <a:t>1950s cohorts of hundreds of thousands; smokers got lung cancer far more often.</a:t>
            </a:r>
          </a:p>
        </p:txBody>
      </p:sp>
      <p:sp>
        <p:nvSpPr>
          <p:cNvPr id="406" name="TextBox"/>
          <p:cNvSpPr txBox="1"/>
          <p:nvPr/>
        </p:nvSpPr>
        <p:spPr>
          <a:xfrm>
            <a:off x="8000000" y="2590000"/>
            <a:ext cx="3230000" cy="300000"/>
          </a:xfrm>
          <a:prstGeom prst="rect">
            <a:avLst/>
          </a:prstGeom>
          <a:noFill/>
        </p:spPr>
        <p:txBody>
          <a:bodyPr wrap="square" lIns="0" tIns="0" rIns="0" bIns="0" rtlCol="0" anchor="t">
            <a:noAutofit/>
          </a:bodyPr>
          <a:lstStyle/>
          <a:p>
            <a:pPr marL="0" indent="0" algn="r">
              <a:buNone/>
            </a:pPr>
            <a:r>
              <a:rPr lang="en-US" sz="1200" b="1" dirty="0">
                <a:solidFill>
                  <a:srgbClr val="C2683F"/>
                </a:solidFill>
                <a:latin typeface="Calibri"/>
                <a:cs typeface="Calibri"/>
              </a:rPr>
              <a:t>THE STUDIES</a:t>
            </a:r>
          </a:p>
        </p:txBody>
      </p:sp>
      <p:sp>
        <p:nvSpPr>
          <p:cNvPr id="407" name="Card"/>
          <p:cNvSpPr/>
          <p:nvPr/>
        </p:nvSpPr>
        <p:spPr>
          <a:xfrm>
            <a:off x="685800" y="3320000"/>
            <a:ext cx="10820400" cy="980000"/>
          </a:xfrm>
          <a:prstGeom prst="roundRect">
            <a:avLst>
              <a:gd name="adj" fmla="val 8000"/>
            </a:avLst>
          </a:prstGeom>
          <a:solidFill>
            <a:srgbClr val="FFFFFF"/>
          </a:solidFill>
          <a:ln w="15875" cap="flat" cmpd="sng" algn="ctr">
            <a:solidFill>
              <a:srgbClr val="1F3864"/>
            </a:solidFill>
            <a:prstDash val="solid"/>
            <a:miter lim="800000"/>
          </a:ln>
        </p:spPr>
        <p:txBody>
          <a:bodyPr rtlCol="0" anchor="t"/>
          <a:lstStyle/>
          <a:p>
            <a:endParaRPr lang="en-US"/>
          </a:p>
        </p:txBody>
      </p:sp>
      <p:sp>
        <p:nvSpPr>
          <p:cNvPr id="408" name="TextBox"/>
          <p:cNvSpPr txBox="1"/>
          <p:nvPr/>
        </p:nvSpPr>
        <p:spPr>
          <a:xfrm>
            <a:off x="960120" y="349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The era’s top statistician objected</a:t>
            </a:r>
          </a:p>
        </p:txBody>
      </p:sp>
      <p:sp>
        <p:nvSpPr>
          <p:cNvPr id="409" name="TextBox"/>
          <p:cNvSpPr txBox="1"/>
          <p:nvPr/>
        </p:nvSpPr>
        <p:spPr>
          <a:xfrm>
            <a:off x="960120" y="3875000"/>
            <a:ext cx="6900000" cy="300000"/>
          </a:xfrm>
          <a:prstGeom prst="rect">
            <a:avLst/>
          </a:prstGeom>
          <a:noFill/>
        </p:spPr>
        <p:txBody>
          <a:bodyPr wrap="square" lIns="0" tIns="0" rIns="0" bIns="0" rtlCol="0" anchor="t">
            <a:noAutofit/>
          </a:bodyPr>
          <a:lstStyle/>
          <a:p>
            <a:pPr marL="0" indent="0" algn="l">
              <a:buNone/>
            </a:pPr>
            <a:r>
              <a:rPr lang="en-US" sz="1600" dirty="0">
                <a:solidFill>
                  <a:srgbClr val="1F3864"/>
                </a:solidFill>
                <a:latin typeface="Calibri"/>
                <a:cs typeface="Calibri"/>
              </a:rPr>
              <a:t>R. A. Fisher: perhaps a gene drives both the smoking and the cancer.</a:t>
            </a:r>
          </a:p>
        </p:txBody>
      </p:sp>
      <p:sp>
        <p:nvSpPr>
          <p:cNvPr id="410" name="TextBox"/>
          <p:cNvSpPr txBox="1"/>
          <p:nvPr/>
        </p:nvSpPr>
        <p:spPr>
          <a:xfrm>
            <a:off x="8000000" y="3660000"/>
            <a:ext cx="3230000" cy="300000"/>
          </a:xfrm>
          <a:prstGeom prst="rect">
            <a:avLst/>
          </a:prstGeom>
          <a:noFill/>
        </p:spPr>
        <p:txBody>
          <a:bodyPr wrap="square" lIns="0" tIns="0" rIns="0" bIns="0" rtlCol="0" anchor="t">
            <a:noAutofit/>
          </a:bodyPr>
          <a:lstStyle/>
          <a:p>
            <a:pPr marL="0" indent="0" algn="r">
              <a:buNone/>
            </a:pPr>
            <a:r>
              <a:rPr lang="en-US" sz="1200" b="1" dirty="0">
                <a:solidFill>
                  <a:srgbClr val="1F3864"/>
                </a:solidFill>
                <a:latin typeface="Calibri"/>
                <a:cs typeface="Calibri"/>
              </a:rPr>
              <a:t>THE OBJECTION</a:t>
            </a:r>
          </a:p>
        </p:txBody>
      </p:sp>
      <p:sp>
        <p:nvSpPr>
          <p:cNvPr id="411" name="Card"/>
          <p:cNvSpPr/>
          <p:nvPr/>
        </p:nvSpPr>
        <p:spPr>
          <a:xfrm>
            <a:off x="685800" y="4390000"/>
            <a:ext cx="10820400" cy="980000"/>
          </a:xfrm>
          <a:prstGeom prst="roundRect">
            <a:avLst>
              <a:gd name="adj" fmla="val 8000"/>
            </a:avLst>
          </a:prstGeom>
          <a:solidFill>
            <a:srgbClr val="FFFFFF"/>
          </a:solidFill>
          <a:ln w="15875" cap="flat" cmpd="sng" algn="ctr">
            <a:solidFill>
              <a:srgbClr val="8A2A2A"/>
            </a:solidFill>
            <a:prstDash val="solid"/>
            <a:miter lim="800000"/>
          </a:ln>
        </p:spPr>
        <p:txBody>
          <a:bodyPr rtlCol="0" anchor="t"/>
          <a:lstStyle/>
          <a:p>
            <a:endParaRPr lang="en-US"/>
          </a:p>
        </p:txBody>
      </p:sp>
      <p:sp>
        <p:nvSpPr>
          <p:cNvPr id="412" name="TextBox"/>
          <p:cNvSpPr txBox="1"/>
          <p:nvPr/>
        </p:nvSpPr>
        <p:spPr>
          <a:xfrm>
            <a:off x="960120" y="4565000"/>
            <a:ext cx="6900000" cy="33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And the objection can be tested</a:t>
            </a:r>
          </a:p>
        </p:txBody>
      </p:sp>
      <p:sp>
        <p:nvSpPr>
          <p:cNvPr id="413" name="TextBox"/>
          <p:cNvSpPr txBox="1"/>
          <p:nvPr/>
        </p:nvSpPr>
        <p:spPr>
          <a:xfrm>
            <a:off x="960120" y="4945000"/>
            <a:ext cx="6900000" cy="300000"/>
          </a:xfrm>
          <a:prstGeom prst="rect">
            <a:avLst/>
          </a:prstGeom>
          <a:noFill/>
        </p:spPr>
        <p:txBody>
          <a:bodyPr wrap="square" lIns="0" tIns="0" rIns="0" bIns="0" rtlCol="0" anchor="t">
            <a:noAutofit/>
          </a:bodyPr>
          <a:lstStyle/>
          <a:p>
            <a:pPr marL="0" indent="0" algn="l">
              <a:buNone/>
            </a:pPr>
            <a:r>
              <a:rPr lang="en-US" sz="1600" dirty="0">
                <a:solidFill>
                  <a:srgbClr val="8A2A2A"/>
                </a:solidFill>
                <a:latin typeface="Calibri"/>
                <a:cs typeface="Calibri"/>
              </a:rPr>
              <a:t>A common cause that strong would leave a mark you can measure.</a:t>
            </a:r>
          </a:p>
        </p:txBody>
      </p:sp>
      <p:sp>
        <p:nvSpPr>
          <p:cNvPr id="414" name="TextBox"/>
          <p:cNvSpPr txBox="1"/>
          <p:nvPr/>
        </p:nvSpPr>
        <p:spPr>
          <a:xfrm>
            <a:off x="8000000" y="4730000"/>
            <a:ext cx="3230000" cy="300000"/>
          </a:xfrm>
          <a:prstGeom prst="rect">
            <a:avLst/>
          </a:prstGeom>
          <a:noFill/>
        </p:spPr>
        <p:txBody>
          <a:bodyPr wrap="square" lIns="0" tIns="0" rIns="0" bIns="0" rtlCol="0" anchor="t">
            <a:noAutofit/>
          </a:bodyPr>
          <a:lstStyle/>
          <a:p>
            <a:pPr marL="0" indent="0" algn="r">
              <a:buNone/>
            </a:pPr>
            <a:r>
              <a:rPr lang="en-US" sz="1200" b="1" dirty="0">
                <a:solidFill>
                  <a:srgbClr val="8A2A2A"/>
                </a:solidFill>
                <a:latin typeface="Calibri"/>
                <a:cs typeface="Calibri"/>
              </a:rPr>
              <a:t>THE ANSWER</a:t>
            </a:r>
          </a:p>
        </p:txBody>
      </p:sp>
      <p:sp>
        <p:nvSpPr>
          <p:cNvPr id="415" name="Band"/>
          <p:cNvSpPr/>
          <p:nvPr/>
        </p:nvSpPr>
        <p:spPr>
          <a:xfrm>
            <a:off x="685800" y="5600000"/>
            <a:ext cx="10820400" cy="84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400" b="1" dirty="0">
                <a:solidFill>
                  <a:srgbClr val="000000"/>
                </a:solidFill>
                <a:latin typeface="Calibri"/>
                <a:cs typeface="Calibri"/>
              </a:rPr>
              <a:t>This is the question the whole day teaches: could a common cause be doing the work?</a:t>
            </a:r>
          </a:p>
          <a:p>
            <a:pPr marL="0" indent="0" algn="ctr">
              <a:buNone/>
            </a:pPr>
            <a:r>
              <a:rPr lang="en-US" sz="1400" b="1" dirty="0">
                <a:solidFill>
                  <a:srgbClr val="000000"/>
                </a:solidFill>
                <a:latin typeface="Calibri"/>
                <a:cs typeface="Calibri"/>
              </a:rPr>
              <a:t>Here, for once, the arrow survives it. The next three slides show why.</a:t>
            </a:r>
          </a:p>
        </p:txBody>
      </p:sp>
      <p:sp>
        <p:nvSpPr>
          <p:cNvPr id="416" name="Source"/>
          <p:cNvSpPr txBox="1"/>
          <p:nvPr/>
        </p:nvSpPr>
        <p:spPr>
          <a:xfrm>
            <a:off x="685800" y="6520000"/>
            <a:ext cx="10820400" cy="274320"/>
          </a:xfrm>
          <a:prstGeom prst="rect">
            <a:avLst/>
          </a:prstGeom>
          <a:noFill/>
        </p:spPr>
        <p:txBody>
          <a:bodyPr wrap="square" lIns="0" tIns="0" rIns="0" bIns="0" rtlCol="0" anchor="t">
            <a:noAutofit/>
          </a:bodyPr>
          <a:lstStyle/>
          <a:p>
            <a:pPr marL="0" indent="0" algn="l">
              <a:buNone/>
            </a:pPr>
            <a:r>
              <a:rPr lang="en-US" sz="1000" i="1" dirty="0">
                <a:solidFill>
                  <a:srgbClr val="6B6660"/>
                </a:solidFill>
                <a:latin typeface="Calibri"/>
                <a:cs typeface="Calibri"/>
              </a:rPr>
              <a:t>Correlation from the 1950s cohort studies (Doll and Hill; Hammond and Horn, 187,783 men). Fisher RA. Cigarettes, cancer, and statistics. Nature 1958;182:596. Stolley PD. Am J Epidemiol 1991;133:416-425. Answered by Cornfield J et al. J Natl Cancer Inst 1959;22:173-203.</a:t>
            </a:r>
          </a:p>
        </p:txBody>
      </p:sp>
      <p:pic>
        <p:nvPicPr>
          <p:cNvPr id="2" name="Picture 1">
            <a:extLst>
              <a:ext uri="{FF2B5EF4-FFF2-40B4-BE49-F238E27FC236}">
                <a16:creationId xmlns:a16="http://schemas.microsoft.com/office/drawing/2014/main" id="{68276073-F2D0-8351-7D0A-40059649E202}"/>
              </a:ext>
            </a:extLst>
          </p:cNvPr>
          <p:cNvPicPr>
            <a:picLocks noChangeAspect="1"/>
          </p:cNvPicPr>
          <p:nvPr/>
        </p:nvPicPr>
        <p:blipFill>
          <a:blip r:embed="rId2"/>
          <a:stretch>
            <a:fillRect/>
          </a:stretch>
        </p:blipFill>
        <p:spPr>
          <a:xfrm>
            <a:off x="685800" y="863600"/>
            <a:ext cx="965200" cy="850900"/>
          </a:xfrm>
          <a:prstGeom prst="rect">
            <a:avLst/>
          </a:prstGeom>
        </p:spPr>
      </p:pic>
    </p:spTree>
    <p:extLst>
      <p:ext uri="{BB962C8B-B14F-4D97-AF65-F5344CB8AC3E}">
        <p14:creationId xmlns:p14="http://schemas.microsoft.com/office/powerpoint/2010/main" val="40220148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800" dirty="0"/>
              <a:t>Did Smoking Cause Cancer?</a:t>
            </a:r>
          </a:p>
        </p:txBody>
      </p:sp>
      <p:sp>
        <p:nvSpPr>
          <p:cNvPr id="217" name="Eyebrow"/>
          <p:cNvSpPr txBox="1"/>
          <p:nvPr/>
        </p:nvSpPr>
        <p:spPr>
          <a:xfrm>
            <a:off x="685800" y="1728399"/>
            <a:ext cx="10820400" cy="431800"/>
          </a:xfrm>
          <a:prstGeom prst="rect">
            <a:avLst/>
          </a:prstGeom>
          <a:noFill/>
        </p:spPr>
        <p:txBody>
          <a:bodyPr wrap="none" lIns="0" tIns="0" rIns="0" bIns="0" rtlCol="0" anchor="t">
            <a:noAutofit/>
          </a:bodyPr>
          <a:lstStyle/>
          <a:p>
            <a:pPr marL="0" indent="0" algn="l">
              <a:buNone/>
            </a:pPr>
            <a:r>
              <a:rPr lang="en-US" sz="2400" b="1" dirty="0">
                <a:solidFill>
                  <a:srgbClr val="8A2A2A"/>
                </a:solidFill>
                <a:latin typeface="Calibri"/>
                <a:cs typeface="Calibri"/>
              </a:rPr>
              <a:t>A CAUTIONARY TALE</a:t>
            </a:r>
          </a:p>
        </p:txBody>
      </p:sp>
      <p:sp>
        <p:nvSpPr>
          <p:cNvPr id="218" name="TextBox"/>
          <p:cNvSpPr txBox="1"/>
          <p:nvPr/>
        </p:nvSpPr>
        <p:spPr>
          <a:xfrm>
            <a:off x="685800" y="2200000"/>
            <a:ext cx="10820400" cy="400000"/>
          </a:xfrm>
          <a:prstGeom prst="rect">
            <a:avLst/>
          </a:prstGeom>
          <a:noFill/>
        </p:spPr>
        <p:txBody>
          <a:bodyPr wrap="square" lIns="0" tIns="0" rIns="0" bIns="0" rtlCol="0" anchor="t">
            <a:noAutofit/>
          </a:bodyPr>
          <a:lstStyle/>
          <a:p>
            <a:pPr marL="0" indent="0" algn="l">
              <a:buNone/>
            </a:pPr>
            <a:r>
              <a:rPr lang="en-US" sz="1700" dirty="0">
                <a:solidFill>
                  <a:srgbClr val="262320"/>
                </a:solidFill>
                <a:latin typeface="Calibri"/>
                <a:cs typeface="Calibri"/>
              </a:rPr>
              <a:t>R. A. Fisher, inventor of the significance test, said the link could be a gene that produces both the craving and the cancer.</a:t>
            </a:r>
          </a:p>
        </p:txBody>
      </p:sp>
      <p:pic>
        <p:nvPicPr>
          <p:cNvPr id="219" name="FisherRivals" descr="Two diagrams: smoking causing lung cancer, against a gene causing both with no arrow between them"/>
          <p:cNvPicPr>
            <a:picLocks noChangeAspect="1"/>
          </p:cNvPicPr>
          <p:nvPr/>
        </p:nvPicPr>
        <p:blipFill>
          <a:blip r:embed="rId3"/>
          <a:stretch>
            <a:fillRect/>
          </a:stretch>
        </p:blipFill>
        <p:spPr>
          <a:xfrm>
            <a:off x="2096000" y="2680000"/>
            <a:ext cx="8000000" cy="2127659"/>
          </a:xfrm>
          <a:prstGeom prst="rect">
            <a:avLst/>
          </a:prstGeom>
        </p:spPr>
      </p:pic>
      <p:sp>
        <p:nvSpPr>
          <p:cNvPr id="220" name="TextBox"/>
          <p:cNvSpPr txBox="1"/>
          <p:nvPr/>
        </p:nvSpPr>
        <p:spPr>
          <a:xfrm>
            <a:off x="685800" y="4920000"/>
            <a:ext cx="10820400" cy="400000"/>
          </a:xfrm>
          <a:prstGeom prst="rect">
            <a:avLst/>
          </a:prstGeom>
          <a:noFill/>
        </p:spPr>
        <p:txBody>
          <a:bodyPr wrap="square" lIns="0" tIns="0" rIns="0" bIns="0" rtlCol="0" anchor="t">
            <a:noAutofit/>
          </a:bodyPr>
          <a:lstStyle/>
          <a:p>
            <a:pPr marL="0" indent="0" algn="ctr">
              <a:buNone/>
            </a:pPr>
            <a:r>
              <a:rPr lang="en-US" sz="1800" b="1" dirty="0">
                <a:solidFill>
                  <a:srgbClr val="8A2A2A"/>
                </a:solidFill>
                <a:latin typeface="Calibri"/>
                <a:cs typeface="Calibri"/>
              </a:rPr>
              <a:t>He was a paid consultant to the tobacco industry. And a smoker.</a:t>
            </a:r>
          </a:p>
        </p:txBody>
      </p:sp>
      <p:sp>
        <p:nvSpPr>
          <p:cNvPr id="221" name="Band"/>
          <p:cNvSpPr/>
          <p:nvPr/>
        </p:nvSpPr>
        <p:spPr>
          <a:xfrm>
            <a:off x="685800" y="5560000"/>
            <a:ext cx="10820400" cy="70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700" b="1" dirty="0">
                <a:solidFill>
                  <a:srgbClr val="000000"/>
                </a:solidFill>
                <a:latin typeface="Calibri"/>
                <a:cs typeface="Calibri"/>
              </a:rPr>
              <a:t>The right-hand diagram was a legitimate question. Answering it took arithmetic, not indignation.</a:t>
            </a:r>
          </a:p>
        </p:txBody>
      </p:sp>
      <p:sp>
        <p:nvSpPr>
          <p:cNvPr id="222" name="Source"/>
          <p:cNvSpPr txBox="1"/>
          <p:nvPr/>
        </p:nvSpPr>
        <p:spPr>
          <a:xfrm>
            <a:off x="685800" y="6480000"/>
            <a:ext cx="10820400" cy="274320"/>
          </a:xfrm>
          <a:prstGeom prst="rect">
            <a:avLst/>
          </a:prstGeom>
          <a:noFill/>
        </p:spPr>
        <p:txBody>
          <a:bodyPr wrap="square" lIns="0" tIns="0" rIns="0" bIns="0" rtlCol="0" anchor="t">
            <a:noAutofit/>
          </a:bodyPr>
          <a:lstStyle/>
          <a:p>
            <a:pPr marL="0" indent="0" algn="l">
              <a:buNone/>
            </a:pPr>
            <a:r>
              <a:rPr lang="en-US" sz="1100" i="1" dirty="0">
                <a:solidFill>
                  <a:srgbClr val="6B6660"/>
                </a:solidFill>
                <a:latin typeface="Calibri"/>
                <a:cs typeface="Calibri"/>
              </a:rPr>
              <a:t>Fisher RA. Cigarettes, cancer, and statistics. Nature 1958;182:596. Stolley PD. Am J Epidemiol 1991;133:416-425.</a:t>
            </a:r>
          </a:p>
        </p:txBody>
      </p:sp>
      <p:pic>
        <p:nvPicPr>
          <p:cNvPr id="7" name="Picture 6">
            <a:extLst>
              <a:ext uri="{FF2B5EF4-FFF2-40B4-BE49-F238E27FC236}">
                <a16:creationId xmlns:a16="http://schemas.microsoft.com/office/drawing/2014/main" id="{6A20D911-56B9-39BE-1BB0-02851766D211}"/>
              </a:ext>
            </a:extLst>
          </p:cNvPr>
          <p:cNvPicPr>
            <a:picLocks noChangeAspect="1"/>
          </p:cNvPicPr>
          <p:nvPr/>
        </p:nvPicPr>
        <p:blipFill>
          <a:blip r:embed="rId4"/>
          <a:stretch>
            <a:fillRect/>
          </a:stretch>
        </p:blipFill>
        <p:spPr>
          <a:xfrm>
            <a:off x="685800" y="863600"/>
            <a:ext cx="965200" cy="850900"/>
          </a:xfrm>
          <a:prstGeom prst="rect">
            <a:avLst/>
          </a:prstGeom>
        </p:spPr>
      </p:pic>
    </p:spTree>
    <p:extLst>
      <p:ext uri="{BB962C8B-B14F-4D97-AF65-F5344CB8AC3E}">
        <p14:creationId xmlns:p14="http://schemas.microsoft.com/office/powerpoint/2010/main" val="19733154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p:cNvSpPr>
            <a:spLocks noGrp="1"/>
          </p:cNvSpPr>
          <p:nvPr>
            <p:ph type="title" idx="102"/>
          </p:nvPr>
        </p:nvSpPr>
        <p:spPr>
          <a:xfrm>
            <a:off x="1854200" y="868680"/>
            <a:ext cx="9652000" cy="868680"/>
          </a:xfrm>
          <a:prstGeom prst="rect">
            <a:avLst/>
          </a:prstGeom>
          <a:noFill/>
          <a:ln/>
        </p:spPr>
        <p:txBody>
          <a:bodyPr wrap="square" lIns="0" tIns="0" rIns="0" bIns="0" rtlCol="0" anchor="ctr"/>
          <a:lstStyle/>
          <a:p>
            <a:pPr marL="0" indent="0" algn="l">
              <a:buNone/>
            </a:pPr>
            <a:r>
              <a:rPr lang="en-US" sz="3200" dirty="0"/>
              <a:t>Cigarettes Increase Probability Eightfold</a:t>
            </a:r>
          </a:p>
        </p:txBody>
      </p:sp>
      <p:sp>
        <p:nvSpPr>
          <p:cNvPr id="120" name="Source"/>
          <p:cNvSpPr txBox="1"/>
          <p:nvPr/>
        </p:nvSpPr>
        <p:spPr>
          <a:xfrm>
            <a:off x="685800" y="6172200"/>
            <a:ext cx="10820400" cy="558800"/>
          </a:xfrm>
          <a:prstGeom prst="rect">
            <a:avLst/>
          </a:prstGeom>
          <a:noFill/>
        </p:spPr>
        <p:txBody>
          <a:bodyPr wrap="square" lIns="0" tIns="0" rIns="0" bIns="0" rtlCol="0" anchor="t">
            <a:noAutofit/>
          </a:bodyPr>
          <a:lstStyle/>
          <a:p>
            <a:pPr marL="0" indent="0" algn="l">
              <a:buNone/>
            </a:pPr>
            <a:r>
              <a:rPr lang="en-US" sz="1100" i="1" dirty="0">
                <a:solidFill>
                  <a:srgbClr val="6B6660"/>
                </a:solidFill>
                <a:latin typeface="Calibri"/>
                <a:cs typeface="Calibri"/>
              </a:rPr>
              <a:t>About 65% of British men smoked around 1950 (Doll R. Br J Cancer 1953;7:303). Lung cancer risk by age 75 is 15.7% for continuing smokers (Crispo A et al. Br J Cancer 2004;91:1280-1286); the 2% for never-smokers is approximate. Counts rounded to whole men, so the reverse conditional reads 10 of 11 (91%), not 94%.</a:t>
            </a:r>
          </a:p>
        </p:txBody>
      </p:sp>
      <p:pic>
        <p:nvPicPr>
          <p:cNvPr id="2" name="Picture 1">
            <a:extLst>
              <a:ext uri="{FF2B5EF4-FFF2-40B4-BE49-F238E27FC236}">
                <a16:creationId xmlns:a16="http://schemas.microsoft.com/office/drawing/2014/main" id="{979F725A-83E8-AACF-BA1B-86EC7B066FFF}"/>
              </a:ext>
            </a:extLst>
          </p:cNvPr>
          <p:cNvPicPr>
            <a:picLocks noChangeAspect="1"/>
          </p:cNvPicPr>
          <p:nvPr/>
        </p:nvPicPr>
        <p:blipFill>
          <a:blip r:embed="rId3"/>
          <a:stretch>
            <a:fillRect/>
          </a:stretch>
        </p:blipFill>
        <p:spPr>
          <a:xfrm>
            <a:off x="685800" y="863600"/>
            <a:ext cx="965200" cy="850900"/>
          </a:xfrm>
          <a:prstGeom prst="rect">
            <a:avLst/>
          </a:prstGeom>
        </p:spPr>
      </p:pic>
      <p:sp>
        <p:nvSpPr>
          <p:cNvPr id="5" name="W0">
            <a:extLst>
              <a:ext uri="{FF2B5EF4-FFF2-40B4-BE49-F238E27FC236}">
                <a16:creationId xmlns:a16="http://schemas.microsoft.com/office/drawing/2014/main" id="{05BB4873-6ECF-E844-8BE2-0F7A3412DD4F}"/>
              </a:ext>
            </a:extLst>
          </p:cNvPr>
          <p:cNvSpPr/>
          <p:nvPr/>
        </p:nvSpPr>
        <p:spPr>
          <a:xfrm>
            <a:off x="7620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W1">
            <a:extLst>
              <a:ext uri="{FF2B5EF4-FFF2-40B4-BE49-F238E27FC236}">
                <a16:creationId xmlns:a16="http://schemas.microsoft.com/office/drawing/2014/main" id="{8B001F3F-89E6-2A4D-BA13-65907984F7EB}"/>
              </a:ext>
            </a:extLst>
          </p:cNvPr>
          <p:cNvSpPr/>
          <p:nvPr/>
        </p:nvSpPr>
        <p:spPr>
          <a:xfrm>
            <a:off x="11303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W2">
            <a:extLst>
              <a:ext uri="{FF2B5EF4-FFF2-40B4-BE49-F238E27FC236}">
                <a16:creationId xmlns:a16="http://schemas.microsoft.com/office/drawing/2014/main" id="{8D7B843D-3CE3-004C-AA00-8FCD8B680305}"/>
              </a:ext>
            </a:extLst>
          </p:cNvPr>
          <p:cNvSpPr/>
          <p:nvPr/>
        </p:nvSpPr>
        <p:spPr>
          <a:xfrm>
            <a:off x="14986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W3">
            <a:extLst>
              <a:ext uri="{FF2B5EF4-FFF2-40B4-BE49-F238E27FC236}">
                <a16:creationId xmlns:a16="http://schemas.microsoft.com/office/drawing/2014/main" id="{27EC7F66-1D8C-D648-BB1E-2B288188E2B2}"/>
              </a:ext>
            </a:extLst>
          </p:cNvPr>
          <p:cNvSpPr/>
          <p:nvPr/>
        </p:nvSpPr>
        <p:spPr>
          <a:xfrm>
            <a:off x="18669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W4">
            <a:extLst>
              <a:ext uri="{FF2B5EF4-FFF2-40B4-BE49-F238E27FC236}">
                <a16:creationId xmlns:a16="http://schemas.microsoft.com/office/drawing/2014/main" id="{44ADB1CF-40D6-EC4B-912A-1FA7A4966FF8}"/>
              </a:ext>
            </a:extLst>
          </p:cNvPr>
          <p:cNvSpPr/>
          <p:nvPr/>
        </p:nvSpPr>
        <p:spPr>
          <a:xfrm>
            <a:off x="22352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W5">
            <a:extLst>
              <a:ext uri="{FF2B5EF4-FFF2-40B4-BE49-F238E27FC236}">
                <a16:creationId xmlns:a16="http://schemas.microsoft.com/office/drawing/2014/main" id="{46516689-F09D-2244-9A31-EE918208327D}"/>
              </a:ext>
            </a:extLst>
          </p:cNvPr>
          <p:cNvSpPr/>
          <p:nvPr/>
        </p:nvSpPr>
        <p:spPr>
          <a:xfrm>
            <a:off x="26035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W6">
            <a:extLst>
              <a:ext uri="{FF2B5EF4-FFF2-40B4-BE49-F238E27FC236}">
                <a16:creationId xmlns:a16="http://schemas.microsoft.com/office/drawing/2014/main" id="{9E56FBA9-7FF1-1B4D-AABD-D911ADF00DE9}"/>
              </a:ext>
            </a:extLst>
          </p:cNvPr>
          <p:cNvSpPr/>
          <p:nvPr/>
        </p:nvSpPr>
        <p:spPr>
          <a:xfrm>
            <a:off x="29718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W7">
            <a:extLst>
              <a:ext uri="{FF2B5EF4-FFF2-40B4-BE49-F238E27FC236}">
                <a16:creationId xmlns:a16="http://schemas.microsoft.com/office/drawing/2014/main" id="{972F3554-B602-FA4F-B8BE-5B86E4041972}"/>
              </a:ext>
            </a:extLst>
          </p:cNvPr>
          <p:cNvSpPr/>
          <p:nvPr/>
        </p:nvSpPr>
        <p:spPr>
          <a:xfrm>
            <a:off x="33401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W8">
            <a:extLst>
              <a:ext uri="{FF2B5EF4-FFF2-40B4-BE49-F238E27FC236}">
                <a16:creationId xmlns:a16="http://schemas.microsoft.com/office/drawing/2014/main" id="{A2EC1F4F-F42B-BD4A-8296-2DB9FD0F9BA5}"/>
              </a:ext>
            </a:extLst>
          </p:cNvPr>
          <p:cNvSpPr/>
          <p:nvPr/>
        </p:nvSpPr>
        <p:spPr>
          <a:xfrm>
            <a:off x="37084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W9">
            <a:extLst>
              <a:ext uri="{FF2B5EF4-FFF2-40B4-BE49-F238E27FC236}">
                <a16:creationId xmlns:a16="http://schemas.microsoft.com/office/drawing/2014/main" id="{C0AB0BCD-C5D1-624A-816A-427462924806}"/>
              </a:ext>
            </a:extLst>
          </p:cNvPr>
          <p:cNvSpPr/>
          <p:nvPr/>
        </p:nvSpPr>
        <p:spPr>
          <a:xfrm>
            <a:off x="4076700" y="2311400"/>
            <a:ext cx="304800" cy="3048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W10">
            <a:extLst>
              <a:ext uri="{FF2B5EF4-FFF2-40B4-BE49-F238E27FC236}">
                <a16:creationId xmlns:a16="http://schemas.microsoft.com/office/drawing/2014/main" id="{B86A61B5-C3E3-7B45-B9BD-B64267A007C2}"/>
              </a:ext>
            </a:extLst>
          </p:cNvPr>
          <p:cNvSpPr/>
          <p:nvPr/>
        </p:nvSpPr>
        <p:spPr>
          <a:xfrm>
            <a:off x="7620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W11">
            <a:extLst>
              <a:ext uri="{FF2B5EF4-FFF2-40B4-BE49-F238E27FC236}">
                <a16:creationId xmlns:a16="http://schemas.microsoft.com/office/drawing/2014/main" id="{E1A53FAD-B6B6-0545-AFFB-B2BEF29F7D4F}"/>
              </a:ext>
            </a:extLst>
          </p:cNvPr>
          <p:cNvSpPr/>
          <p:nvPr/>
        </p:nvSpPr>
        <p:spPr>
          <a:xfrm>
            <a:off x="11303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W12">
            <a:extLst>
              <a:ext uri="{FF2B5EF4-FFF2-40B4-BE49-F238E27FC236}">
                <a16:creationId xmlns:a16="http://schemas.microsoft.com/office/drawing/2014/main" id="{9A27CB58-59B2-8740-A28B-A74B0BB0947D}"/>
              </a:ext>
            </a:extLst>
          </p:cNvPr>
          <p:cNvSpPr/>
          <p:nvPr/>
        </p:nvSpPr>
        <p:spPr>
          <a:xfrm>
            <a:off x="14986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W13">
            <a:extLst>
              <a:ext uri="{FF2B5EF4-FFF2-40B4-BE49-F238E27FC236}">
                <a16:creationId xmlns:a16="http://schemas.microsoft.com/office/drawing/2014/main" id="{B79DC512-8978-F240-8831-858227546350}"/>
              </a:ext>
            </a:extLst>
          </p:cNvPr>
          <p:cNvSpPr/>
          <p:nvPr/>
        </p:nvSpPr>
        <p:spPr>
          <a:xfrm>
            <a:off x="18669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W14">
            <a:extLst>
              <a:ext uri="{FF2B5EF4-FFF2-40B4-BE49-F238E27FC236}">
                <a16:creationId xmlns:a16="http://schemas.microsoft.com/office/drawing/2014/main" id="{68F3E425-BC01-2A48-89F7-7C74D9D5F12E}"/>
              </a:ext>
            </a:extLst>
          </p:cNvPr>
          <p:cNvSpPr/>
          <p:nvPr/>
        </p:nvSpPr>
        <p:spPr>
          <a:xfrm>
            <a:off x="22352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0" name="W15">
            <a:extLst>
              <a:ext uri="{FF2B5EF4-FFF2-40B4-BE49-F238E27FC236}">
                <a16:creationId xmlns:a16="http://schemas.microsoft.com/office/drawing/2014/main" id="{AABAB5F9-59F0-594D-B553-544802372855}"/>
              </a:ext>
            </a:extLst>
          </p:cNvPr>
          <p:cNvSpPr/>
          <p:nvPr/>
        </p:nvSpPr>
        <p:spPr>
          <a:xfrm>
            <a:off x="26035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1" name="W16">
            <a:extLst>
              <a:ext uri="{FF2B5EF4-FFF2-40B4-BE49-F238E27FC236}">
                <a16:creationId xmlns:a16="http://schemas.microsoft.com/office/drawing/2014/main" id="{4F838DCD-D6CD-EA43-9F37-AD35B563F266}"/>
              </a:ext>
            </a:extLst>
          </p:cNvPr>
          <p:cNvSpPr/>
          <p:nvPr/>
        </p:nvSpPr>
        <p:spPr>
          <a:xfrm>
            <a:off x="29718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W17">
            <a:extLst>
              <a:ext uri="{FF2B5EF4-FFF2-40B4-BE49-F238E27FC236}">
                <a16:creationId xmlns:a16="http://schemas.microsoft.com/office/drawing/2014/main" id="{58DA6D36-0D74-8540-B704-56573CB5E057}"/>
              </a:ext>
            </a:extLst>
          </p:cNvPr>
          <p:cNvSpPr/>
          <p:nvPr/>
        </p:nvSpPr>
        <p:spPr>
          <a:xfrm>
            <a:off x="33401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W18">
            <a:extLst>
              <a:ext uri="{FF2B5EF4-FFF2-40B4-BE49-F238E27FC236}">
                <a16:creationId xmlns:a16="http://schemas.microsoft.com/office/drawing/2014/main" id="{05F7FBDB-82A9-DA42-A4C8-A3BC58530032}"/>
              </a:ext>
            </a:extLst>
          </p:cNvPr>
          <p:cNvSpPr/>
          <p:nvPr/>
        </p:nvSpPr>
        <p:spPr>
          <a:xfrm>
            <a:off x="37084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W19">
            <a:extLst>
              <a:ext uri="{FF2B5EF4-FFF2-40B4-BE49-F238E27FC236}">
                <a16:creationId xmlns:a16="http://schemas.microsoft.com/office/drawing/2014/main" id="{5DAE2796-4510-3E42-881C-F35C204EB26E}"/>
              </a:ext>
            </a:extLst>
          </p:cNvPr>
          <p:cNvSpPr/>
          <p:nvPr/>
        </p:nvSpPr>
        <p:spPr>
          <a:xfrm>
            <a:off x="4076700" y="26797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W20">
            <a:extLst>
              <a:ext uri="{FF2B5EF4-FFF2-40B4-BE49-F238E27FC236}">
                <a16:creationId xmlns:a16="http://schemas.microsoft.com/office/drawing/2014/main" id="{081C3B7E-C2C6-6542-8BAD-C2B113002D89}"/>
              </a:ext>
            </a:extLst>
          </p:cNvPr>
          <p:cNvSpPr/>
          <p:nvPr/>
        </p:nvSpPr>
        <p:spPr>
          <a:xfrm>
            <a:off x="7620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W21">
            <a:extLst>
              <a:ext uri="{FF2B5EF4-FFF2-40B4-BE49-F238E27FC236}">
                <a16:creationId xmlns:a16="http://schemas.microsoft.com/office/drawing/2014/main" id="{3DE65EFE-C3AB-7C47-B100-85DCBDAF0F3C}"/>
              </a:ext>
            </a:extLst>
          </p:cNvPr>
          <p:cNvSpPr/>
          <p:nvPr/>
        </p:nvSpPr>
        <p:spPr>
          <a:xfrm>
            <a:off x="11303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W22">
            <a:extLst>
              <a:ext uri="{FF2B5EF4-FFF2-40B4-BE49-F238E27FC236}">
                <a16:creationId xmlns:a16="http://schemas.microsoft.com/office/drawing/2014/main" id="{8240AC6C-355E-CA41-95CA-AC8CD278C6B9}"/>
              </a:ext>
            </a:extLst>
          </p:cNvPr>
          <p:cNvSpPr/>
          <p:nvPr/>
        </p:nvSpPr>
        <p:spPr>
          <a:xfrm>
            <a:off x="14986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8" name="W23">
            <a:extLst>
              <a:ext uri="{FF2B5EF4-FFF2-40B4-BE49-F238E27FC236}">
                <a16:creationId xmlns:a16="http://schemas.microsoft.com/office/drawing/2014/main" id="{CC25F49E-058F-DA4D-A18E-447E44DE6574}"/>
              </a:ext>
            </a:extLst>
          </p:cNvPr>
          <p:cNvSpPr/>
          <p:nvPr/>
        </p:nvSpPr>
        <p:spPr>
          <a:xfrm>
            <a:off x="18669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9" name="W24">
            <a:extLst>
              <a:ext uri="{FF2B5EF4-FFF2-40B4-BE49-F238E27FC236}">
                <a16:creationId xmlns:a16="http://schemas.microsoft.com/office/drawing/2014/main" id="{0FCBDF29-56B3-1849-823A-FE00A0320015}"/>
              </a:ext>
            </a:extLst>
          </p:cNvPr>
          <p:cNvSpPr/>
          <p:nvPr/>
        </p:nvSpPr>
        <p:spPr>
          <a:xfrm>
            <a:off x="22352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0" name="W25">
            <a:extLst>
              <a:ext uri="{FF2B5EF4-FFF2-40B4-BE49-F238E27FC236}">
                <a16:creationId xmlns:a16="http://schemas.microsoft.com/office/drawing/2014/main" id="{5043FD41-0A1D-6A46-BA47-B97C92F68F66}"/>
              </a:ext>
            </a:extLst>
          </p:cNvPr>
          <p:cNvSpPr/>
          <p:nvPr/>
        </p:nvSpPr>
        <p:spPr>
          <a:xfrm>
            <a:off x="26035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1" name="W26">
            <a:extLst>
              <a:ext uri="{FF2B5EF4-FFF2-40B4-BE49-F238E27FC236}">
                <a16:creationId xmlns:a16="http://schemas.microsoft.com/office/drawing/2014/main" id="{59287444-097C-4B44-96F1-6767A8193F21}"/>
              </a:ext>
            </a:extLst>
          </p:cNvPr>
          <p:cNvSpPr/>
          <p:nvPr/>
        </p:nvSpPr>
        <p:spPr>
          <a:xfrm>
            <a:off x="29718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2" name="W27">
            <a:extLst>
              <a:ext uri="{FF2B5EF4-FFF2-40B4-BE49-F238E27FC236}">
                <a16:creationId xmlns:a16="http://schemas.microsoft.com/office/drawing/2014/main" id="{608A0455-1EF0-E94E-B273-37370EB2E99D}"/>
              </a:ext>
            </a:extLst>
          </p:cNvPr>
          <p:cNvSpPr/>
          <p:nvPr/>
        </p:nvSpPr>
        <p:spPr>
          <a:xfrm>
            <a:off x="33401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W28">
            <a:extLst>
              <a:ext uri="{FF2B5EF4-FFF2-40B4-BE49-F238E27FC236}">
                <a16:creationId xmlns:a16="http://schemas.microsoft.com/office/drawing/2014/main" id="{0CC80F97-5976-F647-A478-FA21EC24205F}"/>
              </a:ext>
            </a:extLst>
          </p:cNvPr>
          <p:cNvSpPr/>
          <p:nvPr/>
        </p:nvSpPr>
        <p:spPr>
          <a:xfrm>
            <a:off x="37084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W29">
            <a:extLst>
              <a:ext uri="{FF2B5EF4-FFF2-40B4-BE49-F238E27FC236}">
                <a16:creationId xmlns:a16="http://schemas.microsoft.com/office/drawing/2014/main" id="{DE6FE1CD-7E28-784A-BED3-6500DD30889D}"/>
              </a:ext>
            </a:extLst>
          </p:cNvPr>
          <p:cNvSpPr/>
          <p:nvPr/>
        </p:nvSpPr>
        <p:spPr>
          <a:xfrm>
            <a:off x="4076700" y="30480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5" name="W30">
            <a:extLst>
              <a:ext uri="{FF2B5EF4-FFF2-40B4-BE49-F238E27FC236}">
                <a16:creationId xmlns:a16="http://schemas.microsoft.com/office/drawing/2014/main" id="{FE58A743-B70C-1C41-99A4-6A4633522387}"/>
              </a:ext>
            </a:extLst>
          </p:cNvPr>
          <p:cNvSpPr/>
          <p:nvPr/>
        </p:nvSpPr>
        <p:spPr>
          <a:xfrm>
            <a:off x="7620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6" name="W31">
            <a:extLst>
              <a:ext uri="{FF2B5EF4-FFF2-40B4-BE49-F238E27FC236}">
                <a16:creationId xmlns:a16="http://schemas.microsoft.com/office/drawing/2014/main" id="{16BBEBF4-D4DB-D048-A932-A556EE3E54CE}"/>
              </a:ext>
            </a:extLst>
          </p:cNvPr>
          <p:cNvSpPr/>
          <p:nvPr/>
        </p:nvSpPr>
        <p:spPr>
          <a:xfrm>
            <a:off x="11303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7" name="W32">
            <a:extLst>
              <a:ext uri="{FF2B5EF4-FFF2-40B4-BE49-F238E27FC236}">
                <a16:creationId xmlns:a16="http://schemas.microsoft.com/office/drawing/2014/main" id="{15BC5046-2A0E-F34B-B73F-3D7C8FDCACD6}"/>
              </a:ext>
            </a:extLst>
          </p:cNvPr>
          <p:cNvSpPr/>
          <p:nvPr/>
        </p:nvSpPr>
        <p:spPr>
          <a:xfrm>
            <a:off x="14986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8" name="W33">
            <a:extLst>
              <a:ext uri="{FF2B5EF4-FFF2-40B4-BE49-F238E27FC236}">
                <a16:creationId xmlns:a16="http://schemas.microsoft.com/office/drawing/2014/main" id="{3C378EB1-9BEF-F54C-99B6-B29777C40B43}"/>
              </a:ext>
            </a:extLst>
          </p:cNvPr>
          <p:cNvSpPr/>
          <p:nvPr/>
        </p:nvSpPr>
        <p:spPr>
          <a:xfrm>
            <a:off x="18669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9" name="W34">
            <a:extLst>
              <a:ext uri="{FF2B5EF4-FFF2-40B4-BE49-F238E27FC236}">
                <a16:creationId xmlns:a16="http://schemas.microsoft.com/office/drawing/2014/main" id="{0912E0CF-5938-324A-B76B-B431F40CEBEE}"/>
              </a:ext>
            </a:extLst>
          </p:cNvPr>
          <p:cNvSpPr/>
          <p:nvPr/>
        </p:nvSpPr>
        <p:spPr>
          <a:xfrm>
            <a:off x="22352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0" name="W35">
            <a:extLst>
              <a:ext uri="{FF2B5EF4-FFF2-40B4-BE49-F238E27FC236}">
                <a16:creationId xmlns:a16="http://schemas.microsoft.com/office/drawing/2014/main" id="{68B54BB3-BA2D-FC45-BED7-96147DD75F64}"/>
              </a:ext>
            </a:extLst>
          </p:cNvPr>
          <p:cNvSpPr/>
          <p:nvPr/>
        </p:nvSpPr>
        <p:spPr>
          <a:xfrm>
            <a:off x="26035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 name="W36">
            <a:extLst>
              <a:ext uri="{FF2B5EF4-FFF2-40B4-BE49-F238E27FC236}">
                <a16:creationId xmlns:a16="http://schemas.microsoft.com/office/drawing/2014/main" id="{7AC15CDA-2F58-C947-BFBE-036DCB0EA4A4}"/>
              </a:ext>
            </a:extLst>
          </p:cNvPr>
          <p:cNvSpPr/>
          <p:nvPr/>
        </p:nvSpPr>
        <p:spPr>
          <a:xfrm>
            <a:off x="29718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2" name="W37">
            <a:extLst>
              <a:ext uri="{FF2B5EF4-FFF2-40B4-BE49-F238E27FC236}">
                <a16:creationId xmlns:a16="http://schemas.microsoft.com/office/drawing/2014/main" id="{A4573AE8-BF60-1748-9F7D-63D131D7F0FA}"/>
              </a:ext>
            </a:extLst>
          </p:cNvPr>
          <p:cNvSpPr/>
          <p:nvPr/>
        </p:nvSpPr>
        <p:spPr>
          <a:xfrm>
            <a:off x="33401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3" name="W38">
            <a:extLst>
              <a:ext uri="{FF2B5EF4-FFF2-40B4-BE49-F238E27FC236}">
                <a16:creationId xmlns:a16="http://schemas.microsoft.com/office/drawing/2014/main" id="{F826F0F8-4DDE-2B43-B187-CAF5BF9872F6}"/>
              </a:ext>
            </a:extLst>
          </p:cNvPr>
          <p:cNvSpPr/>
          <p:nvPr/>
        </p:nvSpPr>
        <p:spPr>
          <a:xfrm>
            <a:off x="37084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4" name="W39">
            <a:extLst>
              <a:ext uri="{FF2B5EF4-FFF2-40B4-BE49-F238E27FC236}">
                <a16:creationId xmlns:a16="http://schemas.microsoft.com/office/drawing/2014/main" id="{6B7C2CAC-0C05-F145-A4D7-C6652E09ECB6}"/>
              </a:ext>
            </a:extLst>
          </p:cNvPr>
          <p:cNvSpPr/>
          <p:nvPr/>
        </p:nvSpPr>
        <p:spPr>
          <a:xfrm>
            <a:off x="4076700" y="34163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5" name="W40">
            <a:extLst>
              <a:ext uri="{FF2B5EF4-FFF2-40B4-BE49-F238E27FC236}">
                <a16:creationId xmlns:a16="http://schemas.microsoft.com/office/drawing/2014/main" id="{0848CB82-1566-FB48-9841-043F50C72230}"/>
              </a:ext>
            </a:extLst>
          </p:cNvPr>
          <p:cNvSpPr/>
          <p:nvPr/>
        </p:nvSpPr>
        <p:spPr>
          <a:xfrm>
            <a:off x="7620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6" name="W41">
            <a:extLst>
              <a:ext uri="{FF2B5EF4-FFF2-40B4-BE49-F238E27FC236}">
                <a16:creationId xmlns:a16="http://schemas.microsoft.com/office/drawing/2014/main" id="{C2777FC0-F6D9-7E47-A50A-FD981E83819D}"/>
              </a:ext>
            </a:extLst>
          </p:cNvPr>
          <p:cNvSpPr/>
          <p:nvPr/>
        </p:nvSpPr>
        <p:spPr>
          <a:xfrm>
            <a:off x="11303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7" name="W42">
            <a:extLst>
              <a:ext uri="{FF2B5EF4-FFF2-40B4-BE49-F238E27FC236}">
                <a16:creationId xmlns:a16="http://schemas.microsoft.com/office/drawing/2014/main" id="{6FA684F4-0F92-1945-8BBD-0FEF57632BA2}"/>
              </a:ext>
            </a:extLst>
          </p:cNvPr>
          <p:cNvSpPr/>
          <p:nvPr/>
        </p:nvSpPr>
        <p:spPr>
          <a:xfrm>
            <a:off x="14986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8" name="W43">
            <a:extLst>
              <a:ext uri="{FF2B5EF4-FFF2-40B4-BE49-F238E27FC236}">
                <a16:creationId xmlns:a16="http://schemas.microsoft.com/office/drawing/2014/main" id="{ADD4D2B6-FB80-EC4A-ADF0-8894E14D7C8E}"/>
              </a:ext>
            </a:extLst>
          </p:cNvPr>
          <p:cNvSpPr/>
          <p:nvPr/>
        </p:nvSpPr>
        <p:spPr>
          <a:xfrm>
            <a:off x="18669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9" name="W44">
            <a:extLst>
              <a:ext uri="{FF2B5EF4-FFF2-40B4-BE49-F238E27FC236}">
                <a16:creationId xmlns:a16="http://schemas.microsoft.com/office/drawing/2014/main" id="{A5C9E1AF-54FC-9B4F-9231-BE2FAB5E6BC8}"/>
              </a:ext>
            </a:extLst>
          </p:cNvPr>
          <p:cNvSpPr/>
          <p:nvPr/>
        </p:nvSpPr>
        <p:spPr>
          <a:xfrm>
            <a:off x="22352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0" name="W45">
            <a:extLst>
              <a:ext uri="{FF2B5EF4-FFF2-40B4-BE49-F238E27FC236}">
                <a16:creationId xmlns:a16="http://schemas.microsoft.com/office/drawing/2014/main" id="{C2792DA4-AC43-6C42-B994-6ED28B55DB4A}"/>
              </a:ext>
            </a:extLst>
          </p:cNvPr>
          <p:cNvSpPr/>
          <p:nvPr/>
        </p:nvSpPr>
        <p:spPr>
          <a:xfrm>
            <a:off x="26035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1" name="W46">
            <a:extLst>
              <a:ext uri="{FF2B5EF4-FFF2-40B4-BE49-F238E27FC236}">
                <a16:creationId xmlns:a16="http://schemas.microsoft.com/office/drawing/2014/main" id="{7328EA1B-32D9-ED4C-B418-3CCB63313218}"/>
              </a:ext>
            </a:extLst>
          </p:cNvPr>
          <p:cNvSpPr/>
          <p:nvPr/>
        </p:nvSpPr>
        <p:spPr>
          <a:xfrm>
            <a:off x="29718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2" name="W47">
            <a:extLst>
              <a:ext uri="{FF2B5EF4-FFF2-40B4-BE49-F238E27FC236}">
                <a16:creationId xmlns:a16="http://schemas.microsoft.com/office/drawing/2014/main" id="{94D06317-E520-BE4E-B89B-EF27924996D1}"/>
              </a:ext>
            </a:extLst>
          </p:cNvPr>
          <p:cNvSpPr/>
          <p:nvPr/>
        </p:nvSpPr>
        <p:spPr>
          <a:xfrm>
            <a:off x="33401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3" name="W48">
            <a:extLst>
              <a:ext uri="{FF2B5EF4-FFF2-40B4-BE49-F238E27FC236}">
                <a16:creationId xmlns:a16="http://schemas.microsoft.com/office/drawing/2014/main" id="{A03EDD71-1049-3843-BDD6-356D0E5D37C8}"/>
              </a:ext>
            </a:extLst>
          </p:cNvPr>
          <p:cNvSpPr/>
          <p:nvPr/>
        </p:nvSpPr>
        <p:spPr>
          <a:xfrm>
            <a:off x="37084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4" name="W49">
            <a:extLst>
              <a:ext uri="{FF2B5EF4-FFF2-40B4-BE49-F238E27FC236}">
                <a16:creationId xmlns:a16="http://schemas.microsoft.com/office/drawing/2014/main" id="{301265A3-37A3-0B4D-921B-FC2E6FB8C49D}"/>
              </a:ext>
            </a:extLst>
          </p:cNvPr>
          <p:cNvSpPr/>
          <p:nvPr/>
        </p:nvSpPr>
        <p:spPr>
          <a:xfrm>
            <a:off x="4076700" y="37846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5" name="W50">
            <a:extLst>
              <a:ext uri="{FF2B5EF4-FFF2-40B4-BE49-F238E27FC236}">
                <a16:creationId xmlns:a16="http://schemas.microsoft.com/office/drawing/2014/main" id="{8A6783B0-0A22-3644-9449-B6D23A2A6D34}"/>
              </a:ext>
            </a:extLst>
          </p:cNvPr>
          <p:cNvSpPr/>
          <p:nvPr/>
        </p:nvSpPr>
        <p:spPr>
          <a:xfrm>
            <a:off x="7620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6" name="W51">
            <a:extLst>
              <a:ext uri="{FF2B5EF4-FFF2-40B4-BE49-F238E27FC236}">
                <a16:creationId xmlns:a16="http://schemas.microsoft.com/office/drawing/2014/main" id="{34DF8E69-B459-4A42-98B4-30C148E5E223}"/>
              </a:ext>
            </a:extLst>
          </p:cNvPr>
          <p:cNvSpPr/>
          <p:nvPr/>
        </p:nvSpPr>
        <p:spPr>
          <a:xfrm>
            <a:off x="11303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7" name="W52">
            <a:extLst>
              <a:ext uri="{FF2B5EF4-FFF2-40B4-BE49-F238E27FC236}">
                <a16:creationId xmlns:a16="http://schemas.microsoft.com/office/drawing/2014/main" id="{CACDC18A-485B-8744-B2E0-89CFF9F1A17D}"/>
              </a:ext>
            </a:extLst>
          </p:cNvPr>
          <p:cNvSpPr/>
          <p:nvPr/>
        </p:nvSpPr>
        <p:spPr>
          <a:xfrm>
            <a:off x="14986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8" name="W53">
            <a:extLst>
              <a:ext uri="{FF2B5EF4-FFF2-40B4-BE49-F238E27FC236}">
                <a16:creationId xmlns:a16="http://schemas.microsoft.com/office/drawing/2014/main" id="{7CA5127A-7C53-7B43-871D-C8CFB135B8FF}"/>
              </a:ext>
            </a:extLst>
          </p:cNvPr>
          <p:cNvSpPr/>
          <p:nvPr/>
        </p:nvSpPr>
        <p:spPr>
          <a:xfrm>
            <a:off x="18669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9" name="W54">
            <a:extLst>
              <a:ext uri="{FF2B5EF4-FFF2-40B4-BE49-F238E27FC236}">
                <a16:creationId xmlns:a16="http://schemas.microsoft.com/office/drawing/2014/main" id="{6B299053-FDBC-594A-84A3-4764962D0810}"/>
              </a:ext>
            </a:extLst>
          </p:cNvPr>
          <p:cNvSpPr/>
          <p:nvPr/>
        </p:nvSpPr>
        <p:spPr>
          <a:xfrm>
            <a:off x="22352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0" name="W55">
            <a:extLst>
              <a:ext uri="{FF2B5EF4-FFF2-40B4-BE49-F238E27FC236}">
                <a16:creationId xmlns:a16="http://schemas.microsoft.com/office/drawing/2014/main" id="{22C9C6E9-C07A-A241-92FD-B6739BE34A78}"/>
              </a:ext>
            </a:extLst>
          </p:cNvPr>
          <p:cNvSpPr/>
          <p:nvPr/>
        </p:nvSpPr>
        <p:spPr>
          <a:xfrm>
            <a:off x="26035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1" name="W56">
            <a:extLst>
              <a:ext uri="{FF2B5EF4-FFF2-40B4-BE49-F238E27FC236}">
                <a16:creationId xmlns:a16="http://schemas.microsoft.com/office/drawing/2014/main" id="{5E0E8932-E83B-C14C-91DA-8412E4A65F96}"/>
              </a:ext>
            </a:extLst>
          </p:cNvPr>
          <p:cNvSpPr/>
          <p:nvPr/>
        </p:nvSpPr>
        <p:spPr>
          <a:xfrm>
            <a:off x="29718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2" name="W57">
            <a:extLst>
              <a:ext uri="{FF2B5EF4-FFF2-40B4-BE49-F238E27FC236}">
                <a16:creationId xmlns:a16="http://schemas.microsoft.com/office/drawing/2014/main" id="{1FF1994A-D7D4-8D42-9BF1-B8BDA48BF2C1}"/>
              </a:ext>
            </a:extLst>
          </p:cNvPr>
          <p:cNvSpPr/>
          <p:nvPr/>
        </p:nvSpPr>
        <p:spPr>
          <a:xfrm>
            <a:off x="33401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3" name="W58">
            <a:extLst>
              <a:ext uri="{FF2B5EF4-FFF2-40B4-BE49-F238E27FC236}">
                <a16:creationId xmlns:a16="http://schemas.microsoft.com/office/drawing/2014/main" id="{26E937D6-04FA-074A-A1FC-5CC045D56FC9}"/>
              </a:ext>
            </a:extLst>
          </p:cNvPr>
          <p:cNvSpPr/>
          <p:nvPr/>
        </p:nvSpPr>
        <p:spPr>
          <a:xfrm>
            <a:off x="37084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4" name="W59">
            <a:extLst>
              <a:ext uri="{FF2B5EF4-FFF2-40B4-BE49-F238E27FC236}">
                <a16:creationId xmlns:a16="http://schemas.microsoft.com/office/drawing/2014/main" id="{1D2B9943-06FA-B243-89D6-761218F6A301}"/>
              </a:ext>
            </a:extLst>
          </p:cNvPr>
          <p:cNvSpPr/>
          <p:nvPr/>
        </p:nvSpPr>
        <p:spPr>
          <a:xfrm>
            <a:off x="4076700" y="41529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5" name="W60">
            <a:extLst>
              <a:ext uri="{FF2B5EF4-FFF2-40B4-BE49-F238E27FC236}">
                <a16:creationId xmlns:a16="http://schemas.microsoft.com/office/drawing/2014/main" id="{AFBC69FB-A393-9F4C-8261-D9DE4B3147D2}"/>
              </a:ext>
            </a:extLst>
          </p:cNvPr>
          <p:cNvSpPr/>
          <p:nvPr/>
        </p:nvSpPr>
        <p:spPr>
          <a:xfrm>
            <a:off x="7620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6" name="W61">
            <a:extLst>
              <a:ext uri="{FF2B5EF4-FFF2-40B4-BE49-F238E27FC236}">
                <a16:creationId xmlns:a16="http://schemas.microsoft.com/office/drawing/2014/main" id="{E52BC73B-8CCD-664E-84D4-0E332D3FBE49}"/>
              </a:ext>
            </a:extLst>
          </p:cNvPr>
          <p:cNvSpPr/>
          <p:nvPr/>
        </p:nvSpPr>
        <p:spPr>
          <a:xfrm>
            <a:off x="11303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7" name="W62">
            <a:extLst>
              <a:ext uri="{FF2B5EF4-FFF2-40B4-BE49-F238E27FC236}">
                <a16:creationId xmlns:a16="http://schemas.microsoft.com/office/drawing/2014/main" id="{596F5A4C-ECFC-C941-944C-A20AF7692973}"/>
              </a:ext>
            </a:extLst>
          </p:cNvPr>
          <p:cNvSpPr/>
          <p:nvPr/>
        </p:nvSpPr>
        <p:spPr>
          <a:xfrm>
            <a:off x="14986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8" name="W63">
            <a:extLst>
              <a:ext uri="{FF2B5EF4-FFF2-40B4-BE49-F238E27FC236}">
                <a16:creationId xmlns:a16="http://schemas.microsoft.com/office/drawing/2014/main" id="{A675A572-648F-0843-9584-6C5D9BFE3E55}"/>
              </a:ext>
            </a:extLst>
          </p:cNvPr>
          <p:cNvSpPr/>
          <p:nvPr/>
        </p:nvSpPr>
        <p:spPr>
          <a:xfrm>
            <a:off x="18669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9" name="W64">
            <a:extLst>
              <a:ext uri="{FF2B5EF4-FFF2-40B4-BE49-F238E27FC236}">
                <a16:creationId xmlns:a16="http://schemas.microsoft.com/office/drawing/2014/main" id="{1877C715-DF85-A741-99A4-FBDD84969920}"/>
              </a:ext>
            </a:extLst>
          </p:cNvPr>
          <p:cNvSpPr/>
          <p:nvPr/>
        </p:nvSpPr>
        <p:spPr>
          <a:xfrm>
            <a:off x="2235200" y="4521200"/>
            <a:ext cx="304800" cy="3048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0" name="W65">
            <a:extLst>
              <a:ext uri="{FF2B5EF4-FFF2-40B4-BE49-F238E27FC236}">
                <a16:creationId xmlns:a16="http://schemas.microsoft.com/office/drawing/2014/main" id="{FA97740F-281C-D64F-AA5D-3DF80B806B6A}"/>
              </a:ext>
            </a:extLst>
          </p:cNvPr>
          <p:cNvSpPr/>
          <p:nvPr/>
        </p:nvSpPr>
        <p:spPr>
          <a:xfrm>
            <a:off x="2603500" y="4521200"/>
            <a:ext cx="304800" cy="304800"/>
          </a:xfrm>
          <a:prstGeom prst="rect">
            <a:avLst/>
          </a:prstGeom>
          <a:solidFill>
            <a:srgbClr val="3D6B8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1" name="W66">
            <a:extLst>
              <a:ext uri="{FF2B5EF4-FFF2-40B4-BE49-F238E27FC236}">
                <a16:creationId xmlns:a16="http://schemas.microsoft.com/office/drawing/2014/main" id="{DEDEDEA2-31F7-1C45-A350-9028AA05ED57}"/>
              </a:ext>
            </a:extLst>
          </p:cNvPr>
          <p:cNvSpPr/>
          <p:nvPr/>
        </p:nvSpPr>
        <p:spPr>
          <a:xfrm>
            <a:off x="29718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2" name="W67">
            <a:extLst>
              <a:ext uri="{FF2B5EF4-FFF2-40B4-BE49-F238E27FC236}">
                <a16:creationId xmlns:a16="http://schemas.microsoft.com/office/drawing/2014/main" id="{1B4FA8FF-33D2-3A47-88E1-20357A09E83C}"/>
              </a:ext>
            </a:extLst>
          </p:cNvPr>
          <p:cNvSpPr/>
          <p:nvPr/>
        </p:nvSpPr>
        <p:spPr>
          <a:xfrm>
            <a:off x="33401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3" name="W68">
            <a:extLst>
              <a:ext uri="{FF2B5EF4-FFF2-40B4-BE49-F238E27FC236}">
                <a16:creationId xmlns:a16="http://schemas.microsoft.com/office/drawing/2014/main" id="{8DDC53DE-7843-7143-9B4F-A5C12169B004}"/>
              </a:ext>
            </a:extLst>
          </p:cNvPr>
          <p:cNvSpPr/>
          <p:nvPr/>
        </p:nvSpPr>
        <p:spPr>
          <a:xfrm>
            <a:off x="37084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4" name="W69">
            <a:extLst>
              <a:ext uri="{FF2B5EF4-FFF2-40B4-BE49-F238E27FC236}">
                <a16:creationId xmlns:a16="http://schemas.microsoft.com/office/drawing/2014/main" id="{075FDB5D-2CD0-D24D-9F1D-EC1743941791}"/>
              </a:ext>
            </a:extLst>
          </p:cNvPr>
          <p:cNvSpPr/>
          <p:nvPr/>
        </p:nvSpPr>
        <p:spPr>
          <a:xfrm>
            <a:off x="4076700" y="45212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5" name="W70">
            <a:extLst>
              <a:ext uri="{FF2B5EF4-FFF2-40B4-BE49-F238E27FC236}">
                <a16:creationId xmlns:a16="http://schemas.microsoft.com/office/drawing/2014/main" id="{4B23C4FE-21DE-2B4A-B856-111FF8D95C2D}"/>
              </a:ext>
            </a:extLst>
          </p:cNvPr>
          <p:cNvSpPr/>
          <p:nvPr/>
        </p:nvSpPr>
        <p:spPr>
          <a:xfrm>
            <a:off x="7620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6" name="W71">
            <a:extLst>
              <a:ext uri="{FF2B5EF4-FFF2-40B4-BE49-F238E27FC236}">
                <a16:creationId xmlns:a16="http://schemas.microsoft.com/office/drawing/2014/main" id="{307666A4-1D1A-D74A-B7EB-66CC39D24455}"/>
              </a:ext>
            </a:extLst>
          </p:cNvPr>
          <p:cNvSpPr/>
          <p:nvPr/>
        </p:nvSpPr>
        <p:spPr>
          <a:xfrm>
            <a:off x="11303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7" name="W72">
            <a:extLst>
              <a:ext uri="{FF2B5EF4-FFF2-40B4-BE49-F238E27FC236}">
                <a16:creationId xmlns:a16="http://schemas.microsoft.com/office/drawing/2014/main" id="{EBEA8951-4452-EB48-B674-274D91D5304A}"/>
              </a:ext>
            </a:extLst>
          </p:cNvPr>
          <p:cNvSpPr/>
          <p:nvPr/>
        </p:nvSpPr>
        <p:spPr>
          <a:xfrm>
            <a:off x="14986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8" name="W73">
            <a:extLst>
              <a:ext uri="{FF2B5EF4-FFF2-40B4-BE49-F238E27FC236}">
                <a16:creationId xmlns:a16="http://schemas.microsoft.com/office/drawing/2014/main" id="{A207FB3B-B7AE-8947-9081-6B24AE88B455}"/>
              </a:ext>
            </a:extLst>
          </p:cNvPr>
          <p:cNvSpPr/>
          <p:nvPr/>
        </p:nvSpPr>
        <p:spPr>
          <a:xfrm>
            <a:off x="18669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9" name="W74">
            <a:extLst>
              <a:ext uri="{FF2B5EF4-FFF2-40B4-BE49-F238E27FC236}">
                <a16:creationId xmlns:a16="http://schemas.microsoft.com/office/drawing/2014/main" id="{E2DBD28C-92A5-4E43-AE29-A7AB5383DF24}"/>
              </a:ext>
            </a:extLst>
          </p:cNvPr>
          <p:cNvSpPr/>
          <p:nvPr/>
        </p:nvSpPr>
        <p:spPr>
          <a:xfrm>
            <a:off x="22352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0" name="W75">
            <a:extLst>
              <a:ext uri="{FF2B5EF4-FFF2-40B4-BE49-F238E27FC236}">
                <a16:creationId xmlns:a16="http://schemas.microsoft.com/office/drawing/2014/main" id="{902FCC97-F70C-014A-AE8D-FA7EBCB939E5}"/>
              </a:ext>
            </a:extLst>
          </p:cNvPr>
          <p:cNvSpPr/>
          <p:nvPr/>
        </p:nvSpPr>
        <p:spPr>
          <a:xfrm>
            <a:off x="26035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1" name="W76">
            <a:extLst>
              <a:ext uri="{FF2B5EF4-FFF2-40B4-BE49-F238E27FC236}">
                <a16:creationId xmlns:a16="http://schemas.microsoft.com/office/drawing/2014/main" id="{55D52C08-A059-7A4C-A5BF-4AC7F69E4F23}"/>
              </a:ext>
            </a:extLst>
          </p:cNvPr>
          <p:cNvSpPr/>
          <p:nvPr/>
        </p:nvSpPr>
        <p:spPr>
          <a:xfrm>
            <a:off x="29718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2" name="W77">
            <a:extLst>
              <a:ext uri="{FF2B5EF4-FFF2-40B4-BE49-F238E27FC236}">
                <a16:creationId xmlns:a16="http://schemas.microsoft.com/office/drawing/2014/main" id="{5EE368FF-E626-D248-BE6A-D6C816CF3B0F}"/>
              </a:ext>
            </a:extLst>
          </p:cNvPr>
          <p:cNvSpPr/>
          <p:nvPr/>
        </p:nvSpPr>
        <p:spPr>
          <a:xfrm>
            <a:off x="33401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3" name="W78">
            <a:extLst>
              <a:ext uri="{FF2B5EF4-FFF2-40B4-BE49-F238E27FC236}">
                <a16:creationId xmlns:a16="http://schemas.microsoft.com/office/drawing/2014/main" id="{0B167AD0-85CD-764A-B946-4B477C360006}"/>
              </a:ext>
            </a:extLst>
          </p:cNvPr>
          <p:cNvSpPr/>
          <p:nvPr/>
        </p:nvSpPr>
        <p:spPr>
          <a:xfrm>
            <a:off x="37084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4" name="W79">
            <a:extLst>
              <a:ext uri="{FF2B5EF4-FFF2-40B4-BE49-F238E27FC236}">
                <a16:creationId xmlns:a16="http://schemas.microsoft.com/office/drawing/2014/main" id="{7EDE08B3-6237-174D-BCAB-F6C2F8390E29}"/>
              </a:ext>
            </a:extLst>
          </p:cNvPr>
          <p:cNvSpPr/>
          <p:nvPr/>
        </p:nvSpPr>
        <p:spPr>
          <a:xfrm>
            <a:off x="4076700" y="48895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5" name="W80">
            <a:extLst>
              <a:ext uri="{FF2B5EF4-FFF2-40B4-BE49-F238E27FC236}">
                <a16:creationId xmlns:a16="http://schemas.microsoft.com/office/drawing/2014/main" id="{C0698127-8069-1D43-8566-0098D18A4046}"/>
              </a:ext>
            </a:extLst>
          </p:cNvPr>
          <p:cNvSpPr/>
          <p:nvPr/>
        </p:nvSpPr>
        <p:spPr>
          <a:xfrm>
            <a:off x="7620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6" name="W81">
            <a:extLst>
              <a:ext uri="{FF2B5EF4-FFF2-40B4-BE49-F238E27FC236}">
                <a16:creationId xmlns:a16="http://schemas.microsoft.com/office/drawing/2014/main" id="{DD90A644-EB7A-4848-987E-3087F076D617}"/>
              </a:ext>
            </a:extLst>
          </p:cNvPr>
          <p:cNvSpPr/>
          <p:nvPr/>
        </p:nvSpPr>
        <p:spPr>
          <a:xfrm>
            <a:off x="11303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7" name="W82">
            <a:extLst>
              <a:ext uri="{FF2B5EF4-FFF2-40B4-BE49-F238E27FC236}">
                <a16:creationId xmlns:a16="http://schemas.microsoft.com/office/drawing/2014/main" id="{F58DAFA1-B273-EC41-A31E-0373BAF746E5}"/>
              </a:ext>
            </a:extLst>
          </p:cNvPr>
          <p:cNvSpPr/>
          <p:nvPr/>
        </p:nvSpPr>
        <p:spPr>
          <a:xfrm>
            <a:off x="14986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8" name="W83">
            <a:extLst>
              <a:ext uri="{FF2B5EF4-FFF2-40B4-BE49-F238E27FC236}">
                <a16:creationId xmlns:a16="http://schemas.microsoft.com/office/drawing/2014/main" id="{7BBCBBCF-E0BC-D04E-BAF0-3108E998A4CC}"/>
              </a:ext>
            </a:extLst>
          </p:cNvPr>
          <p:cNvSpPr/>
          <p:nvPr/>
        </p:nvSpPr>
        <p:spPr>
          <a:xfrm>
            <a:off x="18669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9" name="W84">
            <a:extLst>
              <a:ext uri="{FF2B5EF4-FFF2-40B4-BE49-F238E27FC236}">
                <a16:creationId xmlns:a16="http://schemas.microsoft.com/office/drawing/2014/main" id="{D24602BD-F514-4045-8DC4-6BBA8C3F9351}"/>
              </a:ext>
            </a:extLst>
          </p:cNvPr>
          <p:cNvSpPr/>
          <p:nvPr/>
        </p:nvSpPr>
        <p:spPr>
          <a:xfrm>
            <a:off x="22352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0" name="W85">
            <a:extLst>
              <a:ext uri="{FF2B5EF4-FFF2-40B4-BE49-F238E27FC236}">
                <a16:creationId xmlns:a16="http://schemas.microsoft.com/office/drawing/2014/main" id="{418123E5-4FD0-AE42-AF76-C9AFE6ECD3DB}"/>
              </a:ext>
            </a:extLst>
          </p:cNvPr>
          <p:cNvSpPr/>
          <p:nvPr/>
        </p:nvSpPr>
        <p:spPr>
          <a:xfrm>
            <a:off x="26035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1" name="W86">
            <a:extLst>
              <a:ext uri="{FF2B5EF4-FFF2-40B4-BE49-F238E27FC236}">
                <a16:creationId xmlns:a16="http://schemas.microsoft.com/office/drawing/2014/main" id="{2302D55A-3D25-0345-8F57-4276C1A95633}"/>
              </a:ext>
            </a:extLst>
          </p:cNvPr>
          <p:cNvSpPr/>
          <p:nvPr/>
        </p:nvSpPr>
        <p:spPr>
          <a:xfrm>
            <a:off x="29718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2" name="W87">
            <a:extLst>
              <a:ext uri="{FF2B5EF4-FFF2-40B4-BE49-F238E27FC236}">
                <a16:creationId xmlns:a16="http://schemas.microsoft.com/office/drawing/2014/main" id="{FDF8F459-04DD-4A4D-B29F-EF46CE9324C9}"/>
              </a:ext>
            </a:extLst>
          </p:cNvPr>
          <p:cNvSpPr/>
          <p:nvPr/>
        </p:nvSpPr>
        <p:spPr>
          <a:xfrm>
            <a:off x="33401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3" name="W88">
            <a:extLst>
              <a:ext uri="{FF2B5EF4-FFF2-40B4-BE49-F238E27FC236}">
                <a16:creationId xmlns:a16="http://schemas.microsoft.com/office/drawing/2014/main" id="{02154F86-8A3D-B94A-8AE7-320DF06DBC2E}"/>
              </a:ext>
            </a:extLst>
          </p:cNvPr>
          <p:cNvSpPr/>
          <p:nvPr/>
        </p:nvSpPr>
        <p:spPr>
          <a:xfrm>
            <a:off x="37084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4" name="W89">
            <a:extLst>
              <a:ext uri="{FF2B5EF4-FFF2-40B4-BE49-F238E27FC236}">
                <a16:creationId xmlns:a16="http://schemas.microsoft.com/office/drawing/2014/main" id="{B4548485-D2A0-3141-8D7E-F201D6F8E0F0}"/>
              </a:ext>
            </a:extLst>
          </p:cNvPr>
          <p:cNvSpPr/>
          <p:nvPr/>
        </p:nvSpPr>
        <p:spPr>
          <a:xfrm>
            <a:off x="4076700" y="52578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5" name="W90">
            <a:extLst>
              <a:ext uri="{FF2B5EF4-FFF2-40B4-BE49-F238E27FC236}">
                <a16:creationId xmlns:a16="http://schemas.microsoft.com/office/drawing/2014/main" id="{8AFC09E3-EDF1-D24D-B86E-C924C1976FA1}"/>
              </a:ext>
            </a:extLst>
          </p:cNvPr>
          <p:cNvSpPr/>
          <p:nvPr/>
        </p:nvSpPr>
        <p:spPr>
          <a:xfrm>
            <a:off x="7620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6" name="W91">
            <a:extLst>
              <a:ext uri="{FF2B5EF4-FFF2-40B4-BE49-F238E27FC236}">
                <a16:creationId xmlns:a16="http://schemas.microsoft.com/office/drawing/2014/main" id="{74D5D3F0-F0C2-B346-A87F-8550A95ECC53}"/>
              </a:ext>
            </a:extLst>
          </p:cNvPr>
          <p:cNvSpPr/>
          <p:nvPr/>
        </p:nvSpPr>
        <p:spPr>
          <a:xfrm>
            <a:off x="11303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7" name="W92">
            <a:extLst>
              <a:ext uri="{FF2B5EF4-FFF2-40B4-BE49-F238E27FC236}">
                <a16:creationId xmlns:a16="http://schemas.microsoft.com/office/drawing/2014/main" id="{19687E6C-EDB0-B84C-AC24-9BD777623499}"/>
              </a:ext>
            </a:extLst>
          </p:cNvPr>
          <p:cNvSpPr/>
          <p:nvPr/>
        </p:nvSpPr>
        <p:spPr>
          <a:xfrm>
            <a:off x="14986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8" name="W93">
            <a:extLst>
              <a:ext uri="{FF2B5EF4-FFF2-40B4-BE49-F238E27FC236}">
                <a16:creationId xmlns:a16="http://schemas.microsoft.com/office/drawing/2014/main" id="{71B5A335-A339-F846-8457-49D8DD7547CB}"/>
              </a:ext>
            </a:extLst>
          </p:cNvPr>
          <p:cNvSpPr/>
          <p:nvPr/>
        </p:nvSpPr>
        <p:spPr>
          <a:xfrm>
            <a:off x="18669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9" name="W94">
            <a:extLst>
              <a:ext uri="{FF2B5EF4-FFF2-40B4-BE49-F238E27FC236}">
                <a16:creationId xmlns:a16="http://schemas.microsoft.com/office/drawing/2014/main" id="{70069D4F-5531-6843-B930-3C56D7C110CF}"/>
              </a:ext>
            </a:extLst>
          </p:cNvPr>
          <p:cNvSpPr/>
          <p:nvPr/>
        </p:nvSpPr>
        <p:spPr>
          <a:xfrm>
            <a:off x="22352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0" name="W95">
            <a:extLst>
              <a:ext uri="{FF2B5EF4-FFF2-40B4-BE49-F238E27FC236}">
                <a16:creationId xmlns:a16="http://schemas.microsoft.com/office/drawing/2014/main" id="{82379085-C0B2-9F4C-BC3F-5CBF976D8B6A}"/>
              </a:ext>
            </a:extLst>
          </p:cNvPr>
          <p:cNvSpPr/>
          <p:nvPr/>
        </p:nvSpPr>
        <p:spPr>
          <a:xfrm>
            <a:off x="26035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1" name="W96">
            <a:extLst>
              <a:ext uri="{FF2B5EF4-FFF2-40B4-BE49-F238E27FC236}">
                <a16:creationId xmlns:a16="http://schemas.microsoft.com/office/drawing/2014/main" id="{E99595A7-A9BA-324C-8B6A-4DA10E4E7FEE}"/>
              </a:ext>
            </a:extLst>
          </p:cNvPr>
          <p:cNvSpPr/>
          <p:nvPr/>
        </p:nvSpPr>
        <p:spPr>
          <a:xfrm>
            <a:off x="29718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2" name="W97">
            <a:extLst>
              <a:ext uri="{FF2B5EF4-FFF2-40B4-BE49-F238E27FC236}">
                <a16:creationId xmlns:a16="http://schemas.microsoft.com/office/drawing/2014/main" id="{60B2315D-D400-7E49-A476-89D7EF2E71BD}"/>
              </a:ext>
            </a:extLst>
          </p:cNvPr>
          <p:cNvSpPr/>
          <p:nvPr/>
        </p:nvSpPr>
        <p:spPr>
          <a:xfrm>
            <a:off x="33401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3" name="W98">
            <a:extLst>
              <a:ext uri="{FF2B5EF4-FFF2-40B4-BE49-F238E27FC236}">
                <a16:creationId xmlns:a16="http://schemas.microsoft.com/office/drawing/2014/main" id="{ED43C394-F1F9-C94B-9031-3C2576F726EF}"/>
              </a:ext>
            </a:extLst>
          </p:cNvPr>
          <p:cNvSpPr/>
          <p:nvPr/>
        </p:nvSpPr>
        <p:spPr>
          <a:xfrm>
            <a:off x="37084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4" name="W99">
            <a:extLst>
              <a:ext uri="{FF2B5EF4-FFF2-40B4-BE49-F238E27FC236}">
                <a16:creationId xmlns:a16="http://schemas.microsoft.com/office/drawing/2014/main" id="{28835A38-9B7D-3243-B8C4-20C1B1EA8066}"/>
              </a:ext>
            </a:extLst>
          </p:cNvPr>
          <p:cNvSpPr/>
          <p:nvPr/>
        </p:nvSpPr>
        <p:spPr>
          <a:xfrm>
            <a:off x="4076700" y="5626100"/>
            <a:ext cx="304800" cy="3048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0" name="CalcFwd">
            <a:extLst>
              <a:ext uri="{FF2B5EF4-FFF2-40B4-BE49-F238E27FC236}">
                <a16:creationId xmlns:a16="http://schemas.microsoft.com/office/drawing/2014/main" id="{17199BAE-4C3E-554C-A6E8-DE9CD627F88C}"/>
              </a:ext>
            </a:extLst>
          </p:cNvPr>
          <p:cNvSpPr/>
          <p:nvPr/>
        </p:nvSpPr>
        <p:spPr>
          <a:xfrm>
            <a:off x="7696200" y="2311400"/>
            <a:ext cx="3810000" cy="1549400"/>
          </a:xfrm>
          <a:prstGeom prst="roundRect">
            <a:avLst/>
          </a:prstGeom>
          <a:solidFill>
            <a:srgbClr val="F7EDE9"/>
          </a:solidFill>
          <a:ln w="19050" cap="flat" cmpd="sng" algn="ctr">
            <a:solidFill>
              <a:srgbClr val="B3472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91440" tIns="45720" rIns="91440" bIns="45720" rtlCol="0" anchor="ctr"/>
          <a:lstStyle/>
          <a:p>
            <a:pPr marL="0" indent="0" algn="l">
              <a:buNone/>
            </a:pPr>
            <a:r>
              <a:rPr lang="en-US" sz="1400" b="1" dirty="0">
                <a:solidFill>
                  <a:srgbClr val="B3472A"/>
                </a:solidFill>
                <a:latin typeface="Calibri"/>
                <a:cs typeface="Calibri"/>
              </a:rPr>
              <a:t>THE FORWARD DIRECTION</a:t>
            </a:r>
          </a:p>
          <a:p>
            <a:pPr marL="0" indent="0" algn="l">
              <a:buNone/>
            </a:pPr>
            <a:r>
              <a:rPr lang="en-US" sz="1600" b="1" dirty="0">
                <a:solidFill>
                  <a:srgbClr val="262320"/>
                </a:solidFill>
                <a:latin typeface="Calibri"/>
                <a:cs typeface="Calibri"/>
              </a:rPr>
              <a:t>P( lung cancer | cigarettes )</a:t>
            </a:r>
          </a:p>
          <a:p>
            <a:pPr marL="0" indent="0" algn="l">
              <a:buNone/>
            </a:pPr>
            <a:r>
              <a:rPr lang="en-US" sz="2400" b="1" dirty="0">
                <a:solidFill>
                  <a:srgbClr val="B3472A"/>
                </a:solidFill>
                <a:latin typeface="Calibri"/>
                <a:cs typeface="Calibri"/>
              </a:rPr>
              <a:t>10 / 65  =  16%</a:t>
            </a:r>
          </a:p>
          <a:p>
            <a:pPr marL="0" indent="0" algn="l">
              <a:buNone/>
            </a:pPr>
            <a:r>
              <a:rPr lang="en-US" sz="1400" dirty="0">
                <a:solidFill>
                  <a:srgbClr val="4A453F"/>
                </a:solidFill>
                <a:latin typeface="Calibri"/>
                <a:cs typeface="Calibri"/>
              </a:rPr>
              <a:t>Never-smokers: 2%. Eight times apart.</a:t>
            </a:r>
          </a:p>
        </p:txBody>
      </p:sp>
      <p:sp>
        <p:nvSpPr>
          <p:cNvPr id="111" name="CalcRev">
            <a:extLst>
              <a:ext uri="{FF2B5EF4-FFF2-40B4-BE49-F238E27FC236}">
                <a16:creationId xmlns:a16="http://schemas.microsoft.com/office/drawing/2014/main" id="{02B293BD-05BC-2A4E-8466-DAEAB873E8EE}"/>
              </a:ext>
            </a:extLst>
          </p:cNvPr>
          <p:cNvSpPr/>
          <p:nvPr/>
        </p:nvSpPr>
        <p:spPr>
          <a:xfrm>
            <a:off x="7696200" y="4089400"/>
            <a:ext cx="3810000" cy="1549400"/>
          </a:xfrm>
          <a:prstGeom prst="roundRect">
            <a:avLst/>
          </a:prstGeom>
          <a:solidFill>
            <a:srgbClr val="EDF2F6"/>
          </a:solidFill>
          <a:ln w="19050" cap="flat" cmpd="sng" algn="ctr">
            <a:solidFill>
              <a:srgbClr val="3D6B8A"/>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lIns="91440" tIns="45720" rIns="91440" bIns="45720" rtlCol="0" anchor="ctr"/>
          <a:lstStyle/>
          <a:p>
            <a:pPr marL="0" indent="0" algn="l">
              <a:buNone/>
            </a:pPr>
            <a:r>
              <a:rPr lang="en-US" sz="1400" b="1" dirty="0">
                <a:solidFill>
                  <a:srgbClr val="3D6B8A"/>
                </a:solidFill>
                <a:latin typeface="Calibri"/>
                <a:cs typeface="Calibri"/>
              </a:rPr>
              <a:t>THE REVERSE DIRECTION</a:t>
            </a:r>
          </a:p>
          <a:p>
            <a:pPr marL="0" indent="0" algn="l">
              <a:buNone/>
            </a:pPr>
            <a:r>
              <a:rPr lang="en-US" sz="1600" b="1" dirty="0">
                <a:solidFill>
                  <a:srgbClr val="262320"/>
                </a:solidFill>
                <a:latin typeface="Calibri"/>
                <a:cs typeface="Calibri"/>
              </a:rPr>
              <a:t>P( cigarettes | lung cancer )</a:t>
            </a:r>
          </a:p>
          <a:p>
            <a:pPr marL="0" indent="0" algn="l">
              <a:buNone/>
            </a:pPr>
            <a:r>
              <a:rPr lang="en-US" sz="2400" b="1" dirty="0">
                <a:solidFill>
                  <a:srgbClr val="3D6B8A"/>
                </a:solidFill>
                <a:latin typeface="Calibri"/>
                <a:cs typeface="Calibri"/>
              </a:rPr>
              <a:t>10 / 11  =  91%</a:t>
            </a:r>
          </a:p>
          <a:p>
            <a:pPr marL="0" indent="0" algn="l">
              <a:buNone/>
            </a:pPr>
            <a:r>
              <a:rPr lang="en-US" sz="1400" dirty="0">
                <a:solidFill>
                  <a:srgbClr val="4A453F"/>
                </a:solidFill>
                <a:latin typeface="Calibri"/>
                <a:cs typeface="Calibri"/>
              </a:rPr>
              <a:t>But 65% of all men smoked anyway.</a:t>
            </a:r>
          </a:p>
        </p:txBody>
      </p:sp>
      <p:sp>
        <p:nvSpPr>
          <p:cNvPr id="3" name="LegSw0">
            <a:extLst>
              <a:ext uri="{FF2B5EF4-FFF2-40B4-BE49-F238E27FC236}">
                <a16:creationId xmlns:a16="http://schemas.microsoft.com/office/drawing/2014/main" id="{D49ACADA-3C58-1A4A-B842-389BBB20D532}"/>
              </a:ext>
            </a:extLst>
          </p:cNvPr>
          <p:cNvSpPr/>
          <p:nvPr/>
        </p:nvSpPr>
        <p:spPr>
          <a:xfrm>
            <a:off x="4724400" y="3733800"/>
            <a:ext cx="152400" cy="152400"/>
          </a:xfrm>
          <a:prstGeom prst="rect">
            <a:avLst/>
          </a:prstGeom>
          <a:solidFill>
            <a:srgbClr val="B3472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LegSw1">
            <a:extLst>
              <a:ext uri="{FF2B5EF4-FFF2-40B4-BE49-F238E27FC236}">
                <a16:creationId xmlns:a16="http://schemas.microsoft.com/office/drawing/2014/main" id="{FB5D0CA7-A1D9-164E-A754-8EC59BF44D5F}"/>
              </a:ext>
            </a:extLst>
          </p:cNvPr>
          <p:cNvSpPr/>
          <p:nvPr/>
        </p:nvSpPr>
        <p:spPr>
          <a:xfrm>
            <a:off x="4724400" y="3975100"/>
            <a:ext cx="152400" cy="152400"/>
          </a:xfrm>
          <a:prstGeom prst="rect">
            <a:avLst/>
          </a:prstGeom>
          <a:solidFill>
            <a:srgbClr val="E8B9A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2" name="LegSw2">
            <a:extLst>
              <a:ext uri="{FF2B5EF4-FFF2-40B4-BE49-F238E27FC236}">
                <a16:creationId xmlns:a16="http://schemas.microsoft.com/office/drawing/2014/main" id="{3CC7A3E1-68DB-C740-9A0F-563D2C1560B4}"/>
              </a:ext>
            </a:extLst>
          </p:cNvPr>
          <p:cNvSpPr/>
          <p:nvPr/>
        </p:nvSpPr>
        <p:spPr>
          <a:xfrm>
            <a:off x="4724400" y="4216400"/>
            <a:ext cx="152400" cy="152400"/>
          </a:xfrm>
          <a:prstGeom prst="rect">
            <a:avLst/>
          </a:prstGeom>
          <a:solidFill>
            <a:srgbClr val="3D6B8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3" name="LegSw3">
            <a:extLst>
              <a:ext uri="{FF2B5EF4-FFF2-40B4-BE49-F238E27FC236}">
                <a16:creationId xmlns:a16="http://schemas.microsoft.com/office/drawing/2014/main" id="{1B481AA5-C071-E04C-98BF-12F7DEE0077D}"/>
              </a:ext>
            </a:extLst>
          </p:cNvPr>
          <p:cNvSpPr/>
          <p:nvPr/>
        </p:nvSpPr>
        <p:spPr>
          <a:xfrm>
            <a:off x="4724400" y="4457700"/>
            <a:ext cx="152400" cy="152400"/>
          </a:xfrm>
          <a:prstGeom prst="rect">
            <a:avLst/>
          </a:prstGeom>
          <a:solidFill>
            <a:srgbClr val="C6D4D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5" name="LegendColA">
            <a:extLst>
              <a:ext uri="{FF2B5EF4-FFF2-40B4-BE49-F238E27FC236}">
                <a16:creationId xmlns:a16="http://schemas.microsoft.com/office/drawing/2014/main" id="{F694722B-9D5C-FE47-B1B9-6CF9920CA7A3}"/>
              </a:ext>
            </a:extLst>
          </p:cNvPr>
          <p:cNvSpPr txBox="1"/>
          <p:nvPr/>
        </p:nvSpPr>
        <p:spPr>
          <a:xfrm>
            <a:off x="4978400" y="3695700"/>
            <a:ext cx="2667000" cy="1041400"/>
          </a:xfrm>
          <a:prstGeom prst="rect">
            <a:avLst/>
          </a:prstGeom>
          <a:noFill/>
        </p:spPr>
        <p:txBody>
          <a:bodyPr vertOverflow="overflow" vert="horz" wrap="none" rtlCol="0" anchor="t" anchorCtr="0">
            <a:noAutofit/>
          </a:bodyPr>
          <a:lstStyle/>
          <a:p>
            <a:pPr marL="0" indent="0" algn="l">
              <a:buNone/>
            </a:pPr>
            <a:r>
              <a:rPr lang="en-US" sz="1400" dirty="0">
                <a:solidFill>
                  <a:srgbClr val="262320"/>
                </a:solidFill>
                <a:latin typeface="Calibri"/>
                <a:cs typeface="Calibri"/>
              </a:rPr>
              <a:t>Smoked, lung cancer: 10</a:t>
            </a:r>
          </a:p>
          <a:p>
            <a:pPr marL="0" indent="0" algn="l">
              <a:buNone/>
            </a:pPr>
            <a:r>
              <a:rPr lang="en-US" sz="1400" dirty="0">
                <a:solidFill>
                  <a:srgbClr val="262320"/>
                </a:solidFill>
                <a:latin typeface="Calibri"/>
                <a:cs typeface="Calibri"/>
              </a:rPr>
              <a:t>Smoked, no cancer: 55</a:t>
            </a:r>
          </a:p>
          <a:p>
            <a:pPr marL="0" indent="0" algn="l">
              <a:buNone/>
            </a:pPr>
            <a:r>
              <a:rPr lang="en-US" sz="1400" dirty="0">
                <a:solidFill>
                  <a:srgbClr val="262320"/>
                </a:solidFill>
                <a:latin typeface="Calibri"/>
                <a:cs typeface="Calibri"/>
              </a:rPr>
              <a:t>Never smoked, lung cancer: 1</a:t>
            </a:r>
          </a:p>
          <a:p>
            <a:pPr marL="0" indent="0" algn="l">
              <a:buNone/>
            </a:pPr>
            <a:r>
              <a:rPr lang="en-US" sz="1400" dirty="0">
                <a:solidFill>
                  <a:srgbClr val="262320"/>
                </a:solidFill>
                <a:latin typeface="Calibri"/>
                <a:cs typeface="Calibri"/>
              </a:rPr>
              <a:t>Never smoked, no cancer: 34</a:t>
            </a:r>
          </a:p>
        </p:txBody>
      </p:sp>
    </p:spTree>
    <p:extLst>
      <p:ext uri="{BB962C8B-B14F-4D97-AF65-F5344CB8AC3E}">
        <p14:creationId xmlns:p14="http://schemas.microsoft.com/office/powerpoint/2010/main" val="39111668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Title"/>
          <p:cNvSpPr>
            <a:spLocks noGrp="1"/>
          </p:cNvSpPr>
          <p:nvPr>
            <p:ph type="title" idx="102"/>
          </p:nvPr>
        </p:nvSpPr>
        <p:spPr>
          <a:xfrm>
            <a:off x="685800" y="868680"/>
            <a:ext cx="10820400" cy="868680"/>
          </a:xfrm>
          <a:prstGeom prst="rect">
            <a:avLst/>
          </a:prstGeom>
          <a:noFill/>
          <a:ln/>
        </p:spPr>
        <p:txBody>
          <a:bodyPr wrap="square" lIns="0" tIns="0" rIns="0" bIns="0" rtlCol="0" anchor="ctr"/>
          <a:lstStyle/>
          <a:p>
            <a:pPr marL="0" indent="0" algn="l">
              <a:buNone/>
            </a:pPr>
            <a:r>
              <a:rPr lang="en-US" sz="3800" dirty="0"/>
              <a:t>The Whole Day, in Four Diagrams</a:t>
            </a:r>
          </a:p>
        </p:txBody>
      </p:sp>
      <p:sp>
        <p:nvSpPr>
          <p:cNvPr id="233" name="TextBox"/>
          <p:cNvSpPr txBox="1"/>
          <p:nvPr/>
        </p:nvSpPr>
        <p:spPr>
          <a:xfrm>
            <a:off x="685800" y="1830000"/>
            <a:ext cx="10820400" cy="380000"/>
          </a:xfrm>
          <a:prstGeom prst="rect">
            <a:avLst/>
          </a:prstGeom>
          <a:noFill/>
        </p:spPr>
        <p:txBody>
          <a:bodyPr wrap="square" lIns="0" tIns="0" rIns="0" bIns="0" rtlCol="0" anchor="t">
            <a:noAutofit/>
          </a:bodyPr>
          <a:lstStyle/>
          <a:p>
            <a:pPr marL="0" indent="0" algn="l">
              <a:buNone/>
            </a:pPr>
            <a:r>
              <a:rPr lang="en-US" sz="1700" b="1" dirty="0">
                <a:solidFill>
                  <a:srgbClr val="262320"/>
                </a:solidFill>
                <a:latin typeface="Calibri"/>
                <a:cs typeface="Calibri"/>
              </a:rPr>
              <a:t>Same dashed observation every time. Only the arrows differ.</a:t>
            </a:r>
          </a:p>
        </p:txBody>
      </p:sp>
      <p:pic>
        <p:nvPicPr>
          <p:cNvPr id="234" name="AllCases" descr="Four diagrams: coincidence, common cause, a reversed arrow, and a surviving causal arrow"/>
          <p:cNvPicPr>
            <a:picLocks noChangeAspect="1"/>
          </p:cNvPicPr>
          <p:nvPr/>
        </p:nvPicPr>
        <p:blipFill>
          <a:blip r:embed="rId3"/>
          <a:stretch>
            <a:fillRect/>
          </a:stretch>
        </p:blipFill>
        <p:spPr>
          <a:xfrm>
            <a:off x="646000" y="2420000"/>
            <a:ext cx="10900000" cy="2680327"/>
          </a:xfrm>
          <a:prstGeom prst="rect">
            <a:avLst/>
          </a:prstGeom>
        </p:spPr>
      </p:pic>
      <p:sp>
        <p:nvSpPr>
          <p:cNvPr id="235" name="Band"/>
          <p:cNvSpPr/>
          <p:nvPr/>
        </p:nvSpPr>
        <p:spPr>
          <a:xfrm>
            <a:off x="685800" y="5560000"/>
            <a:ext cx="10820400" cy="70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700" b="1" dirty="0">
                <a:solidFill>
                  <a:srgbClr val="000000"/>
                </a:solidFill>
                <a:latin typeface="Calibri"/>
                <a:cs typeface="Calibri"/>
              </a:rPr>
              <a:t>The data cannot pick the diagram for you. Ask which one the claim assumes, and what would rule the others out.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50126-7440-1590-4C70-F58F33D427B8}"/>
              </a:ext>
            </a:extLst>
          </p:cNvPr>
          <p:cNvSpPr>
            <a:spLocks noGrp="1"/>
          </p:cNvSpPr>
          <p:nvPr>
            <p:ph type="title" idx="102"/>
          </p:nvPr>
        </p:nvSpPr>
        <p:spPr/>
        <p:txBody>
          <a:bodyPr/>
          <a:lstStyle/>
          <a:p>
            <a:pPr algn="l">
              <a:buNone/>
            </a:pPr>
            <a:r>
              <a:rPr lang="en-US" b="1" dirty="0"/>
              <a:t>The Course Topics and Takeaways</a:t>
            </a:r>
          </a:p>
        </p:txBody>
      </p:sp>
      <p:grpSp>
        <p:nvGrpSpPr>
          <p:cNvPr id="13" name="Group 12">
            <a:extLst>
              <a:ext uri="{FF2B5EF4-FFF2-40B4-BE49-F238E27FC236}">
                <a16:creationId xmlns:a16="http://schemas.microsoft.com/office/drawing/2014/main" id="{C5CB8C89-50DD-22CD-174B-BC09CF7AACEB}"/>
              </a:ext>
            </a:extLst>
          </p:cNvPr>
          <p:cNvGrpSpPr/>
          <p:nvPr/>
        </p:nvGrpSpPr>
        <p:grpSpPr>
          <a:xfrm>
            <a:off x="951186" y="2108200"/>
            <a:ext cx="10288314" cy="4216400"/>
            <a:chOff x="762000" y="596603"/>
            <a:chExt cx="10288314" cy="4216400"/>
          </a:xfrm>
        </p:grpSpPr>
        <p:sp>
          <p:nvSpPr>
            <p:cNvPr id="80" name="ErrBadge1">
              <a:extLst>
                <a:ext uri="{FF2B5EF4-FFF2-40B4-BE49-F238E27FC236}">
                  <a16:creationId xmlns:a16="http://schemas.microsoft.com/office/drawing/2014/main" id="{F0998706-CCA9-D843-9E12-327649D378EE}"/>
                </a:ext>
              </a:extLst>
            </p:cNvPr>
            <p:cNvSpPr/>
            <p:nvPr/>
          </p:nvSpPr>
          <p:spPr>
            <a:xfrm>
              <a:off x="762000" y="596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1</a:t>
              </a:r>
            </a:p>
          </p:txBody>
        </p:sp>
        <p:sp>
          <p:nvSpPr>
            <p:cNvPr id="81" name="ErrTitle1">
              <a:extLst>
                <a:ext uri="{FF2B5EF4-FFF2-40B4-BE49-F238E27FC236}">
                  <a16:creationId xmlns:a16="http://schemas.microsoft.com/office/drawing/2014/main" id="{FCC03E0A-53C5-6045-B806-A3AF5C0A7D8F}"/>
                </a:ext>
              </a:extLst>
            </p:cNvPr>
            <p:cNvSpPr txBox="1"/>
            <p:nvPr/>
          </p:nvSpPr>
          <p:spPr>
            <a:xfrm>
              <a:off x="1652314" y="596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Relative reporting</a:t>
              </a:r>
              <a:r>
                <a:rPr lang="en-US" sz="2000" b="1" dirty="0">
                  <a:solidFill>
                    <a:srgbClr val="A8C4C5"/>
                  </a:solidFill>
                </a:rPr>
                <a:t>  |  </a:t>
              </a:r>
              <a:r>
                <a:rPr lang="en-US" sz="2000" b="1" dirty="0"/>
                <a:t>Ask: 36% of what?</a:t>
              </a:r>
            </a:p>
          </p:txBody>
        </p:sp>
        <p:sp>
          <p:nvSpPr>
            <p:cNvPr id="82" name="ErrBadge2">
              <a:extLst>
                <a:ext uri="{FF2B5EF4-FFF2-40B4-BE49-F238E27FC236}">
                  <a16:creationId xmlns:a16="http://schemas.microsoft.com/office/drawing/2014/main" id="{F0998706-CCA9-D843-9E12-327649D378EE}"/>
                </a:ext>
              </a:extLst>
            </p:cNvPr>
            <p:cNvSpPr/>
            <p:nvPr/>
          </p:nvSpPr>
          <p:spPr>
            <a:xfrm>
              <a:off x="762000" y="1358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2</a:t>
              </a:r>
            </a:p>
          </p:txBody>
        </p:sp>
        <p:sp>
          <p:nvSpPr>
            <p:cNvPr id="83" name="ErrTitle2">
              <a:extLst>
                <a:ext uri="{FF2B5EF4-FFF2-40B4-BE49-F238E27FC236}">
                  <a16:creationId xmlns:a16="http://schemas.microsoft.com/office/drawing/2014/main" id="{FCC03E0A-53C5-6045-B806-A3AF5C0A7D8F}"/>
                </a:ext>
              </a:extLst>
            </p:cNvPr>
            <p:cNvSpPr txBox="1"/>
            <p:nvPr/>
          </p:nvSpPr>
          <p:spPr>
            <a:xfrm>
              <a:off x="1652314" y="1358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Probability reversal</a:t>
              </a:r>
              <a:r>
                <a:rPr lang="en-US" sz="2000" b="1" dirty="0">
                  <a:solidFill>
                    <a:srgbClr val="A8C4C5"/>
                  </a:solidFill>
                </a:rPr>
                <a:t>  |  </a:t>
              </a:r>
              <a:r>
                <a:rPr lang="en-US" sz="2000" b="1" dirty="0"/>
                <a:t>A positive test is not a diagnosis.</a:t>
              </a:r>
            </a:p>
          </p:txBody>
        </p:sp>
        <p:sp>
          <p:nvSpPr>
            <p:cNvPr id="84" name="ErrBadge3">
              <a:extLst>
                <a:ext uri="{FF2B5EF4-FFF2-40B4-BE49-F238E27FC236}">
                  <a16:creationId xmlns:a16="http://schemas.microsoft.com/office/drawing/2014/main" id="{F0998706-CCA9-D843-9E12-327649D378EE}"/>
                </a:ext>
              </a:extLst>
            </p:cNvPr>
            <p:cNvSpPr/>
            <p:nvPr/>
          </p:nvSpPr>
          <p:spPr>
            <a:xfrm>
              <a:off x="762000" y="2120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3</a:t>
              </a:r>
            </a:p>
          </p:txBody>
        </p:sp>
        <p:sp>
          <p:nvSpPr>
            <p:cNvPr id="85" name="ErrTitle3">
              <a:extLst>
                <a:ext uri="{FF2B5EF4-FFF2-40B4-BE49-F238E27FC236}">
                  <a16:creationId xmlns:a16="http://schemas.microsoft.com/office/drawing/2014/main" id="{FCC03E0A-53C5-6045-B806-A3AF5C0A7D8F}"/>
                </a:ext>
              </a:extLst>
            </p:cNvPr>
            <p:cNvSpPr txBox="1"/>
            <p:nvPr/>
          </p:nvSpPr>
          <p:spPr>
            <a:xfrm>
              <a:off x="1652314" y="2120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Arbitrary categories</a:t>
              </a:r>
              <a:r>
                <a:rPr lang="en-US" sz="2000" b="1" dirty="0">
                  <a:solidFill>
                    <a:srgbClr val="A8C4C5"/>
                  </a:solidFill>
                </a:rPr>
                <a:t>  |  </a:t>
              </a:r>
              <a:r>
                <a:rPr lang="en-US" sz="2000" b="1" dirty="0"/>
                <a:t>Just over the line is still you.</a:t>
              </a:r>
            </a:p>
          </p:txBody>
        </p:sp>
        <p:sp>
          <p:nvSpPr>
            <p:cNvPr id="86" name="ErrBadge4">
              <a:extLst>
                <a:ext uri="{FF2B5EF4-FFF2-40B4-BE49-F238E27FC236}">
                  <a16:creationId xmlns:a16="http://schemas.microsoft.com/office/drawing/2014/main" id="{F0998706-CCA9-D843-9E12-327649D378EE}"/>
                </a:ext>
              </a:extLst>
            </p:cNvPr>
            <p:cNvSpPr/>
            <p:nvPr/>
          </p:nvSpPr>
          <p:spPr>
            <a:xfrm>
              <a:off x="762000" y="2882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4</a:t>
              </a:r>
            </a:p>
          </p:txBody>
        </p:sp>
        <p:sp>
          <p:nvSpPr>
            <p:cNvPr id="87" name="ErrTitle4">
              <a:extLst>
                <a:ext uri="{FF2B5EF4-FFF2-40B4-BE49-F238E27FC236}">
                  <a16:creationId xmlns:a16="http://schemas.microsoft.com/office/drawing/2014/main" id="{FCC03E0A-53C5-6045-B806-A3AF5C0A7D8F}"/>
                </a:ext>
              </a:extLst>
            </p:cNvPr>
            <p:cNvSpPr txBox="1"/>
            <p:nvPr/>
          </p:nvSpPr>
          <p:spPr>
            <a:xfrm>
              <a:off x="1652314" y="2882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The Bernoulli fallacy</a:t>
              </a:r>
              <a:r>
                <a:rPr lang="en-US" sz="2000" b="1" dirty="0">
                  <a:solidFill>
                    <a:srgbClr val="A8C4C5"/>
                  </a:solidFill>
                </a:rPr>
                <a:t>  |  </a:t>
              </a:r>
              <a:r>
                <a:rPr lang="en-US" sz="2000" b="1" dirty="0"/>
                <a:t>One study is not proof.</a:t>
              </a:r>
            </a:p>
          </p:txBody>
        </p:sp>
        <p:sp>
          <p:nvSpPr>
            <p:cNvPr id="88" name="ErrBadge5">
              <a:extLst>
                <a:ext uri="{FF2B5EF4-FFF2-40B4-BE49-F238E27FC236}">
                  <a16:creationId xmlns:a16="http://schemas.microsoft.com/office/drawing/2014/main" id="{F0998706-CCA9-D843-9E12-327649D378EE}"/>
                </a:ext>
              </a:extLst>
            </p:cNvPr>
            <p:cNvSpPr/>
            <p:nvPr/>
          </p:nvSpPr>
          <p:spPr>
            <a:xfrm>
              <a:off x="762000" y="3644603"/>
              <a:ext cx="609600" cy="609600"/>
            </a:xfrm>
            <a:prstGeom prst="ellipse">
              <a:avLst/>
            </a:prstGeom>
            <a:solidFill>
              <a:srgbClr val="15686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2200" b="1" dirty="0">
                  <a:solidFill>
                    <a:srgbClr val="FFFFFF"/>
                  </a:solidFill>
                </a:rPr>
                <a:t>5</a:t>
              </a:r>
            </a:p>
          </p:txBody>
        </p:sp>
        <p:sp>
          <p:nvSpPr>
            <p:cNvPr id="89" name="ErrTitle5">
              <a:extLst>
                <a:ext uri="{FF2B5EF4-FFF2-40B4-BE49-F238E27FC236}">
                  <a16:creationId xmlns:a16="http://schemas.microsoft.com/office/drawing/2014/main" id="{FCC03E0A-53C5-6045-B806-A3AF5C0A7D8F}"/>
                </a:ext>
              </a:extLst>
            </p:cNvPr>
            <p:cNvSpPr txBox="1"/>
            <p:nvPr/>
          </p:nvSpPr>
          <p:spPr>
            <a:xfrm>
              <a:off x="1652314" y="3644603"/>
              <a:ext cx="9398000" cy="400110"/>
            </a:xfrm>
            <a:prstGeom prst="rect">
              <a:avLst/>
            </a:prstGeom>
            <a:noFill/>
          </p:spPr>
          <p:txBody>
            <a:bodyPr vertOverflow="overflow" vert="horz" wrap="square" rtlCol="0" anchor="t" anchorCtr="0">
              <a:spAutoFit/>
            </a:bodyPr>
            <a:lstStyle/>
            <a:p>
              <a:pPr algn="l"/>
              <a:r>
                <a:rPr lang="en-US" sz="2000" b="1" dirty="0">
                  <a:solidFill>
                    <a:srgbClr val="15686B"/>
                  </a:solidFill>
                </a:rPr>
                <a:t>The causal leap</a:t>
              </a:r>
              <a:r>
                <a:rPr lang="en-US" sz="2000" b="1" dirty="0">
                  <a:solidFill>
                    <a:srgbClr val="A8C4C5"/>
                  </a:solidFill>
                </a:rPr>
                <a:t>  |  </a:t>
              </a:r>
              <a:r>
                <a:rPr lang="en-US" sz="2000" b="1" dirty="0"/>
                <a:t>Moving together is not cause.</a:t>
              </a:r>
            </a:p>
          </p:txBody>
        </p:sp>
        <p:sp>
          <p:nvSpPr>
            <p:cNvPr id="300" name="FaultTag300">
              <a:extLst>
                <a:ext uri="{FF2B5EF4-FFF2-40B4-BE49-F238E27FC236}">
                  <a16:creationId xmlns:a16="http://schemas.microsoft.com/office/drawing/2014/main" id="{6D74C8DC-CDBB-EE4C-BA2A-F94E81E7ED83}"/>
                </a:ext>
              </a:extLst>
            </p:cNvPr>
            <p:cNvSpPr txBox="1"/>
            <p:nvPr/>
          </p:nvSpPr>
          <p:spPr>
            <a:xfrm>
              <a:off x="1652314" y="964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A change with no baseline is half a fact.</a:t>
              </a:r>
            </a:p>
          </p:txBody>
        </p:sp>
        <p:sp>
          <p:nvSpPr>
            <p:cNvPr id="301" name="FaultTag301">
              <a:extLst>
                <a:ext uri="{FF2B5EF4-FFF2-40B4-BE49-F238E27FC236}">
                  <a16:creationId xmlns:a16="http://schemas.microsoft.com/office/drawing/2014/main" id="{6D74C8DC-CDBB-EE4C-BA2A-F94E81E7ED83}"/>
                </a:ext>
              </a:extLst>
            </p:cNvPr>
            <p:cNvSpPr txBox="1"/>
            <p:nvPr/>
          </p:nvSpPr>
          <p:spPr>
            <a:xfrm>
              <a:off x="1652314" y="1726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What it means depends on how common the condition is.</a:t>
              </a:r>
            </a:p>
          </p:txBody>
        </p:sp>
        <p:sp>
          <p:nvSpPr>
            <p:cNvPr id="302" name="FaultTag302">
              <a:extLst>
                <a:ext uri="{FF2B5EF4-FFF2-40B4-BE49-F238E27FC236}">
                  <a16:creationId xmlns:a16="http://schemas.microsoft.com/office/drawing/2014/main" id="{6D74C8DC-CDBB-EE4C-BA2A-F94E81E7ED83}"/>
                </a:ext>
              </a:extLst>
            </p:cNvPr>
            <p:cNvSpPr txBox="1"/>
            <p:nvPr/>
          </p:nvSpPr>
          <p:spPr>
            <a:xfrm>
              <a:off x="1652314" y="2488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119 to 120 moved the label, not your body.</a:t>
              </a:r>
            </a:p>
          </p:txBody>
        </p:sp>
        <p:sp>
          <p:nvSpPr>
            <p:cNvPr id="303" name="FaultTag303">
              <a:extLst>
                <a:ext uri="{FF2B5EF4-FFF2-40B4-BE49-F238E27FC236}">
                  <a16:creationId xmlns:a16="http://schemas.microsoft.com/office/drawing/2014/main" id="{6D74C8DC-CDBB-EE4C-BA2A-F94E81E7ED83}"/>
                </a:ext>
              </a:extLst>
            </p:cNvPr>
            <p:cNvSpPr txBox="1"/>
            <p:nvPr/>
          </p:nvSpPr>
          <p:spPr>
            <a:xfrm>
              <a:off x="1652314" y="3250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Run enough studies and something looks significant.</a:t>
              </a:r>
            </a:p>
          </p:txBody>
        </p:sp>
        <p:sp>
          <p:nvSpPr>
            <p:cNvPr id="304" name="FaultTag304">
              <a:extLst>
                <a:ext uri="{FF2B5EF4-FFF2-40B4-BE49-F238E27FC236}">
                  <a16:creationId xmlns:a16="http://schemas.microsoft.com/office/drawing/2014/main" id="{6D74C8DC-CDBB-EE4C-BA2A-F94E81E7ED83}"/>
                </a:ext>
              </a:extLst>
            </p:cNvPr>
            <p:cNvSpPr txBox="1"/>
            <p:nvPr/>
          </p:nvSpPr>
          <p:spPr>
            <a:xfrm>
              <a:off x="1652314" y="4012903"/>
              <a:ext cx="9398000" cy="330200"/>
            </a:xfrm>
            <a:prstGeom prst="rect">
              <a:avLst/>
            </a:prstGeom>
            <a:noFill/>
          </p:spPr>
          <p:txBody>
            <a:bodyPr vertOverflow="overflow" vert="horz" wrap="square" rtlCol="0" anchor="t" anchorCtr="0">
              <a:spAutoFit/>
            </a:bodyPr>
            <a:lstStyle/>
            <a:p>
              <a:pPr algn="l"/>
              <a:r>
                <a:rPr lang="en-US" sz="1600" i="1" dirty="0">
                  <a:solidFill>
                    <a:srgbClr val="404040"/>
                  </a:solidFill>
                </a:rPr>
                <a:t>Two things track, and a third usually drives both.</a:t>
              </a:r>
            </a:p>
          </p:txBody>
        </p:sp>
        <p:sp>
          <p:nvSpPr>
            <p:cNvPr id="95" name="Tagline">
              <a:extLst>
                <a:ext uri="{FF2B5EF4-FFF2-40B4-BE49-F238E27FC236}">
                  <a16:creationId xmlns:a16="http://schemas.microsoft.com/office/drawing/2014/main" id="{6D74C8DC-CDBB-EE4C-BA2A-F94E81E7ED83}"/>
                </a:ext>
              </a:extLst>
            </p:cNvPr>
            <p:cNvSpPr txBox="1"/>
            <p:nvPr/>
          </p:nvSpPr>
          <p:spPr>
            <a:xfrm>
              <a:off x="1652314" y="4508203"/>
              <a:ext cx="8890000" cy="304800"/>
            </a:xfrm>
            <a:prstGeom prst="rect">
              <a:avLst/>
            </a:prstGeom>
            <a:noFill/>
          </p:spPr>
          <p:txBody>
            <a:bodyPr vertOverflow="overflow" vert="horz" wrap="square" rtlCol="0" anchor="t" anchorCtr="0">
              <a:spAutoFit/>
            </a:bodyPr>
            <a:lstStyle/>
            <a:p>
              <a:pPr algn="l"/>
              <a:r>
                <a:rPr lang="en-US" sz="2000" i="1" dirty="0">
                  <a:solidFill>
                    <a:srgbClr val="15686B"/>
                  </a:solidFill>
                </a:rPr>
                <a:t>Once you see them, you can’t unsee them.</a:t>
              </a:r>
            </a:p>
          </p:txBody>
        </p:sp>
      </p:grpSp>
    </p:spTree>
    <p:extLst>
      <p:ext uri="{BB962C8B-B14F-4D97-AF65-F5344CB8AC3E}">
        <p14:creationId xmlns:p14="http://schemas.microsoft.com/office/powerpoint/2010/main" val="23757564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9079992" y="3749040"/>
            <a:ext cx="4572000" cy="4572000"/>
          </a:xfrm>
          <a:prstGeom prst="ellipse">
            <a:avLst/>
          </a:prstGeom>
          <a:solidFill>
            <a:srgbClr val="C2683F">
              <a:alpha val="10000"/>
            </a:srgbClr>
          </a:solidFill>
          <a:ln/>
        </p:spPr>
        <p:txBody>
          <a:bodyPr/>
          <a:lstStyle/>
          <a:p>
            <a:endParaRPr lang="en-US"/>
          </a:p>
        </p:txBody>
      </p:sp>
      <p:sp>
        <p:nvSpPr>
          <p:cNvPr id="3" name="Shape 1"/>
          <p:cNvSpPr/>
          <p:nvPr/>
        </p:nvSpPr>
        <p:spPr>
          <a:xfrm>
            <a:off x="10360152" y="2834640"/>
            <a:ext cx="2011680" cy="2011680"/>
          </a:xfrm>
          <a:prstGeom prst="ellipse">
            <a:avLst/>
          </a:prstGeom>
          <a:solidFill>
            <a:srgbClr val="15686B">
              <a:alpha val="8000"/>
            </a:srgbClr>
          </a:solidFill>
          <a:ln/>
        </p:spPr>
        <p:txBody>
          <a:bodyPr/>
          <a:lstStyle/>
          <a:p>
            <a:endParaRPr lang="en-US"/>
          </a:p>
        </p:txBody>
      </p:sp>
      <p:sp>
        <p:nvSpPr>
          <p:cNvPr id="4" name="Shape 2"/>
          <p:cNvSpPr/>
          <p:nvPr/>
        </p:nvSpPr>
        <p:spPr>
          <a:xfrm>
            <a:off x="685800" y="1371600"/>
            <a:ext cx="868680" cy="868680"/>
          </a:xfrm>
          <a:prstGeom prst="ellipse">
            <a:avLst/>
          </a:prstGeom>
          <a:solidFill>
            <a:srgbClr val="C2683F"/>
          </a:solidFill>
          <a:ln/>
        </p:spPr>
        <p:txBody>
          <a:bodyPr/>
          <a:lstStyle/>
          <a:p>
            <a:endParaRPr lang="en-US"/>
          </a:p>
        </p:txBody>
      </p:sp>
      <p:pic>
        <p:nvPicPr>
          <p:cNvPr id="5" name="Image 0" descr="/home/claude/assets/emblem.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50849" y="1536649"/>
            <a:ext cx="538582" cy="538582"/>
          </a:xfrm>
          <a:prstGeom prst="rect">
            <a:avLst/>
          </a:prstGeom>
        </p:spPr>
      </p:pic>
      <p:sp>
        <p:nvSpPr>
          <p:cNvPr id="6" name="Text 3"/>
          <p:cNvSpPr/>
          <p:nvPr/>
        </p:nvSpPr>
        <p:spPr>
          <a:xfrm>
            <a:off x="685800" y="2514600"/>
            <a:ext cx="9875520" cy="1371600"/>
          </a:xfrm>
          <a:prstGeom prst="rect">
            <a:avLst/>
          </a:prstGeom>
          <a:noFill/>
          <a:ln/>
        </p:spPr>
        <p:txBody>
          <a:bodyPr wrap="square" lIns="0" tIns="0" rIns="0" bIns="0" rtlCol="0" anchor="ctr"/>
          <a:lstStyle/>
          <a:p>
            <a:pPr marL="0" indent="0" algn="l">
              <a:buNone/>
            </a:pPr>
            <a:r>
              <a:rPr lang="en-US" sz="5000" b="1" dirty="0">
                <a:solidFill>
                  <a:srgbClr val="262320"/>
                </a:solidFill>
                <a:latin typeface="Bookman Old Style" pitchFamily="34" charset="0"/>
                <a:ea typeface="Bookman Old Style" pitchFamily="34" charset="-122"/>
                <a:cs typeface="Bookman Old Style" pitchFamily="34" charset="-120"/>
              </a:rPr>
              <a:t>Questions, and a conversation</a:t>
            </a:r>
            <a:endParaRPr lang="en-US" sz="5000" dirty="0"/>
          </a:p>
        </p:txBody>
      </p:sp>
      <p:sp>
        <p:nvSpPr>
          <p:cNvPr id="7" name="Text 4"/>
          <p:cNvSpPr/>
          <p:nvPr/>
        </p:nvSpPr>
        <p:spPr>
          <a:xfrm>
            <a:off x="685800" y="4114800"/>
            <a:ext cx="10058400" cy="457200"/>
          </a:xfrm>
          <a:prstGeom prst="rect">
            <a:avLst/>
          </a:prstGeom>
          <a:noFill/>
          <a:ln/>
        </p:spPr>
        <p:txBody>
          <a:bodyPr wrap="square" lIns="0" tIns="0" rIns="0" bIns="0" rtlCol="0" anchor="ctr"/>
          <a:lstStyle/>
          <a:p>
            <a:pPr marL="0" indent="0" algn="l">
              <a:buNone/>
            </a:pPr>
            <a:r>
              <a:rPr lang="en-US" sz="2200" b="1" dirty="0">
                <a:solidFill>
                  <a:srgbClr val="262320"/>
                </a:solidFill>
                <a:latin typeface="Calibri" pitchFamily="34" charset="0"/>
                <a:ea typeface="Calibri" pitchFamily="34" charset="-122"/>
                <a:cs typeface="Calibri" pitchFamily="34" charset="-120"/>
              </a:rPr>
              <a:t>Murray Cantor PhD</a:t>
            </a:r>
            <a:r>
              <a:rPr lang="en-US" sz="2200" dirty="0">
                <a:solidFill>
                  <a:srgbClr val="8A8076"/>
                </a:solidFill>
                <a:latin typeface="Calibri" pitchFamily="34" charset="0"/>
                <a:ea typeface="Calibri" pitchFamily="34" charset="-122"/>
                <a:cs typeface="Calibri" pitchFamily="34" charset="-120"/>
              </a:rPr>
              <a:t>      </a:t>
            </a:r>
            <a:r>
              <a:rPr lang="en-US" sz="2200" dirty="0" err="1">
                <a:solidFill>
                  <a:srgbClr val="8A8076"/>
                </a:solidFill>
                <a:latin typeface="Calibri" pitchFamily="34" charset="0"/>
                <a:ea typeface="Calibri" pitchFamily="34" charset="-122"/>
                <a:cs typeface="Calibri" pitchFamily="34" charset="-120"/>
              </a:rPr>
              <a:t>murray@murraycantor.com</a:t>
            </a:r>
            <a:endParaRPr lang="en-US" sz="2200" dirty="0"/>
          </a:p>
        </p:txBody>
      </p:sp>
      <p:sp>
        <p:nvSpPr>
          <p:cNvPr id="8" name="Text 4">
            <a:extLst>
              <a:ext uri="{FF2B5EF4-FFF2-40B4-BE49-F238E27FC236}">
                <a16:creationId xmlns:a16="http://schemas.microsoft.com/office/drawing/2014/main" id="{525C5454-4728-2B5E-FBFD-5DD5FF3624A4}"/>
              </a:ext>
            </a:extLst>
          </p:cNvPr>
          <p:cNvSpPr/>
          <p:nvPr/>
        </p:nvSpPr>
        <p:spPr>
          <a:xfrm>
            <a:off x="685800" y="4800600"/>
            <a:ext cx="10058400" cy="457200"/>
          </a:xfrm>
          <a:prstGeom prst="rect">
            <a:avLst/>
          </a:prstGeom>
          <a:noFill/>
          <a:ln/>
        </p:spPr>
        <p:txBody>
          <a:bodyPr wrap="square" lIns="0" tIns="0" rIns="0" bIns="0" rtlCol="0" anchor="ctr"/>
          <a:lstStyle/>
          <a:p>
            <a:r>
              <a:rPr lang="en-US" sz="2200" b="1" dirty="0">
                <a:solidFill>
                  <a:srgbClr val="262320"/>
                </a:solidFill>
                <a:latin typeface="Calibri" pitchFamily="34" charset="0"/>
                <a:ea typeface="Calibri" pitchFamily="34" charset="-122"/>
                <a:cs typeface="Calibri" pitchFamily="34" charset="-120"/>
              </a:rPr>
              <a:t>Joel Keenan MD </a:t>
            </a:r>
            <a:r>
              <a:rPr lang="en-US" sz="2200" dirty="0">
                <a:solidFill>
                  <a:srgbClr val="8A8076"/>
                </a:solidFill>
                <a:latin typeface="Calibri" pitchFamily="34" charset="0"/>
                <a:ea typeface="Calibri" pitchFamily="34" charset="-122"/>
                <a:cs typeface="Calibri" pitchFamily="34" charset="-120"/>
              </a:rPr>
              <a:t>	</a:t>
            </a:r>
            <a:r>
              <a:rPr lang="en-US" sz="2200" dirty="0" err="1">
                <a:solidFill>
                  <a:srgbClr val="8A8076"/>
                </a:solidFill>
                <a:latin typeface="Calibri" pitchFamily="34" charset="0"/>
                <a:ea typeface="Calibri" pitchFamily="34" charset="-122"/>
                <a:cs typeface="Calibri" pitchFamily="34" charset="-120"/>
              </a:rPr>
              <a:t>drkeenan@mdvip.com</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52069-C849-3E8A-174B-6C0615D40784}"/>
            </a:ext>
          </a:extLst>
        </p:cNvPr>
        <p:cNvGrpSpPr/>
        <p:nvPr/>
      </p:nvGrpSpPr>
      <p:grpSpPr>
        <a:xfrm>
          <a:off x="0" y="0"/>
          <a:ext cx="0" cy="0"/>
          <a:chOff x="0" y="0"/>
          <a:chExt cx="0" cy="0"/>
        </a:xfrm>
      </p:grpSpPr>
      <p:sp>
        <p:nvSpPr>
          <p:cNvPr id="3" name="DividerNum">
            <a:extLst>
              <a:ext uri="{FF2B5EF4-FFF2-40B4-BE49-F238E27FC236}">
                <a16:creationId xmlns:a16="http://schemas.microsoft.com/office/drawing/2014/main" id="{AC0E9DE4-118D-6E98-2451-537E31AB4607}"/>
              </a:ext>
            </a:extLst>
          </p:cNvPr>
          <p:cNvSpPr txBox="1"/>
          <p:nvPr/>
        </p:nvSpPr>
        <p:spPr>
          <a:xfrm>
            <a:off x="1041400" y="2840335"/>
            <a:ext cx="9652000" cy="923330"/>
          </a:xfrm>
          <a:prstGeom prst="rect">
            <a:avLst/>
          </a:prstGeom>
          <a:noFill/>
        </p:spPr>
        <p:txBody>
          <a:bodyPr vertOverflow="overflow" vert="horz" wrap="square" rtlCol="0" anchor="ctr" anchorCtr="0">
            <a:spAutoFit/>
          </a:bodyPr>
          <a:lstStyle/>
          <a:p>
            <a:pPr algn="l"/>
            <a:r>
              <a:rPr lang="en-US" sz="5400" b="1" dirty="0">
                <a:solidFill>
                  <a:srgbClr val="15686B"/>
                </a:solidFill>
              </a:rPr>
              <a:t>Backup Slides</a:t>
            </a:r>
          </a:p>
        </p:txBody>
      </p:sp>
    </p:spTree>
    <p:extLst>
      <p:ext uri="{BB962C8B-B14F-4D97-AF65-F5344CB8AC3E}">
        <p14:creationId xmlns:p14="http://schemas.microsoft.com/office/powerpoint/2010/main" val="35647589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a:extLst>
              <a:ext uri="{FF2B5EF4-FFF2-40B4-BE49-F238E27FC236}">
                <a16:creationId xmlns:a16="http://schemas.microsoft.com/office/drawing/2014/main" id="{C54E0641-3A17-1E49-8728-A979FCF2B63E}"/>
              </a:ext>
            </a:extLst>
          </p:cNvPr>
          <p:cNvSpPr txBox="1"/>
          <p:nvPr/>
        </p:nvSpPr>
        <p:spPr>
          <a:xfrm>
            <a:off x="685800" y="330200"/>
            <a:ext cx="6350000" cy="457200"/>
          </a:xfrm>
          <a:prstGeom prst="rect">
            <a:avLst/>
          </a:prstGeom>
          <a:noFill/>
        </p:spPr>
        <p:txBody>
          <a:bodyPr vertOverflow="overflow" vert="horz" wrap="none" rtlCol="0" anchor="t">
            <a:noAutofit/>
          </a:bodyPr>
          <a:lstStyle/>
          <a:p>
            <a:pPr algn="l"/>
            <a:r>
              <a:rPr lang="en-US" sz="2400" b="1">
                <a:solidFill>
                  <a:srgbClr val="15686B"/>
                </a:solidFill>
                <a:latin typeface="Calibri"/>
                <a:cs typeface="Calibri"/>
              </a:rPr>
              <a:t>CHART TEMPLATES</a:t>
            </a:r>
          </a:p>
        </p:txBody>
      </p:sp>
      <p:sp>
        <p:nvSpPr>
          <p:cNvPr id="3" name="Title">
            <a:extLst>
              <a:ext uri="{FF2B5EF4-FFF2-40B4-BE49-F238E27FC236}">
                <a16:creationId xmlns:a16="http://schemas.microsoft.com/office/drawing/2014/main" id="{37E70338-A986-1A4A-8879-5785807835E0}"/>
              </a:ext>
            </a:extLst>
          </p:cNvPr>
          <p:cNvSpPr txBox="1"/>
          <p:nvPr/>
        </p:nvSpPr>
        <p:spPr>
          <a:xfrm>
            <a:off x="685800" y="863600"/>
            <a:ext cx="10820400" cy="863600"/>
          </a:xfrm>
          <a:prstGeom prst="rect">
            <a:avLst/>
          </a:prstGeom>
          <a:noFill/>
        </p:spPr>
        <p:txBody>
          <a:bodyPr vertOverflow="overflow" vert="horz" wrap="square" rtlCol="0" anchor="t">
            <a:spAutoFit/>
          </a:bodyPr>
          <a:lstStyle/>
          <a:p>
            <a:pPr algn="l"/>
            <a:r>
              <a:rPr lang="en-US" sz="3400" b="1">
                <a:solidFill>
                  <a:srgbClr val="15686B"/>
                </a:solidFill>
                <a:latin typeface="Calibri"/>
                <a:cs typeface="Calibri"/>
              </a:rPr>
              <a:t>Bullet Graph: Actual vs. Target</a:t>
            </a:r>
          </a:p>
        </p:txBody>
      </p:sp>
      <p:sp>
        <p:nvSpPr>
          <p:cNvPr id="4" name="Rule">
            <a:extLst>
              <a:ext uri="{FF2B5EF4-FFF2-40B4-BE49-F238E27FC236}">
                <a16:creationId xmlns:a16="http://schemas.microsoft.com/office/drawing/2014/main" id="{2D0560A0-7456-C64D-B146-6DECBDED722D}"/>
              </a:ext>
            </a:extLst>
          </p:cNvPr>
          <p:cNvSpPr/>
          <p:nvPr/>
        </p:nvSpPr>
        <p:spPr>
          <a:xfrm>
            <a:off x="685800" y="1778000"/>
            <a:ext cx="1143000" cy="63500"/>
          </a:xfrm>
          <a:prstGeom prst="rect">
            <a:avLst/>
          </a:prstGeom>
          <a:solidFill>
            <a:srgbClr val="C268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aption">
            <a:extLst>
              <a:ext uri="{FF2B5EF4-FFF2-40B4-BE49-F238E27FC236}">
                <a16:creationId xmlns:a16="http://schemas.microsoft.com/office/drawing/2014/main" id="{AAC77035-64A8-E744-A564-69E3FA282A8B}"/>
              </a:ext>
            </a:extLst>
          </p:cNvPr>
          <p:cNvSpPr txBox="1"/>
          <p:nvPr/>
        </p:nvSpPr>
        <p:spPr>
          <a:xfrm>
            <a:off x="685800" y="5969000"/>
            <a:ext cx="10820400" cy="508000"/>
          </a:xfrm>
          <a:prstGeom prst="rect">
            <a:avLst/>
          </a:prstGeom>
          <a:noFill/>
        </p:spPr>
        <p:txBody>
          <a:bodyPr vertOverflow="overflow" vert="horz" wrap="square" rtlCol="0" anchor="t">
            <a:spAutoFit/>
          </a:bodyPr>
          <a:lstStyle/>
          <a:p>
            <a:pPr algn="l"/>
            <a:r>
              <a:rPr lang="en-US" sz="1400">
                <a:solidFill>
                  <a:srgbClr val="444444"/>
                </a:solidFill>
                <a:latin typeface="Calibri"/>
                <a:cs typeface="Calibri"/>
              </a:rPr>
              <a:t>Bars show actual performance; the vertical marker is target. Right-click the chart and choose Edit Data to swap in your own numbers.</a:t>
            </a:r>
          </a:p>
        </p:txBody>
      </p:sp>
      <p:graphicFrame>
        <p:nvGraphicFramePr>
          <p:cNvPr id="900" name="BulletGraph"/>
          <p:cNvGraphicFramePr/>
          <p:nvPr/>
        </p:nvGraphicFramePr>
        <p:xfrm>
          <a:off x="685800" y="2032000"/>
          <a:ext cx="10820400" cy="381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0397925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a:extLst>
              <a:ext uri="{FF2B5EF4-FFF2-40B4-BE49-F238E27FC236}">
                <a16:creationId xmlns:a16="http://schemas.microsoft.com/office/drawing/2014/main" id="{51DA22C8-CEA4-3545-A31A-D82BBD31BCA4}"/>
              </a:ext>
            </a:extLst>
          </p:cNvPr>
          <p:cNvSpPr txBox="1"/>
          <p:nvPr/>
        </p:nvSpPr>
        <p:spPr>
          <a:xfrm>
            <a:off x="685800" y="330200"/>
            <a:ext cx="6350000" cy="457200"/>
          </a:xfrm>
          <a:prstGeom prst="rect">
            <a:avLst/>
          </a:prstGeom>
          <a:noFill/>
        </p:spPr>
        <p:txBody>
          <a:bodyPr vertOverflow="overflow" vert="horz" wrap="none" rtlCol="0" anchor="t">
            <a:noAutofit/>
          </a:bodyPr>
          <a:lstStyle/>
          <a:p>
            <a:pPr algn="l"/>
            <a:r>
              <a:rPr lang="en-US" sz="2400" b="1">
                <a:solidFill>
                  <a:srgbClr val="15686B"/>
                </a:solidFill>
                <a:latin typeface="Calibri"/>
                <a:cs typeface="Calibri"/>
              </a:rPr>
              <a:t>CHART TEMPLATES</a:t>
            </a:r>
          </a:p>
        </p:txBody>
      </p:sp>
      <p:sp>
        <p:nvSpPr>
          <p:cNvPr id="3" name="Title">
            <a:extLst>
              <a:ext uri="{FF2B5EF4-FFF2-40B4-BE49-F238E27FC236}">
                <a16:creationId xmlns:a16="http://schemas.microsoft.com/office/drawing/2014/main" id="{E601DDEF-FDEE-5741-A592-4238C16F68D7}"/>
              </a:ext>
            </a:extLst>
          </p:cNvPr>
          <p:cNvSpPr txBox="1"/>
          <p:nvPr/>
        </p:nvSpPr>
        <p:spPr>
          <a:xfrm>
            <a:off x="685800" y="863600"/>
            <a:ext cx="10820400" cy="863600"/>
          </a:xfrm>
          <a:prstGeom prst="rect">
            <a:avLst/>
          </a:prstGeom>
          <a:noFill/>
        </p:spPr>
        <p:txBody>
          <a:bodyPr vertOverflow="overflow" vert="horz" wrap="square" rtlCol="0" anchor="t">
            <a:spAutoFit/>
          </a:bodyPr>
          <a:lstStyle/>
          <a:p>
            <a:pPr algn="l"/>
            <a:r>
              <a:rPr lang="en-US" sz="3400" b="1">
                <a:solidFill>
                  <a:srgbClr val="15686B"/>
                </a:solidFill>
                <a:latin typeface="Calibri"/>
                <a:cs typeface="Calibri"/>
              </a:rPr>
              <a:t>Column Chart with Bulleted Categories</a:t>
            </a:r>
          </a:p>
        </p:txBody>
      </p:sp>
      <p:sp>
        <p:nvSpPr>
          <p:cNvPr id="4" name="Rule">
            <a:extLst>
              <a:ext uri="{FF2B5EF4-FFF2-40B4-BE49-F238E27FC236}">
                <a16:creationId xmlns:a16="http://schemas.microsoft.com/office/drawing/2014/main" id="{11F1AA6B-493F-EC43-A4CB-3AA42BD65465}"/>
              </a:ext>
            </a:extLst>
          </p:cNvPr>
          <p:cNvSpPr/>
          <p:nvPr/>
        </p:nvSpPr>
        <p:spPr>
          <a:xfrm>
            <a:off x="685800" y="1778000"/>
            <a:ext cx="1143000" cy="63500"/>
          </a:xfrm>
          <a:prstGeom prst="rect">
            <a:avLst/>
          </a:prstGeom>
          <a:solidFill>
            <a:srgbClr val="C268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Caption">
            <a:extLst>
              <a:ext uri="{FF2B5EF4-FFF2-40B4-BE49-F238E27FC236}">
                <a16:creationId xmlns:a16="http://schemas.microsoft.com/office/drawing/2014/main" id="{027C8F98-B7DF-F64D-B9B7-45E754BD703E}"/>
              </a:ext>
            </a:extLst>
          </p:cNvPr>
          <p:cNvSpPr txBox="1"/>
          <p:nvPr/>
        </p:nvSpPr>
        <p:spPr>
          <a:xfrm>
            <a:off x="685800" y="5969000"/>
            <a:ext cx="10820400" cy="508000"/>
          </a:xfrm>
          <a:prstGeom prst="rect">
            <a:avLst/>
          </a:prstGeom>
          <a:noFill/>
        </p:spPr>
        <p:txBody>
          <a:bodyPr vertOverflow="overflow" vert="horz" wrap="square" rtlCol="0" anchor="t">
            <a:spAutoFit/>
          </a:bodyPr>
          <a:lstStyle/>
          <a:p>
            <a:pPr algn="l"/>
            <a:r>
              <a:rPr lang="en-US" sz="1400">
                <a:solidFill>
                  <a:srgbClr val="444444"/>
                </a:solidFill>
                <a:latin typeface="Calibri"/>
                <a:cs typeface="Calibri"/>
              </a:rPr>
              <a:t>Two-series column template. Right-click the chart and choose Edit Data to change categories or values.</a:t>
            </a:r>
          </a:p>
        </p:txBody>
      </p:sp>
      <p:graphicFrame>
        <p:nvGraphicFramePr>
          <p:cNvPr id="900" name="ColumnChart"/>
          <p:cNvGraphicFramePr/>
          <p:nvPr/>
        </p:nvGraphicFramePr>
        <p:xfrm>
          <a:off x="685800" y="2032000"/>
          <a:ext cx="7112000" cy="3810000"/>
        </p:xfrm>
        <a:graphic>
          <a:graphicData uri="http://schemas.openxmlformats.org/drawingml/2006/chart">
            <c:chart xmlns:c="http://schemas.openxmlformats.org/drawingml/2006/chart" xmlns:r="http://schemas.openxmlformats.org/officeDocument/2006/relationships" r:id="rId2"/>
          </a:graphicData>
        </a:graphic>
      </p:graphicFrame>
      <p:sp>
        <p:nvSpPr>
          <p:cNvPr id="6" name="Card">
            <a:extLst>
              <a:ext uri="{FF2B5EF4-FFF2-40B4-BE49-F238E27FC236}">
                <a16:creationId xmlns:a16="http://schemas.microsoft.com/office/drawing/2014/main" id="{83E9E39C-E782-7049-93D3-1CC705917AAF}"/>
              </a:ext>
            </a:extLst>
          </p:cNvPr>
          <p:cNvSpPr/>
          <p:nvPr/>
        </p:nvSpPr>
        <p:spPr>
          <a:xfrm>
            <a:off x="8077200" y="2032000"/>
            <a:ext cx="3429000" cy="3810000"/>
          </a:xfrm>
          <a:prstGeom prst="rect">
            <a:avLst/>
          </a:prstGeom>
          <a:solidFill>
            <a:srgbClr val="FFFFFF"/>
          </a:solidFill>
          <a:ln w="15875" cap="flat" cmpd="sng" algn="ctr">
            <a:solidFill>
              <a:srgbClr val="C2683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CardLabel">
            <a:extLst>
              <a:ext uri="{FF2B5EF4-FFF2-40B4-BE49-F238E27FC236}">
                <a16:creationId xmlns:a16="http://schemas.microsoft.com/office/drawing/2014/main" id="{995241B3-D702-3F46-8C24-FFF27AB36A41}"/>
              </a:ext>
            </a:extLst>
          </p:cNvPr>
          <p:cNvSpPr txBox="1"/>
          <p:nvPr/>
        </p:nvSpPr>
        <p:spPr>
          <a:xfrm>
            <a:off x="8331200" y="2260600"/>
            <a:ext cx="2921000" cy="304800"/>
          </a:xfrm>
          <a:prstGeom prst="rect">
            <a:avLst/>
          </a:prstGeom>
          <a:noFill/>
        </p:spPr>
        <p:txBody>
          <a:bodyPr vertOverflow="overflow" vert="horz" wrap="square" rtlCol="0" anchor="t">
            <a:spAutoFit/>
          </a:bodyPr>
          <a:lstStyle/>
          <a:p>
            <a:pPr algn="l"/>
            <a:r>
              <a:rPr lang="en-US" sz="1400" b="1">
                <a:solidFill>
                  <a:srgbClr val="C2683F"/>
                </a:solidFill>
                <a:latin typeface="Calibri"/>
                <a:cs typeface="Calibri"/>
              </a:rPr>
              <a:t>KEY TAKEAWAYS</a:t>
            </a:r>
          </a:p>
        </p:txBody>
      </p:sp>
      <p:sp>
        <p:nvSpPr>
          <p:cNvPr id="8" name="CardBullets">
            <a:extLst>
              <a:ext uri="{FF2B5EF4-FFF2-40B4-BE49-F238E27FC236}">
                <a16:creationId xmlns:a16="http://schemas.microsoft.com/office/drawing/2014/main" id="{E939EC42-12B4-784C-A445-128F15A18C01}"/>
              </a:ext>
            </a:extLst>
          </p:cNvPr>
          <p:cNvSpPr txBox="1"/>
          <p:nvPr/>
        </p:nvSpPr>
        <p:spPr>
          <a:xfrm>
            <a:off x="8331200" y="2692400"/>
            <a:ext cx="2921000" cy="1563120"/>
          </a:xfrm>
          <a:prstGeom prst="rect">
            <a:avLst/>
          </a:prstGeom>
          <a:noFill/>
        </p:spPr>
        <p:txBody>
          <a:bodyPr vertOverflow="overflow" vert="horz" wrap="square" rtlCol="0" anchor="t">
            <a:spAutoFit/>
          </a:bodyPr>
          <a:lstStyle/>
          <a:p>
            <a:pPr marL="228600" indent="-228600">
              <a:lnSpc>
                <a:spcPts val="2000"/>
              </a:lnSpc>
              <a:spcAft>
                <a:spcPts val="800"/>
              </a:spcAft>
              <a:buFont typeface="Arial"/>
              <a:buChar char="•"/>
            </a:pPr>
            <a:r>
              <a:rPr lang="en-US" sz="1400" dirty="0">
                <a:solidFill>
                  <a:srgbClr val="333333"/>
                </a:solidFill>
                <a:latin typeface="Calibri"/>
              </a:rPr>
              <a:t>Replace this text with your first takeaway.</a:t>
            </a:r>
          </a:p>
          <a:p>
            <a:pPr marL="228600" indent="-228600">
              <a:lnSpc>
                <a:spcPts val="2000"/>
              </a:lnSpc>
              <a:spcAft>
                <a:spcPts val="800"/>
              </a:spcAft>
              <a:buFont typeface="Arial"/>
              <a:buChar char="•"/>
            </a:pPr>
            <a:r>
              <a:rPr lang="en-US" sz="1400" dirty="0">
                <a:solidFill>
                  <a:srgbClr val="333333"/>
                </a:solidFill>
                <a:latin typeface="Calibri"/>
              </a:rPr>
              <a:t>Keep each point to one line where possible.</a:t>
            </a:r>
          </a:p>
          <a:p>
            <a:pPr marL="228600" indent="-228600">
              <a:lnSpc>
                <a:spcPts val="2000"/>
              </a:lnSpc>
              <a:spcAft>
                <a:spcPts val="800"/>
              </a:spcAft>
              <a:buFont typeface="Arial"/>
              <a:buChar char="•"/>
            </a:pPr>
            <a:r>
              <a:rPr lang="en-US" sz="1400" dirty="0">
                <a:solidFill>
                  <a:srgbClr val="333333"/>
                </a:solidFill>
                <a:latin typeface="Calibri"/>
              </a:rPr>
              <a:t>Three to four bullets fits this card.</a:t>
            </a:r>
          </a:p>
        </p:txBody>
      </p:sp>
    </p:spTree>
    <p:extLst>
      <p:ext uri="{BB962C8B-B14F-4D97-AF65-F5344CB8AC3E}">
        <p14:creationId xmlns:p14="http://schemas.microsoft.com/office/powerpoint/2010/main" val="30839420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a:extLst>
              <a:ext uri="{FF2B5EF4-FFF2-40B4-BE49-F238E27FC236}">
                <a16:creationId xmlns:a16="http://schemas.microsoft.com/office/drawing/2014/main" id="{579289DE-ECD0-5A4F-BACA-E1DAE6289EF4}"/>
              </a:ext>
            </a:extLst>
          </p:cNvPr>
          <p:cNvSpPr txBox="1"/>
          <p:nvPr/>
        </p:nvSpPr>
        <p:spPr>
          <a:xfrm>
            <a:off x="685800" y="330200"/>
            <a:ext cx="6350000" cy="457200"/>
          </a:xfrm>
          <a:prstGeom prst="rect">
            <a:avLst/>
          </a:prstGeom>
          <a:noFill/>
        </p:spPr>
        <p:txBody>
          <a:bodyPr vertOverflow="overflow" vert="horz" wrap="none" rtlCol="0" anchor="t">
            <a:noAutofit/>
          </a:bodyPr>
          <a:lstStyle/>
          <a:p>
            <a:pPr algn="l"/>
            <a:r>
              <a:rPr lang="en-US" sz="2400" b="1">
                <a:solidFill>
                  <a:srgbClr val="15686B"/>
                </a:solidFill>
                <a:latin typeface="Calibri"/>
                <a:cs typeface="Calibri"/>
              </a:rPr>
              <a:t>HEALTHY SKEPTICISM</a:t>
            </a:r>
          </a:p>
        </p:txBody>
      </p:sp>
      <p:sp>
        <p:nvSpPr>
          <p:cNvPr id="3" name="Title">
            <a:extLst>
              <a:ext uri="{FF2B5EF4-FFF2-40B4-BE49-F238E27FC236}">
                <a16:creationId xmlns:a16="http://schemas.microsoft.com/office/drawing/2014/main" id="{349DEEA3-12DC-F247-A45E-3AB42F1AEFA1}"/>
              </a:ext>
            </a:extLst>
          </p:cNvPr>
          <p:cNvSpPr txBox="1"/>
          <p:nvPr/>
        </p:nvSpPr>
        <p:spPr>
          <a:xfrm>
            <a:off x="685800" y="863600"/>
            <a:ext cx="10820400" cy="762000"/>
          </a:xfrm>
          <a:prstGeom prst="rect">
            <a:avLst/>
          </a:prstGeom>
          <a:noFill/>
        </p:spPr>
        <p:txBody>
          <a:bodyPr vertOverflow="overflow" vert="horz" wrap="square" rtlCol="0" anchor="t">
            <a:spAutoFit/>
          </a:bodyPr>
          <a:lstStyle/>
          <a:p>
            <a:pPr algn="l"/>
            <a:r>
              <a:rPr lang="en-US" sz="3400" b="1">
                <a:solidFill>
                  <a:srgbClr val="15686B"/>
                </a:solidFill>
                <a:latin typeface="Calibri"/>
                <a:cs typeface="Calibri"/>
              </a:rPr>
              <a:t>Slide Title</a:t>
            </a:r>
          </a:p>
        </p:txBody>
      </p:sp>
      <p:sp>
        <p:nvSpPr>
          <p:cNvPr id="4" name="Rule">
            <a:extLst>
              <a:ext uri="{FF2B5EF4-FFF2-40B4-BE49-F238E27FC236}">
                <a16:creationId xmlns:a16="http://schemas.microsoft.com/office/drawing/2014/main" id="{3BDDD28E-30CF-E44E-A65C-F3C6E0FE19E4}"/>
              </a:ext>
            </a:extLst>
          </p:cNvPr>
          <p:cNvSpPr/>
          <p:nvPr/>
        </p:nvSpPr>
        <p:spPr>
          <a:xfrm>
            <a:off x="685800" y="1701800"/>
            <a:ext cx="1143000" cy="63500"/>
          </a:xfrm>
          <a:prstGeom prst="rect">
            <a:avLst/>
          </a:prstGeom>
          <a:solidFill>
            <a:srgbClr val="C268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Bullets">
            <a:extLst>
              <a:ext uri="{FF2B5EF4-FFF2-40B4-BE49-F238E27FC236}">
                <a16:creationId xmlns:a16="http://schemas.microsoft.com/office/drawing/2014/main" id="{B7C4EB68-9302-DF49-BC8F-BB1352B23A85}"/>
              </a:ext>
            </a:extLst>
          </p:cNvPr>
          <p:cNvSpPr txBox="1"/>
          <p:nvPr/>
        </p:nvSpPr>
        <p:spPr>
          <a:xfrm>
            <a:off x="685800" y="2032000"/>
            <a:ext cx="10820400" cy="3175000"/>
          </a:xfrm>
          <a:prstGeom prst="rect">
            <a:avLst/>
          </a:prstGeom>
          <a:noFill/>
        </p:spPr>
        <p:txBody>
          <a:bodyPr vertOverflow="overflow" vert="horz" wrap="square" rtlCol="0" anchor="t" anchorCtr="0">
            <a:noAutofit/>
          </a:bodyPr>
          <a:lstStyle/>
          <a:p>
            <a:pPr marL="342900" indent="-342900">
              <a:lnSpc>
                <a:spcPts val="2600"/>
              </a:lnSpc>
              <a:spcAft>
                <a:spcPts val="1200"/>
              </a:spcAft>
              <a:buFont typeface="Arial"/>
              <a:buChar char="•"/>
            </a:pPr>
            <a:r>
              <a:rPr lang="en-US" sz="1800" dirty="0">
                <a:solidFill>
                  <a:srgbClr val="333333"/>
                </a:solidFill>
                <a:latin typeface="Calibri"/>
              </a:rPr>
              <a:t>First bullet point goes here.</a:t>
            </a:r>
          </a:p>
          <a:p>
            <a:pPr marL="342900" indent="-342900">
              <a:lnSpc>
                <a:spcPts val="2600"/>
              </a:lnSpc>
              <a:spcAft>
                <a:spcPts val="1200"/>
              </a:spcAft>
              <a:buFont typeface="Arial"/>
              <a:buChar char="•"/>
            </a:pPr>
            <a:r>
              <a:rPr lang="en-US" sz="1800" dirty="0">
                <a:solidFill>
                  <a:srgbClr val="333333"/>
                </a:solidFill>
                <a:latin typeface="Calibri"/>
              </a:rPr>
              <a:t>Second bullet point goes here.</a:t>
            </a:r>
          </a:p>
          <a:p>
            <a:pPr marL="571500" lvl="1" indent="-228600">
              <a:lnSpc>
                <a:spcPts val="2400"/>
              </a:lnSpc>
              <a:spcAft>
                <a:spcPts val="1200"/>
              </a:spcAft>
              <a:buFont typeface="Arial"/>
              <a:buChar char="–"/>
            </a:pPr>
            <a:r>
              <a:rPr lang="en-US" sz="1600" dirty="0">
                <a:solidFill>
                  <a:srgbClr val="555555"/>
                </a:solidFill>
                <a:latin typeface="Calibri"/>
              </a:rPr>
              <a:t>Sub-bullet for supporting detail.</a:t>
            </a:r>
          </a:p>
          <a:p>
            <a:pPr marL="342900" indent="-342900">
              <a:lnSpc>
                <a:spcPts val="2600"/>
              </a:lnSpc>
              <a:spcAft>
                <a:spcPts val="1200"/>
              </a:spcAft>
              <a:buFont typeface="Arial"/>
              <a:buChar char="•"/>
            </a:pPr>
            <a:r>
              <a:rPr lang="en-US" sz="1800" dirty="0">
                <a:solidFill>
                  <a:srgbClr val="333333"/>
                </a:solidFill>
                <a:latin typeface="Calibri"/>
              </a:rPr>
              <a:t>Third bullet point goes here.</a:t>
            </a:r>
          </a:p>
          <a:p>
            <a:pPr marL="342900" indent="-342900">
              <a:lnSpc>
                <a:spcPts val="2600"/>
              </a:lnSpc>
              <a:spcAft>
                <a:spcPts val="1200"/>
              </a:spcAft>
              <a:buFont typeface="Arial"/>
              <a:buChar char="•"/>
            </a:pPr>
            <a:r>
              <a:rPr lang="en-US" sz="1800" dirty="0">
                <a:solidFill>
                  <a:srgbClr val="333333"/>
                </a:solidFill>
                <a:latin typeface="Calibri"/>
              </a:rPr>
              <a:t>Fourth bullet point goes here.</a:t>
            </a:r>
          </a:p>
        </p:txBody>
      </p:sp>
      <p:sp>
        <p:nvSpPr>
          <p:cNvPr id="6" name="Band">
            <a:extLst>
              <a:ext uri="{FF2B5EF4-FFF2-40B4-BE49-F238E27FC236}">
                <a16:creationId xmlns:a16="http://schemas.microsoft.com/office/drawing/2014/main" id="{4F1C9921-B37A-A25B-FE54-C520B5525A15}"/>
              </a:ext>
            </a:extLst>
          </p:cNvPr>
          <p:cNvSpPr/>
          <p:nvPr/>
        </p:nvSpPr>
        <p:spPr>
          <a:xfrm>
            <a:off x="685800" y="5560000"/>
            <a:ext cx="10820400" cy="70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700" b="1" dirty="0">
                <a:solidFill>
                  <a:srgbClr val="000000"/>
                </a:solidFill>
                <a:latin typeface="Calibri"/>
                <a:cs typeface="Calibri"/>
              </a:rPr>
              <a:t>The data cannot pick the diagram for you. Ask which one the claim assumes, and what would rule the others out.</a:t>
            </a:r>
          </a:p>
        </p:txBody>
      </p:sp>
    </p:spTree>
    <p:extLst>
      <p:ext uri="{BB962C8B-B14F-4D97-AF65-F5344CB8AC3E}">
        <p14:creationId xmlns:p14="http://schemas.microsoft.com/office/powerpoint/2010/main" val="29014170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EA629-868E-5AC6-D762-52839C5BF603}"/>
            </a:ext>
          </a:extLst>
        </p:cNvPr>
        <p:cNvGrpSpPr/>
        <p:nvPr/>
      </p:nvGrpSpPr>
      <p:grpSpPr>
        <a:xfrm>
          <a:off x="0" y="0"/>
          <a:ext cx="0" cy="0"/>
          <a:chOff x="0" y="0"/>
          <a:chExt cx="0" cy="0"/>
        </a:xfrm>
      </p:grpSpPr>
      <p:sp>
        <p:nvSpPr>
          <p:cNvPr id="2" name="Eyebrow">
            <a:extLst>
              <a:ext uri="{FF2B5EF4-FFF2-40B4-BE49-F238E27FC236}">
                <a16:creationId xmlns:a16="http://schemas.microsoft.com/office/drawing/2014/main" id="{484B877E-9062-F0A6-36B3-B9D95BB3782D}"/>
              </a:ext>
            </a:extLst>
          </p:cNvPr>
          <p:cNvSpPr txBox="1"/>
          <p:nvPr/>
        </p:nvSpPr>
        <p:spPr>
          <a:xfrm>
            <a:off x="685800" y="330200"/>
            <a:ext cx="6350000" cy="457200"/>
          </a:xfrm>
          <a:prstGeom prst="rect">
            <a:avLst/>
          </a:prstGeom>
          <a:noFill/>
        </p:spPr>
        <p:txBody>
          <a:bodyPr vertOverflow="overflow" vert="horz" wrap="none" rtlCol="0" anchor="t">
            <a:noAutofit/>
          </a:bodyPr>
          <a:lstStyle/>
          <a:p>
            <a:pPr algn="l"/>
            <a:r>
              <a:rPr lang="en-US" sz="2400" b="1">
                <a:solidFill>
                  <a:srgbClr val="15686B"/>
                </a:solidFill>
                <a:latin typeface="Calibri"/>
                <a:cs typeface="Calibri"/>
              </a:rPr>
              <a:t>HEALTHY SKEPTICISM</a:t>
            </a:r>
          </a:p>
        </p:txBody>
      </p:sp>
      <p:sp>
        <p:nvSpPr>
          <p:cNvPr id="3" name="Title">
            <a:extLst>
              <a:ext uri="{FF2B5EF4-FFF2-40B4-BE49-F238E27FC236}">
                <a16:creationId xmlns:a16="http://schemas.microsoft.com/office/drawing/2014/main" id="{78AC7C18-9220-EE80-491C-C00F7BA8C457}"/>
              </a:ext>
            </a:extLst>
          </p:cNvPr>
          <p:cNvSpPr txBox="1"/>
          <p:nvPr/>
        </p:nvSpPr>
        <p:spPr>
          <a:xfrm>
            <a:off x="685800" y="863600"/>
            <a:ext cx="10820400" cy="584775"/>
          </a:xfrm>
          <a:prstGeom prst="rect">
            <a:avLst/>
          </a:prstGeom>
          <a:noFill/>
        </p:spPr>
        <p:txBody>
          <a:bodyPr vertOverflow="overflow" vert="horz" wrap="square" rtlCol="0" anchor="t">
            <a:spAutoFit/>
          </a:bodyPr>
          <a:lstStyle/>
          <a:p>
            <a:r>
              <a:rPr lang="en-US" sz="3200" b="1" dirty="0">
                <a:solidFill>
                  <a:srgbClr val="15686B"/>
                </a:solidFill>
                <a:latin typeface="Calibri"/>
                <a:cs typeface="Calibri"/>
              </a:rPr>
              <a:t>Coincidences are more </a:t>
            </a:r>
          </a:p>
        </p:txBody>
      </p:sp>
      <p:sp>
        <p:nvSpPr>
          <p:cNvPr id="4" name="Rule">
            <a:extLst>
              <a:ext uri="{FF2B5EF4-FFF2-40B4-BE49-F238E27FC236}">
                <a16:creationId xmlns:a16="http://schemas.microsoft.com/office/drawing/2014/main" id="{D4FBDF0B-319E-180E-F554-DE78C9E613A8}"/>
              </a:ext>
            </a:extLst>
          </p:cNvPr>
          <p:cNvSpPr/>
          <p:nvPr/>
        </p:nvSpPr>
        <p:spPr>
          <a:xfrm>
            <a:off x="685800" y="1701800"/>
            <a:ext cx="1143000" cy="63500"/>
          </a:xfrm>
          <a:prstGeom prst="rect">
            <a:avLst/>
          </a:prstGeom>
          <a:solidFill>
            <a:srgbClr val="C2683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Bullets">
            <a:extLst>
              <a:ext uri="{FF2B5EF4-FFF2-40B4-BE49-F238E27FC236}">
                <a16:creationId xmlns:a16="http://schemas.microsoft.com/office/drawing/2014/main" id="{3749872D-1E37-D294-1004-CE8F66079CD6}"/>
              </a:ext>
            </a:extLst>
          </p:cNvPr>
          <p:cNvSpPr txBox="1"/>
          <p:nvPr/>
        </p:nvSpPr>
        <p:spPr>
          <a:xfrm>
            <a:off x="685800" y="2032000"/>
            <a:ext cx="10820400" cy="3175000"/>
          </a:xfrm>
          <a:prstGeom prst="rect">
            <a:avLst/>
          </a:prstGeom>
          <a:noFill/>
        </p:spPr>
        <p:txBody>
          <a:bodyPr vertOverflow="overflow" vert="horz" wrap="square" rtlCol="0" anchor="t" anchorCtr="0">
            <a:noAutofit/>
          </a:bodyPr>
          <a:lstStyle/>
          <a:p>
            <a:pPr marL="342900" indent="-342900">
              <a:lnSpc>
                <a:spcPts val="2600"/>
              </a:lnSpc>
              <a:spcAft>
                <a:spcPts val="1200"/>
              </a:spcAft>
              <a:buFont typeface="Arial"/>
              <a:buChar char="•"/>
            </a:pPr>
            <a:r>
              <a:rPr lang="en-US" sz="1800" dirty="0">
                <a:solidFill>
                  <a:srgbClr val="333333"/>
                </a:solidFill>
                <a:latin typeface="Calibri"/>
              </a:rPr>
              <a:t>First bullet point goes here.</a:t>
            </a:r>
          </a:p>
          <a:p>
            <a:pPr marL="342900" indent="-342900">
              <a:lnSpc>
                <a:spcPts val="2600"/>
              </a:lnSpc>
              <a:spcAft>
                <a:spcPts val="1200"/>
              </a:spcAft>
              <a:buFont typeface="Arial"/>
              <a:buChar char="•"/>
            </a:pPr>
            <a:r>
              <a:rPr lang="en-US" sz="1800" dirty="0">
                <a:solidFill>
                  <a:srgbClr val="333333"/>
                </a:solidFill>
                <a:latin typeface="Calibri"/>
              </a:rPr>
              <a:t>Second bullet point goes here.</a:t>
            </a:r>
          </a:p>
          <a:p>
            <a:pPr marL="571500" lvl="1" indent="-228600">
              <a:lnSpc>
                <a:spcPts val="2400"/>
              </a:lnSpc>
              <a:spcAft>
                <a:spcPts val="1200"/>
              </a:spcAft>
              <a:buFont typeface="Arial"/>
              <a:buChar char="–"/>
            </a:pPr>
            <a:r>
              <a:rPr lang="en-US" sz="1600" dirty="0">
                <a:solidFill>
                  <a:srgbClr val="555555"/>
                </a:solidFill>
                <a:latin typeface="Calibri"/>
              </a:rPr>
              <a:t>Sub-bullet for supporting detail.</a:t>
            </a:r>
          </a:p>
          <a:p>
            <a:pPr marL="342900" indent="-342900">
              <a:lnSpc>
                <a:spcPts val="2600"/>
              </a:lnSpc>
              <a:spcAft>
                <a:spcPts val="1200"/>
              </a:spcAft>
              <a:buFont typeface="Arial"/>
              <a:buChar char="•"/>
            </a:pPr>
            <a:r>
              <a:rPr lang="en-US" sz="1800" dirty="0">
                <a:solidFill>
                  <a:srgbClr val="333333"/>
                </a:solidFill>
                <a:latin typeface="Calibri"/>
              </a:rPr>
              <a:t>Third bullet point goes here.</a:t>
            </a:r>
          </a:p>
          <a:p>
            <a:pPr marL="342900" indent="-342900">
              <a:lnSpc>
                <a:spcPts val="2600"/>
              </a:lnSpc>
              <a:spcAft>
                <a:spcPts val="1200"/>
              </a:spcAft>
              <a:buFont typeface="Arial"/>
              <a:buChar char="•"/>
            </a:pPr>
            <a:r>
              <a:rPr lang="en-US" sz="1800" dirty="0">
                <a:solidFill>
                  <a:srgbClr val="333333"/>
                </a:solidFill>
                <a:latin typeface="Calibri"/>
              </a:rPr>
              <a:t>Fourth bullet point goes here.</a:t>
            </a:r>
          </a:p>
        </p:txBody>
      </p:sp>
      <p:sp>
        <p:nvSpPr>
          <p:cNvPr id="6" name="Band">
            <a:extLst>
              <a:ext uri="{FF2B5EF4-FFF2-40B4-BE49-F238E27FC236}">
                <a16:creationId xmlns:a16="http://schemas.microsoft.com/office/drawing/2014/main" id="{DE0A5222-A62B-5DDF-3249-C1303530F998}"/>
              </a:ext>
            </a:extLst>
          </p:cNvPr>
          <p:cNvSpPr/>
          <p:nvPr/>
        </p:nvSpPr>
        <p:spPr>
          <a:xfrm>
            <a:off x="685800" y="5560000"/>
            <a:ext cx="10820400" cy="700000"/>
          </a:xfrm>
          <a:prstGeom prst="roundRect">
            <a:avLst>
              <a:gd name="adj" fmla="val 8000"/>
            </a:avLst>
          </a:prstGeom>
          <a:solidFill>
            <a:srgbClr val="EFEFEF"/>
          </a:solidFill>
          <a:ln>
            <a:noFill/>
          </a:ln>
        </p:spPr>
        <p:txBody>
          <a:bodyPr lIns="182880" tIns="0" rIns="182880" bIns="0" rtlCol="0" anchor="ctr"/>
          <a:lstStyle/>
          <a:p>
            <a:pPr marL="0" indent="0" algn="ctr">
              <a:buNone/>
            </a:pPr>
            <a:r>
              <a:rPr lang="en-US" sz="1700" b="1" dirty="0">
                <a:solidFill>
                  <a:srgbClr val="000000"/>
                </a:solidFill>
                <a:latin typeface="Calibri"/>
                <a:cs typeface="Calibri"/>
              </a:rPr>
              <a:t>The data cannot pick the diagram for you. Ask which one the claim assumes, and what would rule the others out.</a:t>
            </a:r>
          </a:p>
        </p:txBody>
      </p:sp>
    </p:spTree>
    <p:extLst>
      <p:ext uri="{BB962C8B-B14F-4D97-AF65-F5344CB8AC3E}">
        <p14:creationId xmlns:p14="http://schemas.microsoft.com/office/powerpoint/2010/main" val="7351380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lthy_Skepticism_template" id="{A475EFBF-EC16-804F-804C-E378F4DD18F0}" vid="{6A4D0C99-FC8E-6640-8839-28A56828CEB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ECEDE5C-0805-304A-84E1-7603506FB6F1}">
  <we:reference id="wa200010001" version="1.0.0.1" store="en-US" storeType="OMEX"/>
  <we:alternateReferences>
    <we:reference id="WA200010001" version="1.0.0.1" store="WA200010001" storeType="OMEX"/>
  </we:alternateReferences>
  <we:properties>
    <we:property name="claude.fileId" value="&quot;a7861329-2e06-4a86-8236-388c24162ff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21176</TotalTime>
  <Words>3712</Words>
  <Application>Microsoft Macintosh PowerPoint</Application>
  <PresentationFormat>Widescreen</PresentationFormat>
  <Paragraphs>312</Paragraphs>
  <Slides>30</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Bookman Old Style</vt:lpstr>
      <vt:lpstr>Calibri</vt:lpstr>
      <vt:lpstr>Office Theme</vt:lpstr>
      <vt:lpstr>PowerPoint Presentation</vt:lpstr>
      <vt:lpstr>About Us</vt:lpstr>
      <vt:lpstr>Disclaimer</vt:lpstr>
      <vt:lpstr>The Five Faults</vt:lpstr>
      <vt:lpstr>PowerPoint Presentation</vt:lpstr>
      <vt:lpstr>WHAT A CORRELATION IS</vt:lpstr>
      <vt:lpstr>Three Explanations for a Correlation</vt:lpstr>
      <vt:lpstr>PURE COINCIDENCE</vt:lpstr>
      <vt:lpstr>Saturn and the Physical Sciences</vt:lpstr>
      <vt:lpstr>Cheese and BlackRock</vt:lpstr>
      <vt:lpstr>There Is No Shared Population</vt:lpstr>
      <vt:lpstr>THE CAUSALITY IS AN ILLUSION</vt:lpstr>
      <vt:lpstr>THE CLAIM, AND THE STUDY</vt:lpstr>
      <vt:lpstr>Statins Prevent Car Crashes</vt:lpstr>
      <vt:lpstr>People who follow health instructions live longer</vt:lpstr>
      <vt:lpstr>THE CLAIM, AND THE STUDY</vt:lpstr>
      <vt:lpstr>Does Bird Watching Prevent Dementia?</vt:lpstr>
      <vt:lpstr>READING THE DIAGRAM</vt:lpstr>
      <vt:lpstr>Bird Watching Does Not Prevent Dementia</vt:lpstr>
      <vt:lpstr>Smoking Causes Cancer</vt:lpstr>
      <vt:lpstr>Did Smoking Cause Cancer</vt:lpstr>
      <vt:lpstr>Cigarettes Increase Probability Eightfold</vt:lpstr>
      <vt:lpstr>The Whole Day, in Four Diagrams</vt:lpstr>
      <vt:lpstr>The Course Topics and Takeaways</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PptxGenJS Presentation</dc:subject>
  <dc:creator>Murray Cantor</dc:creator>
  <cp:lastModifiedBy>Murray Cantor</cp:lastModifiedBy>
  <cp:revision>50</cp:revision>
  <cp:lastPrinted>2026-06-18T15:28:25Z</cp:lastPrinted>
  <dcterms:created xsi:type="dcterms:W3CDTF">2026-06-10T15:36:34Z</dcterms:created>
  <dcterms:modified xsi:type="dcterms:W3CDTF">2026-08-14T16:46:42Z</dcterms:modified>
</cp:coreProperties>
</file>