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5"/>
  </p:notesMasterIdLst>
  <p:sldIdLst>
    <p:sldId id="622" r:id="rId2"/>
    <p:sldId id="584" r:id="rId3"/>
    <p:sldId id="613" r:id="rId4"/>
    <p:sldId id="620" r:id="rId5"/>
    <p:sldId id="588" r:id="rId6"/>
    <p:sldId id="580" r:id="rId7"/>
    <p:sldId id="589" r:id="rId8"/>
    <p:sldId id="594" r:id="rId9"/>
    <p:sldId id="576" r:id="rId10"/>
    <p:sldId id="574" r:id="rId11"/>
    <p:sldId id="573" r:id="rId12"/>
    <p:sldId id="572" r:id="rId13"/>
    <p:sldId id="590" r:id="rId14"/>
    <p:sldId id="593" r:id="rId15"/>
    <p:sldId id="595" r:id="rId16"/>
    <p:sldId id="583" r:id="rId17"/>
    <p:sldId id="582" r:id="rId18"/>
    <p:sldId id="581" r:id="rId19"/>
    <p:sldId id="596" r:id="rId20"/>
    <p:sldId id="577" r:id="rId21"/>
    <p:sldId id="597" r:id="rId22"/>
    <p:sldId id="407" r:id="rId23"/>
    <p:sldId id="262"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DDD94B-1509-DCC6-97CA-BFFAFB482CC6}" name="Murray Cantor" initials="MC" userId="S::contact@murraycantor.com::4c14c09f-f573-4990-929e-1c221c9daca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50"/>
    <p:restoredTop sz="86438"/>
  </p:normalViewPr>
  <p:slideViewPr>
    <p:cSldViewPr snapToGrid="0" snapToObjects="1">
      <p:cViewPr varScale="1">
        <p:scale>
          <a:sx n="84" d="100"/>
          <a:sy n="84" d="100"/>
        </p:scale>
        <p:origin x="216" y="72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935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3163909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2343059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Leave it up during Q&amp;A.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BRAND_PLAIN">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9052560" y="310896"/>
            <a:ext cx="2212848" cy="502920"/>
          </a:xfrm>
          <a:prstGeom prst="rect">
            <a:avLst/>
          </a:prstGeom>
          <a:noFill/>
          <a:ln/>
        </p:spPr>
        <p:txBody>
          <a:bodyPr wrap="square" lIns="0" tIns="0" rIns="0" bIns="0" rtlCol="0" anchor="ctr"/>
          <a:lstStyle/>
          <a:p>
            <a:pPr marL="0" indent="0" algn="r">
              <a:buNone/>
            </a:pPr>
            <a:r>
              <a:rPr lang="en-US" sz="1200" dirty="0">
                <a:solidFill>
                  <a:srgbClr val="15686B"/>
                </a:solidFill>
                <a:latin typeface="Calibri" pitchFamily="34" charset="0"/>
                <a:ea typeface="Calibri" pitchFamily="34" charset="-122"/>
                <a:cs typeface="Calibri" pitchFamily="34" charset="-120"/>
              </a:rPr>
              <a:t>Healthy Skepticism</a:t>
            </a:r>
            <a:endParaRPr lang="en-US" sz="1200" dirty="0"/>
          </a:p>
        </p:txBody>
      </p:sp>
      <p:pic>
        <p:nvPicPr>
          <p:cNvPr id="4" name="Image 0" descr="/home/claude/assets/emblem.sv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84280" y="292608"/>
            <a:ext cx="530352" cy="53035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BRAND_CONTENT">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9052560" y="310896"/>
            <a:ext cx="2212848" cy="502920"/>
          </a:xfrm>
          <a:prstGeom prst="rect">
            <a:avLst/>
          </a:prstGeom>
          <a:noFill/>
          <a:ln/>
        </p:spPr>
        <p:txBody>
          <a:bodyPr wrap="square" lIns="0" tIns="0" rIns="0" bIns="0" rtlCol="0" anchor="ctr"/>
          <a:lstStyle/>
          <a:p>
            <a:pPr marL="0" indent="0" algn="r">
              <a:buNone/>
            </a:pPr>
            <a:r>
              <a:rPr lang="en-US" sz="1200" dirty="0">
                <a:solidFill>
                  <a:srgbClr val="15686B"/>
                </a:solidFill>
                <a:latin typeface="Calibri" pitchFamily="34" charset="0"/>
                <a:ea typeface="Calibri" pitchFamily="34" charset="-122"/>
                <a:cs typeface="Calibri" pitchFamily="34" charset="-120"/>
              </a:rPr>
              <a:t>Healthy Skepticism</a:t>
            </a:r>
            <a:endParaRPr lang="en-US" sz="1200" dirty="0"/>
          </a:p>
        </p:txBody>
      </p:sp>
      <p:sp>
        <p:nvSpPr>
          <p:cNvPr id="4" name="Text 1"/>
          <p:cNvSpPr>
            <a:spLocks noGrp="1"/>
          </p:cNvSpPr>
          <p:nvPr>
            <p:ph type="title" idx="102" hasCustomPrompt="1"/>
          </p:nvPr>
        </p:nvSpPr>
        <p:spPr>
          <a:xfrm>
            <a:off x="685800" y="868680"/>
            <a:ext cx="8046720" cy="868680"/>
          </a:xfrm>
          <a:prstGeom prst="rect">
            <a:avLst/>
          </a:prstGeom>
          <a:noFill/>
          <a:ln/>
        </p:spPr>
        <p:txBody>
          <a:bodyPr wrap="square" rtlCol="0"/>
          <a:lstStyle>
            <a:lvl1pPr marL="0" indent="0" algn="l">
              <a:buNone/>
              <a:defRPr lang="en-US" sz="3800" b="1" dirty="0">
                <a:solidFill>
                  <a:srgbClr val="15686B"/>
                </a:solidFill>
                <a:latin typeface="Bookman Old Style" pitchFamily="34" charset="0"/>
                <a:ea typeface="Bookman Old Style" pitchFamily="34" charset="-122"/>
                <a:cs typeface="Bookman Old Style" pitchFamily="34" charset="-120"/>
              </a:defRPr>
            </a:lvl1pPr>
          </a:lstStyle>
          <a:p>
            <a:pPr marL="0" indent="0" algn="l">
              <a:buNone/>
            </a:pPr>
            <a:endParaRPr lang="en-US" sz="3800" dirty="0"/>
          </a:p>
        </p:txBody>
      </p:sp>
      <p:pic>
        <p:nvPicPr>
          <p:cNvPr id="5" name="Image 0" descr="/home/claude/assets/emblem.svg"/>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84280" y="292608"/>
            <a:ext cx="530352" cy="53035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8FD3E0-23D6-D86E-5B73-94493E1A8699}"/>
              </a:ext>
            </a:extLst>
          </p:cNvPr>
          <p:cNvSpPr>
            <a:spLocks noGrp="1"/>
          </p:cNvSpPr>
          <p:nvPr>
            <p:ph type="dt" sz="half" idx="10"/>
          </p:nvPr>
        </p:nvSpPr>
        <p:spPr/>
        <p:txBody>
          <a:bodyPr/>
          <a:lstStyle/>
          <a:p>
            <a:fld id="{21E08557-15A8-9A43-B2AC-265A11910781}" type="datetimeFigureOut">
              <a:rPr lang="en-US" smtClean="0"/>
              <a:t>8/17/26</a:t>
            </a:fld>
            <a:endParaRPr lang="en-US"/>
          </a:p>
        </p:txBody>
      </p:sp>
      <p:sp>
        <p:nvSpPr>
          <p:cNvPr id="3" name="Footer Placeholder 2">
            <a:extLst>
              <a:ext uri="{FF2B5EF4-FFF2-40B4-BE49-F238E27FC236}">
                <a16:creationId xmlns:a16="http://schemas.microsoft.com/office/drawing/2014/main" id="{658F11EF-9D7B-8D93-9A06-4A768E3BE5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31D63F5-5491-4BB5-A523-F179701C8DFF}"/>
              </a:ext>
            </a:extLst>
          </p:cNvPr>
          <p:cNvSpPr>
            <a:spLocks noGrp="1"/>
          </p:cNvSpPr>
          <p:nvPr>
            <p:ph type="sldNum" sz="quarter" idx="12"/>
          </p:nvPr>
        </p:nvSpPr>
        <p:spPr/>
        <p:txBody>
          <a:bodyPr/>
          <a:lstStyle/>
          <a:p>
            <a:fld id="{066A57BB-8FFC-114E-83A4-C872F9C217B9}" type="slidenum">
              <a:rPr lang="en-US" smtClean="0"/>
              <a:t>‹#›</a:t>
            </a:fld>
            <a:endParaRPr lang="en-US"/>
          </a:p>
        </p:txBody>
      </p:sp>
    </p:spTree>
    <p:extLst>
      <p:ext uri="{BB962C8B-B14F-4D97-AF65-F5344CB8AC3E}">
        <p14:creationId xmlns:p14="http://schemas.microsoft.com/office/powerpoint/2010/main" val="3866955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viderEyebrow">
            <a:extLst>
              <a:ext uri="{FF2B5EF4-FFF2-40B4-BE49-F238E27FC236}">
                <a16:creationId xmlns:a16="http://schemas.microsoft.com/office/drawing/2014/main" id="{43DCC678-91EF-7B44-B2D7-D2CC82E0E9AA}"/>
              </a:ext>
            </a:extLst>
          </p:cNvPr>
          <p:cNvSpPr txBox="1"/>
          <p:nvPr/>
        </p:nvSpPr>
        <p:spPr>
          <a:xfrm>
            <a:off x="1066800" y="1905000"/>
            <a:ext cx="5080000" cy="430887"/>
          </a:xfrm>
          <a:prstGeom prst="rect">
            <a:avLst/>
          </a:prstGeom>
          <a:noFill/>
        </p:spPr>
        <p:txBody>
          <a:bodyPr vertOverflow="overflow" vert="horz" wrap="square" rtlCol="0" anchor="t" anchorCtr="0">
            <a:spAutoFit/>
          </a:bodyPr>
          <a:lstStyle/>
          <a:p>
            <a:pPr algn="l"/>
            <a:r>
              <a:rPr lang="en-US" sz="2200" b="1" dirty="0">
                <a:solidFill>
                  <a:srgbClr val="15686B"/>
                </a:solidFill>
              </a:rPr>
              <a:t>FAULT 2</a:t>
            </a:r>
          </a:p>
        </p:txBody>
      </p:sp>
      <p:sp>
        <p:nvSpPr>
          <p:cNvPr id="3" name="DividerNum">
            <a:extLst>
              <a:ext uri="{FF2B5EF4-FFF2-40B4-BE49-F238E27FC236}">
                <a16:creationId xmlns:a16="http://schemas.microsoft.com/office/drawing/2014/main" id="{07FB2CF1-E663-8246-8037-8D6C8382576B}"/>
              </a:ext>
            </a:extLst>
          </p:cNvPr>
          <p:cNvSpPr txBox="1"/>
          <p:nvPr/>
        </p:nvSpPr>
        <p:spPr>
          <a:xfrm>
            <a:off x="1041400" y="2349500"/>
            <a:ext cx="9652000" cy="1905000"/>
          </a:xfrm>
          <a:prstGeom prst="rect">
            <a:avLst/>
          </a:prstGeom>
          <a:noFill/>
        </p:spPr>
        <p:txBody>
          <a:bodyPr vertOverflow="overflow" vert="horz" wrap="square" rtlCol="0" anchor="ctr" anchorCtr="0">
            <a:spAutoFit/>
          </a:bodyPr>
          <a:lstStyle/>
          <a:p>
            <a:pPr algn="l"/>
            <a:r>
              <a:rPr lang="en-US" sz="5400" b="1" dirty="0">
                <a:solidFill>
                  <a:srgbClr val="15686B"/>
                </a:solidFill>
              </a:rPr>
              <a:t>Probability Reversal</a:t>
            </a:r>
          </a:p>
        </p:txBody>
      </p:sp>
      <p:sp>
        <p:nvSpPr>
          <p:cNvPr id="4" name="DividerRule">
            <a:extLst>
              <a:ext uri="{FF2B5EF4-FFF2-40B4-BE49-F238E27FC236}">
                <a16:creationId xmlns:a16="http://schemas.microsoft.com/office/drawing/2014/main" id="{9B746F38-27CC-8F48-9AB8-524EE588C1AC}"/>
              </a:ext>
            </a:extLst>
          </p:cNvPr>
          <p:cNvSpPr/>
          <p:nvPr/>
        </p:nvSpPr>
        <p:spPr>
          <a:xfrm>
            <a:off x="1066800" y="4445000"/>
            <a:ext cx="1143000" cy="635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DividerTitle">
            <a:extLst>
              <a:ext uri="{FF2B5EF4-FFF2-40B4-BE49-F238E27FC236}">
                <a16:creationId xmlns:a16="http://schemas.microsoft.com/office/drawing/2014/main" id="{423C2191-AB8A-764E-9F15-6ADA4D84F2D4}"/>
              </a:ext>
            </a:extLst>
          </p:cNvPr>
          <p:cNvSpPr txBox="1"/>
          <p:nvPr/>
        </p:nvSpPr>
        <p:spPr>
          <a:xfrm>
            <a:off x="1016000" y="4762500"/>
            <a:ext cx="10160000" cy="707886"/>
          </a:xfrm>
          <a:prstGeom prst="rect">
            <a:avLst/>
          </a:prstGeom>
          <a:noFill/>
        </p:spPr>
        <p:txBody>
          <a:bodyPr vertOverflow="overflow" vert="horz" wrap="square" rtlCol="0" anchor="t" anchorCtr="0">
            <a:spAutoFit/>
          </a:bodyPr>
          <a:lstStyle/>
          <a:p>
            <a:pPr algn="l"/>
            <a:r>
              <a:rPr lang="en-US" sz="4000" b="1" dirty="0">
                <a:solidFill>
                  <a:srgbClr val="15686B"/>
                </a:solidFill>
              </a:rPr>
              <a:t>What is evidence for what?</a:t>
            </a:r>
          </a:p>
        </p:txBody>
      </p:sp>
    </p:spTree>
    <p:extLst>
      <p:ext uri="{BB962C8B-B14F-4D97-AF65-F5344CB8AC3E}">
        <p14:creationId xmlns:p14="http://schemas.microsoft.com/office/powerpoint/2010/main" val="3011881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1"/>
          <p:cNvSpPr/>
          <p:nvPr/>
        </p:nvSpPr>
        <p:spPr>
          <a:xfrm>
            <a:off x="685800" y="762000"/>
            <a:ext cx="804672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800" b="1" i="0" u="none" strike="noStrike" kern="1200" cap="none" spc="0" normalizeH="0" baseline="0" noProof="0" dirty="0">
                <a:ln>
                  <a:noFill/>
                </a:ln>
                <a:solidFill>
                  <a:srgbClr val="0F6C6C"/>
                </a:solidFill>
                <a:effectLst/>
                <a:uLnTx/>
                <a:uFillTx/>
                <a:latin typeface="Bookman Old Style" pitchFamily="34" charset="0"/>
                <a:ea typeface="Bookman Old Style" pitchFamily="34" charset="-122"/>
                <a:cs typeface="Bookman Old Style" pitchFamily="34" charset="-120"/>
              </a:rPr>
              <a:t>The Two Questions</a:t>
            </a:r>
          </a:p>
        </p:txBody>
      </p:sp>
      <p:sp>
        <p:nvSpPr>
          <p:cNvPr id="20" name="TB 41"/>
          <p:cNvSpPr/>
          <p:nvPr/>
        </p:nvSpPr>
        <p:spPr>
          <a:xfrm>
            <a:off x="685800" y="1930400"/>
            <a:ext cx="10058400" cy="431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2200" b="0" i="1" u="none" strike="noStrike" kern="1200" cap="none" spc="0" normalizeH="0" baseline="0" noProof="0" dirty="0">
                <a:ln>
                  <a:noFill/>
                </a:ln>
                <a:solidFill>
                  <a:srgbClr val="262320"/>
                </a:solidFill>
                <a:effectLst/>
                <a:uLnTx/>
                <a:uFillTx/>
                <a:latin typeface="Bookman Old Style" pitchFamily="34" charset="0"/>
                <a:ea typeface="Bookman Old Style" pitchFamily="34" charset="-122"/>
                <a:cs typeface="Bookman Old Style" pitchFamily="34" charset="-120"/>
              </a:rPr>
              <a:t>Two probabilities that sound the same and are not</a:t>
            </a:r>
          </a:p>
        </p:txBody>
      </p:sp>
      <p:sp>
        <p:nvSpPr>
          <p:cNvPr id="30" name="Card 30"/>
          <p:cNvSpPr/>
          <p:nvPr/>
        </p:nvSpPr>
        <p:spPr>
          <a:xfrm>
            <a:off x="685800" y="2667000"/>
            <a:ext cx="4876800" cy="1905000"/>
          </a:xfrm>
          <a:prstGeom prst="roundRect">
            <a:avLst>
              <a:gd name="adj" fmla="val 5000"/>
            </a:avLst>
          </a:prstGeom>
          <a:solidFill>
            <a:srgbClr val="EFF5F4"/>
          </a:solidFill>
          <a:ln w="12700">
            <a:solidFill>
              <a:srgbClr val="0F6C6C"/>
            </a:solidFill>
            <a:prstDash val="solid"/>
          </a:ln>
        </p:spPr>
        <p:txBody>
          <a:bodyPr/>
          <a:lstStyle/>
          <a:p>
            <a:endParaRPr/>
          </a:p>
        </p:txBody>
      </p:sp>
      <p:sp>
        <p:nvSpPr>
          <p:cNvPr id="31" name="CardTx 30"/>
          <p:cNvSpPr/>
          <p:nvPr/>
        </p:nvSpPr>
        <p:spPr>
          <a:xfrm>
            <a:off x="960120" y="2895600"/>
            <a:ext cx="4328160" cy="1447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00" normalizeH="0" baseline="0" noProof="0" dirty="0">
                <a:ln>
                  <a:noFill/>
                </a:ln>
                <a:solidFill>
                  <a:srgbClr val="0F6C6C"/>
                </a:solidFill>
                <a:effectLst/>
                <a:uLnTx/>
                <a:uFillTx/>
                <a:latin typeface="Calibri" pitchFamily="34" charset="0"/>
                <a:ea typeface="Calibri" pitchFamily="34" charset="-122"/>
                <a:cs typeface="Calibri" pitchFamily="34" charset="-120"/>
              </a:rPr>
              <a:t>WHAT CAN BE MEASURED</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20000"/>
              </a:lnSpc>
              <a:spcBef>
                <a:spcPts val="0"/>
              </a:spcBef>
              <a:spcAft>
                <a:spcPts val="0"/>
              </a:spcAft>
              <a:buNone/>
              <a:tabLst/>
              <a:defRPr/>
            </a:pPr>
            <a:r>
              <a:rPr kumimoji="0" lang="en-US" sz="21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observation | condition )</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5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When the condition is there, how often do we see this?</a:t>
            </a:r>
          </a:p>
        </p:txBody>
      </p:sp>
      <p:sp>
        <p:nvSpPr>
          <p:cNvPr id="50" name="Card 50"/>
          <p:cNvSpPr/>
          <p:nvPr/>
        </p:nvSpPr>
        <p:spPr>
          <a:xfrm>
            <a:off x="5867400" y="2667000"/>
            <a:ext cx="4876800" cy="1905000"/>
          </a:xfrm>
          <a:prstGeom prst="roundRect">
            <a:avLst>
              <a:gd name="adj" fmla="val 5000"/>
            </a:avLst>
          </a:prstGeom>
          <a:solidFill>
            <a:srgbClr val="EFF5F4"/>
          </a:solidFill>
          <a:ln w="12700">
            <a:solidFill>
              <a:srgbClr val="0F6C6C"/>
            </a:solidFill>
            <a:prstDash val="solid"/>
          </a:ln>
        </p:spPr>
        <p:txBody>
          <a:bodyPr/>
          <a:lstStyle/>
          <a:p>
            <a:endParaRPr/>
          </a:p>
        </p:txBody>
      </p:sp>
      <p:sp>
        <p:nvSpPr>
          <p:cNvPr id="51" name="CardTx 50"/>
          <p:cNvSpPr/>
          <p:nvPr/>
        </p:nvSpPr>
        <p:spPr>
          <a:xfrm>
            <a:off x="6141720" y="2895600"/>
            <a:ext cx="4328160" cy="1447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00" normalizeH="0" baseline="0" noProof="0" dirty="0">
                <a:ln>
                  <a:noFill/>
                </a:ln>
                <a:solidFill>
                  <a:srgbClr val="0F6C6C"/>
                </a:solidFill>
                <a:effectLst/>
                <a:uLnTx/>
                <a:uFillTx/>
                <a:latin typeface="Calibri" pitchFamily="34" charset="0"/>
                <a:ea typeface="Calibri" pitchFamily="34" charset="-122"/>
                <a:cs typeface="Calibri" pitchFamily="34" charset="-120"/>
              </a:rPr>
              <a:t>WHAT YOU WANT TO KNOW</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20000"/>
              </a:lnSpc>
              <a:spcBef>
                <a:spcPts val="0"/>
              </a:spcBef>
              <a:spcAft>
                <a:spcPts val="0"/>
              </a:spcAft>
              <a:buNone/>
              <a:tabLst/>
              <a:defRPr/>
            </a:pPr>
            <a:r>
              <a:rPr kumimoji="0" lang="en-US" sz="21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condition | observation )</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5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Having seen it, how likely is the condition?</a:t>
            </a:r>
          </a:p>
        </p:txBody>
      </p:sp>
      <p:sp>
        <p:nvSpPr>
          <p:cNvPr id="70" name="Card 32"/>
          <p:cNvSpPr/>
          <p:nvPr/>
        </p:nvSpPr>
        <p:spPr>
          <a:xfrm>
            <a:off x="685800" y="4978400"/>
            <a:ext cx="10058400" cy="1092200"/>
          </a:xfrm>
          <a:prstGeom prst="roundRect">
            <a:avLst>
              <a:gd name="adj" fmla="val 4000"/>
            </a:avLst>
          </a:prstGeom>
          <a:solidFill>
            <a:srgbClr val="0F6C6C"/>
          </a:solidFill>
          <a:ln>
            <a:noFill/>
          </a:ln>
        </p:spPr>
        <p:txBody>
          <a:bodyPr/>
          <a:lstStyle/>
          <a:p>
            <a:endParaRPr/>
          </a:p>
        </p:txBody>
      </p:sp>
      <p:sp>
        <p:nvSpPr>
          <p:cNvPr id="71" name="BandTx"/>
          <p:cNvSpPr/>
          <p:nvPr/>
        </p:nvSpPr>
        <p:spPr>
          <a:xfrm>
            <a:off x="960120" y="5184140"/>
            <a:ext cx="9509760" cy="68072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None/>
              <a:tabLst/>
              <a:defRPr/>
            </a:pPr>
            <a:r>
              <a:rPr kumimoji="0" lang="en-US" sz="17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fault is reading one as if it were the other. They are different numbers, and how far apart they sit depends on something the observation never tells you: how common the condition is.</a:t>
            </a:r>
          </a:p>
        </p:txBody>
      </p:sp>
      <p:sp>
        <p:nvSpPr>
          <p:cNvPr id="2" name="Title 1">
            <a:extLst>
              <a:ext uri="{FF2B5EF4-FFF2-40B4-BE49-F238E27FC236}">
                <a16:creationId xmlns:a16="http://schemas.microsoft.com/office/drawing/2014/main" id="{8503F986-1638-BF4A-675C-E09EE24BFF7B}"/>
              </a:ext>
            </a:extLst>
          </p:cNvPr>
          <p:cNvSpPr>
            <a:spLocks noGrp="1"/>
          </p:cNvSpPr>
          <p:nvPr>
            <p:ph type="title" idx="102"/>
          </p:nvPr>
        </p:nvSpPr>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22A3E0-18E0-DB47-93C6-7ED2263ABCBF}"/>
              </a:ext>
            </a:extLst>
          </p:cNvPr>
          <p:cNvSpPr txBox="1"/>
          <p:nvPr/>
        </p:nvSpPr>
        <p:spPr>
          <a:xfrm>
            <a:off x="635000" y="457200"/>
            <a:ext cx="109728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EACH SQUARE IS A MEMBER OF THE POPULATION</a:t>
            </a:r>
          </a:p>
        </p:txBody>
      </p:sp>
      <p:sp>
        <p:nvSpPr>
          <p:cNvPr id="3" name="TextBox 2">
            <a:extLst>
              <a:ext uri="{FF2B5EF4-FFF2-40B4-BE49-F238E27FC236}">
                <a16:creationId xmlns:a16="http://schemas.microsoft.com/office/drawing/2014/main" id="{D646DA3B-EA33-3944-B047-BF52925927D9}"/>
              </a:ext>
            </a:extLst>
          </p:cNvPr>
          <p:cNvSpPr txBox="1"/>
          <p:nvPr/>
        </p:nvSpPr>
        <p:spPr>
          <a:xfrm>
            <a:off x="635000" y="749300"/>
            <a:ext cx="10972800" cy="558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How to read a waffle chart</a:t>
            </a:r>
          </a:p>
        </p:txBody>
      </p:sp>
      <p:sp>
        <p:nvSpPr>
          <p:cNvPr id="4" name="TextBox 3">
            <a:extLst>
              <a:ext uri="{FF2B5EF4-FFF2-40B4-BE49-F238E27FC236}">
                <a16:creationId xmlns:a16="http://schemas.microsoft.com/office/drawing/2014/main" id="{6134C786-6BCC-6848-A924-161BF2B14E0C}"/>
              </a:ext>
            </a:extLst>
          </p:cNvPr>
          <p:cNvSpPr txBox="1"/>
          <p:nvPr/>
        </p:nvSpPr>
        <p:spPr>
          <a:xfrm>
            <a:off x="635000" y="1371600"/>
            <a:ext cx="66040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One square, one member. Call the two attributes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A</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 and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B</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a:t>
            </a:r>
          </a:p>
        </p:txBody>
      </p:sp>
      <p:sp>
        <p:nvSpPr>
          <p:cNvPr id="5" name="Rectangle 4">
            <a:extLst>
              <a:ext uri="{FF2B5EF4-FFF2-40B4-BE49-F238E27FC236}">
                <a16:creationId xmlns:a16="http://schemas.microsoft.com/office/drawing/2014/main" id="{9A9E3B53-8C41-0743-ACCD-9CFC0AB88F87}"/>
              </a:ext>
            </a:extLst>
          </p:cNvPr>
          <p:cNvSpPr/>
          <p:nvPr/>
        </p:nvSpPr>
        <p:spPr>
          <a:xfrm>
            <a:off x="635000" y="1879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FAEB3744-36A1-294D-AED7-A841C17CC6E6}"/>
              </a:ext>
            </a:extLst>
          </p:cNvPr>
          <p:cNvSpPr/>
          <p:nvPr/>
        </p:nvSpPr>
        <p:spPr>
          <a:xfrm>
            <a:off x="1016000" y="1879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045496E0-AAF5-8040-A930-5210D62EBF08}"/>
              </a:ext>
            </a:extLst>
          </p:cNvPr>
          <p:cNvSpPr/>
          <p:nvPr/>
        </p:nvSpPr>
        <p:spPr>
          <a:xfrm>
            <a:off x="1397000" y="1879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3EDAA86F-FFA4-3844-A300-30DAA81BCD46}"/>
              </a:ext>
            </a:extLst>
          </p:cNvPr>
          <p:cNvSpPr/>
          <p:nvPr/>
        </p:nvSpPr>
        <p:spPr>
          <a:xfrm>
            <a:off x="1778000" y="1879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4A2FDA31-51A2-D64E-B32D-17581659F069}"/>
              </a:ext>
            </a:extLst>
          </p:cNvPr>
          <p:cNvSpPr/>
          <p:nvPr/>
        </p:nvSpPr>
        <p:spPr>
          <a:xfrm>
            <a:off x="2159000" y="1879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F5F82279-9D6C-024B-9942-558607CBED15}"/>
              </a:ext>
            </a:extLst>
          </p:cNvPr>
          <p:cNvSpPr/>
          <p:nvPr/>
        </p:nvSpPr>
        <p:spPr>
          <a:xfrm>
            <a:off x="2540000" y="1879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03DE3A4B-5A18-184C-98E5-49C21B57010C}"/>
              </a:ext>
            </a:extLst>
          </p:cNvPr>
          <p:cNvSpPr/>
          <p:nvPr/>
        </p:nvSpPr>
        <p:spPr>
          <a:xfrm>
            <a:off x="2921000" y="1879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99C1C645-3368-3A45-AA8D-DEDA5B7EAB98}"/>
              </a:ext>
            </a:extLst>
          </p:cNvPr>
          <p:cNvSpPr/>
          <p:nvPr/>
        </p:nvSpPr>
        <p:spPr>
          <a:xfrm>
            <a:off x="3302000" y="1879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33532073-B3F3-0740-A25C-3C51197EDFEB}"/>
              </a:ext>
            </a:extLst>
          </p:cNvPr>
          <p:cNvSpPr/>
          <p:nvPr/>
        </p:nvSpPr>
        <p:spPr>
          <a:xfrm>
            <a:off x="3683000" y="1879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12CABEBD-EE98-6849-BB78-2DB30642FE07}"/>
              </a:ext>
            </a:extLst>
          </p:cNvPr>
          <p:cNvSpPr/>
          <p:nvPr/>
        </p:nvSpPr>
        <p:spPr>
          <a:xfrm>
            <a:off x="4064000" y="1879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0323B13B-1267-6349-A5CC-012E1A13F734}"/>
              </a:ext>
            </a:extLst>
          </p:cNvPr>
          <p:cNvSpPr/>
          <p:nvPr/>
        </p:nvSpPr>
        <p:spPr>
          <a:xfrm>
            <a:off x="635000" y="2260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3E1CA80A-EA32-CE4F-A539-0764E6B3E79C}"/>
              </a:ext>
            </a:extLst>
          </p:cNvPr>
          <p:cNvSpPr/>
          <p:nvPr/>
        </p:nvSpPr>
        <p:spPr>
          <a:xfrm>
            <a:off x="1016000" y="2260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2E082B9F-E0A3-3F4E-A7BD-79319A013C28}"/>
              </a:ext>
            </a:extLst>
          </p:cNvPr>
          <p:cNvSpPr/>
          <p:nvPr/>
        </p:nvSpPr>
        <p:spPr>
          <a:xfrm>
            <a:off x="1397000" y="2260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EA7C3BDD-09EC-FE4A-A2DB-F0ED681DF6A7}"/>
              </a:ext>
            </a:extLst>
          </p:cNvPr>
          <p:cNvSpPr/>
          <p:nvPr/>
        </p:nvSpPr>
        <p:spPr>
          <a:xfrm>
            <a:off x="1778000" y="2260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FAD59272-EAAD-C749-8CA1-1A7D167F584E}"/>
              </a:ext>
            </a:extLst>
          </p:cNvPr>
          <p:cNvSpPr/>
          <p:nvPr/>
        </p:nvSpPr>
        <p:spPr>
          <a:xfrm>
            <a:off x="2159000" y="2260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55797CF2-5CD6-0342-A489-5A0DD4B5E391}"/>
              </a:ext>
            </a:extLst>
          </p:cNvPr>
          <p:cNvSpPr/>
          <p:nvPr/>
        </p:nvSpPr>
        <p:spPr>
          <a:xfrm>
            <a:off x="2540000" y="2260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BB012647-0996-894B-8252-46AA70AEED99}"/>
              </a:ext>
            </a:extLst>
          </p:cNvPr>
          <p:cNvSpPr/>
          <p:nvPr/>
        </p:nvSpPr>
        <p:spPr>
          <a:xfrm>
            <a:off x="2921000" y="2260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6B510D4-7E27-4241-8C0F-086227465B89}"/>
              </a:ext>
            </a:extLst>
          </p:cNvPr>
          <p:cNvSpPr/>
          <p:nvPr/>
        </p:nvSpPr>
        <p:spPr>
          <a:xfrm>
            <a:off x="3302000" y="2260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22">
            <a:extLst>
              <a:ext uri="{FF2B5EF4-FFF2-40B4-BE49-F238E27FC236}">
                <a16:creationId xmlns:a16="http://schemas.microsoft.com/office/drawing/2014/main" id="{C8185860-FF89-404F-8F0E-1080178BCF93}"/>
              </a:ext>
            </a:extLst>
          </p:cNvPr>
          <p:cNvSpPr/>
          <p:nvPr/>
        </p:nvSpPr>
        <p:spPr>
          <a:xfrm>
            <a:off x="3683000" y="2260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0E32E73B-D46B-7F40-96DD-A4D9A3E50C06}"/>
              </a:ext>
            </a:extLst>
          </p:cNvPr>
          <p:cNvSpPr/>
          <p:nvPr/>
        </p:nvSpPr>
        <p:spPr>
          <a:xfrm>
            <a:off x="4064000" y="2260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a:extLst>
              <a:ext uri="{FF2B5EF4-FFF2-40B4-BE49-F238E27FC236}">
                <a16:creationId xmlns:a16="http://schemas.microsoft.com/office/drawing/2014/main" id="{09CB42F6-215C-5C4D-8494-61BA7180246B}"/>
              </a:ext>
            </a:extLst>
          </p:cNvPr>
          <p:cNvSpPr/>
          <p:nvPr/>
        </p:nvSpPr>
        <p:spPr>
          <a:xfrm>
            <a:off x="635000" y="2641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27A13E4B-5A24-A94F-97F0-9FDD099C932A}"/>
              </a:ext>
            </a:extLst>
          </p:cNvPr>
          <p:cNvSpPr/>
          <p:nvPr/>
        </p:nvSpPr>
        <p:spPr>
          <a:xfrm>
            <a:off x="1016000" y="2641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575894EE-0B5F-444B-8735-63FC51218CB6}"/>
              </a:ext>
            </a:extLst>
          </p:cNvPr>
          <p:cNvSpPr/>
          <p:nvPr/>
        </p:nvSpPr>
        <p:spPr>
          <a:xfrm>
            <a:off x="1397000" y="2641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27">
            <a:extLst>
              <a:ext uri="{FF2B5EF4-FFF2-40B4-BE49-F238E27FC236}">
                <a16:creationId xmlns:a16="http://schemas.microsoft.com/office/drawing/2014/main" id="{E4D0F19B-83FA-134D-A411-CA65DBA7D2BE}"/>
              </a:ext>
            </a:extLst>
          </p:cNvPr>
          <p:cNvSpPr/>
          <p:nvPr/>
        </p:nvSpPr>
        <p:spPr>
          <a:xfrm>
            <a:off x="1778000" y="2641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tangle 28">
            <a:extLst>
              <a:ext uri="{FF2B5EF4-FFF2-40B4-BE49-F238E27FC236}">
                <a16:creationId xmlns:a16="http://schemas.microsoft.com/office/drawing/2014/main" id="{B9B6B526-25EB-C34F-B479-6EB8011AF63E}"/>
              </a:ext>
            </a:extLst>
          </p:cNvPr>
          <p:cNvSpPr/>
          <p:nvPr/>
        </p:nvSpPr>
        <p:spPr>
          <a:xfrm>
            <a:off x="2159000" y="2641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2BE35466-7CBB-B64F-AC20-4853E5AD32BD}"/>
              </a:ext>
            </a:extLst>
          </p:cNvPr>
          <p:cNvSpPr/>
          <p:nvPr/>
        </p:nvSpPr>
        <p:spPr>
          <a:xfrm>
            <a:off x="2540000" y="2641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Rectangle 30">
            <a:extLst>
              <a:ext uri="{FF2B5EF4-FFF2-40B4-BE49-F238E27FC236}">
                <a16:creationId xmlns:a16="http://schemas.microsoft.com/office/drawing/2014/main" id="{E535947F-2BC2-FF4F-A835-C63BC638E2BA}"/>
              </a:ext>
            </a:extLst>
          </p:cNvPr>
          <p:cNvSpPr/>
          <p:nvPr/>
        </p:nvSpPr>
        <p:spPr>
          <a:xfrm>
            <a:off x="2921000" y="2641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31">
            <a:extLst>
              <a:ext uri="{FF2B5EF4-FFF2-40B4-BE49-F238E27FC236}">
                <a16:creationId xmlns:a16="http://schemas.microsoft.com/office/drawing/2014/main" id="{84C83753-60E4-134E-A3CC-5CFE11388287}"/>
              </a:ext>
            </a:extLst>
          </p:cNvPr>
          <p:cNvSpPr/>
          <p:nvPr/>
        </p:nvSpPr>
        <p:spPr>
          <a:xfrm>
            <a:off x="3302000" y="2641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Rectangle 32">
            <a:extLst>
              <a:ext uri="{FF2B5EF4-FFF2-40B4-BE49-F238E27FC236}">
                <a16:creationId xmlns:a16="http://schemas.microsoft.com/office/drawing/2014/main" id="{8F4C146B-EAB1-A841-BA38-7FF5074A7ECF}"/>
              </a:ext>
            </a:extLst>
          </p:cNvPr>
          <p:cNvSpPr/>
          <p:nvPr/>
        </p:nvSpPr>
        <p:spPr>
          <a:xfrm>
            <a:off x="3683000" y="2641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9854C232-3484-B14F-AB51-475A9A935DEE}"/>
              </a:ext>
            </a:extLst>
          </p:cNvPr>
          <p:cNvSpPr/>
          <p:nvPr/>
        </p:nvSpPr>
        <p:spPr>
          <a:xfrm>
            <a:off x="4064000" y="2641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Rectangle 34">
            <a:extLst>
              <a:ext uri="{FF2B5EF4-FFF2-40B4-BE49-F238E27FC236}">
                <a16:creationId xmlns:a16="http://schemas.microsoft.com/office/drawing/2014/main" id="{A8C97880-FE66-0E4C-BB7E-15DF3D90F575}"/>
              </a:ext>
            </a:extLst>
          </p:cNvPr>
          <p:cNvSpPr/>
          <p:nvPr/>
        </p:nvSpPr>
        <p:spPr>
          <a:xfrm>
            <a:off x="635000" y="3022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Rectangle 35">
            <a:extLst>
              <a:ext uri="{FF2B5EF4-FFF2-40B4-BE49-F238E27FC236}">
                <a16:creationId xmlns:a16="http://schemas.microsoft.com/office/drawing/2014/main" id="{9248625B-B316-4B45-B104-D7CB7F32C350}"/>
              </a:ext>
            </a:extLst>
          </p:cNvPr>
          <p:cNvSpPr/>
          <p:nvPr/>
        </p:nvSpPr>
        <p:spPr>
          <a:xfrm>
            <a:off x="1016000" y="3022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Rectangle 36">
            <a:extLst>
              <a:ext uri="{FF2B5EF4-FFF2-40B4-BE49-F238E27FC236}">
                <a16:creationId xmlns:a16="http://schemas.microsoft.com/office/drawing/2014/main" id="{88F10BBF-28ED-A74F-A3FE-3F5DA1EFA8F2}"/>
              </a:ext>
            </a:extLst>
          </p:cNvPr>
          <p:cNvSpPr/>
          <p:nvPr/>
        </p:nvSpPr>
        <p:spPr>
          <a:xfrm>
            <a:off x="1397000" y="3022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Rectangle 37">
            <a:extLst>
              <a:ext uri="{FF2B5EF4-FFF2-40B4-BE49-F238E27FC236}">
                <a16:creationId xmlns:a16="http://schemas.microsoft.com/office/drawing/2014/main" id="{D0462A1B-E53E-4D4F-93D6-08CDE6DDCFFA}"/>
              </a:ext>
            </a:extLst>
          </p:cNvPr>
          <p:cNvSpPr/>
          <p:nvPr/>
        </p:nvSpPr>
        <p:spPr>
          <a:xfrm>
            <a:off x="1778000" y="3022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9" name="Rectangle 38">
            <a:extLst>
              <a:ext uri="{FF2B5EF4-FFF2-40B4-BE49-F238E27FC236}">
                <a16:creationId xmlns:a16="http://schemas.microsoft.com/office/drawing/2014/main" id="{A215ECF6-1833-6D40-B58E-C434D7234562}"/>
              </a:ext>
            </a:extLst>
          </p:cNvPr>
          <p:cNvSpPr/>
          <p:nvPr/>
        </p:nvSpPr>
        <p:spPr>
          <a:xfrm>
            <a:off x="2159000" y="3022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311BF150-F897-5547-8624-26BA937796CE}"/>
              </a:ext>
            </a:extLst>
          </p:cNvPr>
          <p:cNvSpPr/>
          <p:nvPr/>
        </p:nvSpPr>
        <p:spPr>
          <a:xfrm>
            <a:off x="2540000" y="3022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Rectangle 40">
            <a:extLst>
              <a:ext uri="{FF2B5EF4-FFF2-40B4-BE49-F238E27FC236}">
                <a16:creationId xmlns:a16="http://schemas.microsoft.com/office/drawing/2014/main" id="{F4FB551E-6526-5844-83E5-4D67880C8C4B}"/>
              </a:ext>
            </a:extLst>
          </p:cNvPr>
          <p:cNvSpPr/>
          <p:nvPr/>
        </p:nvSpPr>
        <p:spPr>
          <a:xfrm>
            <a:off x="2921000" y="3022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Rectangle 41">
            <a:extLst>
              <a:ext uri="{FF2B5EF4-FFF2-40B4-BE49-F238E27FC236}">
                <a16:creationId xmlns:a16="http://schemas.microsoft.com/office/drawing/2014/main" id="{7AA6164B-687C-4B46-B160-96301318259A}"/>
              </a:ext>
            </a:extLst>
          </p:cNvPr>
          <p:cNvSpPr/>
          <p:nvPr/>
        </p:nvSpPr>
        <p:spPr>
          <a:xfrm>
            <a:off x="3302000" y="3022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Rectangle 42">
            <a:extLst>
              <a:ext uri="{FF2B5EF4-FFF2-40B4-BE49-F238E27FC236}">
                <a16:creationId xmlns:a16="http://schemas.microsoft.com/office/drawing/2014/main" id="{F74C3738-39C1-D040-A43C-E56ADD29CDB7}"/>
              </a:ext>
            </a:extLst>
          </p:cNvPr>
          <p:cNvSpPr/>
          <p:nvPr/>
        </p:nvSpPr>
        <p:spPr>
          <a:xfrm>
            <a:off x="3683000" y="3022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Rectangle 43">
            <a:extLst>
              <a:ext uri="{FF2B5EF4-FFF2-40B4-BE49-F238E27FC236}">
                <a16:creationId xmlns:a16="http://schemas.microsoft.com/office/drawing/2014/main" id="{00C3BFB5-D6BF-594B-B6FC-147092C4705D}"/>
              </a:ext>
            </a:extLst>
          </p:cNvPr>
          <p:cNvSpPr/>
          <p:nvPr/>
        </p:nvSpPr>
        <p:spPr>
          <a:xfrm>
            <a:off x="4064000" y="3022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Rectangle 44">
            <a:extLst>
              <a:ext uri="{FF2B5EF4-FFF2-40B4-BE49-F238E27FC236}">
                <a16:creationId xmlns:a16="http://schemas.microsoft.com/office/drawing/2014/main" id="{4DD300C1-D971-5342-8B2B-64C54F03F1A9}"/>
              </a:ext>
            </a:extLst>
          </p:cNvPr>
          <p:cNvSpPr/>
          <p:nvPr/>
        </p:nvSpPr>
        <p:spPr>
          <a:xfrm>
            <a:off x="635000" y="3403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Rectangle 45">
            <a:extLst>
              <a:ext uri="{FF2B5EF4-FFF2-40B4-BE49-F238E27FC236}">
                <a16:creationId xmlns:a16="http://schemas.microsoft.com/office/drawing/2014/main" id="{CEBD4BF9-3F36-E346-8EB7-7B0502F58431}"/>
              </a:ext>
            </a:extLst>
          </p:cNvPr>
          <p:cNvSpPr/>
          <p:nvPr/>
        </p:nvSpPr>
        <p:spPr>
          <a:xfrm>
            <a:off x="1016000" y="3403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7" name="Rectangle 46">
            <a:extLst>
              <a:ext uri="{FF2B5EF4-FFF2-40B4-BE49-F238E27FC236}">
                <a16:creationId xmlns:a16="http://schemas.microsoft.com/office/drawing/2014/main" id="{C1D70BCB-55F5-6347-9D8C-884EE4108DFC}"/>
              </a:ext>
            </a:extLst>
          </p:cNvPr>
          <p:cNvSpPr/>
          <p:nvPr/>
        </p:nvSpPr>
        <p:spPr>
          <a:xfrm>
            <a:off x="1397000" y="3403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Rectangle 47">
            <a:extLst>
              <a:ext uri="{FF2B5EF4-FFF2-40B4-BE49-F238E27FC236}">
                <a16:creationId xmlns:a16="http://schemas.microsoft.com/office/drawing/2014/main" id="{098C4807-4EED-B94C-B18D-B73E66880D5B}"/>
              </a:ext>
            </a:extLst>
          </p:cNvPr>
          <p:cNvSpPr/>
          <p:nvPr/>
        </p:nvSpPr>
        <p:spPr>
          <a:xfrm>
            <a:off x="1778000" y="3403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9" name="Rectangle 48">
            <a:extLst>
              <a:ext uri="{FF2B5EF4-FFF2-40B4-BE49-F238E27FC236}">
                <a16:creationId xmlns:a16="http://schemas.microsoft.com/office/drawing/2014/main" id="{1957D998-E37C-6543-A2A6-1650028F8689}"/>
              </a:ext>
            </a:extLst>
          </p:cNvPr>
          <p:cNvSpPr/>
          <p:nvPr/>
        </p:nvSpPr>
        <p:spPr>
          <a:xfrm>
            <a:off x="2159000" y="3403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0" name="Rectangle 49">
            <a:extLst>
              <a:ext uri="{FF2B5EF4-FFF2-40B4-BE49-F238E27FC236}">
                <a16:creationId xmlns:a16="http://schemas.microsoft.com/office/drawing/2014/main" id="{882064DA-D8F3-9443-85FA-62131631DB74}"/>
              </a:ext>
            </a:extLst>
          </p:cNvPr>
          <p:cNvSpPr/>
          <p:nvPr/>
        </p:nvSpPr>
        <p:spPr>
          <a:xfrm>
            <a:off x="2540000" y="3403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1" name="Rectangle 50">
            <a:extLst>
              <a:ext uri="{FF2B5EF4-FFF2-40B4-BE49-F238E27FC236}">
                <a16:creationId xmlns:a16="http://schemas.microsoft.com/office/drawing/2014/main" id="{BA06A201-23B6-4B45-A2C3-CCB72F39605C}"/>
              </a:ext>
            </a:extLst>
          </p:cNvPr>
          <p:cNvSpPr/>
          <p:nvPr/>
        </p:nvSpPr>
        <p:spPr>
          <a:xfrm>
            <a:off x="2921000" y="3403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2" name="Rectangle 51">
            <a:extLst>
              <a:ext uri="{FF2B5EF4-FFF2-40B4-BE49-F238E27FC236}">
                <a16:creationId xmlns:a16="http://schemas.microsoft.com/office/drawing/2014/main" id="{7312C1B0-C0DD-624B-A11E-96E0FF5346F2}"/>
              </a:ext>
            </a:extLst>
          </p:cNvPr>
          <p:cNvSpPr/>
          <p:nvPr/>
        </p:nvSpPr>
        <p:spPr>
          <a:xfrm>
            <a:off x="3302000" y="3403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Rectangle 52">
            <a:extLst>
              <a:ext uri="{FF2B5EF4-FFF2-40B4-BE49-F238E27FC236}">
                <a16:creationId xmlns:a16="http://schemas.microsoft.com/office/drawing/2014/main" id="{305EC40F-E0A8-9D41-B825-1210291ED53E}"/>
              </a:ext>
            </a:extLst>
          </p:cNvPr>
          <p:cNvSpPr/>
          <p:nvPr/>
        </p:nvSpPr>
        <p:spPr>
          <a:xfrm>
            <a:off x="3683000" y="3403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4" name="Rectangle 53">
            <a:extLst>
              <a:ext uri="{FF2B5EF4-FFF2-40B4-BE49-F238E27FC236}">
                <a16:creationId xmlns:a16="http://schemas.microsoft.com/office/drawing/2014/main" id="{4374EB9C-3715-A640-870D-84107BEDBA2B}"/>
              </a:ext>
            </a:extLst>
          </p:cNvPr>
          <p:cNvSpPr/>
          <p:nvPr/>
        </p:nvSpPr>
        <p:spPr>
          <a:xfrm>
            <a:off x="4064000" y="3403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Rectangle 54">
            <a:extLst>
              <a:ext uri="{FF2B5EF4-FFF2-40B4-BE49-F238E27FC236}">
                <a16:creationId xmlns:a16="http://schemas.microsoft.com/office/drawing/2014/main" id="{2E7FD5B3-BBF4-3E45-AD2D-38E78EACF6E8}"/>
              </a:ext>
            </a:extLst>
          </p:cNvPr>
          <p:cNvSpPr/>
          <p:nvPr/>
        </p:nvSpPr>
        <p:spPr>
          <a:xfrm>
            <a:off x="635000" y="3784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6" name="Rectangle 55">
            <a:extLst>
              <a:ext uri="{FF2B5EF4-FFF2-40B4-BE49-F238E27FC236}">
                <a16:creationId xmlns:a16="http://schemas.microsoft.com/office/drawing/2014/main" id="{60BD9C45-C532-A34C-B610-410F8015DFB1}"/>
              </a:ext>
            </a:extLst>
          </p:cNvPr>
          <p:cNvSpPr/>
          <p:nvPr/>
        </p:nvSpPr>
        <p:spPr>
          <a:xfrm>
            <a:off x="1016000" y="3784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7" name="Rectangle 56">
            <a:extLst>
              <a:ext uri="{FF2B5EF4-FFF2-40B4-BE49-F238E27FC236}">
                <a16:creationId xmlns:a16="http://schemas.microsoft.com/office/drawing/2014/main" id="{DB5B7B8D-DB2D-4140-93CE-4E6A63352597}"/>
              </a:ext>
            </a:extLst>
          </p:cNvPr>
          <p:cNvSpPr/>
          <p:nvPr/>
        </p:nvSpPr>
        <p:spPr>
          <a:xfrm>
            <a:off x="1397000" y="3784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8" name="Rectangle 57">
            <a:extLst>
              <a:ext uri="{FF2B5EF4-FFF2-40B4-BE49-F238E27FC236}">
                <a16:creationId xmlns:a16="http://schemas.microsoft.com/office/drawing/2014/main" id="{89A10B1D-0163-6844-8469-AEB8040B7532}"/>
              </a:ext>
            </a:extLst>
          </p:cNvPr>
          <p:cNvSpPr/>
          <p:nvPr/>
        </p:nvSpPr>
        <p:spPr>
          <a:xfrm>
            <a:off x="1778000" y="3784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9" name="Rectangle 58">
            <a:extLst>
              <a:ext uri="{FF2B5EF4-FFF2-40B4-BE49-F238E27FC236}">
                <a16:creationId xmlns:a16="http://schemas.microsoft.com/office/drawing/2014/main" id="{E9A81558-B3DE-EB4F-8C03-65296CA552AC}"/>
              </a:ext>
            </a:extLst>
          </p:cNvPr>
          <p:cNvSpPr/>
          <p:nvPr/>
        </p:nvSpPr>
        <p:spPr>
          <a:xfrm>
            <a:off x="2159000" y="3784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0" name="Rectangle 59">
            <a:extLst>
              <a:ext uri="{FF2B5EF4-FFF2-40B4-BE49-F238E27FC236}">
                <a16:creationId xmlns:a16="http://schemas.microsoft.com/office/drawing/2014/main" id="{0D9ABA79-8B9C-2A4C-BFB2-21FEE8CF2F54}"/>
              </a:ext>
            </a:extLst>
          </p:cNvPr>
          <p:cNvSpPr/>
          <p:nvPr/>
        </p:nvSpPr>
        <p:spPr>
          <a:xfrm>
            <a:off x="2540000" y="3784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1" name="Rectangle 60">
            <a:extLst>
              <a:ext uri="{FF2B5EF4-FFF2-40B4-BE49-F238E27FC236}">
                <a16:creationId xmlns:a16="http://schemas.microsoft.com/office/drawing/2014/main" id="{F647EC87-EE47-DC45-89FF-35075591B25E}"/>
              </a:ext>
            </a:extLst>
          </p:cNvPr>
          <p:cNvSpPr/>
          <p:nvPr/>
        </p:nvSpPr>
        <p:spPr>
          <a:xfrm>
            <a:off x="2921000" y="3784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2" name="Rectangle 61">
            <a:extLst>
              <a:ext uri="{FF2B5EF4-FFF2-40B4-BE49-F238E27FC236}">
                <a16:creationId xmlns:a16="http://schemas.microsoft.com/office/drawing/2014/main" id="{261C1A7C-2166-6644-9316-4E9CBAB30C5D}"/>
              </a:ext>
            </a:extLst>
          </p:cNvPr>
          <p:cNvSpPr/>
          <p:nvPr/>
        </p:nvSpPr>
        <p:spPr>
          <a:xfrm>
            <a:off x="3302000" y="3784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3" name="Rectangle 62">
            <a:extLst>
              <a:ext uri="{FF2B5EF4-FFF2-40B4-BE49-F238E27FC236}">
                <a16:creationId xmlns:a16="http://schemas.microsoft.com/office/drawing/2014/main" id="{1DF2E635-89B0-084E-A189-DC9CD8BDAC96}"/>
              </a:ext>
            </a:extLst>
          </p:cNvPr>
          <p:cNvSpPr/>
          <p:nvPr/>
        </p:nvSpPr>
        <p:spPr>
          <a:xfrm>
            <a:off x="3683000" y="3784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4" name="Rectangle 63">
            <a:extLst>
              <a:ext uri="{FF2B5EF4-FFF2-40B4-BE49-F238E27FC236}">
                <a16:creationId xmlns:a16="http://schemas.microsoft.com/office/drawing/2014/main" id="{949F17D5-1862-DD45-B3CF-C98D3A530329}"/>
              </a:ext>
            </a:extLst>
          </p:cNvPr>
          <p:cNvSpPr/>
          <p:nvPr/>
        </p:nvSpPr>
        <p:spPr>
          <a:xfrm>
            <a:off x="4064000" y="3784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5" name="Rectangle 64">
            <a:extLst>
              <a:ext uri="{FF2B5EF4-FFF2-40B4-BE49-F238E27FC236}">
                <a16:creationId xmlns:a16="http://schemas.microsoft.com/office/drawing/2014/main" id="{7B4B00BF-466F-454B-AC78-606F80F20E1C}"/>
              </a:ext>
            </a:extLst>
          </p:cNvPr>
          <p:cNvSpPr/>
          <p:nvPr/>
        </p:nvSpPr>
        <p:spPr>
          <a:xfrm>
            <a:off x="635000" y="4165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6" name="Rectangle 65">
            <a:extLst>
              <a:ext uri="{FF2B5EF4-FFF2-40B4-BE49-F238E27FC236}">
                <a16:creationId xmlns:a16="http://schemas.microsoft.com/office/drawing/2014/main" id="{16C839F4-9AC6-5C46-8493-7FE4DC249B8E}"/>
              </a:ext>
            </a:extLst>
          </p:cNvPr>
          <p:cNvSpPr/>
          <p:nvPr/>
        </p:nvSpPr>
        <p:spPr>
          <a:xfrm>
            <a:off x="1016000" y="4165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7" name="Rectangle 66">
            <a:extLst>
              <a:ext uri="{FF2B5EF4-FFF2-40B4-BE49-F238E27FC236}">
                <a16:creationId xmlns:a16="http://schemas.microsoft.com/office/drawing/2014/main" id="{54427645-2A26-214D-B6A5-9FE3168F296D}"/>
              </a:ext>
            </a:extLst>
          </p:cNvPr>
          <p:cNvSpPr/>
          <p:nvPr/>
        </p:nvSpPr>
        <p:spPr>
          <a:xfrm>
            <a:off x="1397000" y="4165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8" name="Rectangle 67">
            <a:extLst>
              <a:ext uri="{FF2B5EF4-FFF2-40B4-BE49-F238E27FC236}">
                <a16:creationId xmlns:a16="http://schemas.microsoft.com/office/drawing/2014/main" id="{A5DA26B5-9BE3-CE4F-AE96-D2737E86EDE4}"/>
              </a:ext>
            </a:extLst>
          </p:cNvPr>
          <p:cNvSpPr/>
          <p:nvPr/>
        </p:nvSpPr>
        <p:spPr>
          <a:xfrm>
            <a:off x="1778000" y="4165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9" name="Rectangle 68">
            <a:extLst>
              <a:ext uri="{FF2B5EF4-FFF2-40B4-BE49-F238E27FC236}">
                <a16:creationId xmlns:a16="http://schemas.microsoft.com/office/drawing/2014/main" id="{1397B22F-7B4E-0A49-AD74-7B2917A5C7F7}"/>
              </a:ext>
            </a:extLst>
          </p:cNvPr>
          <p:cNvSpPr/>
          <p:nvPr/>
        </p:nvSpPr>
        <p:spPr>
          <a:xfrm>
            <a:off x="2159000" y="4165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0" name="Rectangle 69">
            <a:extLst>
              <a:ext uri="{FF2B5EF4-FFF2-40B4-BE49-F238E27FC236}">
                <a16:creationId xmlns:a16="http://schemas.microsoft.com/office/drawing/2014/main" id="{3D0A3B78-E9B8-2446-9CD6-82875F00DF98}"/>
              </a:ext>
            </a:extLst>
          </p:cNvPr>
          <p:cNvSpPr/>
          <p:nvPr/>
        </p:nvSpPr>
        <p:spPr>
          <a:xfrm>
            <a:off x="2540000" y="4165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1" name="Rectangle 70">
            <a:extLst>
              <a:ext uri="{FF2B5EF4-FFF2-40B4-BE49-F238E27FC236}">
                <a16:creationId xmlns:a16="http://schemas.microsoft.com/office/drawing/2014/main" id="{52BB8D7F-E5A9-4A44-86EA-196E17C0752C}"/>
              </a:ext>
            </a:extLst>
          </p:cNvPr>
          <p:cNvSpPr/>
          <p:nvPr/>
        </p:nvSpPr>
        <p:spPr>
          <a:xfrm>
            <a:off x="2921000" y="4165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2" name="Rectangle 71">
            <a:extLst>
              <a:ext uri="{FF2B5EF4-FFF2-40B4-BE49-F238E27FC236}">
                <a16:creationId xmlns:a16="http://schemas.microsoft.com/office/drawing/2014/main" id="{8EF08031-2777-B84A-BF71-44D096C2A7B0}"/>
              </a:ext>
            </a:extLst>
          </p:cNvPr>
          <p:cNvSpPr/>
          <p:nvPr/>
        </p:nvSpPr>
        <p:spPr>
          <a:xfrm>
            <a:off x="3302000" y="4165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3" name="Rectangle 72">
            <a:extLst>
              <a:ext uri="{FF2B5EF4-FFF2-40B4-BE49-F238E27FC236}">
                <a16:creationId xmlns:a16="http://schemas.microsoft.com/office/drawing/2014/main" id="{AF872C9C-1313-DB4A-951B-757501E649DA}"/>
              </a:ext>
            </a:extLst>
          </p:cNvPr>
          <p:cNvSpPr/>
          <p:nvPr/>
        </p:nvSpPr>
        <p:spPr>
          <a:xfrm>
            <a:off x="3683000" y="4165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4" name="Rectangle 73">
            <a:extLst>
              <a:ext uri="{FF2B5EF4-FFF2-40B4-BE49-F238E27FC236}">
                <a16:creationId xmlns:a16="http://schemas.microsoft.com/office/drawing/2014/main" id="{E89AB268-0E08-C842-A561-3D8E896D14AA}"/>
              </a:ext>
            </a:extLst>
          </p:cNvPr>
          <p:cNvSpPr/>
          <p:nvPr/>
        </p:nvSpPr>
        <p:spPr>
          <a:xfrm>
            <a:off x="4064000" y="4165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5" name="Rectangle 74">
            <a:extLst>
              <a:ext uri="{FF2B5EF4-FFF2-40B4-BE49-F238E27FC236}">
                <a16:creationId xmlns:a16="http://schemas.microsoft.com/office/drawing/2014/main" id="{23F7D1D9-ED78-DA45-AF9F-21C43E16B198}"/>
              </a:ext>
            </a:extLst>
          </p:cNvPr>
          <p:cNvSpPr/>
          <p:nvPr/>
        </p:nvSpPr>
        <p:spPr>
          <a:xfrm>
            <a:off x="635000" y="4546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6" name="Rectangle 75">
            <a:extLst>
              <a:ext uri="{FF2B5EF4-FFF2-40B4-BE49-F238E27FC236}">
                <a16:creationId xmlns:a16="http://schemas.microsoft.com/office/drawing/2014/main" id="{B6F0D551-E53F-5C4A-ACCC-F1CA62E44F30}"/>
              </a:ext>
            </a:extLst>
          </p:cNvPr>
          <p:cNvSpPr/>
          <p:nvPr/>
        </p:nvSpPr>
        <p:spPr>
          <a:xfrm>
            <a:off x="1016000" y="4546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7" name="Rectangle 76">
            <a:extLst>
              <a:ext uri="{FF2B5EF4-FFF2-40B4-BE49-F238E27FC236}">
                <a16:creationId xmlns:a16="http://schemas.microsoft.com/office/drawing/2014/main" id="{CAEF8CA9-6C7A-4644-88AB-CE9F8E40CBDD}"/>
              </a:ext>
            </a:extLst>
          </p:cNvPr>
          <p:cNvSpPr/>
          <p:nvPr/>
        </p:nvSpPr>
        <p:spPr>
          <a:xfrm>
            <a:off x="1397000" y="4546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8" name="Rectangle 77">
            <a:extLst>
              <a:ext uri="{FF2B5EF4-FFF2-40B4-BE49-F238E27FC236}">
                <a16:creationId xmlns:a16="http://schemas.microsoft.com/office/drawing/2014/main" id="{CDF3A5CA-C594-7B44-8EE6-5B3AF0FC8880}"/>
              </a:ext>
            </a:extLst>
          </p:cNvPr>
          <p:cNvSpPr/>
          <p:nvPr/>
        </p:nvSpPr>
        <p:spPr>
          <a:xfrm>
            <a:off x="1778000" y="4546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9" name="Rectangle 78">
            <a:extLst>
              <a:ext uri="{FF2B5EF4-FFF2-40B4-BE49-F238E27FC236}">
                <a16:creationId xmlns:a16="http://schemas.microsoft.com/office/drawing/2014/main" id="{15B7DE59-420D-4844-AAE3-47E5DBEF3852}"/>
              </a:ext>
            </a:extLst>
          </p:cNvPr>
          <p:cNvSpPr/>
          <p:nvPr/>
        </p:nvSpPr>
        <p:spPr>
          <a:xfrm>
            <a:off x="2159000" y="4546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0" name="Rectangle 79">
            <a:extLst>
              <a:ext uri="{FF2B5EF4-FFF2-40B4-BE49-F238E27FC236}">
                <a16:creationId xmlns:a16="http://schemas.microsoft.com/office/drawing/2014/main" id="{14BB27EB-2F95-BD45-BC0D-11439D837F25}"/>
              </a:ext>
            </a:extLst>
          </p:cNvPr>
          <p:cNvSpPr/>
          <p:nvPr/>
        </p:nvSpPr>
        <p:spPr>
          <a:xfrm>
            <a:off x="2540000" y="4546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1" name="Rectangle 80">
            <a:extLst>
              <a:ext uri="{FF2B5EF4-FFF2-40B4-BE49-F238E27FC236}">
                <a16:creationId xmlns:a16="http://schemas.microsoft.com/office/drawing/2014/main" id="{190C2003-BFEC-3247-8AE7-3361678B14A5}"/>
              </a:ext>
            </a:extLst>
          </p:cNvPr>
          <p:cNvSpPr/>
          <p:nvPr/>
        </p:nvSpPr>
        <p:spPr>
          <a:xfrm>
            <a:off x="2921000" y="4546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2" name="Rectangle 81">
            <a:extLst>
              <a:ext uri="{FF2B5EF4-FFF2-40B4-BE49-F238E27FC236}">
                <a16:creationId xmlns:a16="http://schemas.microsoft.com/office/drawing/2014/main" id="{9074BB07-2BAE-1042-B916-606C23E79227}"/>
              </a:ext>
            </a:extLst>
          </p:cNvPr>
          <p:cNvSpPr/>
          <p:nvPr/>
        </p:nvSpPr>
        <p:spPr>
          <a:xfrm>
            <a:off x="3302000" y="4546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3" name="Rectangle 82">
            <a:extLst>
              <a:ext uri="{FF2B5EF4-FFF2-40B4-BE49-F238E27FC236}">
                <a16:creationId xmlns:a16="http://schemas.microsoft.com/office/drawing/2014/main" id="{A0F5C781-DDBB-5047-AF26-539ACD1009D3}"/>
              </a:ext>
            </a:extLst>
          </p:cNvPr>
          <p:cNvSpPr/>
          <p:nvPr/>
        </p:nvSpPr>
        <p:spPr>
          <a:xfrm>
            <a:off x="3683000" y="4546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4" name="Rectangle 83">
            <a:extLst>
              <a:ext uri="{FF2B5EF4-FFF2-40B4-BE49-F238E27FC236}">
                <a16:creationId xmlns:a16="http://schemas.microsoft.com/office/drawing/2014/main" id="{286A95C0-616C-434D-9F35-E300458EE555}"/>
              </a:ext>
            </a:extLst>
          </p:cNvPr>
          <p:cNvSpPr/>
          <p:nvPr/>
        </p:nvSpPr>
        <p:spPr>
          <a:xfrm>
            <a:off x="4064000" y="4546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5" name="Rectangle 84">
            <a:extLst>
              <a:ext uri="{FF2B5EF4-FFF2-40B4-BE49-F238E27FC236}">
                <a16:creationId xmlns:a16="http://schemas.microsoft.com/office/drawing/2014/main" id="{E15EF2D5-C71B-BD45-8C74-E9008C85E398}"/>
              </a:ext>
            </a:extLst>
          </p:cNvPr>
          <p:cNvSpPr/>
          <p:nvPr/>
        </p:nvSpPr>
        <p:spPr>
          <a:xfrm>
            <a:off x="635000" y="4927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6" name="Rectangle 85">
            <a:extLst>
              <a:ext uri="{FF2B5EF4-FFF2-40B4-BE49-F238E27FC236}">
                <a16:creationId xmlns:a16="http://schemas.microsoft.com/office/drawing/2014/main" id="{8246BC74-B8CE-2845-8E96-DABDB4B9F2D1}"/>
              </a:ext>
            </a:extLst>
          </p:cNvPr>
          <p:cNvSpPr/>
          <p:nvPr/>
        </p:nvSpPr>
        <p:spPr>
          <a:xfrm>
            <a:off x="1016000" y="4927600"/>
            <a:ext cx="330200" cy="330200"/>
          </a:xfrm>
          <a:prstGeom prst="rect">
            <a:avLst/>
          </a:prstGeom>
          <a:solidFill>
            <a:srgbClr val="7FC2C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7" name="Rectangle 86">
            <a:extLst>
              <a:ext uri="{FF2B5EF4-FFF2-40B4-BE49-F238E27FC236}">
                <a16:creationId xmlns:a16="http://schemas.microsoft.com/office/drawing/2014/main" id="{D2A01C1B-331D-9A44-8EDC-C1079753E0EF}"/>
              </a:ext>
            </a:extLst>
          </p:cNvPr>
          <p:cNvSpPr/>
          <p:nvPr/>
        </p:nvSpPr>
        <p:spPr>
          <a:xfrm>
            <a:off x="1397000" y="4927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8" name="Rectangle 87">
            <a:extLst>
              <a:ext uri="{FF2B5EF4-FFF2-40B4-BE49-F238E27FC236}">
                <a16:creationId xmlns:a16="http://schemas.microsoft.com/office/drawing/2014/main" id="{BDDDDF3D-B6E1-AF44-8F90-FF3A748A4886}"/>
              </a:ext>
            </a:extLst>
          </p:cNvPr>
          <p:cNvSpPr/>
          <p:nvPr/>
        </p:nvSpPr>
        <p:spPr>
          <a:xfrm>
            <a:off x="1778000" y="4927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9" name="Rectangle 88">
            <a:extLst>
              <a:ext uri="{FF2B5EF4-FFF2-40B4-BE49-F238E27FC236}">
                <a16:creationId xmlns:a16="http://schemas.microsoft.com/office/drawing/2014/main" id="{AF13C89F-41FD-E54A-9F64-BC81B0207A7C}"/>
              </a:ext>
            </a:extLst>
          </p:cNvPr>
          <p:cNvSpPr/>
          <p:nvPr/>
        </p:nvSpPr>
        <p:spPr>
          <a:xfrm>
            <a:off x="2159000" y="4927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0" name="Rectangle 89">
            <a:extLst>
              <a:ext uri="{FF2B5EF4-FFF2-40B4-BE49-F238E27FC236}">
                <a16:creationId xmlns:a16="http://schemas.microsoft.com/office/drawing/2014/main" id="{EE9CF231-585A-B84E-9139-816F15EDF402}"/>
              </a:ext>
            </a:extLst>
          </p:cNvPr>
          <p:cNvSpPr/>
          <p:nvPr/>
        </p:nvSpPr>
        <p:spPr>
          <a:xfrm>
            <a:off x="2540000" y="4927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1" name="Rectangle 90">
            <a:extLst>
              <a:ext uri="{FF2B5EF4-FFF2-40B4-BE49-F238E27FC236}">
                <a16:creationId xmlns:a16="http://schemas.microsoft.com/office/drawing/2014/main" id="{759B0C3F-83F4-9F49-AD8A-BAEE0CF8451D}"/>
              </a:ext>
            </a:extLst>
          </p:cNvPr>
          <p:cNvSpPr/>
          <p:nvPr/>
        </p:nvSpPr>
        <p:spPr>
          <a:xfrm>
            <a:off x="2921000" y="4927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2" name="Rectangle 91">
            <a:extLst>
              <a:ext uri="{FF2B5EF4-FFF2-40B4-BE49-F238E27FC236}">
                <a16:creationId xmlns:a16="http://schemas.microsoft.com/office/drawing/2014/main" id="{54B46D8F-41A8-A248-BD16-9D1792325B61}"/>
              </a:ext>
            </a:extLst>
          </p:cNvPr>
          <p:cNvSpPr/>
          <p:nvPr/>
        </p:nvSpPr>
        <p:spPr>
          <a:xfrm>
            <a:off x="3302000" y="4927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3" name="Rectangle 92">
            <a:extLst>
              <a:ext uri="{FF2B5EF4-FFF2-40B4-BE49-F238E27FC236}">
                <a16:creationId xmlns:a16="http://schemas.microsoft.com/office/drawing/2014/main" id="{EDE5CD58-F5A7-524D-BCB8-6C55F58E250F}"/>
              </a:ext>
            </a:extLst>
          </p:cNvPr>
          <p:cNvSpPr/>
          <p:nvPr/>
        </p:nvSpPr>
        <p:spPr>
          <a:xfrm>
            <a:off x="3683000" y="4927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4" name="Rectangle 93">
            <a:extLst>
              <a:ext uri="{FF2B5EF4-FFF2-40B4-BE49-F238E27FC236}">
                <a16:creationId xmlns:a16="http://schemas.microsoft.com/office/drawing/2014/main" id="{ED502059-0121-1A48-AB0E-EBF3CB0AE2E2}"/>
              </a:ext>
            </a:extLst>
          </p:cNvPr>
          <p:cNvSpPr/>
          <p:nvPr/>
        </p:nvSpPr>
        <p:spPr>
          <a:xfrm>
            <a:off x="4064000" y="4927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5" name="Rectangle 94">
            <a:extLst>
              <a:ext uri="{FF2B5EF4-FFF2-40B4-BE49-F238E27FC236}">
                <a16:creationId xmlns:a16="http://schemas.microsoft.com/office/drawing/2014/main" id="{50542BEC-58CC-E04A-8520-D9FF072697A4}"/>
              </a:ext>
            </a:extLst>
          </p:cNvPr>
          <p:cNvSpPr/>
          <p:nvPr/>
        </p:nvSpPr>
        <p:spPr>
          <a:xfrm>
            <a:off x="635000" y="5308600"/>
            <a:ext cx="330200" cy="330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6" name="Rectangle 95">
            <a:extLst>
              <a:ext uri="{FF2B5EF4-FFF2-40B4-BE49-F238E27FC236}">
                <a16:creationId xmlns:a16="http://schemas.microsoft.com/office/drawing/2014/main" id="{FA052133-7EFC-3947-B40D-690309E48E3F}"/>
              </a:ext>
            </a:extLst>
          </p:cNvPr>
          <p:cNvSpPr/>
          <p:nvPr/>
        </p:nvSpPr>
        <p:spPr>
          <a:xfrm>
            <a:off x="1016000" y="5308600"/>
            <a:ext cx="330200" cy="330200"/>
          </a:xfrm>
          <a:prstGeom prst="rect">
            <a:avLst/>
          </a:prstGeom>
          <a:solidFill>
            <a:srgbClr val="7FC2C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7" name="Rectangle 96">
            <a:extLst>
              <a:ext uri="{FF2B5EF4-FFF2-40B4-BE49-F238E27FC236}">
                <a16:creationId xmlns:a16="http://schemas.microsoft.com/office/drawing/2014/main" id="{AF4FBF61-F8A3-0240-A51B-18F4948A013D}"/>
              </a:ext>
            </a:extLst>
          </p:cNvPr>
          <p:cNvSpPr/>
          <p:nvPr/>
        </p:nvSpPr>
        <p:spPr>
          <a:xfrm>
            <a:off x="1397000" y="5308600"/>
            <a:ext cx="330200" cy="330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8" name="Rectangle 97">
            <a:extLst>
              <a:ext uri="{FF2B5EF4-FFF2-40B4-BE49-F238E27FC236}">
                <a16:creationId xmlns:a16="http://schemas.microsoft.com/office/drawing/2014/main" id="{D0421656-3874-A34B-98D7-BFB36A7C3320}"/>
              </a:ext>
            </a:extLst>
          </p:cNvPr>
          <p:cNvSpPr/>
          <p:nvPr/>
        </p:nvSpPr>
        <p:spPr>
          <a:xfrm>
            <a:off x="1778000" y="5308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9" name="Rectangle 98">
            <a:extLst>
              <a:ext uri="{FF2B5EF4-FFF2-40B4-BE49-F238E27FC236}">
                <a16:creationId xmlns:a16="http://schemas.microsoft.com/office/drawing/2014/main" id="{4A69B9E8-DB86-0A41-9A15-04EFDF35ABF8}"/>
              </a:ext>
            </a:extLst>
          </p:cNvPr>
          <p:cNvSpPr/>
          <p:nvPr/>
        </p:nvSpPr>
        <p:spPr>
          <a:xfrm>
            <a:off x="2159000" y="5308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0" name="Rectangle 99">
            <a:extLst>
              <a:ext uri="{FF2B5EF4-FFF2-40B4-BE49-F238E27FC236}">
                <a16:creationId xmlns:a16="http://schemas.microsoft.com/office/drawing/2014/main" id="{301AD195-A49F-B140-9042-38D6317E33D0}"/>
              </a:ext>
            </a:extLst>
          </p:cNvPr>
          <p:cNvSpPr/>
          <p:nvPr/>
        </p:nvSpPr>
        <p:spPr>
          <a:xfrm>
            <a:off x="2540000" y="5308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1" name="Rectangle 100">
            <a:extLst>
              <a:ext uri="{FF2B5EF4-FFF2-40B4-BE49-F238E27FC236}">
                <a16:creationId xmlns:a16="http://schemas.microsoft.com/office/drawing/2014/main" id="{CA698327-7F19-744A-B7C4-0800AAC8645F}"/>
              </a:ext>
            </a:extLst>
          </p:cNvPr>
          <p:cNvSpPr/>
          <p:nvPr/>
        </p:nvSpPr>
        <p:spPr>
          <a:xfrm>
            <a:off x="2921000" y="5308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2" name="Rectangle 101">
            <a:extLst>
              <a:ext uri="{FF2B5EF4-FFF2-40B4-BE49-F238E27FC236}">
                <a16:creationId xmlns:a16="http://schemas.microsoft.com/office/drawing/2014/main" id="{89D370DB-09F3-2547-95F9-88BE721BB89B}"/>
              </a:ext>
            </a:extLst>
          </p:cNvPr>
          <p:cNvSpPr/>
          <p:nvPr/>
        </p:nvSpPr>
        <p:spPr>
          <a:xfrm>
            <a:off x="3302000" y="5308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3" name="Rectangle 102">
            <a:extLst>
              <a:ext uri="{FF2B5EF4-FFF2-40B4-BE49-F238E27FC236}">
                <a16:creationId xmlns:a16="http://schemas.microsoft.com/office/drawing/2014/main" id="{B8DF9CCF-A22F-D94C-9716-6D1A6CD4B84A}"/>
              </a:ext>
            </a:extLst>
          </p:cNvPr>
          <p:cNvSpPr/>
          <p:nvPr/>
        </p:nvSpPr>
        <p:spPr>
          <a:xfrm>
            <a:off x="3683000" y="5308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4" name="Rectangle 103">
            <a:extLst>
              <a:ext uri="{FF2B5EF4-FFF2-40B4-BE49-F238E27FC236}">
                <a16:creationId xmlns:a16="http://schemas.microsoft.com/office/drawing/2014/main" id="{E237575B-AEF6-EF47-ADA0-0AF683B51EFB}"/>
              </a:ext>
            </a:extLst>
          </p:cNvPr>
          <p:cNvSpPr/>
          <p:nvPr/>
        </p:nvSpPr>
        <p:spPr>
          <a:xfrm>
            <a:off x="4064000" y="5308600"/>
            <a:ext cx="330200" cy="3302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5" name="TextBox 104">
            <a:extLst>
              <a:ext uri="{FF2B5EF4-FFF2-40B4-BE49-F238E27FC236}">
                <a16:creationId xmlns:a16="http://schemas.microsoft.com/office/drawing/2014/main" id="{C06B23F2-591B-3B44-AAE5-E635D5E1434A}"/>
              </a:ext>
            </a:extLst>
          </p:cNvPr>
          <p:cNvSpPr txBox="1"/>
          <p:nvPr/>
        </p:nvSpPr>
        <p:spPr>
          <a:xfrm>
            <a:off x="4978400" y="1879600"/>
            <a:ext cx="65786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8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Two attributes, four groups</a:t>
            </a:r>
          </a:p>
        </p:txBody>
      </p:sp>
      <p:sp>
        <p:nvSpPr>
          <p:cNvPr id="106" name="Rectangle 105">
            <a:extLst>
              <a:ext uri="{FF2B5EF4-FFF2-40B4-BE49-F238E27FC236}">
                <a16:creationId xmlns:a16="http://schemas.microsoft.com/office/drawing/2014/main" id="{8D7A9466-40A6-AB45-BC02-634BB7B88557}"/>
              </a:ext>
            </a:extLst>
          </p:cNvPr>
          <p:cNvSpPr/>
          <p:nvPr/>
        </p:nvSpPr>
        <p:spPr>
          <a:xfrm>
            <a:off x="4978400" y="2362200"/>
            <a:ext cx="254000" cy="254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7" name="TextBox 106">
            <a:extLst>
              <a:ext uri="{FF2B5EF4-FFF2-40B4-BE49-F238E27FC236}">
                <a16:creationId xmlns:a16="http://schemas.microsoft.com/office/drawing/2014/main" id="{1BBE7E6C-F6BA-864C-A6E7-969E5FDBA247}"/>
              </a:ext>
            </a:extLst>
          </p:cNvPr>
          <p:cNvSpPr txBox="1"/>
          <p:nvPr/>
        </p:nvSpPr>
        <p:spPr>
          <a:xfrm>
            <a:off x="5384800" y="23368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Both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A</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 and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B</a:t>
            </a:r>
          </a:p>
        </p:txBody>
      </p:sp>
      <p:sp>
        <p:nvSpPr>
          <p:cNvPr id="108" name="TextBox 107">
            <a:extLst>
              <a:ext uri="{FF2B5EF4-FFF2-40B4-BE49-F238E27FC236}">
                <a16:creationId xmlns:a16="http://schemas.microsoft.com/office/drawing/2014/main" id="{1E7AE5B6-C62B-D44C-B187-9B18D4D35EBB}"/>
              </a:ext>
            </a:extLst>
          </p:cNvPr>
          <p:cNvSpPr txBox="1"/>
          <p:nvPr/>
        </p:nvSpPr>
        <p:spPr>
          <a:xfrm>
            <a:off x="8128000" y="23368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18%</a:t>
            </a:r>
          </a:p>
        </p:txBody>
      </p:sp>
      <p:sp>
        <p:nvSpPr>
          <p:cNvPr id="109" name="TextBox 108">
            <a:extLst>
              <a:ext uri="{FF2B5EF4-FFF2-40B4-BE49-F238E27FC236}">
                <a16:creationId xmlns:a16="http://schemas.microsoft.com/office/drawing/2014/main" id="{7B481C6F-ABDC-4744-8CDD-41EE0F5A92B1}"/>
              </a:ext>
            </a:extLst>
          </p:cNvPr>
          <p:cNvSpPr txBox="1"/>
          <p:nvPr/>
        </p:nvSpPr>
        <p:spPr>
          <a:xfrm>
            <a:off x="8839200" y="2362200"/>
            <a:ext cx="2032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of the population</a:t>
            </a:r>
          </a:p>
        </p:txBody>
      </p:sp>
      <p:sp>
        <p:nvSpPr>
          <p:cNvPr id="110" name="Rectangle 109">
            <a:extLst>
              <a:ext uri="{FF2B5EF4-FFF2-40B4-BE49-F238E27FC236}">
                <a16:creationId xmlns:a16="http://schemas.microsoft.com/office/drawing/2014/main" id="{541A0012-DBDC-FC48-B6E8-716B20588186}"/>
              </a:ext>
            </a:extLst>
          </p:cNvPr>
          <p:cNvSpPr/>
          <p:nvPr/>
        </p:nvSpPr>
        <p:spPr>
          <a:xfrm>
            <a:off x="4978400" y="2794000"/>
            <a:ext cx="254000" cy="254000"/>
          </a:xfrm>
          <a:prstGeom prst="rect">
            <a:avLst/>
          </a:prstGeom>
          <a:solidFill>
            <a:srgbClr val="7FC2C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1" name="TextBox 110">
            <a:extLst>
              <a:ext uri="{FF2B5EF4-FFF2-40B4-BE49-F238E27FC236}">
                <a16:creationId xmlns:a16="http://schemas.microsoft.com/office/drawing/2014/main" id="{E7000FC0-4E00-9C48-894B-050E31622505}"/>
              </a:ext>
            </a:extLst>
          </p:cNvPr>
          <p:cNvSpPr txBox="1"/>
          <p:nvPr/>
        </p:nvSpPr>
        <p:spPr>
          <a:xfrm>
            <a:off x="5384800" y="27686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A</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 only</a:t>
            </a:r>
          </a:p>
        </p:txBody>
      </p:sp>
      <p:sp>
        <p:nvSpPr>
          <p:cNvPr id="112" name="TextBox 111">
            <a:extLst>
              <a:ext uri="{FF2B5EF4-FFF2-40B4-BE49-F238E27FC236}">
                <a16:creationId xmlns:a16="http://schemas.microsoft.com/office/drawing/2014/main" id="{F1A8B30B-D024-CF4E-9F3A-5BDA2E3C393F}"/>
              </a:ext>
            </a:extLst>
          </p:cNvPr>
          <p:cNvSpPr txBox="1"/>
          <p:nvPr/>
        </p:nvSpPr>
        <p:spPr>
          <a:xfrm>
            <a:off x="8128000" y="27686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2%</a:t>
            </a:r>
          </a:p>
        </p:txBody>
      </p:sp>
      <p:sp>
        <p:nvSpPr>
          <p:cNvPr id="113" name="TextBox 112">
            <a:extLst>
              <a:ext uri="{FF2B5EF4-FFF2-40B4-BE49-F238E27FC236}">
                <a16:creationId xmlns:a16="http://schemas.microsoft.com/office/drawing/2014/main" id="{F770C116-9CC0-FC4D-8538-D24FF7D79FE2}"/>
              </a:ext>
            </a:extLst>
          </p:cNvPr>
          <p:cNvSpPr txBox="1"/>
          <p:nvPr/>
        </p:nvSpPr>
        <p:spPr>
          <a:xfrm>
            <a:off x="8839200" y="2794000"/>
            <a:ext cx="2032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of the population</a:t>
            </a:r>
          </a:p>
        </p:txBody>
      </p:sp>
      <p:sp>
        <p:nvSpPr>
          <p:cNvPr id="114" name="Rectangle 113">
            <a:extLst>
              <a:ext uri="{FF2B5EF4-FFF2-40B4-BE49-F238E27FC236}">
                <a16:creationId xmlns:a16="http://schemas.microsoft.com/office/drawing/2014/main" id="{39637ED4-0645-D845-9A0D-514FCC238DA5}"/>
              </a:ext>
            </a:extLst>
          </p:cNvPr>
          <p:cNvSpPr/>
          <p:nvPr/>
        </p:nvSpPr>
        <p:spPr>
          <a:xfrm>
            <a:off x="4978400" y="3225800"/>
            <a:ext cx="254000" cy="2540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5" name="TextBox 114">
            <a:extLst>
              <a:ext uri="{FF2B5EF4-FFF2-40B4-BE49-F238E27FC236}">
                <a16:creationId xmlns:a16="http://schemas.microsoft.com/office/drawing/2014/main" id="{6FCA6B3D-2F53-9D4B-A779-945503DCB593}"/>
              </a:ext>
            </a:extLst>
          </p:cNvPr>
          <p:cNvSpPr txBox="1"/>
          <p:nvPr/>
        </p:nvSpPr>
        <p:spPr>
          <a:xfrm>
            <a:off x="5384800" y="32004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B</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 only</a:t>
            </a:r>
          </a:p>
        </p:txBody>
      </p:sp>
      <p:sp>
        <p:nvSpPr>
          <p:cNvPr id="116" name="TextBox 115">
            <a:extLst>
              <a:ext uri="{FF2B5EF4-FFF2-40B4-BE49-F238E27FC236}">
                <a16:creationId xmlns:a16="http://schemas.microsoft.com/office/drawing/2014/main" id="{37E24AF1-CEA5-D74F-9878-2FB2BE1E1F59}"/>
              </a:ext>
            </a:extLst>
          </p:cNvPr>
          <p:cNvSpPr txBox="1"/>
          <p:nvPr/>
        </p:nvSpPr>
        <p:spPr>
          <a:xfrm>
            <a:off x="8128000" y="32004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12%</a:t>
            </a:r>
          </a:p>
        </p:txBody>
      </p:sp>
      <p:sp>
        <p:nvSpPr>
          <p:cNvPr id="117" name="TextBox 116">
            <a:extLst>
              <a:ext uri="{FF2B5EF4-FFF2-40B4-BE49-F238E27FC236}">
                <a16:creationId xmlns:a16="http://schemas.microsoft.com/office/drawing/2014/main" id="{68FE9752-5C4A-BE43-B3B3-983D420ACF09}"/>
              </a:ext>
            </a:extLst>
          </p:cNvPr>
          <p:cNvSpPr txBox="1"/>
          <p:nvPr/>
        </p:nvSpPr>
        <p:spPr>
          <a:xfrm>
            <a:off x="8839200" y="3225800"/>
            <a:ext cx="2032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of the population</a:t>
            </a:r>
          </a:p>
        </p:txBody>
      </p:sp>
      <p:sp>
        <p:nvSpPr>
          <p:cNvPr id="118" name="Rectangle 117">
            <a:extLst>
              <a:ext uri="{FF2B5EF4-FFF2-40B4-BE49-F238E27FC236}">
                <a16:creationId xmlns:a16="http://schemas.microsoft.com/office/drawing/2014/main" id="{818B5D93-2A3D-3D40-95FB-C1298C366EF5}"/>
              </a:ext>
            </a:extLst>
          </p:cNvPr>
          <p:cNvSpPr/>
          <p:nvPr/>
        </p:nvSpPr>
        <p:spPr>
          <a:xfrm>
            <a:off x="4978400" y="3657600"/>
            <a:ext cx="254000" cy="254000"/>
          </a:xfrm>
          <a:prstGeom prst="rect">
            <a:avLst/>
          </a:prstGeom>
          <a:solidFill>
            <a:srgbClr val="E3E6E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9" name="TextBox 118">
            <a:extLst>
              <a:ext uri="{FF2B5EF4-FFF2-40B4-BE49-F238E27FC236}">
                <a16:creationId xmlns:a16="http://schemas.microsoft.com/office/drawing/2014/main" id="{B64BDD63-DFE6-D141-A4A7-ED2FF2AF6637}"/>
              </a:ext>
            </a:extLst>
          </p:cNvPr>
          <p:cNvSpPr txBox="1"/>
          <p:nvPr/>
        </p:nvSpPr>
        <p:spPr>
          <a:xfrm>
            <a:off x="5384800" y="36322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Neither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A</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 nor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B</a:t>
            </a:r>
          </a:p>
        </p:txBody>
      </p:sp>
      <p:sp>
        <p:nvSpPr>
          <p:cNvPr id="120" name="TextBox 119">
            <a:extLst>
              <a:ext uri="{FF2B5EF4-FFF2-40B4-BE49-F238E27FC236}">
                <a16:creationId xmlns:a16="http://schemas.microsoft.com/office/drawing/2014/main" id="{D780A036-9714-3B4A-A3CB-81427BC33EC6}"/>
              </a:ext>
            </a:extLst>
          </p:cNvPr>
          <p:cNvSpPr txBox="1"/>
          <p:nvPr/>
        </p:nvSpPr>
        <p:spPr>
          <a:xfrm>
            <a:off x="8128000" y="36322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68%</a:t>
            </a:r>
          </a:p>
        </p:txBody>
      </p:sp>
      <p:sp>
        <p:nvSpPr>
          <p:cNvPr id="121" name="TextBox 120">
            <a:extLst>
              <a:ext uri="{FF2B5EF4-FFF2-40B4-BE49-F238E27FC236}">
                <a16:creationId xmlns:a16="http://schemas.microsoft.com/office/drawing/2014/main" id="{27EA3682-EC54-664F-8A7E-B45DD1B1A3F1}"/>
              </a:ext>
            </a:extLst>
          </p:cNvPr>
          <p:cNvSpPr txBox="1"/>
          <p:nvPr/>
        </p:nvSpPr>
        <p:spPr>
          <a:xfrm>
            <a:off x="8839200" y="3657600"/>
            <a:ext cx="2032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of the population</a:t>
            </a:r>
          </a:p>
        </p:txBody>
      </p:sp>
      <p:sp>
        <p:nvSpPr>
          <p:cNvPr id="122" name="Rectangle 121">
            <a:extLst>
              <a:ext uri="{FF2B5EF4-FFF2-40B4-BE49-F238E27FC236}">
                <a16:creationId xmlns:a16="http://schemas.microsoft.com/office/drawing/2014/main" id="{D528020E-58B3-3C46-B6B0-FC4B21C17998}"/>
              </a:ext>
            </a:extLst>
          </p:cNvPr>
          <p:cNvSpPr/>
          <p:nvPr/>
        </p:nvSpPr>
        <p:spPr>
          <a:xfrm>
            <a:off x="4978400" y="4267200"/>
            <a:ext cx="6578600" cy="25400"/>
          </a:xfrm>
          <a:prstGeom prst="rect">
            <a:avLst/>
          </a:prstGeom>
          <a:solidFill>
            <a:srgbClr val="D8DCE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0" name="TextBox 129">
            <a:extLst>
              <a:ext uri="{FF2B5EF4-FFF2-40B4-BE49-F238E27FC236}">
                <a16:creationId xmlns:a16="http://schemas.microsoft.com/office/drawing/2014/main" id="{8BD81F47-134E-704F-A548-470CFCC3D651}"/>
              </a:ext>
            </a:extLst>
          </p:cNvPr>
          <p:cNvSpPr txBox="1"/>
          <p:nvPr/>
        </p:nvSpPr>
        <p:spPr>
          <a:xfrm>
            <a:off x="635000" y="6172200"/>
            <a:ext cx="10922000" cy="279400"/>
          </a:xfrm>
          <a:prstGeom prst="rect">
            <a:avLst/>
          </a:prstGeom>
          <a:noFill/>
        </p:spPr>
        <p:txBody>
          <a:bodyPr vertOverflow="overflow" vert="horz" wrap="square" rtlCol="0" anchor="t" anchorCtr="0">
            <a:noAutofit/>
          </a:bodyPr>
          <a:lstStyle/>
          <a:p>
            <a:pPr marL="0" marR="0" lvl="0" indent="0" algn="ctr" defTabSz="914400" rtl="0" eaLnBrk="1" fontAlgn="auto" latinLnBrk="0" hangingPunct="1">
              <a:lnSpc>
                <a:spcPct val="100000"/>
              </a:lnSpc>
              <a:spcBef>
                <a:spcPts val="0"/>
              </a:spcBef>
              <a:spcAft>
                <a:spcPts val="0"/>
              </a:spcAft>
              <a:buNone/>
              <a:tabLst/>
              <a:defRPr/>
            </a:pPr>
            <a:r>
              <a:rPr kumimoji="0" lang="en-US" sz="1400" b="0" i="1"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P(...) is just a name for a percentage of the grid. The four add to 100%: every square is counted once.</a:t>
            </a:r>
          </a:p>
        </p:txBody>
      </p:sp>
      <p:sp>
        <p:nvSpPr>
          <p:cNvPr id="131" name="PHead">
            <a:extLst>
              <a:ext uri="{FF2B5EF4-FFF2-40B4-BE49-F238E27FC236}">
                <a16:creationId xmlns:a16="http://schemas.microsoft.com/office/drawing/2014/main" id="{381E89AB-24FE-144D-8F3D-0217AEA3FFF7}"/>
              </a:ext>
            </a:extLst>
          </p:cNvPr>
          <p:cNvSpPr txBox="1"/>
          <p:nvPr/>
        </p:nvSpPr>
        <p:spPr>
          <a:xfrm>
            <a:off x="4978400" y="4368800"/>
            <a:ext cx="6578600" cy="304800"/>
          </a:xfrm>
          <a:prstGeom prst="rect">
            <a:avLst/>
          </a:prstGeom>
          <a:noFill/>
        </p:spPr>
        <p:txBody>
          <a:bodyPr vertOverflow="overflow" vert="horz" wrap="square" rtlCol="0" anchor="ctr"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8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Writing it as a probability</a:t>
            </a:r>
          </a:p>
        </p:txBody>
      </p:sp>
      <p:sp>
        <p:nvSpPr>
          <p:cNvPr id="132" name="PRow1Tick">
            <a:extLst>
              <a:ext uri="{FF2B5EF4-FFF2-40B4-BE49-F238E27FC236}">
                <a16:creationId xmlns:a16="http://schemas.microsoft.com/office/drawing/2014/main" id="{ED09E149-A4DC-3A43-AFA4-982F3DF852DA}"/>
              </a:ext>
            </a:extLst>
          </p:cNvPr>
          <p:cNvSpPr/>
          <p:nvPr/>
        </p:nvSpPr>
        <p:spPr>
          <a:xfrm>
            <a:off x="4978400" y="4737100"/>
            <a:ext cx="254000" cy="254000"/>
          </a:xfrm>
          <a:prstGeom prst="rect">
            <a:avLst/>
          </a:prstGeom>
          <a:solidFill>
            <a:srgbClr val="15686B"/>
          </a:solidFill>
          <a:ln w="9525" cap="flat" cmpd="sng" algn="ctr">
            <a:solidFill>
              <a:srgbClr val="B9BFC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3" name="PRow1Expr">
            <a:extLst>
              <a:ext uri="{FF2B5EF4-FFF2-40B4-BE49-F238E27FC236}">
                <a16:creationId xmlns:a16="http://schemas.microsoft.com/office/drawing/2014/main" id="{10A3B7E8-42E7-8141-BB45-4E655D8DA03E}"/>
              </a:ext>
            </a:extLst>
          </p:cNvPr>
          <p:cNvSpPr txBox="1"/>
          <p:nvPr/>
        </p:nvSpPr>
        <p:spPr>
          <a:xfrm>
            <a:off x="5384800" y="4724400"/>
            <a:ext cx="1905000" cy="279400"/>
          </a:xfrm>
          <a:prstGeom prst="rect">
            <a:avLst/>
          </a:prstGeom>
          <a:noFill/>
        </p:spPr>
        <p:txBody>
          <a:bodyPr vertOverflow="overflow" vert="horz" wrap="none" rtlCol="0" anchor="ctr" anchorCtr="0">
            <a:noAutofit/>
          </a:bodyPr>
          <a:lstStyle/>
          <a:p>
            <a:pPr algn="l"/>
            <a:r>
              <a:rPr lang="en-US" sz="1600" b="1">
                <a:solidFill>
                  <a:srgbClr val="1F3864"/>
                </a:solidFill>
                <a:latin typeface="Calibri"/>
                <a:cs typeface="Calibri"/>
              </a:rPr>
              <a:t>P(A and B)</a:t>
            </a:r>
          </a:p>
        </p:txBody>
      </p:sp>
      <p:sp>
        <p:nvSpPr>
          <p:cNvPr id="134" name="PRow1Eq">
            <a:extLst>
              <a:ext uri="{FF2B5EF4-FFF2-40B4-BE49-F238E27FC236}">
                <a16:creationId xmlns:a16="http://schemas.microsoft.com/office/drawing/2014/main" id="{AC710F43-E3D6-6A48-B0C2-2D412C1A5868}"/>
              </a:ext>
            </a:extLst>
          </p:cNvPr>
          <p:cNvSpPr txBox="1"/>
          <p:nvPr/>
        </p:nvSpPr>
        <p:spPr>
          <a:xfrm>
            <a:off x="7569200" y="4724400"/>
            <a:ext cx="177800" cy="279400"/>
          </a:xfrm>
          <a:prstGeom prst="rect">
            <a:avLst/>
          </a:prstGeom>
          <a:noFill/>
        </p:spPr>
        <p:txBody>
          <a:bodyPr vertOverflow="overflow" vert="horz" wrap="none" rtlCol="0" anchor="ctr" anchorCtr="0">
            <a:noAutofit/>
          </a:bodyPr>
          <a:lstStyle/>
          <a:p>
            <a:pPr algn="l"/>
            <a:r>
              <a:rPr lang="en-US" sz="1600">
                <a:solidFill>
                  <a:srgbClr val="374151"/>
                </a:solidFill>
                <a:latin typeface="Calibri"/>
                <a:cs typeface="Calibri"/>
              </a:rPr>
              <a:t>=</a:t>
            </a:r>
          </a:p>
        </p:txBody>
      </p:sp>
      <p:sp>
        <p:nvSpPr>
          <p:cNvPr id="135" name="PRow1Pct">
            <a:extLst>
              <a:ext uri="{FF2B5EF4-FFF2-40B4-BE49-F238E27FC236}">
                <a16:creationId xmlns:a16="http://schemas.microsoft.com/office/drawing/2014/main" id="{F35B71DD-902D-F24B-AE0E-0A3F5473F132}"/>
              </a:ext>
            </a:extLst>
          </p:cNvPr>
          <p:cNvSpPr txBox="1"/>
          <p:nvPr/>
        </p:nvSpPr>
        <p:spPr>
          <a:xfrm>
            <a:off x="7823200" y="4724400"/>
            <a:ext cx="939800" cy="279400"/>
          </a:xfrm>
          <a:prstGeom prst="rect">
            <a:avLst/>
          </a:prstGeom>
          <a:noFill/>
        </p:spPr>
        <p:txBody>
          <a:bodyPr vertOverflow="overflow" vert="horz" wrap="none" lIns="0" rIns="0" rtlCol="0" anchor="ctr"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18%</a:t>
            </a:r>
          </a:p>
        </p:txBody>
      </p:sp>
      <p:sp>
        <p:nvSpPr>
          <p:cNvPr id="136" name="PRow2Tick">
            <a:extLst>
              <a:ext uri="{FF2B5EF4-FFF2-40B4-BE49-F238E27FC236}">
                <a16:creationId xmlns:a16="http://schemas.microsoft.com/office/drawing/2014/main" id="{C0306A21-B6BC-DD4F-A6DD-349EE84316BF}"/>
              </a:ext>
            </a:extLst>
          </p:cNvPr>
          <p:cNvSpPr/>
          <p:nvPr/>
        </p:nvSpPr>
        <p:spPr>
          <a:xfrm>
            <a:off x="4978400" y="5092700"/>
            <a:ext cx="254000" cy="254000"/>
          </a:xfrm>
          <a:prstGeom prst="rect">
            <a:avLst/>
          </a:prstGeom>
          <a:solidFill>
            <a:srgbClr val="7FC2C4"/>
          </a:solidFill>
          <a:ln w="9525" cap="flat" cmpd="sng" algn="ctr">
            <a:solidFill>
              <a:srgbClr val="B9BFC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7" name="PRow2Expr">
            <a:extLst>
              <a:ext uri="{FF2B5EF4-FFF2-40B4-BE49-F238E27FC236}">
                <a16:creationId xmlns:a16="http://schemas.microsoft.com/office/drawing/2014/main" id="{41384403-3DB8-0F4A-914E-99F31792C9C3}"/>
              </a:ext>
            </a:extLst>
          </p:cNvPr>
          <p:cNvSpPr txBox="1"/>
          <p:nvPr/>
        </p:nvSpPr>
        <p:spPr>
          <a:xfrm>
            <a:off x="5384800" y="5080000"/>
            <a:ext cx="1905000" cy="279400"/>
          </a:xfrm>
          <a:prstGeom prst="rect">
            <a:avLst/>
          </a:prstGeom>
          <a:noFill/>
        </p:spPr>
        <p:txBody>
          <a:bodyPr vertOverflow="overflow" vert="horz" wrap="none" rtlCol="0" anchor="ctr" anchorCtr="0">
            <a:noAutofit/>
          </a:bodyPr>
          <a:lstStyle/>
          <a:p>
            <a:pPr algn="l"/>
            <a:r>
              <a:rPr lang="en-US" sz="1600" b="1">
                <a:solidFill>
                  <a:srgbClr val="1F3864"/>
                </a:solidFill>
                <a:latin typeface="Calibri"/>
                <a:cs typeface="Calibri"/>
              </a:rPr>
              <a:t>P(A only)</a:t>
            </a:r>
          </a:p>
        </p:txBody>
      </p:sp>
      <p:sp>
        <p:nvSpPr>
          <p:cNvPr id="138" name="PRow2Eq">
            <a:extLst>
              <a:ext uri="{FF2B5EF4-FFF2-40B4-BE49-F238E27FC236}">
                <a16:creationId xmlns:a16="http://schemas.microsoft.com/office/drawing/2014/main" id="{F4731C38-C816-B448-BE8E-34ADFC0D3123}"/>
              </a:ext>
            </a:extLst>
          </p:cNvPr>
          <p:cNvSpPr txBox="1"/>
          <p:nvPr/>
        </p:nvSpPr>
        <p:spPr>
          <a:xfrm>
            <a:off x="7569200" y="5080000"/>
            <a:ext cx="177800" cy="279400"/>
          </a:xfrm>
          <a:prstGeom prst="rect">
            <a:avLst/>
          </a:prstGeom>
          <a:noFill/>
        </p:spPr>
        <p:txBody>
          <a:bodyPr vertOverflow="overflow" vert="horz" wrap="none" rtlCol="0" anchor="ctr" anchorCtr="0">
            <a:noAutofit/>
          </a:bodyPr>
          <a:lstStyle/>
          <a:p>
            <a:pPr algn="l"/>
            <a:r>
              <a:rPr lang="en-US" sz="1600">
                <a:solidFill>
                  <a:srgbClr val="374151"/>
                </a:solidFill>
                <a:latin typeface="Calibri"/>
                <a:cs typeface="Calibri"/>
              </a:rPr>
              <a:t>=</a:t>
            </a:r>
          </a:p>
        </p:txBody>
      </p:sp>
      <p:sp>
        <p:nvSpPr>
          <p:cNvPr id="139" name="PRow2Pct">
            <a:extLst>
              <a:ext uri="{FF2B5EF4-FFF2-40B4-BE49-F238E27FC236}">
                <a16:creationId xmlns:a16="http://schemas.microsoft.com/office/drawing/2014/main" id="{9E9C280A-6CBF-6F4F-AEA7-84AD85FCBC26}"/>
              </a:ext>
            </a:extLst>
          </p:cNvPr>
          <p:cNvSpPr txBox="1"/>
          <p:nvPr/>
        </p:nvSpPr>
        <p:spPr>
          <a:xfrm>
            <a:off x="7823200" y="5080000"/>
            <a:ext cx="939800" cy="279400"/>
          </a:xfrm>
          <a:prstGeom prst="rect">
            <a:avLst/>
          </a:prstGeom>
          <a:noFill/>
        </p:spPr>
        <p:txBody>
          <a:bodyPr vertOverflow="overflow" vert="horz" wrap="none" lIns="0" rIns="0" rtlCol="0" anchor="ctr"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2%</a:t>
            </a:r>
          </a:p>
        </p:txBody>
      </p:sp>
      <p:sp>
        <p:nvSpPr>
          <p:cNvPr id="140" name="PRow3Tick">
            <a:extLst>
              <a:ext uri="{FF2B5EF4-FFF2-40B4-BE49-F238E27FC236}">
                <a16:creationId xmlns:a16="http://schemas.microsoft.com/office/drawing/2014/main" id="{8CBFFD13-F59D-0841-8C3E-AD45B2AB15B5}"/>
              </a:ext>
            </a:extLst>
          </p:cNvPr>
          <p:cNvSpPr/>
          <p:nvPr/>
        </p:nvSpPr>
        <p:spPr>
          <a:xfrm>
            <a:off x="4978400" y="5448300"/>
            <a:ext cx="254000" cy="254000"/>
          </a:xfrm>
          <a:prstGeom prst="rect">
            <a:avLst/>
          </a:prstGeom>
          <a:solidFill>
            <a:srgbClr val="C6A15B"/>
          </a:solidFill>
          <a:ln w="9525" cap="flat" cmpd="sng" algn="ctr">
            <a:solidFill>
              <a:srgbClr val="B9BFC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1" name="PRow3Expr">
            <a:extLst>
              <a:ext uri="{FF2B5EF4-FFF2-40B4-BE49-F238E27FC236}">
                <a16:creationId xmlns:a16="http://schemas.microsoft.com/office/drawing/2014/main" id="{E93466C7-D82F-F14D-BC68-9A4C94A3DAA9}"/>
              </a:ext>
            </a:extLst>
          </p:cNvPr>
          <p:cNvSpPr txBox="1"/>
          <p:nvPr/>
        </p:nvSpPr>
        <p:spPr>
          <a:xfrm>
            <a:off x="5384800" y="5435600"/>
            <a:ext cx="1905000" cy="279400"/>
          </a:xfrm>
          <a:prstGeom prst="rect">
            <a:avLst/>
          </a:prstGeom>
          <a:noFill/>
        </p:spPr>
        <p:txBody>
          <a:bodyPr vertOverflow="overflow" vert="horz" wrap="none" rtlCol="0" anchor="ctr" anchorCtr="0">
            <a:noAutofit/>
          </a:bodyPr>
          <a:lstStyle/>
          <a:p>
            <a:pPr algn="l"/>
            <a:r>
              <a:rPr lang="en-US" sz="1600" b="1">
                <a:solidFill>
                  <a:srgbClr val="1F3864"/>
                </a:solidFill>
                <a:latin typeface="Calibri"/>
                <a:cs typeface="Calibri"/>
              </a:rPr>
              <a:t>P(B only)</a:t>
            </a:r>
          </a:p>
        </p:txBody>
      </p:sp>
      <p:sp>
        <p:nvSpPr>
          <p:cNvPr id="142" name="PRow3Eq">
            <a:extLst>
              <a:ext uri="{FF2B5EF4-FFF2-40B4-BE49-F238E27FC236}">
                <a16:creationId xmlns:a16="http://schemas.microsoft.com/office/drawing/2014/main" id="{98C36AE4-B994-904D-8FD1-CE32367EA194}"/>
              </a:ext>
            </a:extLst>
          </p:cNvPr>
          <p:cNvSpPr txBox="1"/>
          <p:nvPr/>
        </p:nvSpPr>
        <p:spPr>
          <a:xfrm>
            <a:off x="7569200" y="5435600"/>
            <a:ext cx="177800" cy="279400"/>
          </a:xfrm>
          <a:prstGeom prst="rect">
            <a:avLst/>
          </a:prstGeom>
          <a:noFill/>
        </p:spPr>
        <p:txBody>
          <a:bodyPr vertOverflow="overflow" vert="horz" wrap="none" rtlCol="0" anchor="ctr" anchorCtr="0">
            <a:noAutofit/>
          </a:bodyPr>
          <a:lstStyle/>
          <a:p>
            <a:pPr algn="l"/>
            <a:r>
              <a:rPr lang="en-US" sz="1600">
                <a:solidFill>
                  <a:srgbClr val="374151"/>
                </a:solidFill>
                <a:latin typeface="Calibri"/>
                <a:cs typeface="Calibri"/>
              </a:rPr>
              <a:t>=</a:t>
            </a:r>
          </a:p>
        </p:txBody>
      </p:sp>
      <p:sp>
        <p:nvSpPr>
          <p:cNvPr id="143" name="PRow3Pct">
            <a:extLst>
              <a:ext uri="{FF2B5EF4-FFF2-40B4-BE49-F238E27FC236}">
                <a16:creationId xmlns:a16="http://schemas.microsoft.com/office/drawing/2014/main" id="{5755D342-6D57-6048-8152-0CACB695B8C8}"/>
              </a:ext>
            </a:extLst>
          </p:cNvPr>
          <p:cNvSpPr txBox="1"/>
          <p:nvPr/>
        </p:nvSpPr>
        <p:spPr>
          <a:xfrm>
            <a:off x="7823200" y="5435600"/>
            <a:ext cx="939800" cy="279400"/>
          </a:xfrm>
          <a:prstGeom prst="rect">
            <a:avLst/>
          </a:prstGeom>
          <a:noFill/>
        </p:spPr>
        <p:txBody>
          <a:bodyPr vertOverflow="overflow" vert="horz" wrap="none" lIns="0" rIns="0" rtlCol="0" anchor="ctr"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12%</a:t>
            </a:r>
          </a:p>
        </p:txBody>
      </p:sp>
      <p:sp>
        <p:nvSpPr>
          <p:cNvPr id="144" name="PRow4Tick">
            <a:extLst>
              <a:ext uri="{FF2B5EF4-FFF2-40B4-BE49-F238E27FC236}">
                <a16:creationId xmlns:a16="http://schemas.microsoft.com/office/drawing/2014/main" id="{E910EC29-0571-1248-92AA-646BBAB78722}"/>
              </a:ext>
            </a:extLst>
          </p:cNvPr>
          <p:cNvSpPr/>
          <p:nvPr/>
        </p:nvSpPr>
        <p:spPr>
          <a:xfrm>
            <a:off x="4978400" y="5803900"/>
            <a:ext cx="254000" cy="254000"/>
          </a:xfrm>
          <a:prstGeom prst="rect">
            <a:avLst/>
          </a:prstGeom>
          <a:solidFill>
            <a:srgbClr val="E3E6EA"/>
          </a:solidFill>
          <a:ln w="9525" cap="flat" cmpd="sng" algn="ctr">
            <a:solidFill>
              <a:srgbClr val="B9BFC7"/>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5" name="PRow4Expr">
            <a:extLst>
              <a:ext uri="{FF2B5EF4-FFF2-40B4-BE49-F238E27FC236}">
                <a16:creationId xmlns:a16="http://schemas.microsoft.com/office/drawing/2014/main" id="{57B63644-95CA-3543-97E8-81E50F53F35F}"/>
              </a:ext>
            </a:extLst>
          </p:cNvPr>
          <p:cNvSpPr txBox="1"/>
          <p:nvPr/>
        </p:nvSpPr>
        <p:spPr>
          <a:xfrm>
            <a:off x="5384800" y="5791200"/>
            <a:ext cx="1905000" cy="279400"/>
          </a:xfrm>
          <a:prstGeom prst="rect">
            <a:avLst/>
          </a:prstGeom>
          <a:noFill/>
        </p:spPr>
        <p:txBody>
          <a:bodyPr vertOverflow="overflow" vert="horz" wrap="none" rtlCol="0" anchor="ctr" anchorCtr="0">
            <a:noAutofit/>
          </a:bodyPr>
          <a:lstStyle/>
          <a:p>
            <a:pPr algn="l"/>
            <a:r>
              <a:rPr lang="en-US" sz="1600" b="1">
                <a:solidFill>
                  <a:srgbClr val="1F3864"/>
                </a:solidFill>
                <a:latin typeface="Calibri"/>
                <a:cs typeface="Calibri"/>
              </a:rPr>
              <a:t>P(neither)</a:t>
            </a:r>
          </a:p>
        </p:txBody>
      </p:sp>
      <p:sp>
        <p:nvSpPr>
          <p:cNvPr id="146" name="PRow4Eq">
            <a:extLst>
              <a:ext uri="{FF2B5EF4-FFF2-40B4-BE49-F238E27FC236}">
                <a16:creationId xmlns:a16="http://schemas.microsoft.com/office/drawing/2014/main" id="{66235757-47B1-3B49-98E8-5A13952667DE}"/>
              </a:ext>
            </a:extLst>
          </p:cNvPr>
          <p:cNvSpPr txBox="1"/>
          <p:nvPr/>
        </p:nvSpPr>
        <p:spPr>
          <a:xfrm>
            <a:off x="7569200" y="5791200"/>
            <a:ext cx="177800" cy="279400"/>
          </a:xfrm>
          <a:prstGeom prst="rect">
            <a:avLst/>
          </a:prstGeom>
          <a:noFill/>
        </p:spPr>
        <p:txBody>
          <a:bodyPr vertOverflow="overflow" vert="horz" wrap="none" rtlCol="0" anchor="ctr" anchorCtr="0">
            <a:noAutofit/>
          </a:bodyPr>
          <a:lstStyle/>
          <a:p>
            <a:pPr algn="l"/>
            <a:r>
              <a:rPr lang="en-US" sz="1600">
                <a:solidFill>
                  <a:srgbClr val="374151"/>
                </a:solidFill>
                <a:latin typeface="Calibri"/>
                <a:cs typeface="Calibri"/>
              </a:rPr>
              <a:t>=</a:t>
            </a:r>
          </a:p>
        </p:txBody>
      </p:sp>
      <p:sp>
        <p:nvSpPr>
          <p:cNvPr id="147" name="PRow4Pct">
            <a:extLst>
              <a:ext uri="{FF2B5EF4-FFF2-40B4-BE49-F238E27FC236}">
                <a16:creationId xmlns:a16="http://schemas.microsoft.com/office/drawing/2014/main" id="{5470B241-0873-F149-8CB4-9A5F25330875}"/>
              </a:ext>
            </a:extLst>
          </p:cNvPr>
          <p:cNvSpPr txBox="1"/>
          <p:nvPr/>
        </p:nvSpPr>
        <p:spPr>
          <a:xfrm>
            <a:off x="7823200" y="5791200"/>
            <a:ext cx="939800" cy="279400"/>
          </a:xfrm>
          <a:prstGeom prst="rect">
            <a:avLst/>
          </a:prstGeom>
          <a:noFill/>
        </p:spPr>
        <p:txBody>
          <a:bodyPr vertOverflow="overflow" vert="horz" wrap="none" lIns="0" rIns="0" rtlCol="0" anchor="ctr"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68%</a:t>
            </a:r>
          </a:p>
        </p:txBody>
      </p:sp>
    </p:spTree>
    <p:extLst>
      <p:ext uri="{BB962C8B-B14F-4D97-AF65-F5344CB8AC3E}">
        <p14:creationId xmlns:p14="http://schemas.microsoft.com/office/powerpoint/2010/main" val="417770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22A3E0-18E0-DB47-93C6-7ED2263ABCBF}"/>
              </a:ext>
            </a:extLst>
          </p:cNvPr>
          <p:cNvSpPr txBox="1"/>
          <p:nvPr/>
        </p:nvSpPr>
        <p:spPr>
          <a:xfrm>
            <a:off x="635000" y="457200"/>
            <a:ext cx="109728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EACH SQUARE IS A MEMBER OF THE POPULATION</a:t>
            </a:r>
          </a:p>
        </p:txBody>
      </p:sp>
      <p:sp>
        <p:nvSpPr>
          <p:cNvPr id="3" name="TextBox 2">
            <a:extLst>
              <a:ext uri="{FF2B5EF4-FFF2-40B4-BE49-F238E27FC236}">
                <a16:creationId xmlns:a16="http://schemas.microsoft.com/office/drawing/2014/main" id="{D646DA3B-EA33-3944-B047-BF52925927D9}"/>
              </a:ext>
            </a:extLst>
          </p:cNvPr>
          <p:cNvSpPr txBox="1"/>
          <p:nvPr/>
        </p:nvSpPr>
        <p:spPr>
          <a:xfrm>
            <a:off x="635000" y="749300"/>
            <a:ext cx="10972800" cy="558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P(A|B): restricting the population</a:t>
            </a:r>
          </a:p>
        </p:txBody>
      </p:sp>
      <p:sp>
        <p:nvSpPr>
          <p:cNvPr id="4" name="TextBox 3">
            <a:extLst>
              <a:ext uri="{FF2B5EF4-FFF2-40B4-BE49-F238E27FC236}">
                <a16:creationId xmlns:a16="http://schemas.microsoft.com/office/drawing/2014/main" id="{6134C786-6BCC-6848-A924-161BF2B14E0C}"/>
              </a:ext>
            </a:extLst>
          </p:cNvPr>
          <p:cNvSpPr txBox="1"/>
          <p:nvPr/>
        </p:nvSpPr>
        <p:spPr>
          <a:xfrm>
            <a:off x="635000" y="1371600"/>
            <a:ext cx="66040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The bar means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given</a:t>
            </a: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 stop looking at the whole grid, look only at part of it.</a:t>
            </a:r>
          </a:p>
        </p:txBody>
      </p:sp>
      <p:sp>
        <p:nvSpPr>
          <p:cNvPr id="5" name="Rectangle 4">
            <a:extLst>
              <a:ext uri="{FF2B5EF4-FFF2-40B4-BE49-F238E27FC236}">
                <a16:creationId xmlns:a16="http://schemas.microsoft.com/office/drawing/2014/main" id="{9A9E3B53-8C41-0743-ACCD-9CFC0AB88F87}"/>
              </a:ext>
            </a:extLst>
          </p:cNvPr>
          <p:cNvSpPr/>
          <p:nvPr/>
        </p:nvSpPr>
        <p:spPr>
          <a:xfrm>
            <a:off x="635000" y="1879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ectangle 5">
            <a:extLst>
              <a:ext uri="{FF2B5EF4-FFF2-40B4-BE49-F238E27FC236}">
                <a16:creationId xmlns:a16="http://schemas.microsoft.com/office/drawing/2014/main" id="{FAEB3744-36A1-294D-AED7-A841C17CC6E6}"/>
              </a:ext>
            </a:extLst>
          </p:cNvPr>
          <p:cNvSpPr/>
          <p:nvPr/>
        </p:nvSpPr>
        <p:spPr>
          <a:xfrm>
            <a:off x="1016000" y="1879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ectangle 6">
            <a:extLst>
              <a:ext uri="{FF2B5EF4-FFF2-40B4-BE49-F238E27FC236}">
                <a16:creationId xmlns:a16="http://schemas.microsoft.com/office/drawing/2014/main" id="{045496E0-AAF5-8040-A930-5210D62EBF08}"/>
              </a:ext>
            </a:extLst>
          </p:cNvPr>
          <p:cNvSpPr/>
          <p:nvPr/>
        </p:nvSpPr>
        <p:spPr>
          <a:xfrm>
            <a:off x="1397000" y="1879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 name="Rectangle 7">
            <a:extLst>
              <a:ext uri="{FF2B5EF4-FFF2-40B4-BE49-F238E27FC236}">
                <a16:creationId xmlns:a16="http://schemas.microsoft.com/office/drawing/2014/main" id="{3EDAA86F-FFA4-3844-A300-30DAA81BCD46}"/>
              </a:ext>
            </a:extLst>
          </p:cNvPr>
          <p:cNvSpPr/>
          <p:nvPr/>
        </p:nvSpPr>
        <p:spPr>
          <a:xfrm>
            <a:off x="1778000" y="1879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ectangle 8">
            <a:extLst>
              <a:ext uri="{FF2B5EF4-FFF2-40B4-BE49-F238E27FC236}">
                <a16:creationId xmlns:a16="http://schemas.microsoft.com/office/drawing/2014/main" id="{4A2FDA31-51A2-D64E-B32D-17581659F069}"/>
              </a:ext>
            </a:extLst>
          </p:cNvPr>
          <p:cNvSpPr/>
          <p:nvPr/>
        </p:nvSpPr>
        <p:spPr>
          <a:xfrm>
            <a:off x="2159000" y="1879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 name="Rectangle 9">
            <a:extLst>
              <a:ext uri="{FF2B5EF4-FFF2-40B4-BE49-F238E27FC236}">
                <a16:creationId xmlns:a16="http://schemas.microsoft.com/office/drawing/2014/main" id="{F5F82279-9D6C-024B-9942-558607CBED15}"/>
              </a:ext>
            </a:extLst>
          </p:cNvPr>
          <p:cNvSpPr/>
          <p:nvPr/>
        </p:nvSpPr>
        <p:spPr>
          <a:xfrm>
            <a:off x="2540000" y="1879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 name="Rectangle 10">
            <a:extLst>
              <a:ext uri="{FF2B5EF4-FFF2-40B4-BE49-F238E27FC236}">
                <a16:creationId xmlns:a16="http://schemas.microsoft.com/office/drawing/2014/main" id="{03DE3A4B-5A18-184C-98E5-49C21B57010C}"/>
              </a:ext>
            </a:extLst>
          </p:cNvPr>
          <p:cNvSpPr/>
          <p:nvPr/>
        </p:nvSpPr>
        <p:spPr>
          <a:xfrm>
            <a:off x="2921000" y="1879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ectangle 11">
            <a:extLst>
              <a:ext uri="{FF2B5EF4-FFF2-40B4-BE49-F238E27FC236}">
                <a16:creationId xmlns:a16="http://schemas.microsoft.com/office/drawing/2014/main" id="{99C1C645-3368-3A45-AA8D-DEDA5B7EAB98}"/>
              </a:ext>
            </a:extLst>
          </p:cNvPr>
          <p:cNvSpPr/>
          <p:nvPr/>
        </p:nvSpPr>
        <p:spPr>
          <a:xfrm>
            <a:off x="3302000" y="1879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 name="Rectangle 12">
            <a:extLst>
              <a:ext uri="{FF2B5EF4-FFF2-40B4-BE49-F238E27FC236}">
                <a16:creationId xmlns:a16="http://schemas.microsoft.com/office/drawing/2014/main" id="{33532073-B3F3-0740-A25C-3C51197EDFEB}"/>
              </a:ext>
            </a:extLst>
          </p:cNvPr>
          <p:cNvSpPr/>
          <p:nvPr/>
        </p:nvSpPr>
        <p:spPr>
          <a:xfrm>
            <a:off x="3683000" y="1879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4" name="Rectangle 13">
            <a:extLst>
              <a:ext uri="{FF2B5EF4-FFF2-40B4-BE49-F238E27FC236}">
                <a16:creationId xmlns:a16="http://schemas.microsoft.com/office/drawing/2014/main" id="{12CABEBD-EE98-6849-BB78-2DB30642FE07}"/>
              </a:ext>
            </a:extLst>
          </p:cNvPr>
          <p:cNvSpPr/>
          <p:nvPr/>
        </p:nvSpPr>
        <p:spPr>
          <a:xfrm>
            <a:off x="4064000" y="1879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5" name="Rectangle 14">
            <a:extLst>
              <a:ext uri="{FF2B5EF4-FFF2-40B4-BE49-F238E27FC236}">
                <a16:creationId xmlns:a16="http://schemas.microsoft.com/office/drawing/2014/main" id="{0323B13B-1267-6349-A5CC-012E1A13F734}"/>
              </a:ext>
            </a:extLst>
          </p:cNvPr>
          <p:cNvSpPr/>
          <p:nvPr/>
        </p:nvSpPr>
        <p:spPr>
          <a:xfrm>
            <a:off x="635000" y="2260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6" name="Rectangle 15">
            <a:extLst>
              <a:ext uri="{FF2B5EF4-FFF2-40B4-BE49-F238E27FC236}">
                <a16:creationId xmlns:a16="http://schemas.microsoft.com/office/drawing/2014/main" id="{3E1CA80A-EA32-CE4F-A539-0764E6B3E79C}"/>
              </a:ext>
            </a:extLst>
          </p:cNvPr>
          <p:cNvSpPr/>
          <p:nvPr/>
        </p:nvSpPr>
        <p:spPr>
          <a:xfrm>
            <a:off x="1016000" y="2260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7" name="Rectangle 16">
            <a:extLst>
              <a:ext uri="{FF2B5EF4-FFF2-40B4-BE49-F238E27FC236}">
                <a16:creationId xmlns:a16="http://schemas.microsoft.com/office/drawing/2014/main" id="{2E082B9F-E0A3-3F4E-A7BD-79319A013C28}"/>
              </a:ext>
            </a:extLst>
          </p:cNvPr>
          <p:cNvSpPr/>
          <p:nvPr/>
        </p:nvSpPr>
        <p:spPr>
          <a:xfrm>
            <a:off x="1397000" y="2260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Rectangle 17">
            <a:extLst>
              <a:ext uri="{FF2B5EF4-FFF2-40B4-BE49-F238E27FC236}">
                <a16:creationId xmlns:a16="http://schemas.microsoft.com/office/drawing/2014/main" id="{EA7C3BDD-09EC-FE4A-A2DB-F0ED681DF6A7}"/>
              </a:ext>
            </a:extLst>
          </p:cNvPr>
          <p:cNvSpPr/>
          <p:nvPr/>
        </p:nvSpPr>
        <p:spPr>
          <a:xfrm>
            <a:off x="1778000" y="2260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9" name="Rectangle 18">
            <a:extLst>
              <a:ext uri="{FF2B5EF4-FFF2-40B4-BE49-F238E27FC236}">
                <a16:creationId xmlns:a16="http://schemas.microsoft.com/office/drawing/2014/main" id="{FAD59272-EAAD-C749-8CA1-1A7D167F584E}"/>
              </a:ext>
            </a:extLst>
          </p:cNvPr>
          <p:cNvSpPr/>
          <p:nvPr/>
        </p:nvSpPr>
        <p:spPr>
          <a:xfrm>
            <a:off x="2159000" y="2260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0" name="Rectangle 19">
            <a:extLst>
              <a:ext uri="{FF2B5EF4-FFF2-40B4-BE49-F238E27FC236}">
                <a16:creationId xmlns:a16="http://schemas.microsoft.com/office/drawing/2014/main" id="{55797CF2-5CD6-0342-A489-5A0DD4B5E391}"/>
              </a:ext>
            </a:extLst>
          </p:cNvPr>
          <p:cNvSpPr/>
          <p:nvPr/>
        </p:nvSpPr>
        <p:spPr>
          <a:xfrm>
            <a:off x="2540000" y="2260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1" name="Rectangle 20">
            <a:extLst>
              <a:ext uri="{FF2B5EF4-FFF2-40B4-BE49-F238E27FC236}">
                <a16:creationId xmlns:a16="http://schemas.microsoft.com/office/drawing/2014/main" id="{BB012647-0996-894B-8252-46AA70AEED99}"/>
              </a:ext>
            </a:extLst>
          </p:cNvPr>
          <p:cNvSpPr/>
          <p:nvPr/>
        </p:nvSpPr>
        <p:spPr>
          <a:xfrm>
            <a:off x="2921000" y="2260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2" name="Rectangle 21">
            <a:extLst>
              <a:ext uri="{FF2B5EF4-FFF2-40B4-BE49-F238E27FC236}">
                <a16:creationId xmlns:a16="http://schemas.microsoft.com/office/drawing/2014/main" id="{66B510D4-7E27-4241-8C0F-086227465B89}"/>
              </a:ext>
            </a:extLst>
          </p:cNvPr>
          <p:cNvSpPr/>
          <p:nvPr/>
        </p:nvSpPr>
        <p:spPr>
          <a:xfrm>
            <a:off x="3302000" y="2260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3" name="Rectangle 22">
            <a:extLst>
              <a:ext uri="{FF2B5EF4-FFF2-40B4-BE49-F238E27FC236}">
                <a16:creationId xmlns:a16="http://schemas.microsoft.com/office/drawing/2014/main" id="{C8185860-FF89-404F-8F0E-1080178BCF93}"/>
              </a:ext>
            </a:extLst>
          </p:cNvPr>
          <p:cNvSpPr/>
          <p:nvPr/>
        </p:nvSpPr>
        <p:spPr>
          <a:xfrm>
            <a:off x="3683000" y="2260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4" name="Rectangle 23">
            <a:extLst>
              <a:ext uri="{FF2B5EF4-FFF2-40B4-BE49-F238E27FC236}">
                <a16:creationId xmlns:a16="http://schemas.microsoft.com/office/drawing/2014/main" id="{0E32E73B-D46B-7F40-96DD-A4D9A3E50C06}"/>
              </a:ext>
            </a:extLst>
          </p:cNvPr>
          <p:cNvSpPr/>
          <p:nvPr/>
        </p:nvSpPr>
        <p:spPr>
          <a:xfrm>
            <a:off x="4064000" y="2260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5" name="Rectangle 24">
            <a:extLst>
              <a:ext uri="{FF2B5EF4-FFF2-40B4-BE49-F238E27FC236}">
                <a16:creationId xmlns:a16="http://schemas.microsoft.com/office/drawing/2014/main" id="{09CB42F6-215C-5C4D-8494-61BA7180246B}"/>
              </a:ext>
            </a:extLst>
          </p:cNvPr>
          <p:cNvSpPr/>
          <p:nvPr/>
        </p:nvSpPr>
        <p:spPr>
          <a:xfrm>
            <a:off x="635000" y="2641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6" name="Rectangle 25">
            <a:extLst>
              <a:ext uri="{FF2B5EF4-FFF2-40B4-BE49-F238E27FC236}">
                <a16:creationId xmlns:a16="http://schemas.microsoft.com/office/drawing/2014/main" id="{27A13E4B-5A24-A94F-97F0-9FDD099C932A}"/>
              </a:ext>
            </a:extLst>
          </p:cNvPr>
          <p:cNvSpPr/>
          <p:nvPr/>
        </p:nvSpPr>
        <p:spPr>
          <a:xfrm>
            <a:off x="1016000" y="2641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7" name="Rectangle 26">
            <a:extLst>
              <a:ext uri="{FF2B5EF4-FFF2-40B4-BE49-F238E27FC236}">
                <a16:creationId xmlns:a16="http://schemas.microsoft.com/office/drawing/2014/main" id="{575894EE-0B5F-444B-8735-63FC51218CB6}"/>
              </a:ext>
            </a:extLst>
          </p:cNvPr>
          <p:cNvSpPr/>
          <p:nvPr/>
        </p:nvSpPr>
        <p:spPr>
          <a:xfrm>
            <a:off x="1397000" y="2641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8" name="Rectangle 27">
            <a:extLst>
              <a:ext uri="{FF2B5EF4-FFF2-40B4-BE49-F238E27FC236}">
                <a16:creationId xmlns:a16="http://schemas.microsoft.com/office/drawing/2014/main" id="{E4D0F19B-83FA-134D-A411-CA65DBA7D2BE}"/>
              </a:ext>
            </a:extLst>
          </p:cNvPr>
          <p:cNvSpPr/>
          <p:nvPr/>
        </p:nvSpPr>
        <p:spPr>
          <a:xfrm>
            <a:off x="1778000" y="2641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9" name="Rectangle 28">
            <a:extLst>
              <a:ext uri="{FF2B5EF4-FFF2-40B4-BE49-F238E27FC236}">
                <a16:creationId xmlns:a16="http://schemas.microsoft.com/office/drawing/2014/main" id="{B9B6B526-25EB-C34F-B479-6EB8011AF63E}"/>
              </a:ext>
            </a:extLst>
          </p:cNvPr>
          <p:cNvSpPr/>
          <p:nvPr/>
        </p:nvSpPr>
        <p:spPr>
          <a:xfrm>
            <a:off x="2159000" y="2641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0" name="Rectangle 29">
            <a:extLst>
              <a:ext uri="{FF2B5EF4-FFF2-40B4-BE49-F238E27FC236}">
                <a16:creationId xmlns:a16="http://schemas.microsoft.com/office/drawing/2014/main" id="{2BE35466-7CBB-B64F-AC20-4853E5AD32BD}"/>
              </a:ext>
            </a:extLst>
          </p:cNvPr>
          <p:cNvSpPr/>
          <p:nvPr/>
        </p:nvSpPr>
        <p:spPr>
          <a:xfrm>
            <a:off x="2540000" y="2641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1" name="Rectangle 30">
            <a:extLst>
              <a:ext uri="{FF2B5EF4-FFF2-40B4-BE49-F238E27FC236}">
                <a16:creationId xmlns:a16="http://schemas.microsoft.com/office/drawing/2014/main" id="{E535947F-2BC2-FF4F-A835-C63BC638E2BA}"/>
              </a:ext>
            </a:extLst>
          </p:cNvPr>
          <p:cNvSpPr/>
          <p:nvPr/>
        </p:nvSpPr>
        <p:spPr>
          <a:xfrm>
            <a:off x="2921000" y="2641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2" name="Rectangle 31">
            <a:extLst>
              <a:ext uri="{FF2B5EF4-FFF2-40B4-BE49-F238E27FC236}">
                <a16:creationId xmlns:a16="http://schemas.microsoft.com/office/drawing/2014/main" id="{84C83753-60E4-134E-A3CC-5CFE11388287}"/>
              </a:ext>
            </a:extLst>
          </p:cNvPr>
          <p:cNvSpPr/>
          <p:nvPr/>
        </p:nvSpPr>
        <p:spPr>
          <a:xfrm>
            <a:off x="3302000" y="2641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3" name="Rectangle 32">
            <a:extLst>
              <a:ext uri="{FF2B5EF4-FFF2-40B4-BE49-F238E27FC236}">
                <a16:creationId xmlns:a16="http://schemas.microsoft.com/office/drawing/2014/main" id="{8F4C146B-EAB1-A841-BA38-7FF5074A7ECF}"/>
              </a:ext>
            </a:extLst>
          </p:cNvPr>
          <p:cNvSpPr/>
          <p:nvPr/>
        </p:nvSpPr>
        <p:spPr>
          <a:xfrm>
            <a:off x="3683000" y="2641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4" name="Rectangle 33">
            <a:extLst>
              <a:ext uri="{FF2B5EF4-FFF2-40B4-BE49-F238E27FC236}">
                <a16:creationId xmlns:a16="http://schemas.microsoft.com/office/drawing/2014/main" id="{9854C232-3484-B14F-AB51-475A9A935DEE}"/>
              </a:ext>
            </a:extLst>
          </p:cNvPr>
          <p:cNvSpPr/>
          <p:nvPr/>
        </p:nvSpPr>
        <p:spPr>
          <a:xfrm>
            <a:off x="4064000" y="2641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Rectangle 34">
            <a:extLst>
              <a:ext uri="{FF2B5EF4-FFF2-40B4-BE49-F238E27FC236}">
                <a16:creationId xmlns:a16="http://schemas.microsoft.com/office/drawing/2014/main" id="{A8C97880-FE66-0E4C-BB7E-15DF3D90F575}"/>
              </a:ext>
            </a:extLst>
          </p:cNvPr>
          <p:cNvSpPr/>
          <p:nvPr/>
        </p:nvSpPr>
        <p:spPr>
          <a:xfrm>
            <a:off x="635000" y="3022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Rectangle 35">
            <a:extLst>
              <a:ext uri="{FF2B5EF4-FFF2-40B4-BE49-F238E27FC236}">
                <a16:creationId xmlns:a16="http://schemas.microsoft.com/office/drawing/2014/main" id="{9248625B-B316-4B45-B104-D7CB7F32C350}"/>
              </a:ext>
            </a:extLst>
          </p:cNvPr>
          <p:cNvSpPr/>
          <p:nvPr/>
        </p:nvSpPr>
        <p:spPr>
          <a:xfrm>
            <a:off x="1016000" y="3022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7" name="Rectangle 36">
            <a:extLst>
              <a:ext uri="{FF2B5EF4-FFF2-40B4-BE49-F238E27FC236}">
                <a16:creationId xmlns:a16="http://schemas.microsoft.com/office/drawing/2014/main" id="{88F10BBF-28ED-A74F-A3FE-3F5DA1EFA8F2}"/>
              </a:ext>
            </a:extLst>
          </p:cNvPr>
          <p:cNvSpPr/>
          <p:nvPr/>
        </p:nvSpPr>
        <p:spPr>
          <a:xfrm>
            <a:off x="1397000" y="3022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8" name="Rectangle 37">
            <a:extLst>
              <a:ext uri="{FF2B5EF4-FFF2-40B4-BE49-F238E27FC236}">
                <a16:creationId xmlns:a16="http://schemas.microsoft.com/office/drawing/2014/main" id="{D0462A1B-E53E-4D4F-93D6-08CDE6DDCFFA}"/>
              </a:ext>
            </a:extLst>
          </p:cNvPr>
          <p:cNvSpPr/>
          <p:nvPr/>
        </p:nvSpPr>
        <p:spPr>
          <a:xfrm>
            <a:off x="1778000" y="3022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9" name="Rectangle 38">
            <a:extLst>
              <a:ext uri="{FF2B5EF4-FFF2-40B4-BE49-F238E27FC236}">
                <a16:creationId xmlns:a16="http://schemas.microsoft.com/office/drawing/2014/main" id="{A215ECF6-1833-6D40-B58E-C434D7234562}"/>
              </a:ext>
            </a:extLst>
          </p:cNvPr>
          <p:cNvSpPr/>
          <p:nvPr/>
        </p:nvSpPr>
        <p:spPr>
          <a:xfrm>
            <a:off x="2159000" y="3022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Rectangle 39">
            <a:extLst>
              <a:ext uri="{FF2B5EF4-FFF2-40B4-BE49-F238E27FC236}">
                <a16:creationId xmlns:a16="http://schemas.microsoft.com/office/drawing/2014/main" id="{311BF150-F897-5547-8624-26BA937796CE}"/>
              </a:ext>
            </a:extLst>
          </p:cNvPr>
          <p:cNvSpPr/>
          <p:nvPr/>
        </p:nvSpPr>
        <p:spPr>
          <a:xfrm>
            <a:off x="2540000" y="3022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Rectangle 40">
            <a:extLst>
              <a:ext uri="{FF2B5EF4-FFF2-40B4-BE49-F238E27FC236}">
                <a16:creationId xmlns:a16="http://schemas.microsoft.com/office/drawing/2014/main" id="{F4FB551E-6526-5844-83E5-4D67880C8C4B}"/>
              </a:ext>
            </a:extLst>
          </p:cNvPr>
          <p:cNvSpPr/>
          <p:nvPr/>
        </p:nvSpPr>
        <p:spPr>
          <a:xfrm>
            <a:off x="2921000" y="3022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2" name="Rectangle 41">
            <a:extLst>
              <a:ext uri="{FF2B5EF4-FFF2-40B4-BE49-F238E27FC236}">
                <a16:creationId xmlns:a16="http://schemas.microsoft.com/office/drawing/2014/main" id="{7AA6164B-687C-4B46-B160-96301318259A}"/>
              </a:ext>
            </a:extLst>
          </p:cNvPr>
          <p:cNvSpPr/>
          <p:nvPr/>
        </p:nvSpPr>
        <p:spPr>
          <a:xfrm>
            <a:off x="3302000" y="3022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3" name="Rectangle 42">
            <a:extLst>
              <a:ext uri="{FF2B5EF4-FFF2-40B4-BE49-F238E27FC236}">
                <a16:creationId xmlns:a16="http://schemas.microsoft.com/office/drawing/2014/main" id="{F74C3738-39C1-D040-A43C-E56ADD29CDB7}"/>
              </a:ext>
            </a:extLst>
          </p:cNvPr>
          <p:cNvSpPr/>
          <p:nvPr/>
        </p:nvSpPr>
        <p:spPr>
          <a:xfrm>
            <a:off x="3683000" y="3022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4" name="Rectangle 43">
            <a:extLst>
              <a:ext uri="{FF2B5EF4-FFF2-40B4-BE49-F238E27FC236}">
                <a16:creationId xmlns:a16="http://schemas.microsoft.com/office/drawing/2014/main" id="{00C3BFB5-D6BF-594B-B6FC-147092C4705D}"/>
              </a:ext>
            </a:extLst>
          </p:cNvPr>
          <p:cNvSpPr/>
          <p:nvPr/>
        </p:nvSpPr>
        <p:spPr>
          <a:xfrm>
            <a:off x="4064000" y="3022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5" name="Rectangle 44">
            <a:extLst>
              <a:ext uri="{FF2B5EF4-FFF2-40B4-BE49-F238E27FC236}">
                <a16:creationId xmlns:a16="http://schemas.microsoft.com/office/drawing/2014/main" id="{4DD300C1-D971-5342-8B2B-64C54F03F1A9}"/>
              </a:ext>
            </a:extLst>
          </p:cNvPr>
          <p:cNvSpPr/>
          <p:nvPr/>
        </p:nvSpPr>
        <p:spPr>
          <a:xfrm>
            <a:off x="635000" y="3403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6" name="Rectangle 45">
            <a:extLst>
              <a:ext uri="{FF2B5EF4-FFF2-40B4-BE49-F238E27FC236}">
                <a16:creationId xmlns:a16="http://schemas.microsoft.com/office/drawing/2014/main" id="{CEBD4BF9-3F36-E346-8EB7-7B0502F58431}"/>
              </a:ext>
            </a:extLst>
          </p:cNvPr>
          <p:cNvSpPr/>
          <p:nvPr/>
        </p:nvSpPr>
        <p:spPr>
          <a:xfrm>
            <a:off x="1016000" y="3403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7" name="Rectangle 46">
            <a:extLst>
              <a:ext uri="{FF2B5EF4-FFF2-40B4-BE49-F238E27FC236}">
                <a16:creationId xmlns:a16="http://schemas.microsoft.com/office/drawing/2014/main" id="{C1D70BCB-55F5-6347-9D8C-884EE4108DFC}"/>
              </a:ext>
            </a:extLst>
          </p:cNvPr>
          <p:cNvSpPr/>
          <p:nvPr/>
        </p:nvSpPr>
        <p:spPr>
          <a:xfrm>
            <a:off x="1397000" y="3403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8" name="Rectangle 47">
            <a:extLst>
              <a:ext uri="{FF2B5EF4-FFF2-40B4-BE49-F238E27FC236}">
                <a16:creationId xmlns:a16="http://schemas.microsoft.com/office/drawing/2014/main" id="{098C4807-4EED-B94C-B18D-B73E66880D5B}"/>
              </a:ext>
            </a:extLst>
          </p:cNvPr>
          <p:cNvSpPr/>
          <p:nvPr/>
        </p:nvSpPr>
        <p:spPr>
          <a:xfrm>
            <a:off x="1778000" y="3403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9" name="Rectangle 48">
            <a:extLst>
              <a:ext uri="{FF2B5EF4-FFF2-40B4-BE49-F238E27FC236}">
                <a16:creationId xmlns:a16="http://schemas.microsoft.com/office/drawing/2014/main" id="{1957D998-E37C-6543-A2A6-1650028F8689}"/>
              </a:ext>
            </a:extLst>
          </p:cNvPr>
          <p:cNvSpPr/>
          <p:nvPr/>
        </p:nvSpPr>
        <p:spPr>
          <a:xfrm>
            <a:off x="2159000" y="3403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0" name="Rectangle 49">
            <a:extLst>
              <a:ext uri="{FF2B5EF4-FFF2-40B4-BE49-F238E27FC236}">
                <a16:creationId xmlns:a16="http://schemas.microsoft.com/office/drawing/2014/main" id="{882064DA-D8F3-9443-85FA-62131631DB74}"/>
              </a:ext>
            </a:extLst>
          </p:cNvPr>
          <p:cNvSpPr/>
          <p:nvPr/>
        </p:nvSpPr>
        <p:spPr>
          <a:xfrm>
            <a:off x="2540000" y="3403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1" name="Rectangle 50">
            <a:extLst>
              <a:ext uri="{FF2B5EF4-FFF2-40B4-BE49-F238E27FC236}">
                <a16:creationId xmlns:a16="http://schemas.microsoft.com/office/drawing/2014/main" id="{BA06A201-23B6-4B45-A2C3-CCB72F39605C}"/>
              </a:ext>
            </a:extLst>
          </p:cNvPr>
          <p:cNvSpPr/>
          <p:nvPr/>
        </p:nvSpPr>
        <p:spPr>
          <a:xfrm>
            <a:off x="2921000" y="3403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2" name="Rectangle 51">
            <a:extLst>
              <a:ext uri="{FF2B5EF4-FFF2-40B4-BE49-F238E27FC236}">
                <a16:creationId xmlns:a16="http://schemas.microsoft.com/office/drawing/2014/main" id="{7312C1B0-C0DD-624B-A11E-96E0FF5346F2}"/>
              </a:ext>
            </a:extLst>
          </p:cNvPr>
          <p:cNvSpPr/>
          <p:nvPr/>
        </p:nvSpPr>
        <p:spPr>
          <a:xfrm>
            <a:off x="3302000" y="3403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3" name="Rectangle 52">
            <a:extLst>
              <a:ext uri="{FF2B5EF4-FFF2-40B4-BE49-F238E27FC236}">
                <a16:creationId xmlns:a16="http://schemas.microsoft.com/office/drawing/2014/main" id="{305EC40F-E0A8-9D41-B825-1210291ED53E}"/>
              </a:ext>
            </a:extLst>
          </p:cNvPr>
          <p:cNvSpPr/>
          <p:nvPr/>
        </p:nvSpPr>
        <p:spPr>
          <a:xfrm>
            <a:off x="3683000" y="3403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4" name="Rectangle 53">
            <a:extLst>
              <a:ext uri="{FF2B5EF4-FFF2-40B4-BE49-F238E27FC236}">
                <a16:creationId xmlns:a16="http://schemas.microsoft.com/office/drawing/2014/main" id="{4374EB9C-3715-A640-870D-84107BEDBA2B}"/>
              </a:ext>
            </a:extLst>
          </p:cNvPr>
          <p:cNvSpPr/>
          <p:nvPr/>
        </p:nvSpPr>
        <p:spPr>
          <a:xfrm>
            <a:off x="4064000" y="3403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5" name="Rectangle 54">
            <a:extLst>
              <a:ext uri="{FF2B5EF4-FFF2-40B4-BE49-F238E27FC236}">
                <a16:creationId xmlns:a16="http://schemas.microsoft.com/office/drawing/2014/main" id="{2E7FD5B3-BBF4-3E45-AD2D-38E78EACF6E8}"/>
              </a:ext>
            </a:extLst>
          </p:cNvPr>
          <p:cNvSpPr/>
          <p:nvPr/>
        </p:nvSpPr>
        <p:spPr>
          <a:xfrm>
            <a:off x="635000" y="3784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6" name="Rectangle 55">
            <a:extLst>
              <a:ext uri="{FF2B5EF4-FFF2-40B4-BE49-F238E27FC236}">
                <a16:creationId xmlns:a16="http://schemas.microsoft.com/office/drawing/2014/main" id="{60BD9C45-C532-A34C-B610-410F8015DFB1}"/>
              </a:ext>
            </a:extLst>
          </p:cNvPr>
          <p:cNvSpPr/>
          <p:nvPr/>
        </p:nvSpPr>
        <p:spPr>
          <a:xfrm>
            <a:off x="1016000" y="3784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7" name="Rectangle 56">
            <a:extLst>
              <a:ext uri="{FF2B5EF4-FFF2-40B4-BE49-F238E27FC236}">
                <a16:creationId xmlns:a16="http://schemas.microsoft.com/office/drawing/2014/main" id="{DB5B7B8D-DB2D-4140-93CE-4E6A63352597}"/>
              </a:ext>
            </a:extLst>
          </p:cNvPr>
          <p:cNvSpPr/>
          <p:nvPr/>
        </p:nvSpPr>
        <p:spPr>
          <a:xfrm>
            <a:off x="1397000" y="3784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8" name="Rectangle 57">
            <a:extLst>
              <a:ext uri="{FF2B5EF4-FFF2-40B4-BE49-F238E27FC236}">
                <a16:creationId xmlns:a16="http://schemas.microsoft.com/office/drawing/2014/main" id="{89A10B1D-0163-6844-8469-AEB8040B7532}"/>
              </a:ext>
            </a:extLst>
          </p:cNvPr>
          <p:cNvSpPr/>
          <p:nvPr/>
        </p:nvSpPr>
        <p:spPr>
          <a:xfrm>
            <a:off x="1778000" y="3784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9" name="Rectangle 58">
            <a:extLst>
              <a:ext uri="{FF2B5EF4-FFF2-40B4-BE49-F238E27FC236}">
                <a16:creationId xmlns:a16="http://schemas.microsoft.com/office/drawing/2014/main" id="{E9A81558-B3DE-EB4F-8C03-65296CA552AC}"/>
              </a:ext>
            </a:extLst>
          </p:cNvPr>
          <p:cNvSpPr/>
          <p:nvPr/>
        </p:nvSpPr>
        <p:spPr>
          <a:xfrm>
            <a:off x="2159000" y="3784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0" name="Rectangle 59">
            <a:extLst>
              <a:ext uri="{FF2B5EF4-FFF2-40B4-BE49-F238E27FC236}">
                <a16:creationId xmlns:a16="http://schemas.microsoft.com/office/drawing/2014/main" id="{0D9ABA79-8B9C-2A4C-BFB2-21FEE8CF2F54}"/>
              </a:ext>
            </a:extLst>
          </p:cNvPr>
          <p:cNvSpPr/>
          <p:nvPr/>
        </p:nvSpPr>
        <p:spPr>
          <a:xfrm>
            <a:off x="2540000" y="3784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1" name="Rectangle 60">
            <a:extLst>
              <a:ext uri="{FF2B5EF4-FFF2-40B4-BE49-F238E27FC236}">
                <a16:creationId xmlns:a16="http://schemas.microsoft.com/office/drawing/2014/main" id="{F647EC87-EE47-DC45-89FF-35075591B25E}"/>
              </a:ext>
            </a:extLst>
          </p:cNvPr>
          <p:cNvSpPr/>
          <p:nvPr/>
        </p:nvSpPr>
        <p:spPr>
          <a:xfrm>
            <a:off x="2921000" y="3784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2" name="Rectangle 61">
            <a:extLst>
              <a:ext uri="{FF2B5EF4-FFF2-40B4-BE49-F238E27FC236}">
                <a16:creationId xmlns:a16="http://schemas.microsoft.com/office/drawing/2014/main" id="{261C1A7C-2166-6644-9316-4E9CBAB30C5D}"/>
              </a:ext>
            </a:extLst>
          </p:cNvPr>
          <p:cNvSpPr/>
          <p:nvPr/>
        </p:nvSpPr>
        <p:spPr>
          <a:xfrm>
            <a:off x="3302000" y="3784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3" name="Rectangle 62">
            <a:extLst>
              <a:ext uri="{FF2B5EF4-FFF2-40B4-BE49-F238E27FC236}">
                <a16:creationId xmlns:a16="http://schemas.microsoft.com/office/drawing/2014/main" id="{1DF2E635-89B0-084E-A189-DC9CD8BDAC96}"/>
              </a:ext>
            </a:extLst>
          </p:cNvPr>
          <p:cNvSpPr/>
          <p:nvPr/>
        </p:nvSpPr>
        <p:spPr>
          <a:xfrm>
            <a:off x="3683000" y="3784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4" name="Rectangle 63">
            <a:extLst>
              <a:ext uri="{FF2B5EF4-FFF2-40B4-BE49-F238E27FC236}">
                <a16:creationId xmlns:a16="http://schemas.microsoft.com/office/drawing/2014/main" id="{949F17D5-1862-DD45-B3CF-C98D3A530329}"/>
              </a:ext>
            </a:extLst>
          </p:cNvPr>
          <p:cNvSpPr/>
          <p:nvPr/>
        </p:nvSpPr>
        <p:spPr>
          <a:xfrm>
            <a:off x="4064000" y="3784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5" name="Rectangle 64">
            <a:extLst>
              <a:ext uri="{FF2B5EF4-FFF2-40B4-BE49-F238E27FC236}">
                <a16:creationId xmlns:a16="http://schemas.microsoft.com/office/drawing/2014/main" id="{7B4B00BF-466F-454B-AC78-606F80F20E1C}"/>
              </a:ext>
            </a:extLst>
          </p:cNvPr>
          <p:cNvSpPr/>
          <p:nvPr/>
        </p:nvSpPr>
        <p:spPr>
          <a:xfrm>
            <a:off x="635000" y="4165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6" name="Rectangle 65">
            <a:extLst>
              <a:ext uri="{FF2B5EF4-FFF2-40B4-BE49-F238E27FC236}">
                <a16:creationId xmlns:a16="http://schemas.microsoft.com/office/drawing/2014/main" id="{16C839F4-9AC6-5C46-8493-7FE4DC249B8E}"/>
              </a:ext>
            </a:extLst>
          </p:cNvPr>
          <p:cNvSpPr/>
          <p:nvPr/>
        </p:nvSpPr>
        <p:spPr>
          <a:xfrm>
            <a:off x="1016000" y="4165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7" name="Rectangle 66">
            <a:extLst>
              <a:ext uri="{FF2B5EF4-FFF2-40B4-BE49-F238E27FC236}">
                <a16:creationId xmlns:a16="http://schemas.microsoft.com/office/drawing/2014/main" id="{54427645-2A26-214D-B6A5-9FE3168F296D}"/>
              </a:ext>
            </a:extLst>
          </p:cNvPr>
          <p:cNvSpPr/>
          <p:nvPr/>
        </p:nvSpPr>
        <p:spPr>
          <a:xfrm>
            <a:off x="1397000" y="4165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8" name="Rectangle 67">
            <a:extLst>
              <a:ext uri="{FF2B5EF4-FFF2-40B4-BE49-F238E27FC236}">
                <a16:creationId xmlns:a16="http://schemas.microsoft.com/office/drawing/2014/main" id="{A5DA26B5-9BE3-CE4F-AE96-D2737E86EDE4}"/>
              </a:ext>
            </a:extLst>
          </p:cNvPr>
          <p:cNvSpPr/>
          <p:nvPr/>
        </p:nvSpPr>
        <p:spPr>
          <a:xfrm>
            <a:off x="1778000" y="4165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9" name="Rectangle 68">
            <a:extLst>
              <a:ext uri="{FF2B5EF4-FFF2-40B4-BE49-F238E27FC236}">
                <a16:creationId xmlns:a16="http://schemas.microsoft.com/office/drawing/2014/main" id="{1397B22F-7B4E-0A49-AD74-7B2917A5C7F7}"/>
              </a:ext>
            </a:extLst>
          </p:cNvPr>
          <p:cNvSpPr/>
          <p:nvPr/>
        </p:nvSpPr>
        <p:spPr>
          <a:xfrm>
            <a:off x="2159000" y="4165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0" name="Rectangle 69">
            <a:extLst>
              <a:ext uri="{FF2B5EF4-FFF2-40B4-BE49-F238E27FC236}">
                <a16:creationId xmlns:a16="http://schemas.microsoft.com/office/drawing/2014/main" id="{3D0A3B78-E9B8-2446-9CD6-82875F00DF98}"/>
              </a:ext>
            </a:extLst>
          </p:cNvPr>
          <p:cNvSpPr/>
          <p:nvPr/>
        </p:nvSpPr>
        <p:spPr>
          <a:xfrm>
            <a:off x="2540000" y="4165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1" name="Rectangle 70">
            <a:extLst>
              <a:ext uri="{FF2B5EF4-FFF2-40B4-BE49-F238E27FC236}">
                <a16:creationId xmlns:a16="http://schemas.microsoft.com/office/drawing/2014/main" id="{52BB8D7F-E5A9-4A44-86EA-196E17C0752C}"/>
              </a:ext>
            </a:extLst>
          </p:cNvPr>
          <p:cNvSpPr/>
          <p:nvPr/>
        </p:nvSpPr>
        <p:spPr>
          <a:xfrm>
            <a:off x="2921000" y="4165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2" name="Rectangle 71">
            <a:extLst>
              <a:ext uri="{FF2B5EF4-FFF2-40B4-BE49-F238E27FC236}">
                <a16:creationId xmlns:a16="http://schemas.microsoft.com/office/drawing/2014/main" id="{8EF08031-2777-B84A-BF71-44D096C2A7B0}"/>
              </a:ext>
            </a:extLst>
          </p:cNvPr>
          <p:cNvSpPr/>
          <p:nvPr/>
        </p:nvSpPr>
        <p:spPr>
          <a:xfrm>
            <a:off x="3302000" y="4165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3" name="Rectangle 72">
            <a:extLst>
              <a:ext uri="{FF2B5EF4-FFF2-40B4-BE49-F238E27FC236}">
                <a16:creationId xmlns:a16="http://schemas.microsoft.com/office/drawing/2014/main" id="{AF872C9C-1313-DB4A-951B-757501E649DA}"/>
              </a:ext>
            </a:extLst>
          </p:cNvPr>
          <p:cNvSpPr/>
          <p:nvPr/>
        </p:nvSpPr>
        <p:spPr>
          <a:xfrm>
            <a:off x="3683000" y="4165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4" name="Rectangle 73">
            <a:extLst>
              <a:ext uri="{FF2B5EF4-FFF2-40B4-BE49-F238E27FC236}">
                <a16:creationId xmlns:a16="http://schemas.microsoft.com/office/drawing/2014/main" id="{E89AB268-0E08-C842-A561-3D8E896D14AA}"/>
              </a:ext>
            </a:extLst>
          </p:cNvPr>
          <p:cNvSpPr/>
          <p:nvPr/>
        </p:nvSpPr>
        <p:spPr>
          <a:xfrm>
            <a:off x="4064000" y="4165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5" name="Rectangle 74">
            <a:extLst>
              <a:ext uri="{FF2B5EF4-FFF2-40B4-BE49-F238E27FC236}">
                <a16:creationId xmlns:a16="http://schemas.microsoft.com/office/drawing/2014/main" id="{23F7D1D9-ED78-DA45-AF9F-21C43E16B198}"/>
              </a:ext>
            </a:extLst>
          </p:cNvPr>
          <p:cNvSpPr/>
          <p:nvPr/>
        </p:nvSpPr>
        <p:spPr>
          <a:xfrm>
            <a:off x="635000" y="4546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6" name="Rectangle 75">
            <a:extLst>
              <a:ext uri="{FF2B5EF4-FFF2-40B4-BE49-F238E27FC236}">
                <a16:creationId xmlns:a16="http://schemas.microsoft.com/office/drawing/2014/main" id="{B6F0D551-E53F-5C4A-ACCC-F1CA62E44F30}"/>
              </a:ext>
            </a:extLst>
          </p:cNvPr>
          <p:cNvSpPr/>
          <p:nvPr/>
        </p:nvSpPr>
        <p:spPr>
          <a:xfrm>
            <a:off x="1016000" y="4546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7" name="Rectangle 76">
            <a:extLst>
              <a:ext uri="{FF2B5EF4-FFF2-40B4-BE49-F238E27FC236}">
                <a16:creationId xmlns:a16="http://schemas.microsoft.com/office/drawing/2014/main" id="{CAEF8CA9-6C7A-4644-88AB-CE9F8E40CBDD}"/>
              </a:ext>
            </a:extLst>
          </p:cNvPr>
          <p:cNvSpPr/>
          <p:nvPr/>
        </p:nvSpPr>
        <p:spPr>
          <a:xfrm>
            <a:off x="1397000" y="4546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8" name="Rectangle 77">
            <a:extLst>
              <a:ext uri="{FF2B5EF4-FFF2-40B4-BE49-F238E27FC236}">
                <a16:creationId xmlns:a16="http://schemas.microsoft.com/office/drawing/2014/main" id="{CDF3A5CA-C594-7B44-8EE6-5B3AF0FC8880}"/>
              </a:ext>
            </a:extLst>
          </p:cNvPr>
          <p:cNvSpPr/>
          <p:nvPr/>
        </p:nvSpPr>
        <p:spPr>
          <a:xfrm>
            <a:off x="1778000" y="4546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9" name="Rectangle 78">
            <a:extLst>
              <a:ext uri="{FF2B5EF4-FFF2-40B4-BE49-F238E27FC236}">
                <a16:creationId xmlns:a16="http://schemas.microsoft.com/office/drawing/2014/main" id="{15B7DE59-420D-4844-AAE3-47E5DBEF3852}"/>
              </a:ext>
            </a:extLst>
          </p:cNvPr>
          <p:cNvSpPr/>
          <p:nvPr/>
        </p:nvSpPr>
        <p:spPr>
          <a:xfrm>
            <a:off x="2159000" y="4546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0" name="Rectangle 79">
            <a:extLst>
              <a:ext uri="{FF2B5EF4-FFF2-40B4-BE49-F238E27FC236}">
                <a16:creationId xmlns:a16="http://schemas.microsoft.com/office/drawing/2014/main" id="{14BB27EB-2F95-BD45-BC0D-11439D837F25}"/>
              </a:ext>
            </a:extLst>
          </p:cNvPr>
          <p:cNvSpPr/>
          <p:nvPr/>
        </p:nvSpPr>
        <p:spPr>
          <a:xfrm>
            <a:off x="2540000" y="4546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1" name="Rectangle 80">
            <a:extLst>
              <a:ext uri="{FF2B5EF4-FFF2-40B4-BE49-F238E27FC236}">
                <a16:creationId xmlns:a16="http://schemas.microsoft.com/office/drawing/2014/main" id="{190C2003-BFEC-3247-8AE7-3361678B14A5}"/>
              </a:ext>
            </a:extLst>
          </p:cNvPr>
          <p:cNvSpPr/>
          <p:nvPr/>
        </p:nvSpPr>
        <p:spPr>
          <a:xfrm>
            <a:off x="2921000" y="4546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2" name="Rectangle 81">
            <a:extLst>
              <a:ext uri="{FF2B5EF4-FFF2-40B4-BE49-F238E27FC236}">
                <a16:creationId xmlns:a16="http://schemas.microsoft.com/office/drawing/2014/main" id="{9074BB07-2BAE-1042-B916-606C23E79227}"/>
              </a:ext>
            </a:extLst>
          </p:cNvPr>
          <p:cNvSpPr/>
          <p:nvPr/>
        </p:nvSpPr>
        <p:spPr>
          <a:xfrm>
            <a:off x="3302000" y="4546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3" name="Rectangle 82">
            <a:extLst>
              <a:ext uri="{FF2B5EF4-FFF2-40B4-BE49-F238E27FC236}">
                <a16:creationId xmlns:a16="http://schemas.microsoft.com/office/drawing/2014/main" id="{A0F5C781-DDBB-5047-AF26-539ACD1009D3}"/>
              </a:ext>
            </a:extLst>
          </p:cNvPr>
          <p:cNvSpPr/>
          <p:nvPr/>
        </p:nvSpPr>
        <p:spPr>
          <a:xfrm>
            <a:off x="3683000" y="4546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4" name="Rectangle 83">
            <a:extLst>
              <a:ext uri="{FF2B5EF4-FFF2-40B4-BE49-F238E27FC236}">
                <a16:creationId xmlns:a16="http://schemas.microsoft.com/office/drawing/2014/main" id="{286A95C0-616C-434D-9F35-E300458EE555}"/>
              </a:ext>
            </a:extLst>
          </p:cNvPr>
          <p:cNvSpPr/>
          <p:nvPr/>
        </p:nvSpPr>
        <p:spPr>
          <a:xfrm>
            <a:off x="4064000" y="4546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5" name="Rectangle 84">
            <a:extLst>
              <a:ext uri="{FF2B5EF4-FFF2-40B4-BE49-F238E27FC236}">
                <a16:creationId xmlns:a16="http://schemas.microsoft.com/office/drawing/2014/main" id="{E15EF2D5-C71B-BD45-8C74-E9008C85E398}"/>
              </a:ext>
            </a:extLst>
          </p:cNvPr>
          <p:cNvSpPr/>
          <p:nvPr/>
        </p:nvSpPr>
        <p:spPr>
          <a:xfrm>
            <a:off x="635000" y="4927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6" name="Rectangle 85">
            <a:extLst>
              <a:ext uri="{FF2B5EF4-FFF2-40B4-BE49-F238E27FC236}">
                <a16:creationId xmlns:a16="http://schemas.microsoft.com/office/drawing/2014/main" id="{8246BC74-B8CE-2845-8E96-DABDB4B9F2D1}"/>
              </a:ext>
            </a:extLst>
          </p:cNvPr>
          <p:cNvSpPr/>
          <p:nvPr/>
        </p:nvSpPr>
        <p:spPr>
          <a:xfrm>
            <a:off x="1016000" y="4927600"/>
            <a:ext cx="330200" cy="330200"/>
          </a:xfrm>
          <a:prstGeom prst="rect">
            <a:avLst/>
          </a:prstGeom>
          <a:solidFill>
            <a:srgbClr val="7FC2C4"/>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7" name="Rectangle 86">
            <a:extLst>
              <a:ext uri="{FF2B5EF4-FFF2-40B4-BE49-F238E27FC236}">
                <a16:creationId xmlns:a16="http://schemas.microsoft.com/office/drawing/2014/main" id="{D2A01C1B-331D-9A44-8EDC-C1079753E0EF}"/>
              </a:ext>
            </a:extLst>
          </p:cNvPr>
          <p:cNvSpPr/>
          <p:nvPr/>
        </p:nvSpPr>
        <p:spPr>
          <a:xfrm>
            <a:off x="1397000" y="4927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8" name="Rectangle 87">
            <a:extLst>
              <a:ext uri="{FF2B5EF4-FFF2-40B4-BE49-F238E27FC236}">
                <a16:creationId xmlns:a16="http://schemas.microsoft.com/office/drawing/2014/main" id="{BDDDDF3D-B6E1-AF44-8F90-FF3A748A4886}"/>
              </a:ext>
            </a:extLst>
          </p:cNvPr>
          <p:cNvSpPr/>
          <p:nvPr/>
        </p:nvSpPr>
        <p:spPr>
          <a:xfrm>
            <a:off x="1778000" y="4927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89" name="Rectangle 88">
            <a:extLst>
              <a:ext uri="{FF2B5EF4-FFF2-40B4-BE49-F238E27FC236}">
                <a16:creationId xmlns:a16="http://schemas.microsoft.com/office/drawing/2014/main" id="{AF13C89F-41FD-E54A-9F64-BC81B0207A7C}"/>
              </a:ext>
            </a:extLst>
          </p:cNvPr>
          <p:cNvSpPr/>
          <p:nvPr/>
        </p:nvSpPr>
        <p:spPr>
          <a:xfrm>
            <a:off x="2159000" y="4927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0" name="Rectangle 89">
            <a:extLst>
              <a:ext uri="{FF2B5EF4-FFF2-40B4-BE49-F238E27FC236}">
                <a16:creationId xmlns:a16="http://schemas.microsoft.com/office/drawing/2014/main" id="{EE9CF231-585A-B84E-9139-816F15EDF402}"/>
              </a:ext>
            </a:extLst>
          </p:cNvPr>
          <p:cNvSpPr/>
          <p:nvPr/>
        </p:nvSpPr>
        <p:spPr>
          <a:xfrm>
            <a:off x="2540000" y="4927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1" name="Rectangle 90">
            <a:extLst>
              <a:ext uri="{FF2B5EF4-FFF2-40B4-BE49-F238E27FC236}">
                <a16:creationId xmlns:a16="http://schemas.microsoft.com/office/drawing/2014/main" id="{759B0C3F-83F4-9F49-AD8A-BAEE0CF8451D}"/>
              </a:ext>
            </a:extLst>
          </p:cNvPr>
          <p:cNvSpPr/>
          <p:nvPr/>
        </p:nvSpPr>
        <p:spPr>
          <a:xfrm>
            <a:off x="2921000" y="4927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2" name="Rectangle 91">
            <a:extLst>
              <a:ext uri="{FF2B5EF4-FFF2-40B4-BE49-F238E27FC236}">
                <a16:creationId xmlns:a16="http://schemas.microsoft.com/office/drawing/2014/main" id="{54B46D8F-41A8-A248-BD16-9D1792325B61}"/>
              </a:ext>
            </a:extLst>
          </p:cNvPr>
          <p:cNvSpPr/>
          <p:nvPr/>
        </p:nvSpPr>
        <p:spPr>
          <a:xfrm>
            <a:off x="3302000" y="4927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3" name="Rectangle 92">
            <a:extLst>
              <a:ext uri="{FF2B5EF4-FFF2-40B4-BE49-F238E27FC236}">
                <a16:creationId xmlns:a16="http://schemas.microsoft.com/office/drawing/2014/main" id="{EDE5CD58-F5A7-524D-BCB8-6C55F58E250F}"/>
              </a:ext>
            </a:extLst>
          </p:cNvPr>
          <p:cNvSpPr/>
          <p:nvPr/>
        </p:nvSpPr>
        <p:spPr>
          <a:xfrm>
            <a:off x="3683000" y="4927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4" name="Rectangle 93">
            <a:extLst>
              <a:ext uri="{FF2B5EF4-FFF2-40B4-BE49-F238E27FC236}">
                <a16:creationId xmlns:a16="http://schemas.microsoft.com/office/drawing/2014/main" id="{ED502059-0121-1A48-AB0E-EBF3CB0AE2E2}"/>
              </a:ext>
            </a:extLst>
          </p:cNvPr>
          <p:cNvSpPr/>
          <p:nvPr/>
        </p:nvSpPr>
        <p:spPr>
          <a:xfrm>
            <a:off x="4064000" y="4927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5" name="Rectangle 94">
            <a:extLst>
              <a:ext uri="{FF2B5EF4-FFF2-40B4-BE49-F238E27FC236}">
                <a16:creationId xmlns:a16="http://schemas.microsoft.com/office/drawing/2014/main" id="{50542BEC-58CC-E04A-8520-D9FF072697A4}"/>
              </a:ext>
            </a:extLst>
          </p:cNvPr>
          <p:cNvSpPr/>
          <p:nvPr/>
        </p:nvSpPr>
        <p:spPr>
          <a:xfrm>
            <a:off x="635000" y="5308600"/>
            <a:ext cx="330200" cy="330200"/>
          </a:xfrm>
          <a:prstGeom prst="rect">
            <a:avLst/>
          </a:prstGeom>
          <a:solidFill>
            <a:srgbClr val="15686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6" name="Rectangle 95">
            <a:extLst>
              <a:ext uri="{FF2B5EF4-FFF2-40B4-BE49-F238E27FC236}">
                <a16:creationId xmlns:a16="http://schemas.microsoft.com/office/drawing/2014/main" id="{FA052133-7EFC-3947-B40D-690309E48E3F}"/>
              </a:ext>
            </a:extLst>
          </p:cNvPr>
          <p:cNvSpPr/>
          <p:nvPr/>
        </p:nvSpPr>
        <p:spPr>
          <a:xfrm>
            <a:off x="1016000" y="5308600"/>
            <a:ext cx="330200" cy="330200"/>
          </a:xfrm>
          <a:prstGeom prst="rect">
            <a:avLst/>
          </a:prstGeom>
          <a:solidFill>
            <a:srgbClr val="7FC2C4"/>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7" name="Rectangle 96">
            <a:extLst>
              <a:ext uri="{FF2B5EF4-FFF2-40B4-BE49-F238E27FC236}">
                <a16:creationId xmlns:a16="http://schemas.microsoft.com/office/drawing/2014/main" id="{AF4FBF61-F8A3-0240-A51B-18F4948A013D}"/>
              </a:ext>
            </a:extLst>
          </p:cNvPr>
          <p:cNvSpPr/>
          <p:nvPr/>
        </p:nvSpPr>
        <p:spPr>
          <a:xfrm>
            <a:off x="1397000" y="5308600"/>
            <a:ext cx="330200" cy="330200"/>
          </a:xfrm>
          <a:prstGeom prst="rect">
            <a:avLst/>
          </a:prstGeom>
          <a:solidFill>
            <a:srgbClr val="C6A15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8" name="Rectangle 97">
            <a:extLst>
              <a:ext uri="{FF2B5EF4-FFF2-40B4-BE49-F238E27FC236}">
                <a16:creationId xmlns:a16="http://schemas.microsoft.com/office/drawing/2014/main" id="{D0421656-3874-A34B-98D7-BFB36A7C3320}"/>
              </a:ext>
            </a:extLst>
          </p:cNvPr>
          <p:cNvSpPr/>
          <p:nvPr/>
        </p:nvSpPr>
        <p:spPr>
          <a:xfrm>
            <a:off x="1778000" y="5308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9" name="Rectangle 98">
            <a:extLst>
              <a:ext uri="{FF2B5EF4-FFF2-40B4-BE49-F238E27FC236}">
                <a16:creationId xmlns:a16="http://schemas.microsoft.com/office/drawing/2014/main" id="{4A69B9E8-DB86-0A41-9A15-04EFDF35ABF8}"/>
              </a:ext>
            </a:extLst>
          </p:cNvPr>
          <p:cNvSpPr/>
          <p:nvPr/>
        </p:nvSpPr>
        <p:spPr>
          <a:xfrm>
            <a:off x="2159000" y="5308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0" name="Rectangle 99">
            <a:extLst>
              <a:ext uri="{FF2B5EF4-FFF2-40B4-BE49-F238E27FC236}">
                <a16:creationId xmlns:a16="http://schemas.microsoft.com/office/drawing/2014/main" id="{301AD195-A49F-B140-9042-38D6317E33D0}"/>
              </a:ext>
            </a:extLst>
          </p:cNvPr>
          <p:cNvSpPr/>
          <p:nvPr/>
        </p:nvSpPr>
        <p:spPr>
          <a:xfrm>
            <a:off x="2540000" y="5308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1" name="Rectangle 100">
            <a:extLst>
              <a:ext uri="{FF2B5EF4-FFF2-40B4-BE49-F238E27FC236}">
                <a16:creationId xmlns:a16="http://schemas.microsoft.com/office/drawing/2014/main" id="{CA698327-7F19-744A-B7C4-0800AAC8645F}"/>
              </a:ext>
            </a:extLst>
          </p:cNvPr>
          <p:cNvSpPr/>
          <p:nvPr/>
        </p:nvSpPr>
        <p:spPr>
          <a:xfrm>
            <a:off x="2921000" y="5308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2" name="Rectangle 101">
            <a:extLst>
              <a:ext uri="{FF2B5EF4-FFF2-40B4-BE49-F238E27FC236}">
                <a16:creationId xmlns:a16="http://schemas.microsoft.com/office/drawing/2014/main" id="{89D370DB-09F3-2547-95F9-88BE721BB89B}"/>
              </a:ext>
            </a:extLst>
          </p:cNvPr>
          <p:cNvSpPr/>
          <p:nvPr/>
        </p:nvSpPr>
        <p:spPr>
          <a:xfrm>
            <a:off x="3302000" y="5308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3" name="Rectangle 102">
            <a:extLst>
              <a:ext uri="{FF2B5EF4-FFF2-40B4-BE49-F238E27FC236}">
                <a16:creationId xmlns:a16="http://schemas.microsoft.com/office/drawing/2014/main" id="{B8DF9CCF-A22F-D94C-9716-6D1A6CD4B84A}"/>
              </a:ext>
            </a:extLst>
          </p:cNvPr>
          <p:cNvSpPr/>
          <p:nvPr/>
        </p:nvSpPr>
        <p:spPr>
          <a:xfrm>
            <a:off x="3683000" y="5308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4" name="Rectangle 103">
            <a:extLst>
              <a:ext uri="{FF2B5EF4-FFF2-40B4-BE49-F238E27FC236}">
                <a16:creationId xmlns:a16="http://schemas.microsoft.com/office/drawing/2014/main" id="{E237575B-AEF6-EF47-ADA0-0AF683B51EFB}"/>
              </a:ext>
            </a:extLst>
          </p:cNvPr>
          <p:cNvSpPr/>
          <p:nvPr/>
        </p:nvSpPr>
        <p:spPr>
          <a:xfrm>
            <a:off x="4064000" y="5308600"/>
            <a:ext cx="330200" cy="330200"/>
          </a:xfrm>
          <a:prstGeom prst="rect">
            <a:avLst/>
          </a:prstGeom>
          <a:solidFill>
            <a:srgbClr val="E8EBEF"/>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5" name="TextBox 104">
            <a:extLst>
              <a:ext uri="{FF2B5EF4-FFF2-40B4-BE49-F238E27FC236}">
                <a16:creationId xmlns:a16="http://schemas.microsoft.com/office/drawing/2014/main" id="{C06B23F2-591B-3B44-AAE5-E635D5E1434A}"/>
              </a:ext>
            </a:extLst>
          </p:cNvPr>
          <p:cNvSpPr txBox="1"/>
          <p:nvPr/>
        </p:nvSpPr>
        <p:spPr>
          <a:xfrm>
            <a:off x="4978400" y="1879600"/>
            <a:ext cx="65786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8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Before any condition: all 100</a:t>
            </a:r>
          </a:p>
        </p:txBody>
      </p:sp>
      <p:sp>
        <p:nvSpPr>
          <p:cNvPr id="106" name="Rectangle 105">
            <a:extLst>
              <a:ext uri="{FF2B5EF4-FFF2-40B4-BE49-F238E27FC236}">
                <a16:creationId xmlns:a16="http://schemas.microsoft.com/office/drawing/2014/main" id="{8D7A9466-40A6-AB45-BC02-634BB7B88557}"/>
              </a:ext>
            </a:extLst>
          </p:cNvPr>
          <p:cNvSpPr/>
          <p:nvPr/>
        </p:nvSpPr>
        <p:spPr>
          <a:xfrm>
            <a:off x="4978400" y="2362200"/>
            <a:ext cx="254000" cy="254000"/>
          </a:xfrm>
          <a:prstGeom prst="rect">
            <a:avLst/>
          </a:prstGeom>
          <a:solidFill>
            <a:srgbClr val="15686B"/>
          </a:solidFill>
          <a:ln w="9525" cap="flat" cmpd="sng" algn="ctr">
            <a:solidFill>
              <a:srgbClr val="9AA3A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07" name="TextBox 106">
            <a:extLst>
              <a:ext uri="{FF2B5EF4-FFF2-40B4-BE49-F238E27FC236}">
                <a16:creationId xmlns:a16="http://schemas.microsoft.com/office/drawing/2014/main" id="{1BBE7E6C-F6BA-864C-A6E7-969E5FDBA247}"/>
              </a:ext>
            </a:extLst>
          </p:cNvPr>
          <p:cNvSpPr txBox="1"/>
          <p:nvPr/>
        </p:nvSpPr>
        <p:spPr>
          <a:xfrm>
            <a:off x="5384800" y="23368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Both A and B</a:t>
            </a:r>
          </a:p>
        </p:txBody>
      </p:sp>
      <p:sp>
        <p:nvSpPr>
          <p:cNvPr id="108" name="TextBox 107">
            <a:extLst>
              <a:ext uri="{FF2B5EF4-FFF2-40B4-BE49-F238E27FC236}">
                <a16:creationId xmlns:a16="http://schemas.microsoft.com/office/drawing/2014/main" id="{1E7AE5B6-C62B-D44C-B187-9B18D4D35EBB}"/>
              </a:ext>
            </a:extLst>
          </p:cNvPr>
          <p:cNvSpPr txBox="1"/>
          <p:nvPr/>
        </p:nvSpPr>
        <p:spPr>
          <a:xfrm>
            <a:off x="8128000" y="23368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18</a:t>
            </a:r>
          </a:p>
        </p:txBody>
      </p:sp>
      <p:sp>
        <p:nvSpPr>
          <p:cNvPr id="109" name="TextBox 108">
            <a:extLst>
              <a:ext uri="{FF2B5EF4-FFF2-40B4-BE49-F238E27FC236}">
                <a16:creationId xmlns:a16="http://schemas.microsoft.com/office/drawing/2014/main" id="{7B481C6F-ABDC-4744-8CDD-41EE0F5A92B1}"/>
              </a:ext>
            </a:extLst>
          </p:cNvPr>
          <p:cNvSpPr txBox="1"/>
          <p:nvPr/>
        </p:nvSpPr>
        <p:spPr>
          <a:xfrm>
            <a:off x="8839200" y="2362200"/>
            <a:ext cx="2159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in A and in B</a:t>
            </a:r>
          </a:p>
        </p:txBody>
      </p:sp>
      <p:sp>
        <p:nvSpPr>
          <p:cNvPr id="110" name="Rectangle 109">
            <a:extLst>
              <a:ext uri="{FF2B5EF4-FFF2-40B4-BE49-F238E27FC236}">
                <a16:creationId xmlns:a16="http://schemas.microsoft.com/office/drawing/2014/main" id="{541A0012-DBDC-FC48-B6E8-716B20588186}"/>
              </a:ext>
            </a:extLst>
          </p:cNvPr>
          <p:cNvSpPr/>
          <p:nvPr/>
        </p:nvSpPr>
        <p:spPr>
          <a:xfrm>
            <a:off x="4978400" y="2794000"/>
            <a:ext cx="254000" cy="254000"/>
          </a:xfrm>
          <a:prstGeom prst="rect">
            <a:avLst/>
          </a:prstGeom>
          <a:solidFill>
            <a:srgbClr val="7FC2C4"/>
          </a:solidFill>
          <a:ln w="9525" cap="flat" cmpd="sng" algn="ctr">
            <a:solidFill>
              <a:srgbClr val="9AA3A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1" name="TextBox 110">
            <a:extLst>
              <a:ext uri="{FF2B5EF4-FFF2-40B4-BE49-F238E27FC236}">
                <a16:creationId xmlns:a16="http://schemas.microsoft.com/office/drawing/2014/main" id="{E7000FC0-4E00-9C48-894B-050E31622505}"/>
              </a:ext>
            </a:extLst>
          </p:cNvPr>
          <p:cNvSpPr txBox="1"/>
          <p:nvPr/>
        </p:nvSpPr>
        <p:spPr>
          <a:xfrm>
            <a:off x="5384800" y="27686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A only</a:t>
            </a:r>
          </a:p>
        </p:txBody>
      </p:sp>
      <p:sp>
        <p:nvSpPr>
          <p:cNvPr id="112" name="TextBox 111">
            <a:extLst>
              <a:ext uri="{FF2B5EF4-FFF2-40B4-BE49-F238E27FC236}">
                <a16:creationId xmlns:a16="http://schemas.microsoft.com/office/drawing/2014/main" id="{F1A8B30B-D024-CF4E-9F3A-5BDA2E3C393F}"/>
              </a:ext>
            </a:extLst>
          </p:cNvPr>
          <p:cNvSpPr txBox="1"/>
          <p:nvPr/>
        </p:nvSpPr>
        <p:spPr>
          <a:xfrm>
            <a:off x="8128000" y="27686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2</a:t>
            </a:r>
          </a:p>
        </p:txBody>
      </p:sp>
      <p:sp>
        <p:nvSpPr>
          <p:cNvPr id="113" name="TextBox 112">
            <a:extLst>
              <a:ext uri="{FF2B5EF4-FFF2-40B4-BE49-F238E27FC236}">
                <a16:creationId xmlns:a16="http://schemas.microsoft.com/office/drawing/2014/main" id="{F770C116-9CC0-FC4D-8538-D24FF7D79FE2}"/>
              </a:ext>
            </a:extLst>
          </p:cNvPr>
          <p:cNvSpPr txBox="1"/>
          <p:nvPr/>
        </p:nvSpPr>
        <p:spPr>
          <a:xfrm>
            <a:off x="8839200" y="2794000"/>
            <a:ext cx="2159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in A, not B</a:t>
            </a:r>
          </a:p>
        </p:txBody>
      </p:sp>
      <p:sp>
        <p:nvSpPr>
          <p:cNvPr id="114" name="Rectangle 113">
            <a:extLst>
              <a:ext uri="{FF2B5EF4-FFF2-40B4-BE49-F238E27FC236}">
                <a16:creationId xmlns:a16="http://schemas.microsoft.com/office/drawing/2014/main" id="{39637ED4-0645-D845-9A0D-514FCC238DA5}"/>
              </a:ext>
            </a:extLst>
          </p:cNvPr>
          <p:cNvSpPr/>
          <p:nvPr/>
        </p:nvSpPr>
        <p:spPr>
          <a:xfrm>
            <a:off x="4978400" y="3225800"/>
            <a:ext cx="254000" cy="254000"/>
          </a:xfrm>
          <a:prstGeom prst="rect">
            <a:avLst/>
          </a:prstGeom>
          <a:solidFill>
            <a:srgbClr val="C6A15B"/>
          </a:solidFill>
          <a:ln w="9525" cap="flat" cmpd="sng" algn="ctr">
            <a:solidFill>
              <a:srgbClr val="9AA3A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5" name="TextBox 114">
            <a:extLst>
              <a:ext uri="{FF2B5EF4-FFF2-40B4-BE49-F238E27FC236}">
                <a16:creationId xmlns:a16="http://schemas.microsoft.com/office/drawing/2014/main" id="{6FCA6B3D-2F53-9D4B-A779-945503DCB593}"/>
              </a:ext>
            </a:extLst>
          </p:cNvPr>
          <p:cNvSpPr txBox="1"/>
          <p:nvPr/>
        </p:nvSpPr>
        <p:spPr>
          <a:xfrm>
            <a:off x="5384800" y="32004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B only</a:t>
            </a:r>
          </a:p>
        </p:txBody>
      </p:sp>
      <p:sp>
        <p:nvSpPr>
          <p:cNvPr id="116" name="TextBox 115">
            <a:extLst>
              <a:ext uri="{FF2B5EF4-FFF2-40B4-BE49-F238E27FC236}">
                <a16:creationId xmlns:a16="http://schemas.microsoft.com/office/drawing/2014/main" id="{37E24AF1-CEA5-D74F-9878-2FB2BE1E1F59}"/>
              </a:ext>
            </a:extLst>
          </p:cNvPr>
          <p:cNvSpPr txBox="1"/>
          <p:nvPr/>
        </p:nvSpPr>
        <p:spPr>
          <a:xfrm>
            <a:off x="8128000" y="32004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12</a:t>
            </a:r>
          </a:p>
        </p:txBody>
      </p:sp>
      <p:sp>
        <p:nvSpPr>
          <p:cNvPr id="117" name="TextBox 116">
            <a:extLst>
              <a:ext uri="{FF2B5EF4-FFF2-40B4-BE49-F238E27FC236}">
                <a16:creationId xmlns:a16="http://schemas.microsoft.com/office/drawing/2014/main" id="{68FE9752-5C4A-BE43-B3B3-983D420ACF09}"/>
              </a:ext>
            </a:extLst>
          </p:cNvPr>
          <p:cNvSpPr txBox="1"/>
          <p:nvPr/>
        </p:nvSpPr>
        <p:spPr>
          <a:xfrm>
            <a:off x="8839200" y="3225800"/>
            <a:ext cx="2159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in B, not A</a:t>
            </a:r>
          </a:p>
        </p:txBody>
      </p:sp>
      <p:sp>
        <p:nvSpPr>
          <p:cNvPr id="118" name="Rectangle 117">
            <a:extLst>
              <a:ext uri="{FF2B5EF4-FFF2-40B4-BE49-F238E27FC236}">
                <a16:creationId xmlns:a16="http://schemas.microsoft.com/office/drawing/2014/main" id="{818B5D93-2A3D-3D40-95FB-C1298C366EF5}"/>
              </a:ext>
            </a:extLst>
          </p:cNvPr>
          <p:cNvSpPr/>
          <p:nvPr/>
        </p:nvSpPr>
        <p:spPr>
          <a:xfrm>
            <a:off x="4978400" y="3657600"/>
            <a:ext cx="254000" cy="254000"/>
          </a:xfrm>
          <a:prstGeom prst="rect">
            <a:avLst/>
          </a:prstGeom>
          <a:solidFill>
            <a:srgbClr val="E8EBEF"/>
          </a:solidFill>
          <a:ln w="9525" cap="flat" cmpd="sng" algn="ctr">
            <a:solidFill>
              <a:srgbClr val="9AA3A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19" name="TextBox 118">
            <a:extLst>
              <a:ext uri="{FF2B5EF4-FFF2-40B4-BE49-F238E27FC236}">
                <a16:creationId xmlns:a16="http://schemas.microsoft.com/office/drawing/2014/main" id="{B64BDD63-DFE6-D141-A4A7-ED2FF2AF6637}"/>
              </a:ext>
            </a:extLst>
          </p:cNvPr>
          <p:cNvSpPr txBox="1"/>
          <p:nvPr/>
        </p:nvSpPr>
        <p:spPr>
          <a:xfrm>
            <a:off x="5384800" y="3632200"/>
            <a:ext cx="2616200" cy="3048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0" i="0" u="none" strike="noStrike" kern="1200" cap="none" spc="0" normalizeH="0" baseline="0" noProof="0" dirty="0">
                <a:ln>
                  <a:noFill/>
                </a:ln>
                <a:solidFill>
                  <a:srgbClr val="374151"/>
                </a:solidFill>
                <a:effectLst/>
                <a:uLnTx/>
                <a:uFillTx/>
                <a:latin typeface="Calibri" pitchFamily="34" charset="0"/>
                <a:ea typeface="Calibri" pitchFamily="34" charset="-122"/>
                <a:cs typeface="Calibri" pitchFamily="34" charset="-120"/>
              </a:rPr>
              <a:t>Neither</a:t>
            </a:r>
          </a:p>
        </p:txBody>
      </p:sp>
      <p:sp>
        <p:nvSpPr>
          <p:cNvPr id="120" name="TextBox 119">
            <a:extLst>
              <a:ext uri="{FF2B5EF4-FFF2-40B4-BE49-F238E27FC236}">
                <a16:creationId xmlns:a16="http://schemas.microsoft.com/office/drawing/2014/main" id="{D780A036-9714-3B4A-A3CB-81427BC33EC6}"/>
              </a:ext>
            </a:extLst>
          </p:cNvPr>
          <p:cNvSpPr txBox="1"/>
          <p:nvPr/>
        </p:nvSpPr>
        <p:spPr>
          <a:xfrm>
            <a:off x="8128000" y="3632200"/>
            <a:ext cx="635000" cy="304800"/>
          </a:xfrm>
          <a:prstGeom prst="rect">
            <a:avLst/>
          </a:prstGeom>
          <a:noFill/>
        </p:spPr>
        <p:txBody>
          <a:bodyPr vertOverflow="overflow" vert="horz" wrap="none" rtlCol="0" anchor="t" anchorCtr="0">
            <a:noAutofit/>
          </a:bodyPr>
          <a:lstStyle/>
          <a:p>
            <a:pPr marL="0" marR="0" lvl="0" indent="0" algn="r"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68</a:t>
            </a:r>
          </a:p>
        </p:txBody>
      </p:sp>
      <p:sp>
        <p:nvSpPr>
          <p:cNvPr id="121" name="TextBox 120">
            <a:extLst>
              <a:ext uri="{FF2B5EF4-FFF2-40B4-BE49-F238E27FC236}">
                <a16:creationId xmlns:a16="http://schemas.microsoft.com/office/drawing/2014/main" id="{27EA3682-EC54-664F-8A7E-B45DD1B1A3F1}"/>
              </a:ext>
            </a:extLst>
          </p:cNvPr>
          <p:cNvSpPr txBox="1"/>
          <p:nvPr/>
        </p:nvSpPr>
        <p:spPr>
          <a:xfrm>
            <a:off x="8839200" y="3657600"/>
            <a:ext cx="2159000" cy="279400"/>
          </a:xfrm>
          <a:prstGeom prst="rect">
            <a:avLst/>
          </a:prstGeom>
          <a:noFill/>
        </p:spPr>
        <p:txBody>
          <a:bodyPr vertOverflow="overflow" vert="horz" wrap="square" rtlCol="0" anchor="t" anchorCtr="0">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in neither</a:t>
            </a:r>
          </a:p>
        </p:txBody>
      </p:sp>
      <p:sp>
        <p:nvSpPr>
          <p:cNvPr id="122" name="Rectangle 121">
            <a:extLst>
              <a:ext uri="{FF2B5EF4-FFF2-40B4-BE49-F238E27FC236}">
                <a16:creationId xmlns:a16="http://schemas.microsoft.com/office/drawing/2014/main" id="{D528020E-58B3-3C46-B6B0-FC4B21C17998}"/>
              </a:ext>
            </a:extLst>
          </p:cNvPr>
          <p:cNvSpPr/>
          <p:nvPr/>
        </p:nvSpPr>
        <p:spPr>
          <a:xfrm>
            <a:off x="4978400" y="4267200"/>
            <a:ext cx="6578600" cy="25400"/>
          </a:xfrm>
          <a:prstGeom prst="rect">
            <a:avLst/>
          </a:prstGeom>
          <a:solidFill>
            <a:srgbClr val="D8DCE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0" name="TextBox 129">
            <a:extLst>
              <a:ext uri="{FF2B5EF4-FFF2-40B4-BE49-F238E27FC236}">
                <a16:creationId xmlns:a16="http://schemas.microsoft.com/office/drawing/2014/main" id="{8BD81F47-134E-704F-A548-470CFCC3D651}"/>
              </a:ext>
            </a:extLst>
          </p:cNvPr>
          <p:cNvSpPr txBox="1"/>
          <p:nvPr/>
        </p:nvSpPr>
        <p:spPr>
          <a:xfrm>
            <a:off x="635000" y="6172200"/>
            <a:ext cx="10922000" cy="279400"/>
          </a:xfrm>
          <a:prstGeom prst="rect">
            <a:avLst/>
          </a:prstGeom>
          <a:noFill/>
        </p:spPr>
        <p:txBody>
          <a:bodyPr vertOverflow="overflow" vert="horz" wrap="square" rtlCol="0" anchor="t" anchorCtr="0">
            <a:noAutofit/>
          </a:bodyPr>
          <a:lstStyle/>
          <a:p>
            <a:pPr marL="0" marR="0" lvl="0" indent="0" algn="ctr" defTabSz="914400" rtl="0" eaLnBrk="1" fontAlgn="auto" latinLnBrk="0" hangingPunct="1">
              <a:lnSpc>
                <a:spcPct val="100000"/>
              </a:lnSpc>
              <a:spcBef>
                <a:spcPts val="0"/>
              </a:spcBef>
              <a:spcAft>
                <a:spcPts val="0"/>
              </a:spcAft>
              <a:buNone/>
              <a:tabLst/>
              <a:defRPr/>
            </a:pPr>
            <a:r>
              <a:rPr kumimoji="0" lang="en-US" sz="1400" b="0" i="1"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Conditioning is a decision about </a:t>
            </a:r>
            <a:r>
              <a:rPr kumimoji="0" lang="en-US" sz="1400" b="1" i="1"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who stays in the picture</a:t>
            </a:r>
            <a:r>
              <a:rPr kumimoji="0" lang="en-US" sz="1400" b="0" i="1"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 not arithmetic on a fraction.</a:t>
            </a:r>
          </a:p>
        </p:txBody>
      </p:sp>
      <p:sp>
        <p:nvSpPr>
          <p:cNvPr id="133" name="PCondHead">
            <a:extLst>
              <a:ext uri="{FF2B5EF4-FFF2-40B4-BE49-F238E27FC236}">
                <a16:creationId xmlns:a16="http://schemas.microsoft.com/office/drawing/2014/main" id="{211C45E5-B917-2546-AFA6-D5639059BE43}"/>
              </a:ext>
            </a:extLst>
          </p:cNvPr>
          <p:cNvSpPr txBox="1"/>
          <p:nvPr/>
        </p:nvSpPr>
        <p:spPr>
          <a:xfrm>
            <a:off x="4978400" y="4368800"/>
            <a:ext cx="6578600" cy="304800"/>
          </a:xfrm>
          <a:prstGeom prst="rect">
            <a:avLst/>
          </a:prstGeom>
          <a:noFill/>
        </p:spPr>
        <p:txBody>
          <a:bodyPr vertOverflow="overflow" vert="horz" wrap="non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8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The condition shrinks the population</a:t>
            </a:r>
          </a:p>
        </p:txBody>
      </p:sp>
      <p:sp>
        <p:nvSpPr>
          <p:cNvPr id="134" name="CaseABox">
            <a:extLst>
              <a:ext uri="{FF2B5EF4-FFF2-40B4-BE49-F238E27FC236}">
                <a16:creationId xmlns:a16="http://schemas.microsoft.com/office/drawing/2014/main" id="{E37346A4-A17F-8549-8F75-BFBAFF076092}"/>
              </a:ext>
            </a:extLst>
          </p:cNvPr>
          <p:cNvSpPr/>
          <p:nvPr/>
        </p:nvSpPr>
        <p:spPr>
          <a:xfrm>
            <a:off x="4978400" y="4800600"/>
            <a:ext cx="3124200" cy="1219200"/>
          </a:xfrm>
          <a:prstGeom prst="rect">
            <a:avLst/>
          </a:prstGeom>
          <a:solidFill>
            <a:srgbClr val="FAFBFC"/>
          </a:solidFill>
          <a:ln w="12700" cap="flat" cmpd="sng" algn="ctr">
            <a:solidFill>
              <a:srgbClr val="1568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5" name="CaseABar">
            <a:extLst>
              <a:ext uri="{FF2B5EF4-FFF2-40B4-BE49-F238E27FC236}">
                <a16:creationId xmlns:a16="http://schemas.microsoft.com/office/drawing/2014/main" id="{67C8C123-10DD-2942-AFEE-656640AA31D4}"/>
              </a:ext>
            </a:extLst>
          </p:cNvPr>
          <p:cNvSpPr/>
          <p:nvPr/>
        </p:nvSpPr>
        <p:spPr>
          <a:xfrm>
            <a:off x="4978400" y="4800600"/>
            <a:ext cx="50800" cy="12192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6" name="CaseBBox">
            <a:extLst>
              <a:ext uri="{FF2B5EF4-FFF2-40B4-BE49-F238E27FC236}">
                <a16:creationId xmlns:a16="http://schemas.microsoft.com/office/drawing/2014/main" id="{897235DB-D08A-E442-AB1C-BC085A713B10}"/>
              </a:ext>
            </a:extLst>
          </p:cNvPr>
          <p:cNvSpPr/>
          <p:nvPr/>
        </p:nvSpPr>
        <p:spPr>
          <a:xfrm>
            <a:off x="8331200" y="4800600"/>
            <a:ext cx="3124200" cy="1219200"/>
          </a:xfrm>
          <a:prstGeom prst="rect">
            <a:avLst/>
          </a:prstGeom>
          <a:solidFill>
            <a:srgbClr val="FAFBFC"/>
          </a:solidFill>
          <a:ln w="12700" cap="flat" cmpd="sng" algn="ctr">
            <a:solidFill>
              <a:srgbClr val="C6A15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7" name="CaseBBar">
            <a:extLst>
              <a:ext uri="{FF2B5EF4-FFF2-40B4-BE49-F238E27FC236}">
                <a16:creationId xmlns:a16="http://schemas.microsoft.com/office/drawing/2014/main" id="{EE88F514-A40D-2C4B-AF77-BA7BEED34EE5}"/>
              </a:ext>
            </a:extLst>
          </p:cNvPr>
          <p:cNvSpPr/>
          <p:nvPr/>
        </p:nvSpPr>
        <p:spPr>
          <a:xfrm>
            <a:off x="8331200" y="4800600"/>
            <a:ext cx="50800" cy="1219200"/>
          </a:xfrm>
          <a:prstGeom prst="rect">
            <a:avLst/>
          </a:prstGeom>
          <a:solidFill>
            <a:srgbClr val="C6A15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38" name="C1Expr">
            <a:extLst>
              <a:ext uri="{FF2B5EF4-FFF2-40B4-BE49-F238E27FC236}">
                <a16:creationId xmlns:a16="http://schemas.microsoft.com/office/drawing/2014/main" id="{1F895045-82FD-024F-B222-72A2C040234D}"/>
              </a:ext>
            </a:extLst>
          </p:cNvPr>
          <p:cNvSpPr txBox="1"/>
          <p:nvPr/>
        </p:nvSpPr>
        <p:spPr>
          <a:xfrm>
            <a:off x="5156200" y="4927600"/>
            <a:ext cx="1905000" cy="2794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P(B | A)</a:t>
            </a:r>
          </a:p>
        </p:txBody>
      </p:sp>
      <p:sp>
        <p:nvSpPr>
          <p:cNvPr id="139" name="C1Frac">
            <a:extLst>
              <a:ext uri="{FF2B5EF4-FFF2-40B4-BE49-F238E27FC236}">
                <a16:creationId xmlns:a16="http://schemas.microsoft.com/office/drawing/2014/main" id="{CEF130A8-3326-C94D-8051-27B2B00E04AE}"/>
              </a:ext>
            </a:extLst>
          </p:cNvPr>
          <p:cNvSpPr txBox="1"/>
          <p:nvPr/>
        </p:nvSpPr>
        <p:spPr>
          <a:xfrm>
            <a:off x="5156200" y="5257800"/>
            <a:ext cx="2819400" cy="2794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Throw away the 80 non-A. 20 left.</a:t>
            </a:r>
          </a:p>
        </p:txBody>
      </p:sp>
      <p:sp>
        <p:nvSpPr>
          <p:cNvPr id="140" name="C1Ans">
            <a:extLst>
              <a:ext uri="{FF2B5EF4-FFF2-40B4-BE49-F238E27FC236}">
                <a16:creationId xmlns:a16="http://schemas.microsoft.com/office/drawing/2014/main" id="{31E5368C-FC66-FA43-B4EE-51A522CD5AD5}"/>
              </a:ext>
            </a:extLst>
          </p:cNvPr>
          <p:cNvSpPr txBox="1"/>
          <p:nvPr/>
        </p:nvSpPr>
        <p:spPr>
          <a:xfrm>
            <a:off x="5156200" y="5588000"/>
            <a:ext cx="2819400" cy="2794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18 of the 20 A  are B = 90%</a:t>
            </a:r>
          </a:p>
        </p:txBody>
      </p:sp>
      <p:sp>
        <p:nvSpPr>
          <p:cNvPr id="141" name="C2Expr">
            <a:extLst>
              <a:ext uri="{FF2B5EF4-FFF2-40B4-BE49-F238E27FC236}">
                <a16:creationId xmlns:a16="http://schemas.microsoft.com/office/drawing/2014/main" id="{72E23C24-14B5-AC45-8F2D-0049357E9A74}"/>
              </a:ext>
            </a:extLst>
          </p:cNvPr>
          <p:cNvSpPr txBox="1"/>
          <p:nvPr/>
        </p:nvSpPr>
        <p:spPr>
          <a:xfrm>
            <a:off x="8509000" y="4927600"/>
            <a:ext cx="1905000" cy="2794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P(A | B)</a:t>
            </a:r>
          </a:p>
        </p:txBody>
      </p:sp>
      <p:sp>
        <p:nvSpPr>
          <p:cNvPr id="142" name="C2Frac">
            <a:extLst>
              <a:ext uri="{FF2B5EF4-FFF2-40B4-BE49-F238E27FC236}">
                <a16:creationId xmlns:a16="http://schemas.microsoft.com/office/drawing/2014/main" id="{417D223C-8D35-A54E-9293-67989AAD33E8}"/>
              </a:ext>
            </a:extLst>
          </p:cNvPr>
          <p:cNvSpPr txBox="1"/>
          <p:nvPr/>
        </p:nvSpPr>
        <p:spPr>
          <a:xfrm>
            <a:off x="8509000" y="5257800"/>
            <a:ext cx="2819400" cy="2794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4B5563"/>
                </a:solidFill>
                <a:effectLst/>
                <a:uLnTx/>
                <a:uFillTx/>
                <a:latin typeface="Calibri" pitchFamily="34" charset="0"/>
                <a:ea typeface="Calibri" pitchFamily="34" charset="-122"/>
                <a:cs typeface="Calibri" pitchFamily="34" charset="-120"/>
              </a:rPr>
              <a:t>Throw away the 70 non-B. 30 left.</a:t>
            </a:r>
          </a:p>
        </p:txBody>
      </p:sp>
      <p:sp>
        <p:nvSpPr>
          <p:cNvPr id="143" name="C2Ans">
            <a:extLst>
              <a:ext uri="{FF2B5EF4-FFF2-40B4-BE49-F238E27FC236}">
                <a16:creationId xmlns:a16="http://schemas.microsoft.com/office/drawing/2014/main" id="{BA81D76C-07BA-EE4F-BD19-951AEBB6288F}"/>
              </a:ext>
            </a:extLst>
          </p:cNvPr>
          <p:cNvSpPr txBox="1"/>
          <p:nvPr/>
        </p:nvSpPr>
        <p:spPr>
          <a:xfrm>
            <a:off x="8509000" y="5588000"/>
            <a:ext cx="2819400" cy="279400"/>
          </a:xfrm>
          <a:prstGeom prst="rect">
            <a:avLst/>
          </a:prstGeom>
          <a:noFill/>
        </p:spPr>
        <p:txBody>
          <a:bodyPr vertOverflow="overflow" vert="horz" wrap="square" rtlCol="0" anchor="t">
            <a:noAutofit/>
          </a:bodyPr>
          <a:lstStyle/>
          <a:p>
            <a:pPr marL="0" marR="0" lvl="0" indent="0" algn="l"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A6803A"/>
                </a:solidFill>
                <a:effectLst/>
                <a:uLnTx/>
                <a:uFillTx/>
                <a:latin typeface="Calibri" pitchFamily="34" charset="0"/>
                <a:ea typeface="Calibri" pitchFamily="34" charset="-122"/>
                <a:cs typeface="Calibri" pitchFamily="34" charset="-120"/>
              </a:rPr>
              <a:t>18 of the 30 B are A = 60%</a:t>
            </a:r>
          </a:p>
        </p:txBody>
      </p:sp>
    </p:spTree>
    <p:extLst>
      <p:ext uri="{BB962C8B-B14F-4D97-AF65-F5344CB8AC3E}">
        <p14:creationId xmlns:p14="http://schemas.microsoft.com/office/powerpoint/2010/main" val="3364619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COUNT THE MORNINGS</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The Wet Lawn Waffle Chart</a:t>
            </a:r>
          </a:p>
        </p:txBody>
      </p:sp>
      <p:pic>
        <p:nvPicPr>
          <p:cNvPr id="20" name="The two question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273778" y="1714500"/>
            <a:ext cx="7644444" cy="4300000"/>
          </a:xfrm>
          <a:prstGeom prst="rect">
            <a:avLst/>
          </a:prstGeom>
          <a:ln w="12700">
            <a:solidFill>
              <a:srgbClr val="DEE3E5"/>
            </a:solidFill>
          </a:ln>
        </p:spPr>
      </p:pic>
      <p:sp>
        <p:nvSpPr>
          <p:cNvPr id="30" name="Cap"/>
          <p:cNvSpPr/>
          <p:nvPr/>
        </p:nvSpPr>
        <p:spPr>
          <a:xfrm>
            <a:off x="640080" y="6172200"/>
            <a:ext cx="1091184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None/>
              <a:tabLst/>
              <a:defRPr/>
            </a:pPr>
            <a:r>
              <a:rPr kumimoji="0" lang="en-US" sz="14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Each square is one morning. Every probability here is one count divided by another: 18/20 is P(lawn wet | rain), 18/30 is P(rain | lawn wet). Two minutes.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FROM THE LAWN TO THE CLINIC</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Every test reports two numbers, and each one flips</a:t>
            </a:r>
          </a:p>
        </p:txBody>
      </p:sp>
      <p:sp>
        <p:nvSpPr>
          <p:cNvPr id="20" name="card20"/>
          <p:cNvSpPr/>
          <p:nvPr/>
        </p:nvSpPr>
        <p:spPr>
          <a:xfrm>
            <a:off x="640080" y="2057400"/>
            <a:ext cx="5303520" cy="2514600"/>
          </a:xfrm>
          <a:prstGeom prst="roundRect">
            <a:avLst>
              <a:gd name="adj" fmla="val 5000"/>
            </a:avLst>
          </a:prstGeom>
          <a:solidFill>
            <a:srgbClr val="F4F6F8"/>
          </a:solidFill>
          <a:ln w="12700">
            <a:solidFill>
              <a:srgbClr val="15686B"/>
            </a:solidFill>
            <a:prstDash val="solid"/>
          </a:ln>
        </p:spPr>
        <p:txBody>
          <a:bodyPr/>
          <a:lstStyle/>
          <a:p>
            <a:endParaRPr/>
          </a:p>
        </p:txBody>
      </p:sp>
      <p:sp>
        <p:nvSpPr>
          <p:cNvPr id="21" name="h20"/>
          <p:cNvSpPr/>
          <p:nvPr/>
        </p:nvSpPr>
        <p:spPr>
          <a:xfrm>
            <a:off x="914400" y="2263140"/>
            <a:ext cx="4754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50" normalizeH="0" baseline="0" noProof="0" dirty="0">
                <a:ln>
                  <a:noFill/>
                </a:ln>
                <a:solidFill>
                  <a:srgbClr val="15686B"/>
                </a:solidFill>
                <a:effectLst/>
                <a:uLnTx/>
                <a:uFillTx/>
                <a:latin typeface="Calibri" pitchFamily="34" charset="0"/>
                <a:ea typeface="Calibri" pitchFamily="34" charset="-122"/>
                <a:cs typeface="Calibri" pitchFamily="34" charset="-120"/>
              </a:rPr>
              <a:t>SENSITIVITY</a:t>
            </a:r>
          </a:p>
        </p:txBody>
      </p:sp>
      <p:sp>
        <p:nvSpPr>
          <p:cNvPr id="22" name="f20"/>
          <p:cNvSpPr/>
          <p:nvPr/>
        </p:nvSpPr>
        <p:spPr>
          <a:xfrm>
            <a:off x="914400" y="2651760"/>
            <a:ext cx="4754880" cy="64008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test positive | have the cause )</a:t>
            </a:r>
          </a:p>
        </p:txBody>
      </p:sp>
      <p:sp>
        <p:nvSpPr>
          <p:cNvPr id="23" name="fl20"/>
          <p:cNvSpPr/>
          <p:nvPr/>
        </p:nvSpPr>
        <p:spPr>
          <a:xfrm>
            <a:off x="914400" y="3246120"/>
            <a:ext cx="475488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2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what the test is measured on</a:t>
            </a:r>
          </a:p>
        </p:txBody>
      </p:sp>
      <p:sp>
        <p:nvSpPr>
          <p:cNvPr id="24" name="a20"/>
          <p:cNvSpPr/>
          <p:nvPr/>
        </p:nvSpPr>
        <p:spPr>
          <a:xfrm>
            <a:off x="914400" y="3566160"/>
            <a:ext cx="475488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  reversed</a:t>
            </a:r>
          </a:p>
        </p:txBody>
      </p:sp>
      <p:sp>
        <p:nvSpPr>
          <p:cNvPr id="25" name="r20"/>
          <p:cNvSpPr/>
          <p:nvPr/>
        </p:nvSpPr>
        <p:spPr>
          <a:xfrm>
            <a:off x="914400" y="3931920"/>
            <a:ext cx="4754880" cy="64008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7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P( have the cause | test positive )</a:t>
            </a:r>
          </a:p>
        </p:txBody>
      </p:sp>
      <p:sp>
        <p:nvSpPr>
          <p:cNvPr id="40" name="card40"/>
          <p:cNvSpPr/>
          <p:nvPr/>
        </p:nvSpPr>
        <p:spPr>
          <a:xfrm>
            <a:off x="6248400" y="2057400"/>
            <a:ext cx="5303520" cy="2514600"/>
          </a:xfrm>
          <a:prstGeom prst="roundRect">
            <a:avLst>
              <a:gd name="adj" fmla="val 5000"/>
            </a:avLst>
          </a:prstGeom>
          <a:solidFill>
            <a:srgbClr val="FBF1EA"/>
          </a:solidFill>
          <a:ln w="12700">
            <a:solidFill>
              <a:srgbClr val="F4B740"/>
            </a:solidFill>
            <a:prstDash val="solid"/>
          </a:ln>
        </p:spPr>
        <p:txBody>
          <a:bodyPr/>
          <a:lstStyle/>
          <a:p>
            <a:endParaRPr/>
          </a:p>
        </p:txBody>
      </p:sp>
      <p:sp>
        <p:nvSpPr>
          <p:cNvPr id="41" name="h40"/>
          <p:cNvSpPr/>
          <p:nvPr/>
        </p:nvSpPr>
        <p:spPr>
          <a:xfrm>
            <a:off x="6522720" y="2263140"/>
            <a:ext cx="4754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50" normalizeH="0" baseline="0" noProof="0" dirty="0">
                <a:ln>
                  <a:noFill/>
                </a:ln>
                <a:solidFill>
                  <a:srgbClr val="B8860B"/>
                </a:solidFill>
                <a:effectLst/>
                <a:uLnTx/>
                <a:uFillTx/>
                <a:latin typeface="Calibri" pitchFamily="34" charset="0"/>
                <a:ea typeface="Calibri" pitchFamily="34" charset="-122"/>
                <a:cs typeface="Calibri" pitchFamily="34" charset="-120"/>
              </a:rPr>
              <a:t>SPECIFICITY</a:t>
            </a:r>
          </a:p>
        </p:txBody>
      </p:sp>
      <p:sp>
        <p:nvSpPr>
          <p:cNvPr id="42" name="f40"/>
          <p:cNvSpPr/>
          <p:nvPr/>
        </p:nvSpPr>
        <p:spPr>
          <a:xfrm>
            <a:off x="6522720" y="2651760"/>
            <a:ext cx="4754880" cy="64008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test negative | no cause )</a:t>
            </a:r>
          </a:p>
        </p:txBody>
      </p:sp>
      <p:sp>
        <p:nvSpPr>
          <p:cNvPr id="43" name="fl40"/>
          <p:cNvSpPr/>
          <p:nvPr/>
        </p:nvSpPr>
        <p:spPr>
          <a:xfrm>
            <a:off x="6522720" y="3246120"/>
            <a:ext cx="475488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2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what the test is measured on</a:t>
            </a:r>
          </a:p>
        </p:txBody>
      </p:sp>
      <p:sp>
        <p:nvSpPr>
          <p:cNvPr id="44" name="a40"/>
          <p:cNvSpPr/>
          <p:nvPr/>
        </p:nvSpPr>
        <p:spPr>
          <a:xfrm>
            <a:off x="6522720" y="3566160"/>
            <a:ext cx="475488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  reversed</a:t>
            </a:r>
          </a:p>
        </p:txBody>
      </p:sp>
      <p:sp>
        <p:nvSpPr>
          <p:cNvPr id="45" name="r40"/>
          <p:cNvSpPr/>
          <p:nvPr/>
        </p:nvSpPr>
        <p:spPr>
          <a:xfrm>
            <a:off x="6522720" y="3931920"/>
            <a:ext cx="4754880" cy="64008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7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P( no cause | test negative )</a:t>
            </a:r>
          </a:p>
        </p:txBody>
      </p:sp>
      <p:sp>
        <p:nvSpPr>
          <p:cNvPr id="70" name="Foot"/>
          <p:cNvSpPr/>
          <p:nvPr/>
        </p:nvSpPr>
        <p:spPr>
          <a:xfrm>
            <a:off x="640080" y="5013960"/>
            <a:ext cx="10911840" cy="7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Each reversal is undone by the other number. A positive is undone by the false positives. A negative is undone by the false negatives.</a:t>
            </a:r>
          </a:p>
        </p:txBody>
      </p:sp>
      <p:sp>
        <p:nvSpPr>
          <p:cNvPr id="80" name="Mnem"/>
          <p:cNvSpPr/>
          <p:nvPr/>
        </p:nvSpPr>
        <p:spPr>
          <a:xfrm>
            <a:off x="640080" y="5806440"/>
            <a:ext cx="1091184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3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A Sensitive test with a Negative result rules out. A Specific test with a Positive result rules 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THE TWO EXAMPLES</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Where each reversal does damage</a:t>
            </a:r>
          </a:p>
        </p:txBody>
      </p:sp>
      <p:sp>
        <p:nvSpPr>
          <p:cNvPr id="20" name="card20"/>
          <p:cNvSpPr/>
          <p:nvPr/>
        </p:nvSpPr>
        <p:spPr>
          <a:xfrm>
            <a:off x="640080" y="2011680"/>
            <a:ext cx="5303520" cy="2743200"/>
          </a:xfrm>
          <a:prstGeom prst="roundRect">
            <a:avLst>
              <a:gd name="adj" fmla="val 5000"/>
            </a:avLst>
          </a:prstGeom>
          <a:solidFill>
            <a:srgbClr val="F4F6F8"/>
          </a:solidFill>
          <a:ln w="12700">
            <a:solidFill>
              <a:srgbClr val="15686B"/>
            </a:solidFill>
            <a:prstDash val="solid"/>
          </a:ln>
        </p:spPr>
        <p:txBody>
          <a:bodyPr/>
          <a:lstStyle/>
          <a:p>
            <a:endParaRPr/>
          </a:p>
        </p:txBody>
      </p:sp>
      <p:sp>
        <p:nvSpPr>
          <p:cNvPr id="21" name="h20"/>
          <p:cNvSpPr/>
          <p:nvPr/>
        </p:nvSpPr>
        <p:spPr>
          <a:xfrm>
            <a:off x="914400" y="2217420"/>
            <a:ext cx="4754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50" normalizeH="0" baseline="0" noProof="0" dirty="0">
                <a:ln>
                  <a:noFill/>
                </a:ln>
                <a:solidFill>
                  <a:srgbClr val="15686B"/>
                </a:solidFill>
                <a:effectLst/>
                <a:uLnTx/>
                <a:uFillTx/>
                <a:latin typeface="Calibri" pitchFamily="34" charset="0"/>
                <a:ea typeface="Calibri" pitchFamily="34" charset="-122"/>
                <a:cs typeface="Calibri" pitchFamily="34" charset="-120"/>
              </a:rPr>
              <a:t>A SCREENING MAMMOGRAM</a:t>
            </a:r>
          </a:p>
        </p:txBody>
      </p:sp>
      <p:sp>
        <p:nvSpPr>
          <p:cNvPr id="22" name="g20"/>
          <p:cNvSpPr/>
          <p:nvPr/>
        </p:nvSpPr>
        <p:spPr>
          <a:xfrm>
            <a:off x="914400" y="2606040"/>
            <a:ext cx="4754880" cy="7000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8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Good at finding the cancers that are there.</a:t>
            </a:r>
          </a:p>
        </p:txBody>
      </p:sp>
      <p:sp>
        <p:nvSpPr>
          <p:cNvPr id="23" name="gl20"/>
          <p:cNvSpPr/>
          <p:nvPr/>
        </p:nvSpPr>
        <p:spPr>
          <a:xfrm>
            <a:off x="914400" y="3322320"/>
            <a:ext cx="475488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2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high sensitivity</a:t>
            </a:r>
          </a:p>
        </p:txBody>
      </p:sp>
      <p:sp>
        <p:nvSpPr>
          <p:cNvPr id="24" name="q20"/>
          <p:cNvSpPr/>
          <p:nvPr/>
        </p:nvSpPr>
        <p:spPr>
          <a:xfrm>
            <a:off x="914400" y="3749040"/>
            <a:ext cx="475488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200" normalizeH="0" baseline="0" noProof="0" dirty="0">
                <a:ln>
                  <a:noFill/>
                </a:ln>
                <a:solidFill>
                  <a:srgbClr val="15686B"/>
                </a:solidFill>
                <a:effectLst/>
                <a:uLnTx/>
                <a:uFillTx/>
                <a:latin typeface="Calibri" pitchFamily="34" charset="0"/>
                <a:ea typeface="Calibri" pitchFamily="34" charset="-122"/>
                <a:cs typeface="Calibri" pitchFamily="34" charset="-120"/>
              </a:rPr>
              <a:t>WHERE IT MISLEADS</a:t>
            </a:r>
          </a:p>
        </p:txBody>
      </p:sp>
      <p:sp>
        <p:nvSpPr>
          <p:cNvPr id="25" name="a20"/>
          <p:cNvSpPr/>
          <p:nvPr/>
        </p:nvSpPr>
        <p:spPr>
          <a:xfrm>
            <a:off x="914400" y="4023360"/>
            <a:ext cx="4754880" cy="64008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A positive.</a:t>
            </a:r>
          </a:p>
        </p:txBody>
      </p:sp>
      <p:sp>
        <p:nvSpPr>
          <p:cNvPr id="50" name="card50"/>
          <p:cNvSpPr/>
          <p:nvPr/>
        </p:nvSpPr>
        <p:spPr>
          <a:xfrm>
            <a:off x="6248400" y="2011680"/>
            <a:ext cx="5303520" cy="2743200"/>
          </a:xfrm>
          <a:prstGeom prst="roundRect">
            <a:avLst>
              <a:gd name="adj" fmla="val 5000"/>
            </a:avLst>
          </a:prstGeom>
          <a:solidFill>
            <a:srgbClr val="FBF1EA"/>
          </a:solidFill>
          <a:ln w="12700">
            <a:solidFill>
              <a:srgbClr val="F4B740"/>
            </a:solidFill>
            <a:prstDash val="solid"/>
          </a:ln>
        </p:spPr>
        <p:txBody>
          <a:bodyPr/>
          <a:lstStyle/>
          <a:p>
            <a:endParaRPr/>
          </a:p>
        </p:txBody>
      </p:sp>
      <p:sp>
        <p:nvSpPr>
          <p:cNvPr id="51" name="h50"/>
          <p:cNvSpPr/>
          <p:nvPr/>
        </p:nvSpPr>
        <p:spPr>
          <a:xfrm>
            <a:off x="6522720" y="2217420"/>
            <a:ext cx="4754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50" normalizeH="0" baseline="0" noProof="0" dirty="0">
                <a:ln>
                  <a:noFill/>
                </a:ln>
                <a:solidFill>
                  <a:srgbClr val="B8860B"/>
                </a:solidFill>
                <a:effectLst/>
                <a:uLnTx/>
                <a:uFillTx/>
                <a:latin typeface="Calibri" pitchFamily="34" charset="0"/>
                <a:ea typeface="Calibri" pitchFamily="34" charset="-122"/>
                <a:cs typeface="Calibri" pitchFamily="34" charset="-120"/>
              </a:rPr>
              <a:t>A COVID RAPID TEST</a:t>
            </a:r>
          </a:p>
        </p:txBody>
      </p:sp>
      <p:sp>
        <p:nvSpPr>
          <p:cNvPr id="52" name="g50"/>
          <p:cNvSpPr/>
          <p:nvPr/>
        </p:nvSpPr>
        <p:spPr>
          <a:xfrm>
            <a:off x="6522720" y="2606040"/>
            <a:ext cx="4754880" cy="7000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8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Good at clearing the people who are well.</a:t>
            </a:r>
          </a:p>
        </p:txBody>
      </p:sp>
      <p:sp>
        <p:nvSpPr>
          <p:cNvPr id="53" name="gl50"/>
          <p:cNvSpPr/>
          <p:nvPr/>
        </p:nvSpPr>
        <p:spPr>
          <a:xfrm>
            <a:off x="6522720" y="3322320"/>
            <a:ext cx="475488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2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high specificity</a:t>
            </a:r>
          </a:p>
        </p:txBody>
      </p:sp>
      <p:sp>
        <p:nvSpPr>
          <p:cNvPr id="54" name="q50"/>
          <p:cNvSpPr/>
          <p:nvPr/>
        </p:nvSpPr>
        <p:spPr>
          <a:xfrm>
            <a:off x="6522720" y="3749040"/>
            <a:ext cx="475488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200" normalizeH="0" baseline="0" noProof="0" dirty="0">
                <a:ln>
                  <a:noFill/>
                </a:ln>
                <a:solidFill>
                  <a:srgbClr val="B8860B"/>
                </a:solidFill>
                <a:effectLst/>
                <a:uLnTx/>
                <a:uFillTx/>
                <a:latin typeface="Calibri" pitchFamily="34" charset="0"/>
                <a:ea typeface="Calibri" pitchFamily="34" charset="-122"/>
                <a:cs typeface="Calibri" pitchFamily="34" charset="-120"/>
              </a:rPr>
              <a:t>WHERE IT MISLEADS</a:t>
            </a:r>
          </a:p>
        </p:txBody>
      </p:sp>
      <p:sp>
        <p:nvSpPr>
          <p:cNvPr id="55" name="a50"/>
          <p:cNvSpPr/>
          <p:nvPr/>
        </p:nvSpPr>
        <p:spPr>
          <a:xfrm>
            <a:off x="6522720" y="4023360"/>
            <a:ext cx="4754880" cy="64008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6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A negative.</a:t>
            </a:r>
          </a:p>
        </p:txBody>
      </p:sp>
      <p:sp>
        <p:nvSpPr>
          <p:cNvPr id="80" name="Foot"/>
          <p:cNvSpPr/>
          <p:nvPr/>
        </p:nvSpPr>
        <p:spPr>
          <a:xfrm>
            <a:off x="640080" y="5181600"/>
            <a:ext cx="10911840" cy="8001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Every test has both reversals. We take each one where it does more damage.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ividerEyebrow"/>
          <p:cNvSpPr/>
          <p:nvPr/>
        </p:nvSpPr>
        <p:spPr>
          <a:xfrm>
            <a:off x="1066800" y="1905000"/>
            <a:ext cx="5080000" cy="43088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22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THE FIRST REVERSAL</a:t>
            </a:r>
          </a:p>
        </p:txBody>
      </p:sp>
      <p:sp>
        <p:nvSpPr>
          <p:cNvPr id="20" name="DividerNum"/>
          <p:cNvSpPr/>
          <p:nvPr/>
        </p:nvSpPr>
        <p:spPr>
          <a:xfrm>
            <a:off x="1041400" y="2349500"/>
            <a:ext cx="9652000" cy="1905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54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A Screening Mammogram</a:t>
            </a:r>
          </a:p>
        </p:txBody>
      </p:sp>
      <p:sp>
        <p:nvSpPr>
          <p:cNvPr id="30" name="DividerRule"/>
          <p:cNvSpPr/>
          <p:nvPr/>
        </p:nvSpPr>
        <p:spPr>
          <a:xfrm>
            <a:off x="1066800" y="4445000"/>
            <a:ext cx="1143000" cy="63500"/>
          </a:xfrm>
          <a:prstGeom prst="rect">
            <a:avLst/>
          </a:prstGeom>
          <a:solidFill>
            <a:srgbClr val="15686B"/>
          </a:solidFill>
          <a:ln>
            <a:noFill/>
          </a:ln>
        </p:spPr>
        <p:txBody>
          <a:bodyPr/>
          <a:lstStyle/>
          <a:p>
            <a:endParaRPr/>
          </a:p>
        </p:txBody>
      </p:sp>
      <p:sp>
        <p:nvSpPr>
          <p:cNvPr id="40" name="DividerTitle"/>
          <p:cNvSpPr/>
          <p:nvPr/>
        </p:nvSpPr>
        <p:spPr>
          <a:xfrm>
            <a:off x="1016000" y="4762500"/>
            <a:ext cx="10160000" cy="70788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40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If it is positive, do I have cancer?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 REAL TEST, REAL NUMBERS</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What the mammogram is measured on</a:t>
            </a:r>
          </a:p>
        </p:txBody>
      </p:sp>
      <p:sp>
        <p:nvSpPr>
          <p:cNvPr id="20" name="card"/>
          <p:cNvSpPr/>
          <p:nvPr/>
        </p:nvSpPr>
        <p:spPr>
          <a:xfrm>
            <a:off x="640080" y="2209800"/>
            <a:ext cx="4876800" cy="2103120"/>
          </a:xfrm>
          <a:prstGeom prst="roundRect">
            <a:avLst>
              <a:gd name="adj" fmla="val 5000"/>
            </a:avLst>
          </a:prstGeom>
          <a:solidFill>
            <a:srgbClr val="F4F6F8"/>
          </a:solidFill>
          <a:ln w="12700">
            <a:solidFill>
              <a:srgbClr val="15686B"/>
            </a:solidFill>
            <a:prstDash val="solid"/>
          </a:ln>
        </p:spPr>
        <p:txBody>
          <a:bodyPr/>
          <a:lstStyle/>
          <a:p>
            <a:endParaRPr/>
          </a:p>
        </p:txBody>
      </p:sp>
      <p:sp>
        <p:nvSpPr>
          <p:cNvPr id="21" name="h"/>
          <p:cNvSpPr/>
          <p:nvPr/>
        </p:nvSpPr>
        <p:spPr>
          <a:xfrm>
            <a:off x="914400" y="2438400"/>
            <a:ext cx="4328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50" normalizeH="0" baseline="0" noProof="0" dirty="0">
                <a:ln>
                  <a:noFill/>
                </a:ln>
                <a:solidFill>
                  <a:srgbClr val="15686B"/>
                </a:solidFill>
                <a:effectLst/>
                <a:uLnTx/>
                <a:uFillTx/>
                <a:latin typeface="Calibri" pitchFamily="34" charset="0"/>
                <a:ea typeface="Calibri" pitchFamily="34" charset="-122"/>
                <a:cs typeface="Calibri" pitchFamily="34" charset="-120"/>
              </a:rPr>
              <a:t>SENSITIVITY</a:t>
            </a:r>
          </a:p>
        </p:txBody>
      </p:sp>
      <p:sp>
        <p:nvSpPr>
          <p:cNvPr id="22" name="n"/>
          <p:cNvSpPr/>
          <p:nvPr/>
        </p:nvSpPr>
        <p:spPr>
          <a:xfrm>
            <a:off x="914400" y="2849880"/>
            <a:ext cx="432816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20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called back | cancer )</a:t>
            </a:r>
          </a:p>
        </p:txBody>
      </p:sp>
      <p:sp>
        <p:nvSpPr>
          <p:cNvPr id="23" name="c"/>
          <p:cNvSpPr/>
          <p:nvPr/>
        </p:nvSpPr>
        <p:spPr>
          <a:xfrm>
            <a:off x="914400" y="3398520"/>
            <a:ext cx="4328160" cy="4572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7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87 of every 100 women with cancer</a:t>
            </a:r>
          </a:p>
        </p:txBody>
      </p:sp>
      <p:sp>
        <p:nvSpPr>
          <p:cNvPr id="24" name="r"/>
          <p:cNvSpPr/>
          <p:nvPr/>
        </p:nvSpPr>
        <p:spPr>
          <a:xfrm>
            <a:off x="914400" y="3901440"/>
            <a:ext cx="432816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3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the other 13 are missed</a:t>
            </a:r>
          </a:p>
        </p:txBody>
      </p:sp>
      <p:sp>
        <p:nvSpPr>
          <p:cNvPr id="40" name="R1"/>
          <p:cNvSpPr/>
          <p:nvPr/>
        </p:nvSpPr>
        <p:spPr>
          <a:xfrm>
            <a:off x="5943600" y="1874520"/>
            <a:ext cx="5608320" cy="9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A positive mammogram is a </a:t>
            </a: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callback</a:t>
            </a: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The radiologist wants more pictures. It is not a diagnosis, and nothing has been found yet.</a:t>
            </a:r>
          </a:p>
        </p:txBody>
      </p:sp>
      <p:sp>
        <p:nvSpPr>
          <p:cNvPr id="50" name="R2"/>
          <p:cNvSpPr/>
          <p:nvPr/>
        </p:nvSpPr>
        <p:spPr>
          <a:xfrm>
            <a:off x="5943600" y="3017520"/>
            <a:ext cx="5608320" cy="12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This is the number the mammogram is judged on, and it is a good one. But notice where it starts: from already knowing she has cancer. That is the only direction a test can be measured in.</a:t>
            </a:r>
          </a:p>
        </p:txBody>
      </p:sp>
      <p:sp>
        <p:nvSpPr>
          <p:cNvPr id="60" name="Target"/>
          <p:cNvSpPr/>
          <p:nvPr/>
        </p:nvSpPr>
        <p:spPr>
          <a:xfrm>
            <a:off x="5943600" y="4800600"/>
            <a:ext cx="5608320" cy="941070"/>
          </a:xfrm>
          <a:prstGeom prst="roundRect">
            <a:avLst>
              <a:gd name="adj" fmla="val 4000"/>
            </a:avLst>
          </a:prstGeom>
          <a:solidFill>
            <a:srgbClr val="15686B"/>
          </a:solidFill>
          <a:ln>
            <a:noFill/>
          </a:ln>
        </p:spPr>
        <p:txBody>
          <a:bodyPr/>
          <a:lstStyle/>
          <a:p>
            <a:endParaRPr/>
          </a:p>
        </p:txBody>
      </p:sp>
      <p:sp>
        <p:nvSpPr>
          <p:cNvPr id="61" name="TargetTx"/>
          <p:cNvSpPr/>
          <p:nvPr/>
        </p:nvSpPr>
        <p:spPr>
          <a:xfrm>
            <a:off x="6195060" y="4975860"/>
            <a:ext cx="5105400" cy="5905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we want is P( cancer | called back ):  4.4%</a:t>
            </a:r>
          </a:p>
          <a:p>
            <a:pPr marL="0" marR="0" lvl="0" indent="0" algn="l" defTabSz="914400" rtl="0" eaLnBrk="1" fontAlgn="auto" latinLnBrk="0" hangingPunct="1">
              <a:lnSpc>
                <a:spcPct val="100000"/>
              </a:lnSpc>
              <a:spcBef>
                <a:spcPts val="0"/>
              </a:spcBef>
              <a:spcAft>
                <a:spcPts val="0"/>
              </a:spcAft>
              <a:buNone/>
              <a:tabLst/>
              <a:defRPr/>
            </a:pPr>
            <a:r>
              <a:rPr kumimoji="0" lang="en-US" sz="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C9DCDC"/>
                </a:solidFill>
                <a:effectLst/>
                <a:uLnTx/>
                <a:uFillTx/>
                <a:latin typeface="Calibri" pitchFamily="34" charset="0"/>
                <a:ea typeface="Calibri" pitchFamily="34" charset="-122"/>
                <a:cs typeface="Calibri" pitchFamily="34" charset="-120"/>
              </a:rPr>
              <a:t>Same test, same day. Now we walk the reversal.</a:t>
            </a:r>
          </a:p>
        </p:txBody>
      </p:sp>
      <p:sp>
        <p:nvSpPr>
          <p:cNvPr id="7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Sensitivity 86.9%. Lehman CD et al. National performance benchmarks for modern screening digital mammography, Breast Cancer Surveillance Consortium. Radiology 2017;283(1):49-58. 1,682,504 screens, 2007-2013.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AN ILLUSTRATIVE COHORT OF 10,000 WOMEN</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Six in a thousand have it</a:t>
            </a:r>
          </a:p>
        </p:txBody>
      </p:sp>
      <p:pic>
        <p:nvPicPr>
          <p:cNvPr id="19" name="Waffle"/>
          <p:cNvPicPr/>
          <p:nvPr/>
        </p:nvPicPr>
        <p:blipFill>
          <a:blip/>
          <a:stretch>
            <a:fillRect/>
          </a:stretch>
        </p:blipFill>
        <p:spPr>
          <a:xfrm>
            <a:off x="640080" y="1874520"/>
            <a:ext cx="4114800" cy="4114800"/>
          </a:xfrm>
          <a:prstGeom prst="rect">
            <a:avLst/>
          </a:prstGeom>
        </p:spPr>
      </p:pic>
      <p:sp>
        <p:nvSpPr>
          <p:cNvPr id="20" name="Lead"/>
          <p:cNvSpPr/>
          <p:nvPr/>
        </p:nvSpPr>
        <p:spPr>
          <a:xfrm>
            <a:off x="5486400" y="1874520"/>
            <a:ext cx="6096000" cy="118872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Every square is one woman screened once. The teal sliver at the top is everyone who has cancer.</a:t>
            </a:r>
          </a:p>
          <a:p>
            <a:pPr marL="0" marR="0" lvl="0" indent="0" algn="l" defTabSz="914400" rtl="0" eaLnBrk="1" fontAlgn="auto" latinLnBrk="0" hangingPunct="1">
              <a:lnSpc>
                <a:spcPct val="14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4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That is an average across ages 40 to 89. It climbs with age: nearer 4 per 1,000 in the fifties, 6 or 7 in the sixties.</a:t>
            </a:r>
          </a:p>
        </p:txBody>
      </p:sp>
      <p:sp>
        <p:nvSpPr>
          <p:cNvPr id="30" name="sw30"/>
          <p:cNvSpPr/>
          <p:nvPr/>
        </p:nvSpPr>
        <p:spPr>
          <a:xfrm>
            <a:off x="5486400" y="3474720"/>
            <a:ext cx="274320" cy="274320"/>
          </a:xfrm>
          <a:prstGeom prst="rect">
            <a:avLst/>
          </a:prstGeom>
          <a:solidFill>
            <a:srgbClr val="15686B"/>
          </a:solidFill>
          <a:ln w="12700">
            <a:solidFill>
              <a:srgbClr val="FFFFFF"/>
            </a:solidFill>
            <a:prstDash val="solid"/>
          </a:ln>
        </p:spPr>
        <p:txBody>
          <a:bodyPr/>
          <a:lstStyle/>
          <a:p>
            <a:endParaRPr/>
          </a:p>
        </p:txBody>
      </p:sp>
      <p:sp>
        <p:nvSpPr>
          <p:cNvPr id="31" name="lg30"/>
          <p:cNvSpPr/>
          <p:nvPr/>
        </p:nvSpPr>
        <p:spPr>
          <a:xfrm>
            <a:off x="5882640" y="344424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has cancer, called back: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51</a:t>
            </a:r>
          </a:p>
        </p:txBody>
      </p:sp>
      <p:sp>
        <p:nvSpPr>
          <p:cNvPr id="40" name="sw40"/>
          <p:cNvSpPr/>
          <p:nvPr/>
        </p:nvSpPr>
        <p:spPr>
          <a:xfrm>
            <a:off x="5486400" y="3954780"/>
            <a:ext cx="274320" cy="274320"/>
          </a:xfrm>
          <a:prstGeom prst="rect">
            <a:avLst/>
          </a:prstGeom>
          <a:solidFill>
            <a:srgbClr val="5E9B9D"/>
          </a:solidFill>
          <a:ln w="12700">
            <a:solidFill>
              <a:srgbClr val="FFFFFF"/>
            </a:solidFill>
            <a:prstDash val="solid"/>
          </a:ln>
        </p:spPr>
        <p:txBody>
          <a:bodyPr/>
          <a:lstStyle/>
          <a:p>
            <a:endParaRPr/>
          </a:p>
        </p:txBody>
      </p:sp>
      <p:sp>
        <p:nvSpPr>
          <p:cNvPr id="41" name="lg40"/>
          <p:cNvSpPr/>
          <p:nvPr/>
        </p:nvSpPr>
        <p:spPr>
          <a:xfrm>
            <a:off x="5882640" y="392430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has cancer, not called back: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8</a:t>
            </a:r>
          </a:p>
        </p:txBody>
      </p:sp>
      <p:sp>
        <p:nvSpPr>
          <p:cNvPr id="50" name="sw50"/>
          <p:cNvSpPr/>
          <p:nvPr/>
        </p:nvSpPr>
        <p:spPr>
          <a:xfrm>
            <a:off x="5486400" y="4434840"/>
            <a:ext cx="274320" cy="274320"/>
          </a:xfrm>
          <a:prstGeom prst="rect">
            <a:avLst/>
          </a:prstGeom>
          <a:solidFill>
            <a:srgbClr val="F4B740"/>
          </a:solidFill>
          <a:ln w="12700">
            <a:solidFill>
              <a:srgbClr val="FFFFFF"/>
            </a:solidFill>
            <a:prstDash val="solid"/>
          </a:ln>
        </p:spPr>
        <p:txBody>
          <a:bodyPr/>
          <a:lstStyle/>
          <a:p>
            <a:endParaRPr/>
          </a:p>
        </p:txBody>
      </p:sp>
      <p:sp>
        <p:nvSpPr>
          <p:cNvPr id="51" name="lg50"/>
          <p:cNvSpPr/>
          <p:nvPr/>
        </p:nvSpPr>
        <p:spPr>
          <a:xfrm>
            <a:off x="5882640" y="440436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no cancer, called back anyway: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1,103</a:t>
            </a:r>
          </a:p>
        </p:txBody>
      </p:sp>
      <p:sp>
        <p:nvSpPr>
          <p:cNvPr id="60" name="sw60"/>
          <p:cNvSpPr/>
          <p:nvPr/>
        </p:nvSpPr>
        <p:spPr>
          <a:xfrm>
            <a:off x="5486400" y="4914900"/>
            <a:ext cx="274320" cy="274320"/>
          </a:xfrm>
          <a:prstGeom prst="rect">
            <a:avLst/>
          </a:prstGeom>
          <a:solidFill>
            <a:srgbClr val="F7DFA8"/>
          </a:solidFill>
          <a:ln w="12700">
            <a:solidFill>
              <a:srgbClr val="FFFFFF"/>
            </a:solidFill>
            <a:prstDash val="solid"/>
          </a:ln>
        </p:spPr>
        <p:txBody>
          <a:bodyPr/>
          <a:lstStyle/>
          <a:p>
            <a:endParaRPr/>
          </a:p>
        </p:txBody>
      </p:sp>
      <p:sp>
        <p:nvSpPr>
          <p:cNvPr id="61" name="lg60"/>
          <p:cNvSpPr/>
          <p:nvPr/>
        </p:nvSpPr>
        <p:spPr>
          <a:xfrm>
            <a:off x="5882640" y="488442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no cancer, all clear: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8,838</a:t>
            </a:r>
          </a:p>
        </p:txBody>
      </p:sp>
      <p:sp>
        <p:nvSpPr>
          <p:cNvPr id="80" name="Note"/>
          <p:cNvSpPr/>
          <p:nvPr/>
        </p:nvSpPr>
        <p:spPr>
          <a:xfrm>
            <a:off x="5486400" y="5486400"/>
            <a:ext cx="6096000" cy="8001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5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The amber band is eleven rows deep. It is more than twenty times the size of the group the test is looking for.</a:t>
            </a:r>
          </a:p>
        </p:txBody>
      </p:sp>
      <p:sp>
        <p:nvSpPr>
          <p:cNvPr id="9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BCSC benchmarks applied to a 10,000-woman cohort. Lehman CD et al. National performance benchmarks for modern screening digital mammography, Breast Cancer Surveillance Consortium. Radiology 2017;283(1):49-58. 1,682,504 screens, 359 radiologists, 95 facilities, 2007-2013.</a:t>
            </a:r>
          </a:p>
        </p:txBody>
      </p:sp>
      <p:pic>
        <p:nvPicPr>
          <p:cNvPr id="900" name="Waffle"/>
          <p:cNvPicPr/>
          <p:nvPr/>
        </p:nvPicPr>
        <p:blipFill>
          <a:blip r:embed="rId2"/>
          <a:stretch>
            <a:fillRect/>
          </a:stretch>
        </p:blipFill>
        <p:spPr>
          <a:xfrm>
            <a:off x="640080" y="1874520"/>
            <a:ext cx="4114800" cy="4114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FIRST QUESTION</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If you have cancer, how likely is a callback?</a:t>
            </a:r>
          </a:p>
        </p:txBody>
      </p:sp>
      <p:sp>
        <p:nvSpPr>
          <p:cNvPr id="600" name="q0"/>
          <p:cNvSpPr/>
          <p:nvPr/>
        </p:nvSpPr>
        <p:spPr>
          <a:xfrm>
            <a:off x="640080" y="1874520"/>
            <a:ext cx="325120" cy="325120"/>
          </a:xfrm>
          <a:prstGeom prst="rect">
            <a:avLst/>
          </a:prstGeom>
          <a:solidFill>
            <a:srgbClr val="15686B"/>
          </a:solidFill>
          <a:ln w="12700">
            <a:solidFill>
              <a:srgbClr val="FFFFFF"/>
            </a:solidFill>
            <a:prstDash val="solid"/>
          </a:ln>
        </p:spPr>
        <p:txBody>
          <a:bodyPr/>
          <a:lstStyle/>
          <a:p>
            <a:endParaRPr/>
          </a:p>
        </p:txBody>
      </p:sp>
      <p:sp>
        <p:nvSpPr>
          <p:cNvPr id="601" name="q1"/>
          <p:cNvSpPr/>
          <p:nvPr/>
        </p:nvSpPr>
        <p:spPr>
          <a:xfrm>
            <a:off x="1005840" y="1874520"/>
            <a:ext cx="325120" cy="325120"/>
          </a:xfrm>
          <a:prstGeom prst="rect">
            <a:avLst/>
          </a:prstGeom>
          <a:solidFill>
            <a:srgbClr val="15686B"/>
          </a:solidFill>
          <a:ln w="12700">
            <a:solidFill>
              <a:srgbClr val="FFFFFF"/>
            </a:solidFill>
            <a:prstDash val="solid"/>
          </a:ln>
        </p:spPr>
        <p:txBody>
          <a:bodyPr/>
          <a:lstStyle/>
          <a:p>
            <a:endParaRPr/>
          </a:p>
        </p:txBody>
      </p:sp>
      <p:sp>
        <p:nvSpPr>
          <p:cNvPr id="602" name="q2"/>
          <p:cNvSpPr/>
          <p:nvPr/>
        </p:nvSpPr>
        <p:spPr>
          <a:xfrm>
            <a:off x="1371600" y="1874520"/>
            <a:ext cx="325120" cy="325120"/>
          </a:xfrm>
          <a:prstGeom prst="rect">
            <a:avLst/>
          </a:prstGeom>
          <a:solidFill>
            <a:srgbClr val="15686B"/>
          </a:solidFill>
          <a:ln w="12700">
            <a:solidFill>
              <a:srgbClr val="FFFFFF"/>
            </a:solidFill>
            <a:prstDash val="solid"/>
          </a:ln>
        </p:spPr>
        <p:txBody>
          <a:bodyPr/>
          <a:lstStyle/>
          <a:p>
            <a:endParaRPr/>
          </a:p>
        </p:txBody>
      </p:sp>
      <p:sp>
        <p:nvSpPr>
          <p:cNvPr id="603" name="q3"/>
          <p:cNvSpPr/>
          <p:nvPr/>
        </p:nvSpPr>
        <p:spPr>
          <a:xfrm>
            <a:off x="1737360" y="1874520"/>
            <a:ext cx="325120" cy="325120"/>
          </a:xfrm>
          <a:prstGeom prst="rect">
            <a:avLst/>
          </a:prstGeom>
          <a:solidFill>
            <a:srgbClr val="15686B"/>
          </a:solidFill>
          <a:ln w="12700">
            <a:solidFill>
              <a:srgbClr val="FFFFFF"/>
            </a:solidFill>
            <a:prstDash val="solid"/>
          </a:ln>
        </p:spPr>
        <p:txBody>
          <a:bodyPr/>
          <a:lstStyle/>
          <a:p>
            <a:endParaRPr/>
          </a:p>
        </p:txBody>
      </p:sp>
      <p:sp>
        <p:nvSpPr>
          <p:cNvPr id="604" name="q4"/>
          <p:cNvSpPr/>
          <p:nvPr/>
        </p:nvSpPr>
        <p:spPr>
          <a:xfrm>
            <a:off x="2103120" y="1874520"/>
            <a:ext cx="325120" cy="325120"/>
          </a:xfrm>
          <a:prstGeom prst="rect">
            <a:avLst/>
          </a:prstGeom>
          <a:solidFill>
            <a:srgbClr val="15686B"/>
          </a:solidFill>
          <a:ln w="12700">
            <a:solidFill>
              <a:srgbClr val="FFFFFF"/>
            </a:solidFill>
            <a:prstDash val="solid"/>
          </a:ln>
        </p:spPr>
        <p:txBody>
          <a:bodyPr/>
          <a:lstStyle/>
          <a:p>
            <a:endParaRPr/>
          </a:p>
        </p:txBody>
      </p:sp>
      <p:sp>
        <p:nvSpPr>
          <p:cNvPr id="605" name="q5"/>
          <p:cNvSpPr/>
          <p:nvPr/>
        </p:nvSpPr>
        <p:spPr>
          <a:xfrm>
            <a:off x="2468880" y="1874520"/>
            <a:ext cx="325120" cy="325120"/>
          </a:xfrm>
          <a:prstGeom prst="rect">
            <a:avLst/>
          </a:prstGeom>
          <a:solidFill>
            <a:srgbClr val="15686B"/>
          </a:solidFill>
          <a:ln w="12700">
            <a:solidFill>
              <a:srgbClr val="FFFFFF"/>
            </a:solidFill>
            <a:prstDash val="solid"/>
          </a:ln>
        </p:spPr>
        <p:txBody>
          <a:bodyPr/>
          <a:lstStyle/>
          <a:p>
            <a:endParaRPr/>
          </a:p>
        </p:txBody>
      </p:sp>
      <p:sp>
        <p:nvSpPr>
          <p:cNvPr id="606" name="q6"/>
          <p:cNvSpPr/>
          <p:nvPr/>
        </p:nvSpPr>
        <p:spPr>
          <a:xfrm>
            <a:off x="2834640" y="1874520"/>
            <a:ext cx="325120" cy="325120"/>
          </a:xfrm>
          <a:prstGeom prst="rect">
            <a:avLst/>
          </a:prstGeom>
          <a:solidFill>
            <a:srgbClr val="15686B"/>
          </a:solidFill>
          <a:ln w="12700">
            <a:solidFill>
              <a:srgbClr val="FFFFFF"/>
            </a:solidFill>
            <a:prstDash val="solid"/>
          </a:ln>
        </p:spPr>
        <p:txBody>
          <a:bodyPr/>
          <a:lstStyle/>
          <a:p>
            <a:endParaRPr/>
          </a:p>
        </p:txBody>
      </p:sp>
      <p:sp>
        <p:nvSpPr>
          <p:cNvPr id="607" name="q7"/>
          <p:cNvSpPr/>
          <p:nvPr/>
        </p:nvSpPr>
        <p:spPr>
          <a:xfrm>
            <a:off x="3200400" y="1874520"/>
            <a:ext cx="325120" cy="325120"/>
          </a:xfrm>
          <a:prstGeom prst="rect">
            <a:avLst/>
          </a:prstGeom>
          <a:solidFill>
            <a:srgbClr val="15686B"/>
          </a:solidFill>
          <a:ln w="12700">
            <a:solidFill>
              <a:srgbClr val="FFFFFF"/>
            </a:solidFill>
            <a:prstDash val="solid"/>
          </a:ln>
        </p:spPr>
        <p:txBody>
          <a:bodyPr/>
          <a:lstStyle/>
          <a:p>
            <a:endParaRPr/>
          </a:p>
        </p:txBody>
      </p:sp>
      <p:sp>
        <p:nvSpPr>
          <p:cNvPr id="608" name="q8"/>
          <p:cNvSpPr/>
          <p:nvPr/>
        </p:nvSpPr>
        <p:spPr>
          <a:xfrm>
            <a:off x="3566160" y="1874520"/>
            <a:ext cx="325120" cy="325120"/>
          </a:xfrm>
          <a:prstGeom prst="rect">
            <a:avLst/>
          </a:prstGeom>
          <a:solidFill>
            <a:srgbClr val="15686B"/>
          </a:solidFill>
          <a:ln w="12700">
            <a:solidFill>
              <a:srgbClr val="FFFFFF"/>
            </a:solidFill>
            <a:prstDash val="solid"/>
          </a:ln>
        </p:spPr>
        <p:txBody>
          <a:bodyPr/>
          <a:lstStyle/>
          <a:p>
            <a:endParaRPr/>
          </a:p>
        </p:txBody>
      </p:sp>
      <p:sp>
        <p:nvSpPr>
          <p:cNvPr id="609" name="q9"/>
          <p:cNvSpPr/>
          <p:nvPr/>
        </p:nvSpPr>
        <p:spPr>
          <a:xfrm>
            <a:off x="3931920" y="1874520"/>
            <a:ext cx="325120" cy="325120"/>
          </a:xfrm>
          <a:prstGeom prst="rect">
            <a:avLst/>
          </a:prstGeom>
          <a:solidFill>
            <a:srgbClr val="15686B"/>
          </a:solidFill>
          <a:ln w="12700">
            <a:solidFill>
              <a:srgbClr val="FFFFFF"/>
            </a:solidFill>
            <a:prstDash val="solid"/>
          </a:ln>
        </p:spPr>
        <p:txBody>
          <a:bodyPr/>
          <a:lstStyle/>
          <a:p>
            <a:endParaRPr/>
          </a:p>
        </p:txBody>
      </p:sp>
      <p:sp>
        <p:nvSpPr>
          <p:cNvPr id="610" name="q10"/>
          <p:cNvSpPr/>
          <p:nvPr/>
        </p:nvSpPr>
        <p:spPr>
          <a:xfrm>
            <a:off x="640080" y="2240280"/>
            <a:ext cx="325120" cy="325120"/>
          </a:xfrm>
          <a:prstGeom prst="rect">
            <a:avLst/>
          </a:prstGeom>
          <a:solidFill>
            <a:srgbClr val="15686B"/>
          </a:solidFill>
          <a:ln w="12700">
            <a:solidFill>
              <a:srgbClr val="FFFFFF"/>
            </a:solidFill>
            <a:prstDash val="solid"/>
          </a:ln>
        </p:spPr>
        <p:txBody>
          <a:bodyPr/>
          <a:lstStyle/>
          <a:p>
            <a:endParaRPr/>
          </a:p>
        </p:txBody>
      </p:sp>
      <p:sp>
        <p:nvSpPr>
          <p:cNvPr id="611" name="q11"/>
          <p:cNvSpPr/>
          <p:nvPr/>
        </p:nvSpPr>
        <p:spPr>
          <a:xfrm>
            <a:off x="1005840" y="2240280"/>
            <a:ext cx="325120" cy="325120"/>
          </a:xfrm>
          <a:prstGeom prst="rect">
            <a:avLst/>
          </a:prstGeom>
          <a:solidFill>
            <a:srgbClr val="15686B"/>
          </a:solidFill>
          <a:ln w="12700">
            <a:solidFill>
              <a:srgbClr val="FFFFFF"/>
            </a:solidFill>
            <a:prstDash val="solid"/>
          </a:ln>
        </p:spPr>
        <p:txBody>
          <a:bodyPr/>
          <a:lstStyle/>
          <a:p>
            <a:endParaRPr/>
          </a:p>
        </p:txBody>
      </p:sp>
      <p:sp>
        <p:nvSpPr>
          <p:cNvPr id="612" name="q12"/>
          <p:cNvSpPr/>
          <p:nvPr/>
        </p:nvSpPr>
        <p:spPr>
          <a:xfrm>
            <a:off x="1371600" y="2240280"/>
            <a:ext cx="325120" cy="325120"/>
          </a:xfrm>
          <a:prstGeom prst="rect">
            <a:avLst/>
          </a:prstGeom>
          <a:solidFill>
            <a:srgbClr val="15686B"/>
          </a:solidFill>
          <a:ln w="12700">
            <a:solidFill>
              <a:srgbClr val="FFFFFF"/>
            </a:solidFill>
            <a:prstDash val="solid"/>
          </a:ln>
        </p:spPr>
        <p:txBody>
          <a:bodyPr/>
          <a:lstStyle/>
          <a:p>
            <a:endParaRPr/>
          </a:p>
        </p:txBody>
      </p:sp>
      <p:sp>
        <p:nvSpPr>
          <p:cNvPr id="613" name="q13"/>
          <p:cNvSpPr/>
          <p:nvPr/>
        </p:nvSpPr>
        <p:spPr>
          <a:xfrm>
            <a:off x="1737360" y="2240280"/>
            <a:ext cx="325120" cy="325120"/>
          </a:xfrm>
          <a:prstGeom prst="rect">
            <a:avLst/>
          </a:prstGeom>
          <a:solidFill>
            <a:srgbClr val="15686B"/>
          </a:solidFill>
          <a:ln w="12700">
            <a:solidFill>
              <a:srgbClr val="FFFFFF"/>
            </a:solidFill>
            <a:prstDash val="solid"/>
          </a:ln>
        </p:spPr>
        <p:txBody>
          <a:bodyPr/>
          <a:lstStyle/>
          <a:p>
            <a:endParaRPr/>
          </a:p>
        </p:txBody>
      </p:sp>
      <p:sp>
        <p:nvSpPr>
          <p:cNvPr id="614" name="q14"/>
          <p:cNvSpPr/>
          <p:nvPr/>
        </p:nvSpPr>
        <p:spPr>
          <a:xfrm>
            <a:off x="2103120" y="2240280"/>
            <a:ext cx="325120" cy="325120"/>
          </a:xfrm>
          <a:prstGeom prst="rect">
            <a:avLst/>
          </a:prstGeom>
          <a:solidFill>
            <a:srgbClr val="15686B"/>
          </a:solidFill>
          <a:ln w="12700">
            <a:solidFill>
              <a:srgbClr val="FFFFFF"/>
            </a:solidFill>
            <a:prstDash val="solid"/>
          </a:ln>
        </p:spPr>
        <p:txBody>
          <a:bodyPr/>
          <a:lstStyle/>
          <a:p>
            <a:endParaRPr/>
          </a:p>
        </p:txBody>
      </p:sp>
      <p:sp>
        <p:nvSpPr>
          <p:cNvPr id="615" name="q15"/>
          <p:cNvSpPr/>
          <p:nvPr/>
        </p:nvSpPr>
        <p:spPr>
          <a:xfrm>
            <a:off x="2468880" y="2240280"/>
            <a:ext cx="325120" cy="325120"/>
          </a:xfrm>
          <a:prstGeom prst="rect">
            <a:avLst/>
          </a:prstGeom>
          <a:solidFill>
            <a:srgbClr val="15686B"/>
          </a:solidFill>
          <a:ln w="12700">
            <a:solidFill>
              <a:srgbClr val="FFFFFF"/>
            </a:solidFill>
            <a:prstDash val="solid"/>
          </a:ln>
        </p:spPr>
        <p:txBody>
          <a:bodyPr/>
          <a:lstStyle/>
          <a:p>
            <a:endParaRPr/>
          </a:p>
        </p:txBody>
      </p:sp>
      <p:sp>
        <p:nvSpPr>
          <p:cNvPr id="616" name="q16"/>
          <p:cNvSpPr/>
          <p:nvPr/>
        </p:nvSpPr>
        <p:spPr>
          <a:xfrm>
            <a:off x="2834640" y="2240280"/>
            <a:ext cx="325120" cy="325120"/>
          </a:xfrm>
          <a:prstGeom prst="rect">
            <a:avLst/>
          </a:prstGeom>
          <a:solidFill>
            <a:srgbClr val="15686B"/>
          </a:solidFill>
          <a:ln w="12700">
            <a:solidFill>
              <a:srgbClr val="FFFFFF"/>
            </a:solidFill>
            <a:prstDash val="solid"/>
          </a:ln>
        </p:spPr>
        <p:txBody>
          <a:bodyPr/>
          <a:lstStyle/>
          <a:p>
            <a:endParaRPr/>
          </a:p>
        </p:txBody>
      </p:sp>
      <p:sp>
        <p:nvSpPr>
          <p:cNvPr id="617" name="q17"/>
          <p:cNvSpPr/>
          <p:nvPr/>
        </p:nvSpPr>
        <p:spPr>
          <a:xfrm>
            <a:off x="3200400" y="2240280"/>
            <a:ext cx="325120" cy="325120"/>
          </a:xfrm>
          <a:prstGeom prst="rect">
            <a:avLst/>
          </a:prstGeom>
          <a:solidFill>
            <a:srgbClr val="15686B"/>
          </a:solidFill>
          <a:ln w="12700">
            <a:solidFill>
              <a:srgbClr val="FFFFFF"/>
            </a:solidFill>
            <a:prstDash val="solid"/>
          </a:ln>
        </p:spPr>
        <p:txBody>
          <a:bodyPr/>
          <a:lstStyle/>
          <a:p>
            <a:endParaRPr/>
          </a:p>
        </p:txBody>
      </p:sp>
      <p:sp>
        <p:nvSpPr>
          <p:cNvPr id="618" name="q18"/>
          <p:cNvSpPr/>
          <p:nvPr/>
        </p:nvSpPr>
        <p:spPr>
          <a:xfrm>
            <a:off x="3566160" y="2240280"/>
            <a:ext cx="325120" cy="325120"/>
          </a:xfrm>
          <a:prstGeom prst="rect">
            <a:avLst/>
          </a:prstGeom>
          <a:solidFill>
            <a:srgbClr val="15686B"/>
          </a:solidFill>
          <a:ln w="12700">
            <a:solidFill>
              <a:srgbClr val="FFFFFF"/>
            </a:solidFill>
            <a:prstDash val="solid"/>
          </a:ln>
        </p:spPr>
        <p:txBody>
          <a:bodyPr/>
          <a:lstStyle/>
          <a:p>
            <a:endParaRPr/>
          </a:p>
        </p:txBody>
      </p:sp>
      <p:sp>
        <p:nvSpPr>
          <p:cNvPr id="619" name="q19"/>
          <p:cNvSpPr/>
          <p:nvPr/>
        </p:nvSpPr>
        <p:spPr>
          <a:xfrm>
            <a:off x="3931920" y="2240280"/>
            <a:ext cx="325120" cy="325120"/>
          </a:xfrm>
          <a:prstGeom prst="rect">
            <a:avLst/>
          </a:prstGeom>
          <a:solidFill>
            <a:srgbClr val="15686B"/>
          </a:solidFill>
          <a:ln w="12700">
            <a:solidFill>
              <a:srgbClr val="FFFFFF"/>
            </a:solidFill>
            <a:prstDash val="solid"/>
          </a:ln>
        </p:spPr>
        <p:txBody>
          <a:bodyPr/>
          <a:lstStyle/>
          <a:p>
            <a:endParaRPr/>
          </a:p>
        </p:txBody>
      </p:sp>
      <p:sp>
        <p:nvSpPr>
          <p:cNvPr id="620" name="q20"/>
          <p:cNvSpPr/>
          <p:nvPr/>
        </p:nvSpPr>
        <p:spPr>
          <a:xfrm>
            <a:off x="640080" y="2606040"/>
            <a:ext cx="325120" cy="325120"/>
          </a:xfrm>
          <a:prstGeom prst="rect">
            <a:avLst/>
          </a:prstGeom>
          <a:solidFill>
            <a:srgbClr val="15686B"/>
          </a:solidFill>
          <a:ln w="12700">
            <a:solidFill>
              <a:srgbClr val="FFFFFF"/>
            </a:solidFill>
            <a:prstDash val="solid"/>
          </a:ln>
        </p:spPr>
        <p:txBody>
          <a:bodyPr/>
          <a:lstStyle/>
          <a:p>
            <a:endParaRPr/>
          </a:p>
        </p:txBody>
      </p:sp>
      <p:sp>
        <p:nvSpPr>
          <p:cNvPr id="621" name="q21"/>
          <p:cNvSpPr/>
          <p:nvPr/>
        </p:nvSpPr>
        <p:spPr>
          <a:xfrm>
            <a:off x="1005840" y="2606040"/>
            <a:ext cx="325120" cy="325120"/>
          </a:xfrm>
          <a:prstGeom prst="rect">
            <a:avLst/>
          </a:prstGeom>
          <a:solidFill>
            <a:srgbClr val="15686B"/>
          </a:solidFill>
          <a:ln w="12700">
            <a:solidFill>
              <a:srgbClr val="FFFFFF"/>
            </a:solidFill>
            <a:prstDash val="solid"/>
          </a:ln>
        </p:spPr>
        <p:txBody>
          <a:bodyPr/>
          <a:lstStyle/>
          <a:p>
            <a:endParaRPr/>
          </a:p>
        </p:txBody>
      </p:sp>
      <p:sp>
        <p:nvSpPr>
          <p:cNvPr id="622" name="q22"/>
          <p:cNvSpPr/>
          <p:nvPr/>
        </p:nvSpPr>
        <p:spPr>
          <a:xfrm>
            <a:off x="1371600" y="2606040"/>
            <a:ext cx="325120" cy="325120"/>
          </a:xfrm>
          <a:prstGeom prst="rect">
            <a:avLst/>
          </a:prstGeom>
          <a:solidFill>
            <a:srgbClr val="15686B"/>
          </a:solidFill>
          <a:ln w="12700">
            <a:solidFill>
              <a:srgbClr val="FFFFFF"/>
            </a:solidFill>
            <a:prstDash val="solid"/>
          </a:ln>
        </p:spPr>
        <p:txBody>
          <a:bodyPr/>
          <a:lstStyle/>
          <a:p>
            <a:endParaRPr/>
          </a:p>
        </p:txBody>
      </p:sp>
      <p:sp>
        <p:nvSpPr>
          <p:cNvPr id="623" name="q23"/>
          <p:cNvSpPr/>
          <p:nvPr/>
        </p:nvSpPr>
        <p:spPr>
          <a:xfrm>
            <a:off x="1737360" y="2606040"/>
            <a:ext cx="325120" cy="325120"/>
          </a:xfrm>
          <a:prstGeom prst="rect">
            <a:avLst/>
          </a:prstGeom>
          <a:solidFill>
            <a:srgbClr val="15686B"/>
          </a:solidFill>
          <a:ln w="12700">
            <a:solidFill>
              <a:srgbClr val="FFFFFF"/>
            </a:solidFill>
            <a:prstDash val="solid"/>
          </a:ln>
        </p:spPr>
        <p:txBody>
          <a:bodyPr/>
          <a:lstStyle/>
          <a:p>
            <a:endParaRPr/>
          </a:p>
        </p:txBody>
      </p:sp>
      <p:sp>
        <p:nvSpPr>
          <p:cNvPr id="624" name="q24"/>
          <p:cNvSpPr/>
          <p:nvPr/>
        </p:nvSpPr>
        <p:spPr>
          <a:xfrm>
            <a:off x="2103120" y="2606040"/>
            <a:ext cx="325120" cy="325120"/>
          </a:xfrm>
          <a:prstGeom prst="rect">
            <a:avLst/>
          </a:prstGeom>
          <a:solidFill>
            <a:srgbClr val="15686B"/>
          </a:solidFill>
          <a:ln w="12700">
            <a:solidFill>
              <a:srgbClr val="FFFFFF"/>
            </a:solidFill>
            <a:prstDash val="solid"/>
          </a:ln>
        </p:spPr>
        <p:txBody>
          <a:bodyPr/>
          <a:lstStyle/>
          <a:p>
            <a:endParaRPr/>
          </a:p>
        </p:txBody>
      </p:sp>
      <p:sp>
        <p:nvSpPr>
          <p:cNvPr id="625" name="q25"/>
          <p:cNvSpPr/>
          <p:nvPr/>
        </p:nvSpPr>
        <p:spPr>
          <a:xfrm>
            <a:off x="2468880" y="2606040"/>
            <a:ext cx="325120" cy="325120"/>
          </a:xfrm>
          <a:prstGeom prst="rect">
            <a:avLst/>
          </a:prstGeom>
          <a:solidFill>
            <a:srgbClr val="15686B"/>
          </a:solidFill>
          <a:ln w="12700">
            <a:solidFill>
              <a:srgbClr val="FFFFFF"/>
            </a:solidFill>
            <a:prstDash val="solid"/>
          </a:ln>
        </p:spPr>
        <p:txBody>
          <a:bodyPr/>
          <a:lstStyle/>
          <a:p>
            <a:endParaRPr/>
          </a:p>
        </p:txBody>
      </p:sp>
      <p:sp>
        <p:nvSpPr>
          <p:cNvPr id="626" name="q26"/>
          <p:cNvSpPr/>
          <p:nvPr/>
        </p:nvSpPr>
        <p:spPr>
          <a:xfrm>
            <a:off x="2834640" y="2606040"/>
            <a:ext cx="325120" cy="325120"/>
          </a:xfrm>
          <a:prstGeom prst="rect">
            <a:avLst/>
          </a:prstGeom>
          <a:solidFill>
            <a:srgbClr val="15686B"/>
          </a:solidFill>
          <a:ln w="12700">
            <a:solidFill>
              <a:srgbClr val="FFFFFF"/>
            </a:solidFill>
            <a:prstDash val="solid"/>
          </a:ln>
        </p:spPr>
        <p:txBody>
          <a:bodyPr/>
          <a:lstStyle/>
          <a:p>
            <a:endParaRPr/>
          </a:p>
        </p:txBody>
      </p:sp>
      <p:sp>
        <p:nvSpPr>
          <p:cNvPr id="627" name="q27"/>
          <p:cNvSpPr/>
          <p:nvPr/>
        </p:nvSpPr>
        <p:spPr>
          <a:xfrm>
            <a:off x="3200400" y="2606040"/>
            <a:ext cx="325120" cy="325120"/>
          </a:xfrm>
          <a:prstGeom prst="rect">
            <a:avLst/>
          </a:prstGeom>
          <a:solidFill>
            <a:srgbClr val="15686B"/>
          </a:solidFill>
          <a:ln w="12700">
            <a:solidFill>
              <a:srgbClr val="FFFFFF"/>
            </a:solidFill>
            <a:prstDash val="solid"/>
          </a:ln>
        </p:spPr>
        <p:txBody>
          <a:bodyPr/>
          <a:lstStyle/>
          <a:p>
            <a:endParaRPr/>
          </a:p>
        </p:txBody>
      </p:sp>
      <p:sp>
        <p:nvSpPr>
          <p:cNvPr id="628" name="q28"/>
          <p:cNvSpPr/>
          <p:nvPr/>
        </p:nvSpPr>
        <p:spPr>
          <a:xfrm>
            <a:off x="3566160" y="2606040"/>
            <a:ext cx="325120" cy="325120"/>
          </a:xfrm>
          <a:prstGeom prst="rect">
            <a:avLst/>
          </a:prstGeom>
          <a:solidFill>
            <a:srgbClr val="15686B"/>
          </a:solidFill>
          <a:ln w="12700">
            <a:solidFill>
              <a:srgbClr val="FFFFFF"/>
            </a:solidFill>
            <a:prstDash val="solid"/>
          </a:ln>
        </p:spPr>
        <p:txBody>
          <a:bodyPr/>
          <a:lstStyle/>
          <a:p>
            <a:endParaRPr/>
          </a:p>
        </p:txBody>
      </p:sp>
      <p:sp>
        <p:nvSpPr>
          <p:cNvPr id="629" name="q29"/>
          <p:cNvSpPr/>
          <p:nvPr/>
        </p:nvSpPr>
        <p:spPr>
          <a:xfrm>
            <a:off x="3931920" y="2606040"/>
            <a:ext cx="325120" cy="325120"/>
          </a:xfrm>
          <a:prstGeom prst="rect">
            <a:avLst/>
          </a:prstGeom>
          <a:solidFill>
            <a:srgbClr val="15686B"/>
          </a:solidFill>
          <a:ln w="12700">
            <a:solidFill>
              <a:srgbClr val="FFFFFF"/>
            </a:solidFill>
            <a:prstDash val="solid"/>
          </a:ln>
        </p:spPr>
        <p:txBody>
          <a:bodyPr/>
          <a:lstStyle/>
          <a:p>
            <a:endParaRPr/>
          </a:p>
        </p:txBody>
      </p:sp>
      <p:sp>
        <p:nvSpPr>
          <p:cNvPr id="630" name="q30"/>
          <p:cNvSpPr/>
          <p:nvPr/>
        </p:nvSpPr>
        <p:spPr>
          <a:xfrm>
            <a:off x="640080" y="2971800"/>
            <a:ext cx="325120" cy="325120"/>
          </a:xfrm>
          <a:prstGeom prst="rect">
            <a:avLst/>
          </a:prstGeom>
          <a:solidFill>
            <a:srgbClr val="15686B"/>
          </a:solidFill>
          <a:ln w="12700">
            <a:solidFill>
              <a:srgbClr val="FFFFFF"/>
            </a:solidFill>
            <a:prstDash val="solid"/>
          </a:ln>
        </p:spPr>
        <p:txBody>
          <a:bodyPr/>
          <a:lstStyle/>
          <a:p>
            <a:endParaRPr/>
          </a:p>
        </p:txBody>
      </p:sp>
      <p:sp>
        <p:nvSpPr>
          <p:cNvPr id="631" name="q31"/>
          <p:cNvSpPr/>
          <p:nvPr/>
        </p:nvSpPr>
        <p:spPr>
          <a:xfrm>
            <a:off x="1005840" y="2971800"/>
            <a:ext cx="325120" cy="325120"/>
          </a:xfrm>
          <a:prstGeom prst="rect">
            <a:avLst/>
          </a:prstGeom>
          <a:solidFill>
            <a:srgbClr val="15686B"/>
          </a:solidFill>
          <a:ln w="12700">
            <a:solidFill>
              <a:srgbClr val="FFFFFF"/>
            </a:solidFill>
            <a:prstDash val="solid"/>
          </a:ln>
        </p:spPr>
        <p:txBody>
          <a:bodyPr/>
          <a:lstStyle/>
          <a:p>
            <a:endParaRPr/>
          </a:p>
        </p:txBody>
      </p:sp>
      <p:sp>
        <p:nvSpPr>
          <p:cNvPr id="632" name="q32"/>
          <p:cNvSpPr/>
          <p:nvPr/>
        </p:nvSpPr>
        <p:spPr>
          <a:xfrm>
            <a:off x="1371600" y="2971800"/>
            <a:ext cx="325120" cy="325120"/>
          </a:xfrm>
          <a:prstGeom prst="rect">
            <a:avLst/>
          </a:prstGeom>
          <a:solidFill>
            <a:srgbClr val="15686B"/>
          </a:solidFill>
          <a:ln w="12700">
            <a:solidFill>
              <a:srgbClr val="FFFFFF"/>
            </a:solidFill>
            <a:prstDash val="solid"/>
          </a:ln>
        </p:spPr>
        <p:txBody>
          <a:bodyPr/>
          <a:lstStyle/>
          <a:p>
            <a:endParaRPr/>
          </a:p>
        </p:txBody>
      </p:sp>
      <p:sp>
        <p:nvSpPr>
          <p:cNvPr id="633" name="q33"/>
          <p:cNvSpPr/>
          <p:nvPr/>
        </p:nvSpPr>
        <p:spPr>
          <a:xfrm>
            <a:off x="1737360" y="2971800"/>
            <a:ext cx="325120" cy="325120"/>
          </a:xfrm>
          <a:prstGeom prst="rect">
            <a:avLst/>
          </a:prstGeom>
          <a:solidFill>
            <a:srgbClr val="15686B"/>
          </a:solidFill>
          <a:ln w="12700">
            <a:solidFill>
              <a:srgbClr val="FFFFFF"/>
            </a:solidFill>
            <a:prstDash val="solid"/>
          </a:ln>
        </p:spPr>
        <p:txBody>
          <a:bodyPr/>
          <a:lstStyle/>
          <a:p>
            <a:endParaRPr/>
          </a:p>
        </p:txBody>
      </p:sp>
      <p:sp>
        <p:nvSpPr>
          <p:cNvPr id="634" name="q34"/>
          <p:cNvSpPr/>
          <p:nvPr/>
        </p:nvSpPr>
        <p:spPr>
          <a:xfrm>
            <a:off x="2103120" y="2971800"/>
            <a:ext cx="325120" cy="325120"/>
          </a:xfrm>
          <a:prstGeom prst="rect">
            <a:avLst/>
          </a:prstGeom>
          <a:solidFill>
            <a:srgbClr val="15686B"/>
          </a:solidFill>
          <a:ln w="12700">
            <a:solidFill>
              <a:srgbClr val="FFFFFF"/>
            </a:solidFill>
            <a:prstDash val="solid"/>
          </a:ln>
        </p:spPr>
        <p:txBody>
          <a:bodyPr/>
          <a:lstStyle/>
          <a:p>
            <a:endParaRPr/>
          </a:p>
        </p:txBody>
      </p:sp>
      <p:sp>
        <p:nvSpPr>
          <p:cNvPr id="635" name="q35"/>
          <p:cNvSpPr/>
          <p:nvPr/>
        </p:nvSpPr>
        <p:spPr>
          <a:xfrm>
            <a:off x="2468880" y="2971800"/>
            <a:ext cx="325120" cy="325120"/>
          </a:xfrm>
          <a:prstGeom prst="rect">
            <a:avLst/>
          </a:prstGeom>
          <a:solidFill>
            <a:srgbClr val="15686B"/>
          </a:solidFill>
          <a:ln w="12700">
            <a:solidFill>
              <a:srgbClr val="FFFFFF"/>
            </a:solidFill>
            <a:prstDash val="solid"/>
          </a:ln>
        </p:spPr>
        <p:txBody>
          <a:bodyPr/>
          <a:lstStyle/>
          <a:p>
            <a:endParaRPr/>
          </a:p>
        </p:txBody>
      </p:sp>
      <p:sp>
        <p:nvSpPr>
          <p:cNvPr id="636" name="q36"/>
          <p:cNvSpPr/>
          <p:nvPr/>
        </p:nvSpPr>
        <p:spPr>
          <a:xfrm>
            <a:off x="2834640" y="2971800"/>
            <a:ext cx="325120" cy="325120"/>
          </a:xfrm>
          <a:prstGeom prst="rect">
            <a:avLst/>
          </a:prstGeom>
          <a:solidFill>
            <a:srgbClr val="15686B"/>
          </a:solidFill>
          <a:ln w="12700">
            <a:solidFill>
              <a:srgbClr val="FFFFFF"/>
            </a:solidFill>
            <a:prstDash val="solid"/>
          </a:ln>
        </p:spPr>
        <p:txBody>
          <a:bodyPr/>
          <a:lstStyle/>
          <a:p>
            <a:endParaRPr/>
          </a:p>
        </p:txBody>
      </p:sp>
      <p:sp>
        <p:nvSpPr>
          <p:cNvPr id="637" name="q37"/>
          <p:cNvSpPr/>
          <p:nvPr/>
        </p:nvSpPr>
        <p:spPr>
          <a:xfrm>
            <a:off x="3200400" y="2971800"/>
            <a:ext cx="325120" cy="325120"/>
          </a:xfrm>
          <a:prstGeom prst="rect">
            <a:avLst/>
          </a:prstGeom>
          <a:solidFill>
            <a:srgbClr val="15686B"/>
          </a:solidFill>
          <a:ln w="12700">
            <a:solidFill>
              <a:srgbClr val="FFFFFF"/>
            </a:solidFill>
            <a:prstDash val="solid"/>
          </a:ln>
        </p:spPr>
        <p:txBody>
          <a:bodyPr/>
          <a:lstStyle/>
          <a:p>
            <a:endParaRPr/>
          </a:p>
        </p:txBody>
      </p:sp>
      <p:sp>
        <p:nvSpPr>
          <p:cNvPr id="638" name="q38"/>
          <p:cNvSpPr/>
          <p:nvPr/>
        </p:nvSpPr>
        <p:spPr>
          <a:xfrm>
            <a:off x="3566160" y="2971800"/>
            <a:ext cx="325120" cy="325120"/>
          </a:xfrm>
          <a:prstGeom prst="rect">
            <a:avLst/>
          </a:prstGeom>
          <a:solidFill>
            <a:srgbClr val="15686B"/>
          </a:solidFill>
          <a:ln w="12700">
            <a:solidFill>
              <a:srgbClr val="FFFFFF"/>
            </a:solidFill>
            <a:prstDash val="solid"/>
          </a:ln>
        </p:spPr>
        <p:txBody>
          <a:bodyPr/>
          <a:lstStyle/>
          <a:p>
            <a:endParaRPr/>
          </a:p>
        </p:txBody>
      </p:sp>
      <p:sp>
        <p:nvSpPr>
          <p:cNvPr id="639" name="q39"/>
          <p:cNvSpPr/>
          <p:nvPr/>
        </p:nvSpPr>
        <p:spPr>
          <a:xfrm>
            <a:off x="3931920" y="2971800"/>
            <a:ext cx="325120" cy="325120"/>
          </a:xfrm>
          <a:prstGeom prst="rect">
            <a:avLst/>
          </a:prstGeom>
          <a:solidFill>
            <a:srgbClr val="15686B"/>
          </a:solidFill>
          <a:ln w="12700">
            <a:solidFill>
              <a:srgbClr val="FFFFFF"/>
            </a:solidFill>
            <a:prstDash val="solid"/>
          </a:ln>
        </p:spPr>
        <p:txBody>
          <a:bodyPr/>
          <a:lstStyle/>
          <a:p>
            <a:endParaRPr/>
          </a:p>
        </p:txBody>
      </p:sp>
      <p:sp>
        <p:nvSpPr>
          <p:cNvPr id="640" name="q40"/>
          <p:cNvSpPr/>
          <p:nvPr/>
        </p:nvSpPr>
        <p:spPr>
          <a:xfrm>
            <a:off x="640080" y="3337560"/>
            <a:ext cx="325120" cy="325120"/>
          </a:xfrm>
          <a:prstGeom prst="rect">
            <a:avLst/>
          </a:prstGeom>
          <a:solidFill>
            <a:srgbClr val="15686B"/>
          </a:solidFill>
          <a:ln w="12700">
            <a:solidFill>
              <a:srgbClr val="FFFFFF"/>
            </a:solidFill>
            <a:prstDash val="solid"/>
          </a:ln>
        </p:spPr>
        <p:txBody>
          <a:bodyPr/>
          <a:lstStyle/>
          <a:p>
            <a:endParaRPr/>
          </a:p>
        </p:txBody>
      </p:sp>
      <p:sp>
        <p:nvSpPr>
          <p:cNvPr id="641" name="q41"/>
          <p:cNvSpPr/>
          <p:nvPr/>
        </p:nvSpPr>
        <p:spPr>
          <a:xfrm>
            <a:off x="1005840" y="3337560"/>
            <a:ext cx="325120" cy="325120"/>
          </a:xfrm>
          <a:prstGeom prst="rect">
            <a:avLst/>
          </a:prstGeom>
          <a:solidFill>
            <a:srgbClr val="15686B"/>
          </a:solidFill>
          <a:ln w="12700">
            <a:solidFill>
              <a:srgbClr val="FFFFFF"/>
            </a:solidFill>
            <a:prstDash val="solid"/>
          </a:ln>
        </p:spPr>
        <p:txBody>
          <a:bodyPr/>
          <a:lstStyle/>
          <a:p>
            <a:endParaRPr/>
          </a:p>
        </p:txBody>
      </p:sp>
      <p:sp>
        <p:nvSpPr>
          <p:cNvPr id="642" name="q42"/>
          <p:cNvSpPr/>
          <p:nvPr/>
        </p:nvSpPr>
        <p:spPr>
          <a:xfrm>
            <a:off x="1371600" y="3337560"/>
            <a:ext cx="325120" cy="325120"/>
          </a:xfrm>
          <a:prstGeom prst="rect">
            <a:avLst/>
          </a:prstGeom>
          <a:solidFill>
            <a:srgbClr val="15686B"/>
          </a:solidFill>
          <a:ln w="12700">
            <a:solidFill>
              <a:srgbClr val="FFFFFF"/>
            </a:solidFill>
            <a:prstDash val="solid"/>
          </a:ln>
        </p:spPr>
        <p:txBody>
          <a:bodyPr/>
          <a:lstStyle/>
          <a:p>
            <a:endParaRPr/>
          </a:p>
        </p:txBody>
      </p:sp>
      <p:sp>
        <p:nvSpPr>
          <p:cNvPr id="643" name="q43"/>
          <p:cNvSpPr/>
          <p:nvPr/>
        </p:nvSpPr>
        <p:spPr>
          <a:xfrm>
            <a:off x="1737360" y="3337560"/>
            <a:ext cx="325120" cy="325120"/>
          </a:xfrm>
          <a:prstGeom prst="rect">
            <a:avLst/>
          </a:prstGeom>
          <a:solidFill>
            <a:srgbClr val="15686B"/>
          </a:solidFill>
          <a:ln w="12700">
            <a:solidFill>
              <a:srgbClr val="FFFFFF"/>
            </a:solidFill>
            <a:prstDash val="solid"/>
          </a:ln>
        </p:spPr>
        <p:txBody>
          <a:bodyPr/>
          <a:lstStyle/>
          <a:p>
            <a:endParaRPr/>
          </a:p>
        </p:txBody>
      </p:sp>
      <p:sp>
        <p:nvSpPr>
          <p:cNvPr id="644" name="q44"/>
          <p:cNvSpPr/>
          <p:nvPr/>
        </p:nvSpPr>
        <p:spPr>
          <a:xfrm>
            <a:off x="2103120" y="3337560"/>
            <a:ext cx="325120" cy="325120"/>
          </a:xfrm>
          <a:prstGeom prst="rect">
            <a:avLst/>
          </a:prstGeom>
          <a:solidFill>
            <a:srgbClr val="15686B"/>
          </a:solidFill>
          <a:ln w="12700">
            <a:solidFill>
              <a:srgbClr val="FFFFFF"/>
            </a:solidFill>
            <a:prstDash val="solid"/>
          </a:ln>
        </p:spPr>
        <p:txBody>
          <a:bodyPr/>
          <a:lstStyle/>
          <a:p>
            <a:endParaRPr/>
          </a:p>
        </p:txBody>
      </p:sp>
      <p:sp>
        <p:nvSpPr>
          <p:cNvPr id="645" name="q45"/>
          <p:cNvSpPr/>
          <p:nvPr/>
        </p:nvSpPr>
        <p:spPr>
          <a:xfrm>
            <a:off x="2468880" y="3337560"/>
            <a:ext cx="325120" cy="325120"/>
          </a:xfrm>
          <a:prstGeom prst="rect">
            <a:avLst/>
          </a:prstGeom>
          <a:solidFill>
            <a:srgbClr val="15686B"/>
          </a:solidFill>
          <a:ln w="12700">
            <a:solidFill>
              <a:srgbClr val="FFFFFF"/>
            </a:solidFill>
            <a:prstDash val="solid"/>
          </a:ln>
        </p:spPr>
        <p:txBody>
          <a:bodyPr/>
          <a:lstStyle/>
          <a:p>
            <a:endParaRPr/>
          </a:p>
        </p:txBody>
      </p:sp>
      <p:sp>
        <p:nvSpPr>
          <p:cNvPr id="646" name="q46"/>
          <p:cNvSpPr/>
          <p:nvPr/>
        </p:nvSpPr>
        <p:spPr>
          <a:xfrm>
            <a:off x="2834640" y="3337560"/>
            <a:ext cx="325120" cy="325120"/>
          </a:xfrm>
          <a:prstGeom prst="rect">
            <a:avLst/>
          </a:prstGeom>
          <a:solidFill>
            <a:srgbClr val="15686B"/>
          </a:solidFill>
          <a:ln w="12700">
            <a:solidFill>
              <a:srgbClr val="FFFFFF"/>
            </a:solidFill>
            <a:prstDash val="solid"/>
          </a:ln>
        </p:spPr>
        <p:txBody>
          <a:bodyPr/>
          <a:lstStyle/>
          <a:p>
            <a:endParaRPr/>
          </a:p>
        </p:txBody>
      </p:sp>
      <p:sp>
        <p:nvSpPr>
          <p:cNvPr id="647" name="q47"/>
          <p:cNvSpPr/>
          <p:nvPr/>
        </p:nvSpPr>
        <p:spPr>
          <a:xfrm>
            <a:off x="3200400" y="3337560"/>
            <a:ext cx="325120" cy="325120"/>
          </a:xfrm>
          <a:prstGeom prst="rect">
            <a:avLst/>
          </a:prstGeom>
          <a:solidFill>
            <a:srgbClr val="15686B"/>
          </a:solidFill>
          <a:ln w="12700">
            <a:solidFill>
              <a:srgbClr val="FFFFFF"/>
            </a:solidFill>
            <a:prstDash val="solid"/>
          </a:ln>
        </p:spPr>
        <p:txBody>
          <a:bodyPr/>
          <a:lstStyle/>
          <a:p>
            <a:endParaRPr/>
          </a:p>
        </p:txBody>
      </p:sp>
      <p:sp>
        <p:nvSpPr>
          <p:cNvPr id="648" name="q48"/>
          <p:cNvSpPr/>
          <p:nvPr/>
        </p:nvSpPr>
        <p:spPr>
          <a:xfrm>
            <a:off x="3566160" y="3337560"/>
            <a:ext cx="325120" cy="325120"/>
          </a:xfrm>
          <a:prstGeom prst="rect">
            <a:avLst/>
          </a:prstGeom>
          <a:solidFill>
            <a:srgbClr val="15686B"/>
          </a:solidFill>
          <a:ln w="12700">
            <a:solidFill>
              <a:srgbClr val="FFFFFF"/>
            </a:solidFill>
            <a:prstDash val="solid"/>
          </a:ln>
        </p:spPr>
        <p:txBody>
          <a:bodyPr/>
          <a:lstStyle/>
          <a:p>
            <a:endParaRPr/>
          </a:p>
        </p:txBody>
      </p:sp>
      <p:sp>
        <p:nvSpPr>
          <p:cNvPr id="649" name="q49"/>
          <p:cNvSpPr/>
          <p:nvPr/>
        </p:nvSpPr>
        <p:spPr>
          <a:xfrm>
            <a:off x="3931920" y="3337560"/>
            <a:ext cx="325120" cy="325120"/>
          </a:xfrm>
          <a:prstGeom prst="rect">
            <a:avLst/>
          </a:prstGeom>
          <a:solidFill>
            <a:srgbClr val="15686B"/>
          </a:solidFill>
          <a:ln w="12700">
            <a:solidFill>
              <a:srgbClr val="FFFFFF"/>
            </a:solidFill>
            <a:prstDash val="solid"/>
          </a:ln>
        </p:spPr>
        <p:txBody>
          <a:bodyPr/>
          <a:lstStyle/>
          <a:p>
            <a:endParaRPr/>
          </a:p>
        </p:txBody>
      </p:sp>
      <p:sp>
        <p:nvSpPr>
          <p:cNvPr id="650" name="q50"/>
          <p:cNvSpPr/>
          <p:nvPr/>
        </p:nvSpPr>
        <p:spPr>
          <a:xfrm>
            <a:off x="640080" y="3703320"/>
            <a:ext cx="325120" cy="325120"/>
          </a:xfrm>
          <a:prstGeom prst="rect">
            <a:avLst/>
          </a:prstGeom>
          <a:solidFill>
            <a:srgbClr val="15686B"/>
          </a:solidFill>
          <a:ln w="12700">
            <a:solidFill>
              <a:srgbClr val="FFFFFF"/>
            </a:solidFill>
            <a:prstDash val="solid"/>
          </a:ln>
        </p:spPr>
        <p:txBody>
          <a:bodyPr/>
          <a:lstStyle/>
          <a:p>
            <a:endParaRPr/>
          </a:p>
        </p:txBody>
      </p:sp>
      <p:sp>
        <p:nvSpPr>
          <p:cNvPr id="651" name="q51"/>
          <p:cNvSpPr/>
          <p:nvPr/>
        </p:nvSpPr>
        <p:spPr>
          <a:xfrm>
            <a:off x="1005840" y="3703320"/>
            <a:ext cx="325120" cy="325120"/>
          </a:xfrm>
          <a:prstGeom prst="rect">
            <a:avLst/>
          </a:prstGeom>
          <a:solidFill>
            <a:srgbClr val="5E9B9D"/>
          </a:solidFill>
          <a:ln w="12700">
            <a:solidFill>
              <a:srgbClr val="FFFFFF"/>
            </a:solidFill>
            <a:prstDash val="solid"/>
          </a:ln>
        </p:spPr>
        <p:txBody>
          <a:bodyPr/>
          <a:lstStyle/>
          <a:p>
            <a:endParaRPr/>
          </a:p>
        </p:txBody>
      </p:sp>
      <p:sp>
        <p:nvSpPr>
          <p:cNvPr id="652" name="q52"/>
          <p:cNvSpPr/>
          <p:nvPr/>
        </p:nvSpPr>
        <p:spPr>
          <a:xfrm>
            <a:off x="1371600" y="3703320"/>
            <a:ext cx="325120" cy="325120"/>
          </a:xfrm>
          <a:prstGeom prst="rect">
            <a:avLst/>
          </a:prstGeom>
          <a:solidFill>
            <a:srgbClr val="5E9B9D"/>
          </a:solidFill>
          <a:ln w="12700">
            <a:solidFill>
              <a:srgbClr val="FFFFFF"/>
            </a:solidFill>
            <a:prstDash val="solid"/>
          </a:ln>
        </p:spPr>
        <p:txBody>
          <a:bodyPr/>
          <a:lstStyle/>
          <a:p>
            <a:endParaRPr/>
          </a:p>
        </p:txBody>
      </p:sp>
      <p:sp>
        <p:nvSpPr>
          <p:cNvPr id="653" name="q53"/>
          <p:cNvSpPr/>
          <p:nvPr/>
        </p:nvSpPr>
        <p:spPr>
          <a:xfrm>
            <a:off x="1737360" y="3703320"/>
            <a:ext cx="325120" cy="325120"/>
          </a:xfrm>
          <a:prstGeom prst="rect">
            <a:avLst/>
          </a:prstGeom>
          <a:solidFill>
            <a:srgbClr val="5E9B9D"/>
          </a:solidFill>
          <a:ln w="12700">
            <a:solidFill>
              <a:srgbClr val="FFFFFF"/>
            </a:solidFill>
            <a:prstDash val="solid"/>
          </a:ln>
        </p:spPr>
        <p:txBody>
          <a:bodyPr/>
          <a:lstStyle/>
          <a:p>
            <a:endParaRPr/>
          </a:p>
        </p:txBody>
      </p:sp>
      <p:sp>
        <p:nvSpPr>
          <p:cNvPr id="654" name="q54"/>
          <p:cNvSpPr/>
          <p:nvPr/>
        </p:nvSpPr>
        <p:spPr>
          <a:xfrm>
            <a:off x="2103120" y="3703320"/>
            <a:ext cx="325120" cy="325120"/>
          </a:xfrm>
          <a:prstGeom prst="rect">
            <a:avLst/>
          </a:prstGeom>
          <a:solidFill>
            <a:srgbClr val="5E9B9D"/>
          </a:solidFill>
          <a:ln w="12700">
            <a:solidFill>
              <a:srgbClr val="FFFFFF"/>
            </a:solidFill>
            <a:prstDash val="solid"/>
          </a:ln>
        </p:spPr>
        <p:txBody>
          <a:bodyPr/>
          <a:lstStyle/>
          <a:p>
            <a:endParaRPr/>
          </a:p>
        </p:txBody>
      </p:sp>
      <p:sp>
        <p:nvSpPr>
          <p:cNvPr id="655" name="q55"/>
          <p:cNvSpPr/>
          <p:nvPr/>
        </p:nvSpPr>
        <p:spPr>
          <a:xfrm>
            <a:off x="2468880" y="3703320"/>
            <a:ext cx="325120" cy="325120"/>
          </a:xfrm>
          <a:prstGeom prst="rect">
            <a:avLst/>
          </a:prstGeom>
          <a:solidFill>
            <a:srgbClr val="5E9B9D"/>
          </a:solidFill>
          <a:ln w="12700">
            <a:solidFill>
              <a:srgbClr val="FFFFFF"/>
            </a:solidFill>
            <a:prstDash val="solid"/>
          </a:ln>
        </p:spPr>
        <p:txBody>
          <a:bodyPr/>
          <a:lstStyle/>
          <a:p>
            <a:endParaRPr/>
          </a:p>
        </p:txBody>
      </p:sp>
      <p:sp>
        <p:nvSpPr>
          <p:cNvPr id="656" name="q56"/>
          <p:cNvSpPr/>
          <p:nvPr/>
        </p:nvSpPr>
        <p:spPr>
          <a:xfrm>
            <a:off x="2834640" y="3703320"/>
            <a:ext cx="325120" cy="325120"/>
          </a:xfrm>
          <a:prstGeom prst="rect">
            <a:avLst/>
          </a:prstGeom>
          <a:solidFill>
            <a:srgbClr val="5E9B9D"/>
          </a:solidFill>
          <a:ln w="12700">
            <a:solidFill>
              <a:srgbClr val="FFFFFF"/>
            </a:solidFill>
            <a:prstDash val="solid"/>
          </a:ln>
        </p:spPr>
        <p:txBody>
          <a:bodyPr/>
          <a:lstStyle/>
          <a:p>
            <a:endParaRPr/>
          </a:p>
        </p:txBody>
      </p:sp>
      <p:sp>
        <p:nvSpPr>
          <p:cNvPr id="657" name="q57"/>
          <p:cNvSpPr/>
          <p:nvPr/>
        </p:nvSpPr>
        <p:spPr>
          <a:xfrm>
            <a:off x="3200400" y="3703320"/>
            <a:ext cx="325120" cy="325120"/>
          </a:xfrm>
          <a:prstGeom prst="rect">
            <a:avLst/>
          </a:prstGeom>
          <a:solidFill>
            <a:srgbClr val="5E9B9D"/>
          </a:solidFill>
          <a:ln w="12700">
            <a:solidFill>
              <a:srgbClr val="FFFFFF"/>
            </a:solidFill>
            <a:prstDash val="solid"/>
          </a:ln>
        </p:spPr>
        <p:txBody>
          <a:bodyPr/>
          <a:lstStyle/>
          <a:p>
            <a:endParaRPr/>
          </a:p>
        </p:txBody>
      </p:sp>
      <p:sp>
        <p:nvSpPr>
          <p:cNvPr id="658" name="q58"/>
          <p:cNvSpPr/>
          <p:nvPr/>
        </p:nvSpPr>
        <p:spPr>
          <a:xfrm>
            <a:off x="3566160" y="3703320"/>
            <a:ext cx="325120" cy="325120"/>
          </a:xfrm>
          <a:prstGeom prst="rect">
            <a:avLst/>
          </a:prstGeom>
          <a:solidFill>
            <a:srgbClr val="5E9B9D"/>
          </a:solidFill>
          <a:ln w="12700">
            <a:solidFill>
              <a:srgbClr val="FFFFFF"/>
            </a:solidFill>
            <a:prstDash val="solid"/>
          </a:ln>
        </p:spPr>
        <p:txBody>
          <a:bodyPr/>
          <a:lstStyle/>
          <a:p>
            <a:endParaRPr/>
          </a:p>
        </p:txBody>
      </p:sp>
      <p:sp>
        <p:nvSpPr>
          <p:cNvPr id="700" name="Cap"/>
          <p:cNvSpPr/>
          <p:nvPr/>
        </p:nvSpPr>
        <p:spPr>
          <a:xfrm>
            <a:off x="640080" y="4160520"/>
            <a:ext cx="4114800" cy="300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1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The 59 women who have cancer, enlarged from the 10,000.</a:t>
            </a:r>
          </a:p>
        </p:txBody>
      </p:sp>
      <p:sp>
        <p:nvSpPr>
          <p:cNvPr id="20" name="Lead"/>
          <p:cNvSpPr/>
          <p:nvPr/>
        </p:nvSpPr>
        <p:spPr>
          <a:xfrm>
            <a:off x="5486400" y="1874520"/>
            <a:ext cx="6096000" cy="8001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Look only at the 59 women who have cancer. Everyone else is set aside for now.</a:t>
            </a:r>
          </a:p>
        </p:txBody>
      </p:sp>
      <p:sp>
        <p:nvSpPr>
          <p:cNvPr id="30" name="card30"/>
          <p:cNvSpPr/>
          <p:nvPr/>
        </p:nvSpPr>
        <p:spPr>
          <a:xfrm>
            <a:off x="5486400" y="3048000"/>
            <a:ext cx="6096000" cy="1219200"/>
          </a:xfrm>
          <a:prstGeom prst="roundRect">
            <a:avLst>
              <a:gd name="adj" fmla="val 6000"/>
            </a:avLst>
          </a:prstGeom>
          <a:solidFill>
            <a:srgbClr val="F4F6F8"/>
          </a:solidFill>
          <a:ln w="12700">
            <a:solidFill>
              <a:srgbClr val="15686B"/>
            </a:solidFill>
            <a:prstDash val="solid"/>
          </a:ln>
        </p:spPr>
        <p:txBody>
          <a:bodyPr/>
          <a:lstStyle/>
          <a:p>
            <a:endParaRPr/>
          </a:p>
        </p:txBody>
      </p:sp>
      <p:sp>
        <p:nvSpPr>
          <p:cNvPr id="31" name="cardtx30"/>
          <p:cNvSpPr/>
          <p:nvPr/>
        </p:nvSpPr>
        <p:spPr>
          <a:xfrm>
            <a:off x="5715000" y="3238500"/>
            <a:ext cx="5638800" cy="838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Of those 59, the ones called back: </a:t>
            </a:r>
            <a:r>
              <a:rPr kumimoji="0" lang="en-US" sz="15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51</a:t>
            </a:r>
          </a:p>
          <a:p>
            <a:pPr marL="0" marR="0" lvl="0" indent="0" algn="l" defTabSz="914400" rtl="0" eaLnBrk="1" fontAlgn="auto" latinLnBrk="0" hangingPunct="1">
              <a:lnSpc>
                <a:spcPct val="100000"/>
              </a:lnSpc>
              <a:spcBef>
                <a:spcPts val="0"/>
              </a:spcBef>
              <a:spcAft>
                <a:spcPts val="0"/>
              </a:spcAft>
              <a:buNone/>
              <a:tabLst/>
              <a:defRPr/>
            </a:pPr>
            <a:r>
              <a:rPr kumimoji="0" lang="en-US" sz="8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0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P(callback | cancer) = 51 / 59 = </a:t>
            </a:r>
            <a:r>
              <a:rPr kumimoji="0" lang="en-US" sz="17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87%</a:t>
            </a:r>
          </a:p>
        </p:txBody>
      </p:sp>
      <p:sp>
        <p:nvSpPr>
          <p:cNvPr id="50" name="Note"/>
          <p:cNvSpPr/>
          <p:nvPr/>
        </p:nvSpPr>
        <p:spPr>
          <a:xfrm>
            <a:off x="5486400" y="4876800"/>
            <a:ext cx="6096000" cy="7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4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This is the number the mammogram is judged on, and it is a good one.</a:t>
            </a:r>
          </a:p>
        </p:txBody>
      </p:sp>
      <p:sp>
        <p:nvSpPr>
          <p:cNvPr id="6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Sensitivity 86.9%. Lehman CD et al. National performance benchmarks for modern screening digital mammography, Breast Cancer Surveillance Consortium. Radiology 2017;283(1):49-58. 1,682,504 screens, 359 radiologists, 95 facilities, 2007-2013.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SECOND QUESTION, THE ONE PEOPLE GET BACKWARDS</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If you get a callback, how likely is cancer?</a:t>
            </a:r>
          </a:p>
        </p:txBody>
      </p:sp>
      <p:pic>
        <p:nvPicPr>
          <p:cNvPr id="19" name="Waffle"/>
          <p:cNvPicPr/>
          <p:nvPr/>
        </p:nvPicPr>
        <p:blipFill>
          <a:blip/>
          <a:stretch>
            <a:fillRect/>
          </a:stretch>
        </p:blipFill>
        <p:spPr>
          <a:xfrm>
            <a:off x="640080" y="1874520"/>
            <a:ext cx="4114800" cy="4114800"/>
          </a:xfrm>
          <a:prstGeom prst="rect">
            <a:avLst/>
          </a:prstGeom>
        </p:spPr>
      </p:pic>
      <p:sp>
        <p:nvSpPr>
          <p:cNvPr id="20" name="Lead"/>
          <p:cNvSpPr/>
          <p:nvPr/>
        </p:nvSpPr>
        <p:spPr>
          <a:xfrm>
            <a:off x="5486400" y="1874520"/>
            <a:ext cx="6096000" cy="8001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Now look only at the women who get called back. Same picture, we just divide by a different group.</a:t>
            </a:r>
          </a:p>
        </p:txBody>
      </p:sp>
      <p:sp>
        <p:nvSpPr>
          <p:cNvPr id="30" name="card30"/>
          <p:cNvSpPr/>
          <p:nvPr/>
        </p:nvSpPr>
        <p:spPr>
          <a:xfrm>
            <a:off x="5486400" y="3048000"/>
            <a:ext cx="6096000" cy="1219200"/>
          </a:xfrm>
          <a:prstGeom prst="roundRect">
            <a:avLst>
              <a:gd name="adj" fmla="val 6000"/>
            </a:avLst>
          </a:prstGeom>
          <a:solidFill>
            <a:srgbClr val="FBF1EA"/>
          </a:solidFill>
          <a:ln w="12700">
            <a:solidFill>
              <a:srgbClr val="F4B740"/>
            </a:solidFill>
            <a:prstDash val="solid"/>
          </a:ln>
        </p:spPr>
        <p:txBody>
          <a:bodyPr/>
          <a:lstStyle/>
          <a:p>
            <a:endParaRPr/>
          </a:p>
        </p:txBody>
      </p:sp>
      <p:sp>
        <p:nvSpPr>
          <p:cNvPr id="31" name="cardtx30"/>
          <p:cNvSpPr/>
          <p:nvPr/>
        </p:nvSpPr>
        <p:spPr>
          <a:xfrm>
            <a:off x="5715000" y="3238500"/>
            <a:ext cx="5638800" cy="838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Of those 1,154, the ones who have cancer: </a:t>
            </a:r>
            <a:r>
              <a:rPr kumimoji="0" lang="en-US" sz="15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51</a:t>
            </a:r>
          </a:p>
          <a:p>
            <a:pPr marL="0" marR="0" lvl="0" indent="0" algn="l" defTabSz="914400" rtl="0" eaLnBrk="1" fontAlgn="auto" latinLnBrk="0" hangingPunct="1">
              <a:lnSpc>
                <a:spcPct val="100000"/>
              </a:lnSpc>
              <a:spcBef>
                <a:spcPts val="0"/>
              </a:spcBef>
              <a:spcAft>
                <a:spcPts val="0"/>
              </a:spcAft>
              <a:buNone/>
              <a:tabLst/>
              <a:defRPr/>
            </a:pPr>
            <a:r>
              <a:rPr kumimoji="0" lang="en-US" sz="8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0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P(cancer | callback) = 51 / 1,154 = </a:t>
            </a:r>
            <a:r>
              <a:rPr kumimoji="0" lang="en-US" sz="17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4.4%</a:t>
            </a:r>
          </a:p>
        </p:txBody>
      </p:sp>
      <p:sp>
        <p:nvSpPr>
          <p:cNvPr id="50" name="Note"/>
          <p:cNvSpPr/>
          <p:nvPr/>
        </p:nvSpPr>
        <p:spPr>
          <a:xfrm>
            <a:off x="5486400" y="4876800"/>
            <a:ext cx="6096000" cy="8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4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Twenty-two of every twenty-three callbacks are false alarms. This is the value the benchmark study itself publishes.</a:t>
            </a:r>
          </a:p>
        </p:txBody>
      </p:sp>
      <p:sp>
        <p:nvSpPr>
          <p:cNvPr id="6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Positive predictive value of an abnormal interpretation, 4.4%. Lehman CD et al. National performance benchmarks for modern screening digital mammography, Breast Cancer Surveillance Consortium. Radiology 2017;283(1):49-58. 1,682,504 screens, 359 radiologists, 95 facilities, 2007-2013.</a:t>
            </a:r>
          </a:p>
        </p:txBody>
      </p:sp>
      <p:pic>
        <p:nvPicPr>
          <p:cNvPr id="900" name="Waffle"/>
          <p:cNvPicPr/>
          <p:nvPr/>
        </p:nvPicPr>
        <p:blipFill>
          <a:blip r:embed="rId2"/>
          <a:stretch>
            <a:fillRect/>
          </a:stretch>
        </p:blipFill>
        <p:spPr>
          <a:xfrm>
            <a:off x="640080" y="1874520"/>
            <a:ext cx="4114800" cy="4114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THE REVERSAL, FOR ONE WOMAN</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Unlikely, but not ignorable</a:t>
            </a:r>
          </a:p>
        </p:txBody>
      </p:sp>
      <p:sp>
        <p:nvSpPr>
          <p:cNvPr id="20" name="flip"/>
          <p:cNvSpPr/>
          <p:nvPr/>
        </p:nvSpPr>
        <p:spPr>
          <a:xfrm>
            <a:off x="640080" y="2011680"/>
            <a:ext cx="10911840" cy="2103120"/>
          </a:xfrm>
          <a:prstGeom prst="roundRect">
            <a:avLst>
              <a:gd name="adj" fmla="val 4000"/>
            </a:avLst>
          </a:prstGeom>
          <a:solidFill>
            <a:srgbClr val="F4F6F8"/>
          </a:solidFill>
          <a:ln w="12700">
            <a:solidFill>
              <a:srgbClr val="15686B"/>
            </a:solidFill>
            <a:prstDash val="solid"/>
          </a:ln>
        </p:spPr>
        <p:txBody>
          <a:bodyPr/>
          <a:lstStyle/>
          <a:p>
            <a:endParaRPr/>
          </a:p>
        </p:txBody>
      </p:sp>
      <p:sp>
        <p:nvSpPr>
          <p:cNvPr id="21" name="f1"/>
          <p:cNvSpPr/>
          <p:nvPr/>
        </p:nvSpPr>
        <p:spPr>
          <a:xfrm>
            <a:off x="914400" y="2331720"/>
            <a:ext cx="10363200"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2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P( called back | cancer )  =  87%</a:t>
            </a:r>
          </a:p>
        </p:txBody>
      </p:sp>
      <p:sp>
        <p:nvSpPr>
          <p:cNvPr id="22" name="f2"/>
          <p:cNvSpPr/>
          <p:nvPr/>
        </p:nvSpPr>
        <p:spPr>
          <a:xfrm>
            <a:off x="914400" y="2952750"/>
            <a:ext cx="10363200"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15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   reversed becomes</a:t>
            </a:r>
          </a:p>
        </p:txBody>
      </p:sp>
      <p:sp>
        <p:nvSpPr>
          <p:cNvPr id="23" name="f3"/>
          <p:cNvSpPr/>
          <p:nvPr/>
        </p:nvSpPr>
        <p:spPr>
          <a:xfrm>
            <a:off x="914400" y="3383280"/>
            <a:ext cx="10363200"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26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P( cancer | called back )  =  4%</a:t>
            </a:r>
          </a:p>
        </p:txBody>
      </p:sp>
      <p:sp>
        <p:nvSpPr>
          <p:cNvPr id="40" name="Close"/>
          <p:cNvSpPr/>
          <p:nvPr/>
        </p:nvSpPr>
        <p:spPr>
          <a:xfrm>
            <a:off x="640080" y="4632960"/>
            <a:ext cx="10911840" cy="12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87% is what the mammogram was measured on. 4% is what her letter means. Same test, same day, same woman.</a:t>
            </a:r>
          </a:p>
          <a:p>
            <a:pPr marL="0" marR="0" lvl="0" indent="0" algn="l" defTabSz="914400" rtl="0" eaLnBrk="1" fontAlgn="auto" latinLnBrk="0" hangingPunct="1">
              <a:lnSpc>
                <a:spcPct val="100000"/>
              </a:lnSpc>
              <a:spcBef>
                <a:spcPts val="0"/>
              </a:spcBef>
              <a:spcAft>
                <a:spcPts val="0"/>
              </a:spcAft>
              <a:buNone/>
              <a:tabLst/>
              <a:defRPr/>
            </a:pPr>
            <a:r>
              <a:rPr kumimoji="0" lang="en-US" sz="8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4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Unlikely is why she should not panic. Not ignorable is why the biopsy is warranted.</a:t>
            </a:r>
          </a:p>
        </p:txBody>
      </p:sp>
      <p:sp>
        <p:nvSpPr>
          <p:cNvPr id="5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Positive predictive value of an abnormal interpretation 4.4%, of a biopsy recommendation 25.6%. Lehman CD et al., Breast Cancer Surveillance Consortium. Radiology 2017;283(1):49-58.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THE BIGGER PICTURE</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Why reasonable people disagree</a:t>
            </a:r>
          </a:p>
        </p:txBody>
      </p:sp>
      <p:sp>
        <p:nvSpPr>
          <p:cNvPr id="20" name="Sub"/>
          <p:cNvSpPr/>
          <p:nvPr/>
        </p:nvSpPr>
        <p:spPr>
          <a:xfrm>
            <a:off x="640080" y="1783080"/>
            <a:ext cx="1091184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Of US women aged 50, screened every year for ten years:</a:t>
            </a:r>
          </a:p>
        </p:txBody>
      </p:sp>
      <p:sp>
        <p:nvSpPr>
          <p:cNvPr id="30" name="r30"/>
          <p:cNvSpPr/>
          <p:nvPr/>
        </p:nvSpPr>
        <p:spPr>
          <a:xfrm>
            <a:off x="640080" y="2209800"/>
            <a:ext cx="10911840" cy="594360"/>
          </a:xfrm>
          <a:prstGeom prst="roundRect">
            <a:avLst>
              <a:gd name="adj" fmla="val 4000"/>
            </a:avLst>
          </a:prstGeom>
          <a:solidFill>
            <a:srgbClr val="F4F6F8"/>
          </a:solidFill>
          <a:ln w="12700">
            <a:solidFill>
              <a:srgbClr val="15686B"/>
            </a:solidFill>
            <a:prstDash val="solid"/>
          </a:ln>
        </p:spPr>
        <p:txBody>
          <a:bodyPr/>
          <a:lstStyle/>
          <a:p>
            <a:endParaRPr/>
          </a:p>
        </p:txBody>
      </p:sp>
      <p:sp>
        <p:nvSpPr>
          <p:cNvPr id="31" name="l30"/>
          <p:cNvSpPr/>
          <p:nvPr/>
        </p:nvSpPr>
        <p:spPr>
          <a:xfrm>
            <a:off x="960120" y="2209800"/>
            <a:ext cx="68580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avoid a breast cancer death</a:t>
            </a:r>
          </a:p>
        </p:txBody>
      </p:sp>
      <p:sp>
        <p:nvSpPr>
          <p:cNvPr id="32" name="v30"/>
          <p:cNvSpPr/>
          <p:nvPr/>
        </p:nvSpPr>
        <p:spPr>
          <a:xfrm>
            <a:off x="7955280" y="2209800"/>
            <a:ext cx="327660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None/>
              <a:tabLst/>
              <a:defRPr/>
            </a:pPr>
            <a:r>
              <a:rPr kumimoji="0" lang="en-US" sz="2400" b="1" i="0" u="none" strike="noStrike" kern="1200" cap="none" spc="0" normalizeH="0" baseline="0" noProof="0" dirty="0">
                <a:ln>
                  <a:noFill/>
                </a:ln>
                <a:solidFill>
                  <a:srgbClr val="15686B"/>
                </a:solidFill>
                <a:effectLst/>
                <a:uLnTx/>
                <a:uFillTx/>
                <a:latin typeface="Bookman Old Style" pitchFamily="34" charset="0"/>
                <a:ea typeface="Bookman Old Style" pitchFamily="34" charset="-122"/>
                <a:cs typeface="Bookman Old Style" pitchFamily="34" charset="-120"/>
              </a:rPr>
              <a:t>0.03% to 0.32%</a:t>
            </a:r>
          </a:p>
        </p:txBody>
      </p:sp>
      <p:sp>
        <p:nvSpPr>
          <p:cNvPr id="40" name="r40"/>
          <p:cNvSpPr/>
          <p:nvPr/>
        </p:nvSpPr>
        <p:spPr>
          <a:xfrm>
            <a:off x="640080" y="2895600"/>
            <a:ext cx="10911840" cy="594360"/>
          </a:xfrm>
          <a:prstGeom prst="roundRect">
            <a:avLst>
              <a:gd name="adj" fmla="val 4000"/>
            </a:avLst>
          </a:prstGeom>
          <a:solidFill>
            <a:srgbClr val="FBF1EA"/>
          </a:solidFill>
          <a:ln w="12700">
            <a:solidFill>
              <a:srgbClr val="F4B740"/>
            </a:solidFill>
            <a:prstDash val="solid"/>
          </a:ln>
        </p:spPr>
        <p:txBody>
          <a:bodyPr/>
          <a:lstStyle/>
          <a:p>
            <a:endParaRPr/>
          </a:p>
        </p:txBody>
      </p:sp>
      <p:sp>
        <p:nvSpPr>
          <p:cNvPr id="41" name="l40"/>
          <p:cNvSpPr/>
          <p:nvPr/>
        </p:nvSpPr>
        <p:spPr>
          <a:xfrm>
            <a:off x="960120" y="2895600"/>
            <a:ext cx="68580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have at least one false alarm</a:t>
            </a:r>
          </a:p>
        </p:txBody>
      </p:sp>
      <p:sp>
        <p:nvSpPr>
          <p:cNvPr id="42" name="v40"/>
          <p:cNvSpPr/>
          <p:nvPr/>
        </p:nvSpPr>
        <p:spPr>
          <a:xfrm>
            <a:off x="7955280" y="2895600"/>
            <a:ext cx="327660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None/>
              <a:tabLst/>
              <a:defRPr/>
            </a:pPr>
            <a:r>
              <a:rPr kumimoji="0" lang="en-US" sz="2400" b="1" i="0" u="none" strike="noStrike" kern="1200" cap="none" spc="0" normalizeH="0" baseline="0" noProof="0" dirty="0">
                <a:ln>
                  <a:noFill/>
                </a:ln>
                <a:solidFill>
                  <a:srgbClr val="B8860B"/>
                </a:solidFill>
                <a:effectLst/>
                <a:uLnTx/>
                <a:uFillTx/>
                <a:latin typeface="Bookman Old Style" pitchFamily="34" charset="0"/>
                <a:ea typeface="Bookman Old Style" pitchFamily="34" charset="-122"/>
                <a:cs typeface="Bookman Old Style" pitchFamily="34" charset="-120"/>
              </a:rPr>
              <a:t>49% to 67%</a:t>
            </a:r>
          </a:p>
        </p:txBody>
      </p:sp>
      <p:sp>
        <p:nvSpPr>
          <p:cNvPr id="50" name="r50"/>
          <p:cNvSpPr/>
          <p:nvPr/>
        </p:nvSpPr>
        <p:spPr>
          <a:xfrm>
            <a:off x="640080" y="3581400"/>
            <a:ext cx="10911840" cy="594360"/>
          </a:xfrm>
          <a:prstGeom prst="roundRect">
            <a:avLst>
              <a:gd name="adj" fmla="val 4000"/>
            </a:avLst>
          </a:prstGeom>
          <a:solidFill>
            <a:srgbClr val="F4F6F8"/>
          </a:solidFill>
          <a:ln w="12700">
            <a:solidFill>
              <a:srgbClr val="C9D2DA"/>
            </a:solidFill>
            <a:prstDash val="solid"/>
          </a:ln>
        </p:spPr>
        <p:txBody>
          <a:bodyPr/>
          <a:lstStyle/>
          <a:p>
            <a:endParaRPr/>
          </a:p>
        </p:txBody>
      </p:sp>
      <p:sp>
        <p:nvSpPr>
          <p:cNvPr id="51" name="l50"/>
          <p:cNvSpPr/>
          <p:nvPr/>
        </p:nvSpPr>
        <p:spPr>
          <a:xfrm>
            <a:off x="960120" y="3581400"/>
            <a:ext cx="685800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are overdiagnosed, and treated for it</a:t>
            </a:r>
          </a:p>
        </p:txBody>
      </p:sp>
      <p:sp>
        <p:nvSpPr>
          <p:cNvPr id="52" name="v50"/>
          <p:cNvSpPr/>
          <p:nvPr/>
        </p:nvSpPr>
        <p:spPr>
          <a:xfrm>
            <a:off x="7955280" y="3581400"/>
            <a:ext cx="327660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None/>
              <a:tabLst/>
              <a:defRPr/>
            </a:pPr>
            <a:r>
              <a:rPr kumimoji="0" lang="en-US" sz="24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0.3% to 1.4%</a:t>
            </a:r>
          </a:p>
        </p:txBody>
      </p:sp>
      <p:sp>
        <p:nvSpPr>
          <p:cNvPr id="70" name="L1"/>
          <p:cNvSpPr/>
          <p:nvPr/>
        </p:nvSpPr>
        <p:spPr>
          <a:xfrm>
            <a:off x="640080" y="4419600"/>
            <a:ext cx="10911840" cy="7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Nobody in this argument disputes the sensitivity, the specificity, or the 4.4%. The disagreement is over how to weigh a false alarm for half of them against a death averted for a fraction of one percent.</a:t>
            </a:r>
          </a:p>
        </p:txBody>
      </p:sp>
      <p:sp>
        <p:nvSpPr>
          <p:cNvPr id="80" name="L2"/>
          <p:cNvSpPr/>
          <p:nvPr/>
        </p:nvSpPr>
        <p:spPr>
          <a:xfrm>
            <a:off x="640080" y="5257800"/>
            <a:ext cx="10911840" cy="9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So the guidance splits. The American College of Radiology recommends annual screening from 40. The Task Force says every two years from 40. The Nordic Cochrane group and the Swiss Medical Board have argued for not running screening programmes at all.</a:t>
            </a:r>
          </a:p>
        </p:txBody>
      </p:sp>
      <p:sp>
        <p:nvSpPr>
          <p:cNvPr id="90" name="Source"/>
          <p:cNvSpPr/>
          <p:nvPr/>
        </p:nvSpPr>
        <p:spPr>
          <a:xfrm>
            <a:off x="640080" y="632460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Ranges from published estimates for women aged 50 screened annually for a decade. Overdiagnosis is contested: the Canadian National Breast Screening Study's 25-year follow-up put 106 of 484 screen-detected cancers (21.9%) as overdiagnoses; Gotzsche and Jorgensen, Cochrane 2013 (CD001877), found no effect on overall mortality across ten trials. An 11.6% callback rate compounded over ten independent screens gives about 71%, near the top of the false-alarm range.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ividerEyebrow"/>
          <p:cNvSpPr/>
          <p:nvPr/>
        </p:nvSpPr>
        <p:spPr>
          <a:xfrm>
            <a:off x="1066800" y="1905000"/>
            <a:ext cx="5080000" cy="43088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22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THE SECOND REVERSAL</a:t>
            </a:r>
          </a:p>
        </p:txBody>
      </p:sp>
      <p:sp>
        <p:nvSpPr>
          <p:cNvPr id="20" name="DividerNum"/>
          <p:cNvSpPr/>
          <p:nvPr/>
        </p:nvSpPr>
        <p:spPr>
          <a:xfrm>
            <a:off x="1041400" y="2349500"/>
            <a:ext cx="9652000" cy="1905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54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A COVID Rapid Test</a:t>
            </a:r>
          </a:p>
        </p:txBody>
      </p:sp>
      <p:sp>
        <p:nvSpPr>
          <p:cNvPr id="30" name="DividerRule"/>
          <p:cNvSpPr/>
          <p:nvPr/>
        </p:nvSpPr>
        <p:spPr>
          <a:xfrm>
            <a:off x="1066800" y="4445000"/>
            <a:ext cx="1143000" cy="63500"/>
          </a:xfrm>
          <a:prstGeom prst="rect">
            <a:avLst/>
          </a:prstGeom>
          <a:solidFill>
            <a:srgbClr val="B8860B"/>
          </a:solidFill>
          <a:ln>
            <a:noFill/>
          </a:ln>
        </p:spPr>
        <p:txBody>
          <a:bodyPr/>
          <a:lstStyle/>
          <a:p>
            <a:endParaRPr/>
          </a:p>
        </p:txBody>
      </p:sp>
      <p:sp>
        <p:nvSpPr>
          <p:cNvPr id="40" name="DividerTitle"/>
          <p:cNvSpPr/>
          <p:nvPr/>
        </p:nvSpPr>
        <p:spPr>
          <a:xfrm>
            <a:off x="1016000" y="4762500"/>
            <a:ext cx="10160000" cy="70788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40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If it is negative, am I clear?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 REAL TEST, REAL NUMBERS</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What the swab is measured on</a:t>
            </a:r>
          </a:p>
        </p:txBody>
      </p:sp>
      <p:sp>
        <p:nvSpPr>
          <p:cNvPr id="20" name="card"/>
          <p:cNvSpPr/>
          <p:nvPr/>
        </p:nvSpPr>
        <p:spPr>
          <a:xfrm>
            <a:off x="640080" y="2209800"/>
            <a:ext cx="4876800" cy="2103120"/>
          </a:xfrm>
          <a:prstGeom prst="roundRect">
            <a:avLst>
              <a:gd name="adj" fmla="val 5000"/>
            </a:avLst>
          </a:prstGeom>
          <a:solidFill>
            <a:srgbClr val="FBF1EA"/>
          </a:solidFill>
          <a:ln w="12700">
            <a:solidFill>
              <a:srgbClr val="F4B740"/>
            </a:solidFill>
            <a:prstDash val="solid"/>
          </a:ln>
        </p:spPr>
        <p:txBody>
          <a:bodyPr/>
          <a:lstStyle/>
          <a:p>
            <a:endParaRPr/>
          </a:p>
        </p:txBody>
      </p:sp>
      <p:sp>
        <p:nvSpPr>
          <p:cNvPr id="21" name="h"/>
          <p:cNvSpPr/>
          <p:nvPr/>
        </p:nvSpPr>
        <p:spPr>
          <a:xfrm>
            <a:off x="914400" y="2438400"/>
            <a:ext cx="43281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300" b="1" i="0" u="none" strike="noStrike" kern="1200" cap="none" spc="250" normalizeH="0" baseline="0" noProof="0" dirty="0">
                <a:ln>
                  <a:noFill/>
                </a:ln>
                <a:solidFill>
                  <a:srgbClr val="B8860B"/>
                </a:solidFill>
                <a:effectLst/>
                <a:uLnTx/>
                <a:uFillTx/>
                <a:latin typeface="Calibri" pitchFamily="34" charset="0"/>
                <a:ea typeface="Calibri" pitchFamily="34" charset="-122"/>
                <a:cs typeface="Calibri" pitchFamily="34" charset="-120"/>
              </a:rPr>
              <a:t>SPECIFICITY</a:t>
            </a:r>
          </a:p>
        </p:txBody>
      </p:sp>
      <p:sp>
        <p:nvSpPr>
          <p:cNvPr id="22" name="n"/>
          <p:cNvSpPr/>
          <p:nvPr/>
        </p:nvSpPr>
        <p:spPr>
          <a:xfrm>
            <a:off x="914400" y="2849880"/>
            <a:ext cx="4328160"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20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negative | no COVID )</a:t>
            </a:r>
          </a:p>
        </p:txBody>
      </p:sp>
      <p:sp>
        <p:nvSpPr>
          <p:cNvPr id="23" name="c"/>
          <p:cNvSpPr/>
          <p:nvPr/>
        </p:nvSpPr>
        <p:spPr>
          <a:xfrm>
            <a:off x="914400" y="3398520"/>
            <a:ext cx="4328160" cy="45720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7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99 of every 100 people who are well</a:t>
            </a:r>
          </a:p>
        </p:txBody>
      </p:sp>
      <p:sp>
        <p:nvSpPr>
          <p:cNvPr id="24" name="r"/>
          <p:cNvSpPr/>
          <p:nvPr/>
        </p:nvSpPr>
        <p:spPr>
          <a:xfrm>
            <a:off x="914400" y="3901440"/>
            <a:ext cx="4328160" cy="274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3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almost nobody healthy is wrongly flagged</a:t>
            </a:r>
          </a:p>
        </p:txBody>
      </p:sp>
      <p:sp>
        <p:nvSpPr>
          <p:cNvPr id="40" name="R1"/>
          <p:cNvSpPr/>
          <p:nvPr/>
        </p:nvSpPr>
        <p:spPr>
          <a:xfrm>
            <a:off x="5943600" y="1874520"/>
            <a:ext cx="5608320" cy="9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That is about as specific as any test in common use. It is why a positive swab is worth believing.</a:t>
            </a:r>
          </a:p>
        </p:txBody>
      </p:sp>
      <p:sp>
        <p:nvSpPr>
          <p:cNvPr id="50" name="R2"/>
          <p:cNvSpPr/>
          <p:nvPr/>
        </p:nvSpPr>
        <p:spPr>
          <a:xfrm>
            <a:off x="5943600" y="3017520"/>
            <a:ext cx="5608320" cy="12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But look where it starts: from already knowing the person is well. Nobody handed a negative result knows that.</a:t>
            </a:r>
          </a:p>
        </p:txBody>
      </p:sp>
      <p:sp>
        <p:nvSpPr>
          <p:cNvPr id="60" name="Target"/>
          <p:cNvSpPr/>
          <p:nvPr/>
        </p:nvSpPr>
        <p:spPr>
          <a:xfrm>
            <a:off x="5943600" y="4800600"/>
            <a:ext cx="5608320" cy="941070"/>
          </a:xfrm>
          <a:prstGeom prst="roundRect">
            <a:avLst>
              <a:gd name="adj" fmla="val 4000"/>
            </a:avLst>
          </a:prstGeom>
          <a:solidFill>
            <a:srgbClr val="B8860B"/>
          </a:solidFill>
          <a:ln>
            <a:noFill/>
          </a:ln>
        </p:spPr>
        <p:txBody>
          <a:bodyPr/>
          <a:lstStyle/>
          <a:p>
            <a:endParaRPr/>
          </a:p>
        </p:txBody>
      </p:sp>
      <p:sp>
        <p:nvSpPr>
          <p:cNvPr id="61" name="TargetTx"/>
          <p:cNvSpPr/>
          <p:nvPr/>
        </p:nvSpPr>
        <p:spPr>
          <a:xfrm>
            <a:off x="6195060" y="4975860"/>
            <a:ext cx="5105400" cy="59055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7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What we want is P( no COVID | negative ):  85%</a:t>
            </a:r>
          </a:p>
          <a:p>
            <a:pPr marL="0" marR="0" lvl="0" indent="0" algn="l" defTabSz="914400" rtl="0" eaLnBrk="1" fontAlgn="auto" latinLnBrk="0" hangingPunct="1">
              <a:lnSpc>
                <a:spcPct val="100000"/>
              </a:lnSpc>
              <a:spcBef>
                <a:spcPts val="0"/>
              </a:spcBef>
              <a:spcAft>
                <a:spcPts val="0"/>
              </a:spcAft>
              <a:buNone/>
              <a:tabLst/>
              <a:defRPr/>
            </a:pPr>
            <a:r>
              <a:rPr kumimoji="0" lang="en-US" sz="6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FBE9CF"/>
                </a:solidFill>
                <a:effectLst/>
                <a:uLnTx/>
                <a:uFillTx/>
                <a:latin typeface="Calibri" pitchFamily="34" charset="0"/>
                <a:ea typeface="Calibri" pitchFamily="34" charset="-122"/>
                <a:cs typeface="Calibri" pitchFamily="34" charset="-120"/>
              </a:rPr>
              <a:t>Nowhere near certainty. Now we walk the reversal.</a:t>
            </a:r>
          </a:p>
        </p:txBody>
      </p:sp>
      <p:sp>
        <p:nvSpPr>
          <p:cNvPr id="7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Rapid antigen tests in symptomatic people: specificity 99.1%, sensitivity 73.0% (95% CI 69.3 to 76.4). Dinnes et al., Cochrane Database of Systematic Reviews 2022;7:CD013705.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AN ILLUSTRATIVE COHORT OF 10,000 PEOPLE WITH SYMPTOMS</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Four in ten of them have it</a:t>
            </a:r>
          </a:p>
        </p:txBody>
      </p:sp>
      <p:pic>
        <p:nvPicPr>
          <p:cNvPr id="19" name="Waffle"/>
          <p:cNvPicPr/>
          <p:nvPr/>
        </p:nvPicPr>
        <p:blipFill>
          <a:blip/>
          <a:stretch>
            <a:fillRect/>
          </a:stretch>
        </p:blipFill>
        <p:spPr>
          <a:xfrm>
            <a:off x="640080" y="1874520"/>
            <a:ext cx="4114800" cy="4114800"/>
          </a:xfrm>
          <a:prstGeom prst="rect">
            <a:avLst/>
          </a:prstGeom>
        </p:spPr>
      </p:pic>
      <p:sp>
        <p:nvSpPr>
          <p:cNvPr id="20" name="Lead"/>
          <p:cNvSpPr/>
          <p:nvPr/>
        </p:nvSpPr>
        <p:spPr>
          <a:xfrm>
            <a:off x="5486400" y="1874520"/>
            <a:ext cx="6096000" cy="7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Everyone here feels ill during a wave, so the odds before testing are far higher than in the street outside.</a:t>
            </a:r>
          </a:p>
        </p:txBody>
      </p:sp>
      <p:sp>
        <p:nvSpPr>
          <p:cNvPr id="30" name="sw30"/>
          <p:cNvSpPr/>
          <p:nvPr/>
        </p:nvSpPr>
        <p:spPr>
          <a:xfrm>
            <a:off x="5486400" y="2735580"/>
            <a:ext cx="274320" cy="274320"/>
          </a:xfrm>
          <a:prstGeom prst="rect">
            <a:avLst/>
          </a:prstGeom>
          <a:solidFill>
            <a:srgbClr val="15686B"/>
          </a:solidFill>
          <a:ln w="12700">
            <a:solidFill>
              <a:srgbClr val="FFFFFF"/>
            </a:solidFill>
            <a:prstDash val="solid"/>
          </a:ln>
        </p:spPr>
        <p:txBody>
          <a:bodyPr/>
          <a:lstStyle/>
          <a:p>
            <a:endParaRPr/>
          </a:p>
        </p:txBody>
      </p:sp>
      <p:sp>
        <p:nvSpPr>
          <p:cNvPr id="31" name="lg30"/>
          <p:cNvSpPr/>
          <p:nvPr/>
        </p:nvSpPr>
        <p:spPr>
          <a:xfrm>
            <a:off x="5882640" y="270510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has COVID, tests positive: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2,920</a:t>
            </a:r>
          </a:p>
        </p:txBody>
      </p:sp>
      <p:sp>
        <p:nvSpPr>
          <p:cNvPr id="40" name="sw40"/>
          <p:cNvSpPr/>
          <p:nvPr/>
        </p:nvSpPr>
        <p:spPr>
          <a:xfrm>
            <a:off x="5486400" y="3215640"/>
            <a:ext cx="274320" cy="274320"/>
          </a:xfrm>
          <a:prstGeom prst="rect">
            <a:avLst/>
          </a:prstGeom>
          <a:solidFill>
            <a:srgbClr val="5E9B9D"/>
          </a:solidFill>
          <a:ln w="12700">
            <a:solidFill>
              <a:srgbClr val="FFFFFF"/>
            </a:solidFill>
            <a:prstDash val="solid"/>
          </a:ln>
        </p:spPr>
        <p:txBody>
          <a:bodyPr/>
          <a:lstStyle/>
          <a:p>
            <a:endParaRPr/>
          </a:p>
        </p:txBody>
      </p:sp>
      <p:sp>
        <p:nvSpPr>
          <p:cNvPr id="41" name="lg40"/>
          <p:cNvSpPr/>
          <p:nvPr/>
        </p:nvSpPr>
        <p:spPr>
          <a:xfrm>
            <a:off x="5882640" y="318516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has COVID, tests negative: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1,080</a:t>
            </a:r>
          </a:p>
        </p:txBody>
      </p:sp>
      <p:sp>
        <p:nvSpPr>
          <p:cNvPr id="50" name="sw50"/>
          <p:cNvSpPr/>
          <p:nvPr/>
        </p:nvSpPr>
        <p:spPr>
          <a:xfrm>
            <a:off x="5486400" y="3695700"/>
            <a:ext cx="274320" cy="274320"/>
          </a:xfrm>
          <a:prstGeom prst="rect">
            <a:avLst/>
          </a:prstGeom>
          <a:solidFill>
            <a:srgbClr val="F4B740"/>
          </a:solidFill>
          <a:ln w="12700">
            <a:solidFill>
              <a:srgbClr val="FFFFFF"/>
            </a:solidFill>
            <a:prstDash val="solid"/>
          </a:ln>
        </p:spPr>
        <p:txBody>
          <a:bodyPr/>
          <a:lstStyle/>
          <a:p>
            <a:endParaRPr/>
          </a:p>
        </p:txBody>
      </p:sp>
      <p:sp>
        <p:nvSpPr>
          <p:cNvPr id="51" name="lg50"/>
          <p:cNvSpPr/>
          <p:nvPr/>
        </p:nvSpPr>
        <p:spPr>
          <a:xfrm>
            <a:off x="5882640" y="366522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no COVID, tests positive: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54</a:t>
            </a:r>
          </a:p>
        </p:txBody>
      </p:sp>
      <p:sp>
        <p:nvSpPr>
          <p:cNvPr id="60" name="sw60"/>
          <p:cNvSpPr/>
          <p:nvPr/>
        </p:nvSpPr>
        <p:spPr>
          <a:xfrm>
            <a:off x="5486400" y="4175760"/>
            <a:ext cx="274320" cy="274320"/>
          </a:xfrm>
          <a:prstGeom prst="rect">
            <a:avLst/>
          </a:prstGeom>
          <a:solidFill>
            <a:srgbClr val="F7DFA8"/>
          </a:solidFill>
          <a:ln w="12700">
            <a:solidFill>
              <a:srgbClr val="FFFFFF"/>
            </a:solidFill>
            <a:prstDash val="solid"/>
          </a:ln>
        </p:spPr>
        <p:txBody>
          <a:bodyPr/>
          <a:lstStyle/>
          <a:p>
            <a:endParaRPr/>
          </a:p>
        </p:txBody>
      </p:sp>
      <p:sp>
        <p:nvSpPr>
          <p:cNvPr id="61" name="lg60"/>
          <p:cNvSpPr/>
          <p:nvPr/>
        </p:nvSpPr>
        <p:spPr>
          <a:xfrm>
            <a:off x="5882640" y="4145280"/>
            <a:ext cx="4600000" cy="335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no COVID, tests negative:  </a:t>
            </a:r>
            <a:r>
              <a:rPr kumimoji="0" lang="en-US" sz="1400" b="1"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5,946</a:t>
            </a:r>
          </a:p>
        </p:txBody>
      </p:sp>
      <p:sp>
        <p:nvSpPr>
          <p:cNvPr id="80" name="Note"/>
          <p:cNvSpPr/>
          <p:nvPr/>
        </p:nvSpPr>
        <p:spPr>
          <a:xfrm>
            <a:off x="5486400" y="4876800"/>
            <a:ext cx="6096000" cy="10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5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The pale teal band is the one to watch. Eleven rows of people who have COVID and were told they did not.</a:t>
            </a:r>
          </a:p>
        </p:txBody>
      </p:sp>
      <p:sp>
        <p:nvSpPr>
          <p:cNvPr id="9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Pre-test probability of 4 in 10 is illustrative, chosen to represent symptomatic testing during a wave. Test figures: Rapid antigen tests in symptomatic people: sensitivity 73.0% (95% CI 69.3 to 76.4), specificity 99.1%. Dinnes et al., Cochrane Database of Systematic Reviews 2022;7:CD013705.</a:t>
            </a:r>
          </a:p>
        </p:txBody>
      </p:sp>
      <p:pic>
        <p:nvPicPr>
          <p:cNvPr id="900" name="Waffle"/>
          <p:cNvPicPr/>
          <p:nvPr/>
        </p:nvPicPr>
        <p:blipFill>
          <a:blip r:embed="rId2"/>
          <a:stretch>
            <a:fillRect/>
          </a:stretch>
        </p:blipFill>
        <p:spPr>
          <a:xfrm>
            <a:off x="640080" y="1874520"/>
            <a:ext cx="4114800" cy="4114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THE REVERSAL, FOR ONE PERSON</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A negative is not an all-clear</a:t>
            </a:r>
          </a:p>
        </p:txBody>
      </p:sp>
      <p:sp>
        <p:nvSpPr>
          <p:cNvPr id="20" name="flip"/>
          <p:cNvSpPr/>
          <p:nvPr/>
        </p:nvSpPr>
        <p:spPr>
          <a:xfrm>
            <a:off x="640080" y="2011680"/>
            <a:ext cx="10911840" cy="2103120"/>
          </a:xfrm>
          <a:prstGeom prst="roundRect">
            <a:avLst>
              <a:gd name="adj" fmla="val 4000"/>
            </a:avLst>
          </a:prstGeom>
          <a:solidFill>
            <a:srgbClr val="FBF1EA"/>
          </a:solidFill>
          <a:ln w="12700">
            <a:solidFill>
              <a:srgbClr val="F4B740"/>
            </a:solidFill>
            <a:prstDash val="solid"/>
          </a:ln>
        </p:spPr>
        <p:txBody>
          <a:bodyPr/>
          <a:lstStyle/>
          <a:p>
            <a:endParaRPr/>
          </a:p>
        </p:txBody>
      </p:sp>
      <p:sp>
        <p:nvSpPr>
          <p:cNvPr id="21" name="f1"/>
          <p:cNvSpPr/>
          <p:nvPr/>
        </p:nvSpPr>
        <p:spPr>
          <a:xfrm>
            <a:off x="914400" y="2331720"/>
            <a:ext cx="10363200"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2600" b="1" i="0" u="none" strike="noStrike" kern="1200" cap="none" spc="0" normalizeH="0" baseline="0" noProof="0" dirty="0">
                <a:ln>
                  <a:noFill/>
                </a:ln>
                <a:solidFill>
                  <a:srgbClr val="B8860B"/>
                </a:solidFill>
                <a:effectLst/>
                <a:uLnTx/>
                <a:uFillTx/>
                <a:latin typeface="Calibri" pitchFamily="34" charset="0"/>
                <a:ea typeface="Calibri" pitchFamily="34" charset="-122"/>
                <a:cs typeface="Calibri" pitchFamily="34" charset="-120"/>
              </a:rPr>
              <a:t>P( negative | no COVID )  =  99%</a:t>
            </a:r>
          </a:p>
        </p:txBody>
      </p:sp>
      <p:sp>
        <p:nvSpPr>
          <p:cNvPr id="22" name="f2"/>
          <p:cNvSpPr/>
          <p:nvPr/>
        </p:nvSpPr>
        <p:spPr>
          <a:xfrm>
            <a:off x="914400" y="2952750"/>
            <a:ext cx="10363200" cy="36576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15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   reversed becomes</a:t>
            </a:r>
          </a:p>
        </p:txBody>
      </p:sp>
      <p:sp>
        <p:nvSpPr>
          <p:cNvPr id="23" name="f3"/>
          <p:cNvSpPr/>
          <p:nvPr/>
        </p:nvSpPr>
        <p:spPr>
          <a:xfrm>
            <a:off x="914400" y="3383280"/>
            <a:ext cx="10363200" cy="548640"/>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None/>
              <a:tabLst/>
              <a:defRPr/>
            </a:pPr>
            <a:r>
              <a:rPr kumimoji="0" lang="en-US" sz="26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P( no COVID | negative )  =  85%</a:t>
            </a:r>
          </a:p>
        </p:txBody>
      </p:sp>
      <p:sp>
        <p:nvSpPr>
          <p:cNvPr id="40" name="Close"/>
          <p:cNvSpPr/>
          <p:nvPr/>
        </p:nvSpPr>
        <p:spPr>
          <a:xfrm>
            <a:off x="640080" y="4632960"/>
            <a:ext cx="10911840" cy="13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99% is what the swab was measured on. 85% is what your negative means.</a:t>
            </a:r>
          </a:p>
          <a:p>
            <a:pPr marL="0" marR="0" lvl="0" indent="0" algn="l" defTabSz="914400" rtl="0" eaLnBrk="1" fontAlgn="auto" latinLnBrk="0" hangingPunct="1">
              <a:lnSpc>
                <a:spcPct val="100000"/>
              </a:lnSpc>
              <a:spcBef>
                <a:spcPts val="0"/>
              </a:spcBef>
              <a:spcAft>
                <a:spcPts val="0"/>
              </a:spcAft>
              <a:buNone/>
              <a:tabLst/>
              <a:defRPr/>
            </a:pPr>
            <a:r>
              <a:rPr kumimoji="0" lang="en-US" sz="8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40000"/>
              </a:lnSpc>
              <a:spcBef>
                <a:spcPts val="0"/>
              </a:spcBef>
              <a:spcAft>
                <a:spcPts val="0"/>
              </a:spcAft>
              <a:buNone/>
              <a:tabLst/>
              <a:defRPr/>
            </a:pPr>
            <a:r>
              <a:rPr kumimoji="0" lang="en-US" sz="17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More than one person in seven who was told they were negative had COVID and went out anyway. A negative narrows the odds. It does not clear you.</a:t>
            </a:r>
          </a:p>
        </p:txBody>
      </p:sp>
      <p:sp>
        <p:nvSpPr>
          <p:cNvPr id="50" name="Source"/>
          <p:cNvSpPr/>
          <p:nvPr/>
        </p:nvSpPr>
        <p:spPr>
          <a:xfrm>
            <a:off x="640080" y="6415088"/>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Counts carried from the previous slide: 7,026 negatives, of which 1,080 had COVID. Rapid antigen tests in symptomatic people: specificity 99.1%, sensitivity 73.0% (95% CI 69.3 to 76.4). Dinnes et al., Cochrane Database of Systematic Reviews 2022;7:CD013705.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DividerEyebrow"/>
          <p:cNvSpPr/>
          <p:nvPr/>
        </p:nvSpPr>
        <p:spPr>
          <a:xfrm>
            <a:off x="1066800" y="1905000"/>
            <a:ext cx="5080000" cy="43088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22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WHEN NOBODY CATCHES IT</a:t>
            </a:r>
          </a:p>
        </p:txBody>
      </p:sp>
      <p:sp>
        <p:nvSpPr>
          <p:cNvPr id="20" name="DividerNum"/>
          <p:cNvSpPr/>
          <p:nvPr/>
        </p:nvSpPr>
        <p:spPr>
          <a:xfrm>
            <a:off x="1041400" y="2349500"/>
            <a:ext cx="9652000" cy="19050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54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Courtrooms and Classrooms</a:t>
            </a:r>
          </a:p>
        </p:txBody>
      </p:sp>
      <p:sp>
        <p:nvSpPr>
          <p:cNvPr id="30" name="DividerRule"/>
          <p:cNvSpPr/>
          <p:nvPr/>
        </p:nvSpPr>
        <p:spPr>
          <a:xfrm>
            <a:off x="1066800" y="4445000"/>
            <a:ext cx="1143000" cy="63500"/>
          </a:xfrm>
          <a:prstGeom prst="rect">
            <a:avLst/>
          </a:prstGeom>
          <a:solidFill>
            <a:srgbClr val="1F3864"/>
          </a:solidFill>
          <a:ln>
            <a:noFill/>
          </a:ln>
        </p:spPr>
        <p:txBody>
          <a:bodyPr/>
          <a:lstStyle/>
          <a:p>
            <a:endParaRPr/>
          </a:p>
        </p:txBody>
      </p:sp>
      <p:sp>
        <p:nvSpPr>
          <p:cNvPr id="40" name="DividerTitle"/>
          <p:cNvSpPr/>
          <p:nvPr/>
        </p:nvSpPr>
        <p:spPr>
          <a:xfrm>
            <a:off x="1016000" y="4762500"/>
            <a:ext cx="10160000" cy="70788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40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What did the flip cost?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 CAUTIONARY TALE</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When the reversal reaches a verdict</a:t>
            </a:r>
          </a:p>
        </p:txBody>
      </p:sp>
      <p:sp>
        <p:nvSpPr>
          <p:cNvPr id="20" name="c20"/>
          <p:cNvSpPr/>
          <p:nvPr/>
        </p:nvSpPr>
        <p:spPr>
          <a:xfrm>
            <a:off x="640080" y="1752600"/>
            <a:ext cx="10911840" cy="1965960"/>
          </a:xfrm>
          <a:prstGeom prst="roundRect">
            <a:avLst>
              <a:gd name="adj" fmla="val 5000"/>
            </a:avLst>
          </a:prstGeom>
          <a:solidFill>
            <a:srgbClr val="F4F6F8"/>
          </a:solidFill>
          <a:ln w="12700">
            <a:solidFill>
              <a:srgbClr val="15686B"/>
            </a:solidFill>
            <a:prstDash val="solid"/>
          </a:ln>
        </p:spPr>
        <p:txBody>
          <a:bodyPr/>
          <a:lstStyle/>
          <a:p>
            <a:endParaRPr/>
          </a:p>
        </p:txBody>
      </p:sp>
      <p:sp>
        <p:nvSpPr>
          <p:cNvPr id="21" name="lbl20"/>
          <p:cNvSpPr/>
          <p:nvPr/>
        </p:nvSpPr>
        <p:spPr>
          <a:xfrm>
            <a:off x="914400" y="1958340"/>
            <a:ext cx="1036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 RAPE TRIAL IN ENGLAND, CONVICTION QUASHED 1994</a:t>
            </a:r>
          </a:p>
        </p:txBody>
      </p:sp>
      <p:sp>
        <p:nvSpPr>
          <p:cNvPr id="22" name="bd20"/>
          <p:cNvSpPr/>
          <p:nvPr/>
        </p:nvSpPr>
        <p:spPr>
          <a:xfrm>
            <a:off x="914400" y="2346960"/>
            <a:ext cx="10363200" cy="11658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The forensic expert told the court that the likelihood of the sample coming from any man other than the accused was one in three million.</a:t>
            </a:r>
          </a:p>
          <a:p>
            <a:pPr marL="0" marR="0" lvl="0" indent="0" algn="l" defTabSz="914400" rtl="0" eaLnBrk="1" fontAlgn="auto" latinLnBrk="0" hangingPunct="1">
              <a:lnSpc>
                <a:spcPct val="100000"/>
              </a:lnSpc>
              <a:spcBef>
                <a:spcPts val="0"/>
              </a:spcBef>
              <a:spcAft>
                <a:spcPts val="0"/>
              </a:spcAft>
              <a:buNone/>
              <a:tabLst/>
              <a:defRPr/>
            </a:pPr>
            <a:r>
              <a:rPr kumimoji="0" lang="en-US" sz="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That number describes how rare the profile is. It was offered as the chance he was innocent, the judge repeated it to the jury, and the Court of Appeal quashed the conviction.</a:t>
            </a:r>
          </a:p>
        </p:txBody>
      </p:sp>
      <p:sp>
        <p:nvSpPr>
          <p:cNvPr id="50" name="c50"/>
          <p:cNvSpPr/>
          <p:nvPr/>
        </p:nvSpPr>
        <p:spPr>
          <a:xfrm>
            <a:off x="640080" y="3840480"/>
            <a:ext cx="10911840" cy="1965960"/>
          </a:xfrm>
          <a:prstGeom prst="roundRect">
            <a:avLst>
              <a:gd name="adj" fmla="val 5000"/>
            </a:avLst>
          </a:prstGeom>
          <a:solidFill>
            <a:srgbClr val="FBF1EA"/>
          </a:solidFill>
          <a:ln w="12700">
            <a:solidFill>
              <a:srgbClr val="F4B740"/>
            </a:solidFill>
            <a:prstDash val="solid"/>
          </a:ln>
        </p:spPr>
        <p:txBody>
          <a:bodyPr/>
          <a:lstStyle/>
          <a:p>
            <a:endParaRPr/>
          </a:p>
        </p:txBody>
      </p:sp>
      <p:sp>
        <p:nvSpPr>
          <p:cNvPr id="51" name="lbl50"/>
          <p:cNvSpPr/>
          <p:nvPr/>
        </p:nvSpPr>
        <p:spPr>
          <a:xfrm>
            <a:off x="914400" y="4046220"/>
            <a:ext cx="10363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B8860B"/>
                </a:solidFill>
                <a:effectLst/>
                <a:uLnTx/>
                <a:uFillTx/>
                <a:latin typeface="Calibri" pitchFamily="34" charset="0"/>
                <a:ea typeface="Calibri" pitchFamily="34" charset="-122"/>
                <a:cs typeface="Calibri" pitchFamily="34" charset="-120"/>
              </a:rPr>
              <a:t>TRAFFIC STOPS IN HOUSTON, 2004 TO 2015</a:t>
            </a:r>
          </a:p>
        </p:txBody>
      </p:sp>
      <p:sp>
        <p:nvSpPr>
          <p:cNvPr id="52" name="bd50"/>
          <p:cNvSpPr/>
          <p:nvPr/>
        </p:nvSpPr>
        <p:spPr>
          <a:xfrm>
            <a:off x="914400" y="4434840"/>
            <a:ext cx="10363200" cy="116586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A two-dollar roadside kit turns blue for cocaine. It also turns blue for dozens of other things, which has been known since the 1970s.</a:t>
            </a:r>
          </a:p>
          <a:p>
            <a:pPr marL="0" marR="0" lvl="0" indent="0" algn="l" defTabSz="914400" rtl="0" eaLnBrk="1" fontAlgn="auto" latinLnBrk="0" hangingPunct="1">
              <a:lnSpc>
                <a:spcPct val="100000"/>
              </a:lnSpc>
              <a:spcBef>
                <a:spcPts val="0"/>
              </a:spcBef>
              <a:spcAft>
                <a:spcPts val="0"/>
              </a:spcAft>
              <a:buNone/>
              <a:tabLst/>
              <a:defRPr/>
            </a:pPr>
            <a:r>
              <a:rPr kumimoji="0" lang="en-US" sz="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0000"/>
              </a:lnSpc>
              <a:spcBef>
                <a:spcPts val="0"/>
              </a:spcBef>
              <a:spcAft>
                <a:spcPts val="0"/>
              </a:spcAft>
              <a:buNone/>
              <a:tabLst/>
              <a:defRPr/>
            </a:pPr>
            <a:r>
              <a:rPr kumimoji="0" lang="en-US" sz="14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Blue was taken to mean cocaine. The lab checked only afterwards, and found more than 250 people had already pleaded guilty to possessing nothing.</a:t>
            </a:r>
          </a:p>
        </p:txBody>
      </p:sp>
      <p:sp>
        <p:nvSpPr>
          <p:cNvPr id="80" name="Close"/>
          <p:cNvSpPr/>
          <p:nvPr/>
        </p:nvSpPr>
        <p:spPr>
          <a:xfrm>
            <a:off x="640080" y="5989320"/>
            <a:ext cx="10911840" cy="3200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None/>
              <a:tabLst/>
              <a:defRPr/>
            </a:pPr>
            <a:r>
              <a:rPr kumimoji="0" lang="en-US" sz="15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Both times a number about how often this happens to the innocent was read as the chance of innocence.</a:t>
            </a:r>
          </a:p>
        </p:txBody>
      </p:sp>
      <p:sp>
        <p:nvSpPr>
          <p:cNvPr id="90" name="Source"/>
          <p:cNvSpPr/>
          <p:nvPr/>
        </p:nvSpPr>
        <p:spPr>
          <a:xfrm>
            <a:off x="640080" y="646176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R v Deen, Court of Appeal, reported The Times 10 January 1994; rules on presenting DNA statistics were later set in Doheny and Adams [1997] 1 Cr App R 369. Houston: Houston Forensic Science Center and the Harris County conviction integrity unit, reported by ProPublica and The New York Times Magazine, 2016.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0"/>
          <p:cNvSpPr/>
          <p:nvPr/>
        </p:nvSpPr>
        <p:spPr>
          <a:xfrm>
            <a:off x="640080" y="457200"/>
            <a:ext cx="109728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00" b="1" i="0" u="none" strike="noStrike" kern="1200" cap="none" spc="300" normalizeH="0" baseline="0" noProof="0" dirty="0">
                <a:ln>
                  <a:noFill/>
                </a:ln>
                <a:solidFill>
                  <a:srgbClr val="15686B"/>
                </a:solidFill>
                <a:effectLst/>
                <a:uLnTx/>
                <a:uFillTx/>
                <a:latin typeface="Calibri" pitchFamily="34" charset="0"/>
                <a:ea typeface="Calibri" pitchFamily="34" charset="-122"/>
                <a:cs typeface="Calibri" pitchFamily="34" charset="-120"/>
              </a:rPr>
              <a:t>A THIRD CAUTIONARY TALE</a:t>
            </a:r>
          </a:p>
        </p:txBody>
      </p:sp>
      <p:sp>
        <p:nvSpPr>
          <p:cNvPr id="11" name="Text 1"/>
          <p:cNvSpPr/>
          <p:nvPr/>
        </p:nvSpPr>
        <p:spPr>
          <a:xfrm>
            <a:off x="640080" y="749808"/>
            <a:ext cx="109728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3100" b="1" i="0" u="none" strike="noStrike" kern="1200" cap="none" spc="0" normalizeH="0" baseline="0" noProof="0" dirty="0">
                <a:ln>
                  <a:noFill/>
                </a:ln>
                <a:solidFill>
                  <a:srgbClr val="1F3864"/>
                </a:solidFill>
                <a:effectLst/>
                <a:uLnTx/>
                <a:uFillTx/>
                <a:latin typeface="Bookman Old Style" pitchFamily="34" charset="0"/>
                <a:ea typeface="Bookman Old Style" pitchFamily="34" charset="-122"/>
                <a:cs typeface="Bookman Old Style" pitchFamily="34" charset="-120"/>
              </a:rPr>
              <a:t>The detector that cannot tell</a:t>
            </a:r>
          </a:p>
        </p:txBody>
      </p:sp>
      <p:sp>
        <p:nvSpPr>
          <p:cNvPr id="20" name="c20"/>
          <p:cNvSpPr/>
          <p:nvPr/>
        </p:nvSpPr>
        <p:spPr>
          <a:xfrm>
            <a:off x="640080" y="1828800"/>
            <a:ext cx="5303520" cy="2377440"/>
          </a:xfrm>
          <a:prstGeom prst="roundRect">
            <a:avLst>
              <a:gd name="adj" fmla="val 5000"/>
            </a:avLst>
          </a:prstGeom>
          <a:solidFill>
            <a:srgbClr val="F4F6F8"/>
          </a:solidFill>
          <a:ln w="12700">
            <a:solidFill>
              <a:srgbClr val="15686B"/>
            </a:solidFill>
            <a:prstDash val="solid"/>
          </a:ln>
        </p:spPr>
        <p:txBody>
          <a:bodyPr/>
          <a:lstStyle/>
          <a:p>
            <a:endParaRPr/>
          </a:p>
        </p:txBody>
      </p:sp>
      <p:sp>
        <p:nvSpPr>
          <p:cNvPr id="21" name="h20"/>
          <p:cNvSpPr/>
          <p:nvPr/>
        </p:nvSpPr>
        <p:spPr>
          <a:xfrm>
            <a:off x="914400" y="2034540"/>
            <a:ext cx="4754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50" b="1" i="0" u="none" strike="noStrike" kern="1200" cap="none" spc="220" normalizeH="0" baseline="0" noProof="0" dirty="0">
                <a:ln>
                  <a:noFill/>
                </a:ln>
                <a:solidFill>
                  <a:srgbClr val="15686B"/>
                </a:solidFill>
                <a:effectLst/>
                <a:uLnTx/>
                <a:uFillTx/>
                <a:latin typeface="Calibri" pitchFamily="34" charset="0"/>
                <a:ea typeface="Calibri" pitchFamily="34" charset="-122"/>
                <a:cs typeface="Calibri" pitchFamily="34" charset="-120"/>
              </a:rPr>
              <a:t>WHAT THE VENDORS ADVERTISE</a:t>
            </a:r>
          </a:p>
        </p:txBody>
      </p:sp>
      <p:sp>
        <p:nvSpPr>
          <p:cNvPr id="22" name="b20"/>
          <p:cNvSpPr/>
          <p:nvPr/>
        </p:nvSpPr>
        <p:spPr>
          <a:xfrm>
            <a:off x="914400" y="2423160"/>
            <a:ext cx="4754880" cy="155448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Turnitin has claimed 98%. Copyleaks 99.1%. GPTZero 99%. Winston AI 99.98%.</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5000"/>
              </a:lnSpc>
              <a:spcBef>
                <a:spcPts val="0"/>
              </a:spcBef>
              <a:spcAft>
                <a:spcPts val="0"/>
              </a:spcAft>
              <a:buNone/>
              <a:tabLst/>
              <a:defRPr/>
            </a:pPr>
            <a:r>
              <a:rPr kumimoji="0" lang="en-US" sz="15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Every one of those is a statement about machines: if this text came from an AI, we will flag it.</a:t>
            </a:r>
          </a:p>
        </p:txBody>
      </p:sp>
      <p:sp>
        <p:nvSpPr>
          <p:cNvPr id="50" name="c50"/>
          <p:cNvSpPr/>
          <p:nvPr/>
        </p:nvSpPr>
        <p:spPr>
          <a:xfrm>
            <a:off x="6248400" y="1828800"/>
            <a:ext cx="5303520" cy="2377440"/>
          </a:xfrm>
          <a:prstGeom prst="roundRect">
            <a:avLst>
              <a:gd name="adj" fmla="val 5000"/>
            </a:avLst>
          </a:prstGeom>
          <a:solidFill>
            <a:srgbClr val="FBF1EA"/>
          </a:solidFill>
          <a:ln w="12700">
            <a:solidFill>
              <a:srgbClr val="F4B740"/>
            </a:solidFill>
            <a:prstDash val="solid"/>
          </a:ln>
        </p:spPr>
        <p:txBody>
          <a:bodyPr/>
          <a:lstStyle/>
          <a:p>
            <a:endParaRPr/>
          </a:p>
        </p:txBody>
      </p:sp>
      <p:sp>
        <p:nvSpPr>
          <p:cNvPr id="51" name="h50"/>
          <p:cNvSpPr/>
          <p:nvPr/>
        </p:nvSpPr>
        <p:spPr>
          <a:xfrm>
            <a:off x="6522720" y="2034540"/>
            <a:ext cx="4754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250" b="1" i="0" u="none" strike="noStrike" kern="1200" cap="none" spc="220" normalizeH="0" baseline="0" noProof="0" dirty="0">
                <a:ln>
                  <a:noFill/>
                </a:ln>
                <a:solidFill>
                  <a:srgbClr val="B8860B"/>
                </a:solidFill>
                <a:effectLst/>
                <a:uLnTx/>
                <a:uFillTx/>
                <a:latin typeface="Calibri" pitchFamily="34" charset="0"/>
                <a:ea typeface="Calibri" pitchFamily="34" charset="-122"/>
                <a:cs typeface="Calibri" pitchFamily="34" charset="-120"/>
              </a:rPr>
              <a:t>WHAT A FLAGGED STUDENT NEEDS</a:t>
            </a:r>
          </a:p>
        </p:txBody>
      </p:sp>
      <p:sp>
        <p:nvSpPr>
          <p:cNvPr id="52" name="b50"/>
          <p:cNvSpPr/>
          <p:nvPr/>
        </p:nvSpPr>
        <p:spPr>
          <a:xfrm>
            <a:off x="6522720" y="2423160"/>
            <a:ext cx="4754880" cy="1554480"/>
          </a:xfrm>
          <a:prstGeom prst="rect">
            <a:avLst/>
          </a:prstGeom>
          <a:noFill/>
          <a:ln/>
        </p:spPr>
        <p:txBody>
          <a:bodyPr wrap="square" lIns="0" tIns="0" rIns="0" bIns="0" rtlCol="0" anchor="t"/>
          <a:lstStyle/>
          <a:p>
            <a:pPr marL="0" marR="0" lvl="0" indent="0" algn="l" defTabSz="914400" rtl="0" eaLnBrk="1" fontAlgn="auto" latinLnBrk="0" hangingPunct="1">
              <a:lnSpc>
                <a:spcPct val="135000"/>
              </a:lnSpc>
              <a:spcBef>
                <a:spcPts val="0"/>
              </a:spcBef>
              <a:spcAft>
                <a:spcPts val="0"/>
              </a:spcAft>
              <a:buNone/>
              <a:tabLst/>
              <a:defRPr/>
            </a:pPr>
            <a:r>
              <a:rPr kumimoji="0" lang="en-US" sz="1500" b="1" i="0" u="none" strike="noStrike" kern="1200" cap="none" spc="0" normalizeH="0" baseline="0" noProof="0" dirty="0">
                <a:ln>
                  <a:noFill/>
                </a:ln>
                <a:solidFill>
                  <a:srgbClr val="1F3864"/>
                </a:solidFill>
                <a:effectLst/>
                <a:uLnTx/>
                <a:uFillTx/>
                <a:latin typeface="Calibri" pitchFamily="34" charset="0"/>
                <a:ea typeface="Calibri" pitchFamily="34" charset="-122"/>
                <a:cs typeface="Calibri" pitchFamily="34" charset="-120"/>
              </a:rPr>
              <a:t>Of the essays you flag, how many were actually written by an AI?</a:t>
            </a:r>
          </a:p>
          <a:p>
            <a:pPr marL="0" marR="0" lvl="0" indent="0" algn="l" defTabSz="914400" rtl="0" eaLnBrk="1" fontAlgn="auto" latinLnBrk="0" hangingPunct="1">
              <a:lnSpc>
                <a:spcPct val="100000"/>
              </a:lnSpc>
              <a:spcBef>
                <a:spcPts val="0"/>
              </a:spcBef>
              <a:spcAft>
                <a:spcPts val="0"/>
              </a:spcAft>
              <a:buNone/>
              <a:tabLst/>
              <a:defRPr/>
            </a:pPr>
            <a:r>
              <a:rPr kumimoji="0" lang="en-US" sz="7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 </a:t>
            </a:r>
          </a:p>
          <a:p>
            <a:pPr marL="0" marR="0" lvl="0" indent="0" algn="l" defTabSz="914400" rtl="0" eaLnBrk="1" fontAlgn="auto" latinLnBrk="0" hangingPunct="1">
              <a:lnSpc>
                <a:spcPct val="135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Vanderbilt ran that number. Even at a 1% false positive rate, their 75,000 submissions a year would falsely accuse 750 students. They switched the tool off in August 2023.</a:t>
            </a:r>
          </a:p>
        </p:txBody>
      </p:sp>
      <p:sp>
        <p:nvSpPr>
          <p:cNvPr id="80" name="Evidence"/>
          <p:cNvSpPr/>
          <p:nvPr/>
        </p:nvSpPr>
        <p:spPr>
          <a:xfrm>
            <a:off x="640080" y="4419600"/>
            <a:ext cx="10911840" cy="9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500" b="0" i="0" u="none" strike="noStrike" kern="1200" cap="none" spc="0" normalizeH="0" baseline="0" noProof="0" dirty="0">
                <a:ln>
                  <a:noFill/>
                </a:ln>
                <a:solidFill>
                  <a:srgbClr val="262320"/>
                </a:solidFill>
                <a:effectLst/>
                <a:uLnTx/>
                <a:uFillTx/>
                <a:latin typeface="Calibri" pitchFamily="34" charset="0"/>
                <a:ea typeface="Calibri" pitchFamily="34" charset="-122"/>
                <a:cs typeface="Calibri" pitchFamily="34" charset="-120"/>
              </a:rPr>
              <a:t>And 1% is generous. Stanford researchers ran seven detectors over 91 TOEFL essays, every one written by a human: 61.3% were flagged as machine-written, and about one in five was flagged by all seven. On essays by native English speakers the same detectors almost never erred.</a:t>
            </a:r>
          </a:p>
        </p:txBody>
      </p:sp>
      <p:sp>
        <p:nvSpPr>
          <p:cNvPr id="90" name="Close"/>
          <p:cNvSpPr/>
          <p:nvPr/>
        </p:nvSpPr>
        <p:spPr>
          <a:xfrm>
            <a:off x="640080" y="5486400"/>
            <a:ext cx="10911840" cy="700000"/>
          </a:xfrm>
          <a:prstGeom prst="rect">
            <a:avLst/>
          </a:prstGeom>
          <a:noFill/>
          <a:ln/>
        </p:spPr>
        <p:txBody>
          <a:bodyPr wrap="square" lIns="0" tIns="0" rIns="0" bIns="0" rtlCol="0" anchor="t"/>
          <a:lstStyle/>
          <a:p>
            <a:pPr marL="0" marR="0" lvl="0" indent="0" algn="l" defTabSz="914400" rtl="0" eaLnBrk="1" fontAlgn="auto" latinLnBrk="0" hangingPunct="1">
              <a:lnSpc>
                <a:spcPct val="140000"/>
              </a:lnSpc>
              <a:spcBef>
                <a:spcPts val="0"/>
              </a:spcBef>
              <a:spcAft>
                <a:spcPts val="0"/>
              </a:spcAft>
              <a:buNone/>
              <a:tabLst/>
              <a:defRPr/>
            </a:pPr>
            <a:r>
              <a:rPr kumimoji="0" lang="en-US" sz="1600" b="1" i="0" u="none" strike="noStrike" kern="1200" cap="none" spc="0" normalizeH="0" baseline="0" noProof="0" dirty="0">
                <a:ln>
                  <a:noFill/>
                </a:ln>
                <a:solidFill>
                  <a:srgbClr val="15686B"/>
                </a:solidFill>
                <a:effectLst/>
                <a:uLnTx/>
                <a:uFillTx/>
                <a:latin typeface="Calibri" pitchFamily="34" charset="0"/>
                <a:ea typeface="Calibri" pitchFamily="34" charset="-122"/>
                <a:cs typeface="Calibri" pitchFamily="34" charset="-120"/>
              </a:rPr>
              <a:t>The same flip, with a transcript at the end of it. A number about how often the tool catches machines, read as the chance that a student cheated.</a:t>
            </a:r>
          </a:p>
        </p:txBody>
      </p:sp>
      <p:sp>
        <p:nvSpPr>
          <p:cNvPr id="100" name="Source"/>
          <p:cNvSpPr/>
          <p:nvPr/>
        </p:nvSpPr>
        <p:spPr>
          <a:xfrm>
            <a:off x="640080" y="6324600"/>
            <a:ext cx="1097280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None/>
              <a:tabLst/>
              <a:defRPr/>
            </a:pPr>
            <a:r>
              <a:rPr kumimoji="0" lang="en-US" sz="1000" b="0" i="1" u="none" strike="noStrike" kern="1200" cap="none" spc="0" normalizeH="0" baseline="0" noProof="0" dirty="0">
                <a:ln>
                  <a:noFill/>
                </a:ln>
                <a:solidFill>
                  <a:srgbClr val="6B7280"/>
                </a:solidFill>
                <a:effectLst/>
                <a:uLnTx/>
                <a:uFillTx/>
                <a:latin typeface="Calibri" pitchFamily="34" charset="0"/>
                <a:ea typeface="Calibri" pitchFamily="34" charset="-122"/>
                <a:cs typeface="Calibri" pitchFamily="34" charset="-120"/>
              </a:rPr>
              <a:t>Liang W, Yuksekgonul M, Mao Y, Wu E, Zou J. GPT detectors are biased against non-native English writers. Patterns 2023. Vanderbilt University disabled Turnitin's AI detection in August 2023. Johns Hopkins and international-student false positives reported by The Markup, 14 August 2023. Vendor accuracy figures are the vendors' own marketing claims.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EAE2">
            <a:alpha val="100000"/>
          </a:srgbClr>
        </a:solidFill>
        <a:effectLst/>
      </p:bgPr>
    </p:bg>
    <p:spTree>
      <p:nvGrpSpPr>
        <p:cNvPr id="1" name=""/>
        <p:cNvGrpSpPr/>
        <p:nvPr/>
      </p:nvGrpSpPr>
      <p:grpSpPr>
        <a:xfrm>
          <a:off x="0" y="0"/>
          <a:ext cx="0" cy="0"/>
          <a:chOff x="0" y="0"/>
          <a:chExt cx="0" cy="0"/>
        </a:xfrm>
      </p:grpSpPr>
      <p:sp>
        <p:nvSpPr>
          <p:cNvPr id="7" name="LessonRow2">
            <a:extLst>
              <a:ext uri="{FF2B5EF4-FFF2-40B4-BE49-F238E27FC236}">
                <a16:creationId xmlns:a16="http://schemas.microsoft.com/office/drawing/2014/main" id="{52F63C0D-4A73-0F4E-AD7D-EA91119928AA}"/>
              </a:ext>
            </a:extLst>
          </p:cNvPr>
          <p:cNvSpPr/>
          <p:nvPr/>
        </p:nvSpPr>
        <p:spPr>
          <a:xfrm>
            <a:off x="1016000" y="4749800"/>
            <a:ext cx="10160000" cy="1778000"/>
          </a:xfrm>
          <a:prstGeom prst="roundRect">
            <a:avLst/>
          </a:prstGeom>
          <a:solidFill>
            <a:srgbClr val="FFFFFF"/>
          </a:solidFill>
          <a:ln w="15875" cap="flat" cmpd="sng" algn="ctr">
            <a:solidFill>
              <a:srgbClr val="1568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2" name="LessonRow1">
            <a:extLst>
              <a:ext uri="{FF2B5EF4-FFF2-40B4-BE49-F238E27FC236}">
                <a16:creationId xmlns:a16="http://schemas.microsoft.com/office/drawing/2014/main" id="{A5DD4986-05B4-ED4B-8B06-D6C217012104}"/>
              </a:ext>
            </a:extLst>
          </p:cNvPr>
          <p:cNvSpPr/>
          <p:nvPr/>
        </p:nvSpPr>
        <p:spPr>
          <a:xfrm>
            <a:off x="1016000" y="2692400"/>
            <a:ext cx="10160000" cy="1778000"/>
          </a:xfrm>
          <a:prstGeom prst="roundRect">
            <a:avLst/>
          </a:prstGeom>
          <a:solidFill>
            <a:srgbClr val="FFFFFF"/>
          </a:solidFill>
          <a:ln w="15875" cap="flat" cmpd="sng" algn="ctr">
            <a:solidFill>
              <a:srgbClr val="15686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 name="DividerNum">
            <a:extLst>
              <a:ext uri="{FF2B5EF4-FFF2-40B4-BE49-F238E27FC236}">
                <a16:creationId xmlns:a16="http://schemas.microsoft.com/office/drawing/2014/main" id="{4F5C199A-9D23-694A-B32A-BEF550796026}"/>
              </a:ext>
            </a:extLst>
          </p:cNvPr>
          <p:cNvSpPr txBox="1"/>
          <p:nvPr/>
        </p:nvSpPr>
        <p:spPr>
          <a:xfrm>
            <a:off x="1016000" y="889000"/>
            <a:ext cx="9144000" cy="889000"/>
          </a:xfrm>
          <a:prstGeom prst="rect">
            <a:avLst/>
          </a:prstGeom>
          <a:noFill/>
        </p:spPr>
        <p:txBody>
          <a:bodyPr vertOverflow="overflow" vert="horz" wrap="square" rtlCol="0" anchor="ctr" anchorCtr="0">
            <a:spAutoFit/>
          </a:bodyPr>
          <a:lstStyle/>
          <a:p>
            <a:pPr algn="l"/>
            <a:r>
              <a:rPr lang="en-US" sz="4400" b="1" dirty="0">
                <a:solidFill>
                  <a:srgbClr val="15686B"/>
                </a:solidFill>
              </a:rPr>
              <a:t>What we’ve learned</a:t>
            </a:r>
          </a:p>
        </p:txBody>
      </p:sp>
      <p:sp>
        <p:nvSpPr>
          <p:cNvPr id="4" name="DividerRule">
            <a:extLst>
              <a:ext uri="{FF2B5EF4-FFF2-40B4-BE49-F238E27FC236}">
                <a16:creationId xmlns:a16="http://schemas.microsoft.com/office/drawing/2014/main" id="{40908AA8-D266-8145-9246-0E6135A5D2B5}"/>
              </a:ext>
            </a:extLst>
          </p:cNvPr>
          <p:cNvSpPr/>
          <p:nvPr/>
        </p:nvSpPr>
        <p:spPr>
          <a:xfrm>
            <a:off x="1066800" y="1905000"/>
            <a:ext cx="1143000" cy="635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DividerTitle">
            <a:extLst>
              <a:ext uri="{FF2B5EF4-FFF2-40B4-BE49-F238E27FC236}">
                <a16:creationId xmlns:a16="http://schemas.microsoft.com/office/drawing/2014/main" id="{C1F7EE2F-254B-F247-8EFC-DAB681104AF6}"/>
              </a:ext>
            </a:extLst>
          </p:cNvPr>
          <p:cNvSpPr txBox="1"/>
          <p:nvPr/>
        </p:nvSpPr>
        <p:spPr>
          <a:xfrm>
            <a:off x="1016000" y="2057400"/>
            <a:ext cx="9652000" cy="431800"/>
          </a:xfrm>
          <a:prstGeom prst="rect">
            <a:avLst/>
          </a:prstGeom>
          <a:noFill/>
        </p:spPr>
        <p:txBody>
          <a:bodyPr vertOverflow="overflow" vert="horz" wrap="square" rtlCol="0" anchor="t" anchorCtr="0">
            <a:spAutoFit/>
          </a:bodyPr>
          <a:lstStyle/>
          <a:p>
            <a:pPr algn="l"/>
            <a:r>
              <a:rPr lang="en-US" sz="1800" dirty="0">
                <a:solidFill>
                  <a:srgbClr val="1F3864"/>
                </a:solidFill>
                <a:latin typeface="Calibri" pitchFamily="34" charset="0"/>
              </a:rPr>
              <a:t>One way a true number can mislead you, and a look ahead.</a:t>
            </a:r>
          </a:p>
        </p:txBody>
      </p:sp>
      <p:sp>
        <p:nvSpPr>
          <p:cNvPr id="11" name="TextBox 10">
            <a:extLst>
              <a:ext uri="{FF2B5EF4-FFF2-40B4-BE49-F238E27FC236}">
                <a16:creationId xmlns:a16="http://schemas.microsoft.com/office/drawing/2014/main" id="{FCD81A89-49D7-7C4E-8D71-2C7441676222}"/>
              </a:ext>
            </a:extLst>
          </p:cNvPr>
          <p:cNvSpPr txBox="1"/>
          <p:nvPr/>
        </p:nvSpPr>
        <p:spPr>
          <a:xfrm>
            <a:off x="2768600" y="2870200"/>
            <a:ext cx="8229600" cy="355600"/>
          </a:xfrm>
          <a:prstGeom prst="rect">
            <a:avLst/>
          </a:prstGeom>
          <a:noFill/>
        </p:spPr>
        <p:txBody>
          <a:bodyPr vertOverflow="overflow" vert="horz" wrap="square" rtlCol="0" anchor="t">
            <a:noAutofit/>
          </a:bodyPr>
          <a:lstStyle/>
          <a:p>
            <a:pPr algn="l"/>
            <a:r>
              <a:rPr lang="en-US" b="1">
                <a:solidFill>
                  <a:srgbClr val="15686B"/>
                </a:solidFill>
                <a:latin typeface="Bookman Old Style"/>
              </a:rPr>
              <a:t>1  ·  Probability reversal</a:t>
            </a:r>
          </a:p>
        </p:txBody>
      </p:sp>
      <p:sp>
        <p:nvSpPr>
          <p:cNvPr id="12" name="TextBox 11">
            <a:extLst>
              <a:ext uri="{FF2B5EF4-FFF2-40B4-BE49-F238E27FC236}">
                <a16:creationId xmlns:a16="http://schemas.microsoft.com/office/drawing/2014/main" id="{295A494C-1575-024E-9422-649FF425005E}"/>
              </a:ext>
            </a:extLst>
          </p:cNvPr>
          <p:cNvSpPr txBox="1"/>
          <p:nvPr/>
        </p:nvSpPr>
        <p:spPr>
          <a:xfrm>
            <a:off x="2768600" y="3276600"/>
            <a:ext cx="8229600" cy="508000"/>
          </a:xfrm>
          <a:prstGeom prst="rect">
            <a:avLst/>
          </a:prstGeom>
          <a:noFill/>
        </p:spPr>
        <p:txBody>
          <a:bodyPr vertOverflow="overflow" vert="horz" wrap="square" rtlCol="0" anchor="t">
            <a:noAutofit/>
          </a:bodyPr>
          <a:lstStyle/>
          <a:p>
            <a:pPr algn="l"/>
            <a:r>
              <a:rPr lang="en-US" sz="1400">
                <a:solidFill>
                  <a:srgbClr val="1F3864"/>
                </a:solidFill>
                <a:latin typeface="Calibri"/>
                <a:cs typeface="Calibri"/>
              </a:rPr>
              <a:t>The trap:  What the test reports gets flipped into what you asked. A positive is read as proof, a negative as the all-clear.</a:t>
            </a:r>
          </a:p>
        </p:txBody>
      </p:sp>
      <p:sp>
        <p:nvSpPr>
          <p:cNvPr id="13" name="TextBox 12">
            <a:extLst>
              <a:ext uri="{FF2B5EF4-FFF2-40B4-BE49-F238E27FC236}">
                <a16:creationId xmlns:a16="http://schemas.microsoft.com/office/drawing/2014/main" id="{2EDDD215-9415-154A-B2E2-330108F0AD4B}"/>
              </a:ext>
            </a:extLst>
          </p:cNvPr>
          <p:cNvSpPr txBox="1"/>
          <p:nvPr/>
        </p:nvSpPr>
        <p:spPr>
          <a:xfrm>
            <a:off x="2768600" y="3835400"/>
            <a:ext cx="8229600" cy="457200"/>
          </a:xfrm>
          <a:prstGeom prst="rect">
            <a:avLst/>
          </a:prstGeom>
          <a:noFill/>
        </p:spPr>
        <p:txBody>
          <a:bodyPr vertOverflow="overflow" vert="horz" wrap="square" rtlCol="0" anchor="t">
            <a:noAutofit/>
          </a:bodyPr>
          <a:lstStyle/>
          <a:p>
            <a:pPr algn="l"/>
            <a:r>
              <a:rPr lang="en-US" sz="1400" b="1" i="1">
                <a:solidFill>
                  <a:srgbClr val="15686B"/>
                </a:solidFill>
                <a:latin typeface="Calibri"/>
                <a:cs typeface="Calibri"/>
              </a:rPr>
              <a:t>Ask: out of everyone who got this result, how many actually have it?</a:t>
            </a:r>
          </a:p>
        </p:txBody>
      </p:sp>
      <p:sp>
        <p:nvSpPr>
          <p:cNvPr id="14" name="TextBox 13">
            <a:extLst>
              <a:ext uri="{FF2B5EF4-FFF2-40B4-BE49-F238E27FC236}">
                <a16:creationId xmlns:a16="http://schemas.microsoft.com/office/drawing/2014/main" id="{0CFEF917-D127-B54B-A3E9-E18AA7793178}"/>
              </a:ext>
            </a:extLst>
          </p:cNvPr>
          <p:cNvSpPr txBox="1"/>
          <p:nvPr/>
        </p:nvSpPr>
        <p:spPr>
          <a:xfrm>
            <a:off x="2768600" y="4927600"/>
            <a:ext cx="8229600" cy="355600"/>
          </a:xfrm>
          <a:prstGeom prst="rect">
            <a:avLst/>
          </a:prstGeom>
          <a:noFill/>
        </p:spPr>
        <p:txBody>
          <a:bodyPr vertOverflow="overflow" vert="horz" wrap="square" rtlCol="0" anchor="t">
            <a:noAutofit/>
          </a:bodyPr>
          <a:lstStyle/>
          <a:p>
            <a:pPr algn="l"/>
            <a:r>
              <a:rPr lang="en-US" b="1">
                <a:solidFill>
                  <a:srgbClr val="15686B"/>
                </a:solidFill>
                <a:latin typeface="Bookman Old Style"/>
              </a:rPr>
              <a:t>2  ·  Next week: Arbitrary categories</a:t>
            </a:r>
          </a:p>
        </p:txBody>
      </p:sp>
      <p:sp>
        <p:nvSpPr>
          <p:cNvPr id="15" name="TextBox 14">
            <a:extLst>
              <a:ext uri="{FF2B5EF4-FFF2-40B4-BE49-F238E27FC236}">
                <a16:creationId xmlns:a16="http://schemas.microsoft.com/office/drawing/2014/main" id="{4C6B5D73-CED0-924B-845A-70E448D1D2F4}"/>
              </a:ext>
            </a:extLst>
          </p:cNvPr>
          <p:cNvSpPr txBox="1"/>
          <p:nvPr/>
        </p:nvSpPr>
        <p:spPr>
          <a:xfrm>
            <a:off x="2768600" y="5334000"/>
            <a:ext cx="8229600" cy="508000"/>
          </a:xfrm>
          <a:prstGeom prst="rect">
            <a:avLst/>
          </a:prstGeom>
          <a:noFill/>
        </p:spPr>
        <p:txBody>
          <a:bodyPr vertOverflow="overflow" vert="horz" wrap="square" rtlCol="0" anchor="t">
            <a:noAutofit/>
          </a:bodyPr>
          <a:lstStyle/>
          <a:p>
            <a:r>
              <a:rPr lang="en-US" sz="1400" dirty="0">
                <a:solidFill>
                  <a:srgbClr val="1F3864"/>
                </a:solidFill>
                <a:latin typeface="Calibri" pitchFamily="34" charset="0"/>
              </a:rPr>
              <a:t>The trap:  A line drawn across a continuous measurement is read as a fact about your body.</a:t>
            </a:r>
          </a:p>
        </p:txBody>
      </p:sp>
      <p:sp>
        <p:nvSpPr>
          <p:cNvPr id="16" name="TextBox 15">
            <a:extLst>
              <a:ext uri="{FF2B5EF4-FFF2-40B4-BE49-F238E27FC236}">
                <a16:creationId xmlns:a16="http://schemas.microsoft.com/office/drawing/2014/main" id="{71D5EEE8-70C1-0748-B0E2-1CBE76AD0958}"/>
              </a:ext>
            </a:extLst>
          </p:cNvPr>
          <p:cNvSpPr txBox="1"/>
          <p:nvPr/>
        </p:nvSpPr>
        <p:spPr>
          <a:xfrm>
            <a:off x="2768600" y="5892800"/>
            <a:ext cx="8229600" cy="457200"/>
          </a:xfrm>
          <a:prstGeom prst="rect">
            <a:avLst/>
          </a:prstGeom>
          <a:noFill/>
        </p:spPr>
        <p:txBody>
          <a:bodyPr vertOverflow="overflow" vert="horz" wrap="square" rtlCol="0" anchor="t">
            <a:noAutofit/>
          </a:bodyPr>
          <a:lstStyle/>
          <a:p>
            <a:pPr algn="l"/>
            <a:r>
              <a:rPr lang="en-US" sz="1400" b="1" i="1">
                <a:solidFill>
                  <a:srgbClr val="15686B"/>
                </a:solidFill>
                <a:latin typeface="Calibri"/>
                <a:cs typeface="Calibri"/>
              </a:rPr>
              <a:t>Ask: where do I sit on the curve, not which side of the line?</a:t>
            </a:r>
          </a:p>
        </p:txBody>
      </p:sp>
      <p:sp>
        <p:nvSpPr>
          <p:cNvPr id="17" name="LessonAccentFlat1">
            <a:extLst>
              <a:ext uri="{FF2B5EF4-FFF2-40B4-BE49-F238E27FC236}">
                <a16:creationId xmlns:a16="http://schemas.microsoft.com/office/drawing/2014/main" id="{BC46039A-11FC-9143-93B0-4D9939B633C1}"/>
              </a:ext>
            </a:extLst>
          </p:cNvPr>
          <p:cNvSpPr/>
          <p:nvPr/>
        </p:nvSpPr>
        <p:spPr>
          <a:xfrm>
            <a:off x="1066800" y="2692400"/>
            <a:ext cx="1473200" cy="177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8" name="LessonAccentFlat2">
            <a:extLst>
              <a:ext uri="{FF2B5EF4-FFF2-40B4-BE49-F238E27FC236}">
                <a16:creationId xmlns:a16="http://schemas.microsoft.com/office/drawing/2014/main" id="{34C22567-0407-DB4F-8110-CCA7D935D3EB}"/>
              </a:ext>
            </a:extLst>
          </p:cNvPr>
          <p:cNvSpPr/>
          <p:nvPr/>
        </p:nvSpPr>
        <p:spPr>
          <a:xfrm>
            <a:off x="1066800" y="4749800"/>
            <a:ext cx="1473200" cy="1778000"/>
          </a:xfrm>
          <a:prstGeom prst="rect">
            <a:avLst/>
          </a:prstGeom>
          <a:solidFill>
            <a:srgbClr val="15686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pic>
        <p:nvPicPr>
          <p:cNvPr id="9" name="Graphic 9" descr="Scales icon for relative vs absolute risk"/>
          <p:cNvPicPr>
            <a:picLocks noChangeAspect="1"/>
          </p:cNvPicPr>
          <p:nvPr/>
        </p:nvPicPr>
        <p:blipFill>
          <a:blip/>
          <a:stretch>
            <a:fillRect/>
          </a:stretch>
        </p:blipFill>
        <p:spPr>
          <a:xfrm>
            <a:off x="1397000" y="3149600"/>
            <a:ext cx="863600" cy="863600"/>
          </a:xfrm>
          <a:prstGeom prst="rect">
            <a:avLst/>
          </a:prstGeom>
        </p:spPr>
      </p:pic>
      <p:pic>
        <p:nvPicPr>
          <p:cNvPr id="10" name="Graphic 10" descr="Dice icon for expected values hide the truth"/>
          <p:cNvPicPr>
            <a:picLocks noChangeAspect="1"/>
          </p:cNvPicPr>
          <p:nvPr/>
        </p:nvPicPr>
        <p:blipFill>
          <a:blip/>
          <a:stretch>
            <a:fillRect/>
          </a:stretch>
        </p:blipFill>
        <p:spPr>
          <a:xfrm>
            <a:off x="1397000" y="5207000"/>
            <a:ext cx="863600" cy="863600"/>
          </a:xfrm>
          <a:prstGeom prst="rect">
            <a:avLst/>
          </a:prstGeom>
        </p:spPr>
      </p:pic>
      <p:pic>
        <p:nvPicPr>
          <p:cNvPr id="6" name="Graphic 9" descr="Scales icon for relative vs absolute risk"/>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97000" y="3149600"/>
            <a:ext cx="863600" cy="863600"/>
          </a:xfrm>
          <a:prstGeom prst="rect">
            <a:avLst/>
          </a:prstGeom>
        </p:spPr>
      </p:pic>
      <p:pic>
        <p:nvPicPr>
          <p:cNvPr id="8" name="Graphic 10" descr="Dice icon for expected values hide the truth"/>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97000" y="5207000"/>
            <a:ext cx="863600" cy="863600"/>
          </a:xfrm>
          <a:prstGeom prst="rect">
            <a:avLst/>
          </a:prstGeom>
        </p:spPr>
      </p:pic>
    </p:spTree>
    <p:extLst>
      <p:ext uri="{BB962C8B-B14F-4D97-AF65-F5344CB8AC3E}">
        <p14:creationId xmlns:p14="http://schemas.microsoft.com/office/powerpoint/2010/main" val="1485787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9079992" y="3749040"/>
            <a:ext cx="4572000" cy="4572000"/>
          </a:xfrm>
          <a:prstGeom prst="ellipse">
            <a:avLst/>
          </a:prstGeom>
          <a:solidFill>
            <a:srgbClr val="C2683F">
              <a:alpha val="10000"/>
            </a:srgbClr>
          </a:solidFill>
          <a:ln/>
        </p:spPr>
        <p:txBody>
          <a:bodyPr/>
          <a:lstStyle/>
          <a:p>
            <a:endParaRPr lang="en-US"/>
          </a:p>
        </p:txBody>
      </p:sp>
      <p:sp>
        <p:nvSpPr>
          <p:cNvPr id="3" name="Shape 1"/>
          <p:cNvSpPr/>
          <p:nvPr/>
        </p:nvSpPr>
        <p:spPr>
          <a:xfrm>
            <a:off x="10360152" y="2834640"/>
            <a:ext cx="2011680" cy="2011680"/>
          </a:xfrm>
          <a:prstGeom prst="ellipse">
            <a:avLst/>
          </a:prstGeom>
          <a:solidFill>
            <a:srgbClr val="15686B">
              <a:alpha val="8000"/>
            </a:srgbClr>
          </a:solidFill>
          <a:ln/>
        </p:spPr>
        <p:txBody>
          <a:bodyPr/>
          <a:lstStyle/>
          <a:p>
            <a:endParaRPr lang="en-US"/>
          </a:p>
        </p:txBody>
      </p:sp>
      <p:sp>
        <p:nvSpPr>
          <p:cNvPr id="4" name="Shape 2"/>
          <p:cNvSpPr/>
          <p:nvPr/>
        </p:nvSpPr>
        <p:spPr>
          <a:xfrm>
            <a:off x="685800" y="1371600"/>
            <a:ext cx="868680" cy="868680"/>
          </a:xfrm>
          <a:prstGeom prst="ellipse">
            <a:avLst/>
          </a:prstGeom>
          <a:solidFill>
            <a:srgbClr val="C2683F"/>
          </a:solidFill>
          <a:ln/>
        </p:spPr>
        <p:txBody>
          <a:bodyPr/>
          <a:lstStyle/>
          <a:p>
            <a:endParaRPr lang="en-US"/>
          </a:p>
        </p:txBody>
      </p:sp>
      <p:pic>
        <p:nvPicPr>
          <p:cNvPr id="5" name="Image 0" descr="/home/claude/assets/emblem.svg"/>
          <p:cNvPicPr>
            <a:picLocks noChangeAspect="1"/>
          </p:cNvPicPr>
          <p:nvPr/>
        </p:nvPicPr>
        <p:blipFill>
          <a:blip/>
          <a:stretch>
            <a:fillRect/>
          </a:stretch>
        </p:blipFill>
        <p:spPr>
          <a:xfrm>
            <a:off x="850849" y="1536649"/>
            <a:ext cx="538582" cy="538582"/>
          </a:xfrm>
          <a:prstGeom prst="rect">
            <a:avLst/>
          </a:prstGeom>
        </p:spPr>
      </p:pic>
      <p:sp>
        <p:nvSpPr>
          <p:cNvPr id="6" name="Text 3"/>
          <p:cNvSpPr/>
          <p:nvPr/>
        </p:nvSpPr>
        <p:spPr>
          <a:xfrm>
            <a:off x="685800" y="2514600"/>
            <a:ext cx="9875520" cy="1371600"/>
          </a:xfrm>
          <a:prstGeom prst="rect">
            <a:avLst/>
          </a:prstGeom>
          <a:noFill/>
          <a:ln/>
        </p:spPr>
        <p:txBody>
          <a:bodyPr wrap="square" lIns="0" tIns="0" rIns="0" bIns="0" rtlCol="0" anchor="ctr"/>
          <a:lstStyle/>
          <a:p>
            <a:pPr marL="0" indent="0" algn="l">
              <a:buNone/>
            </a:pPr>
            <a:r>
              <a:rPr lang="en-US" sz="5000" b="1" dirty="0">
                <a:solidFill>
                  <a:srgbClr val="262320"/>
                </a:solidFill>
                <a:latin typeface="Bookman Old Style" pitchFamily="34" charset="0"/>
                <a:ea typeface="Bookman Old Style" pitchFamily="34" charset="-122"/>
                <a:cs typeface="Bookman Old Style" pitchFamily="34" charset="-120"/>
              </a:rPr>
              <a:t>Questions, and a conversation</a:t>
            </a:r>
            <a:endParaRPr lang="en-US" sz="5000" dirty="0"/>
          </a:p>
        </p:txBody>
      </p:sp>
      <p:sp>
        <p:nvSpPr>
          <p:cNvPr id="7" name="Text 4"/>
          <p:cNvSpPr/>
          <p:nvPr/>
        </p:nvSpPr>
        <p:spPr>
          <a:xfrm>
            <a:off x="685800" y="4114800"/>
            <a:ext cx="10058400" cy="457200"/>
          </a:xfrm>
          <a:prstGeom prst="rect">
            <a:avLst/>
          </a:prstGeom>
          <a:noFill/>
          <a:ln/>
        </p:spPr>
        <p:txBody>
          <a:bodyPr wrap="square" lIns="0" tIns="0" rIns="0" bIns="0" rtlCol="0" anchor="ctr"/>
          <a:lstStyle/>
          <a:p>
            <a:pPr marL="0" indent="0" algn="l">
              <a:buNone/>
            </a:pPr>
            <a:r>
              <a:rPr lang="en-US" sz="2200" b="1" dirty="0">
                <a:solidFill>
                  <a:srgbClr val="262320"/>
                </a:solidFill>
                <a:latin typeface="Calibri" pitchFamily="34" charset="0"/>
                <a:ea typeface="Calibri" pitchFamily="34" charset="-122"/>
                <a:cs typeface="Calibri" pitchFamily="34" charset="-120"/>
              </a:rPr>
              <a:t>Murray Cantor PhD</a:t>
            </a:r>
            <a:r>
              <a:rPr lang="en-US" sz="2200" dirty="0">
                <a:solidFill>
                  <a:srgbClr val="8A8076"/>
                </a:solidFill>
                <a:latin typeface="Calibri" pitchFamily="34" charset="0"/>
                <a:ea typeface="Calibri" pitchFamily="34" charset="-122"/>
                <a:cs typeface="Calibri" pitchFamily="34" charset="-120"/>
              </a:rPr>
              <a:t>      </a:t>
            </a:r>
            <a:r>
              <a:rPr lang="en-US" sz="2200" dirty="0" err="1">
                <a:solidFill>
                  <a:srgbClr val="8A8076"/>
                </a:solidFill>
                <a:latin typeface="Calibri" pitchFamily="34" charset="0"/>
                <a:ea typeface="Calibri" pitchFamily="34" charset="-122"/>
                <a:cs typeface="Calibri" pitchFamily="34" charset="-120"/>
              </a:rPr>
              <a:t>murray@murraycantor.com</a:t>
            </a:r>
            <a:endParaRPr lang="en-US" sz="2200" dirty="0"/>
          </a:p>
        </p:txBody>
      </p:sp>
      <p:sp>
        <p:nvSpPr>
          <p:cNvPr id="8" name="Text 4">
            <a:extLst>
              <a:ext uri="{FF2B5EF4-FFF2-40B4-BE49-F238E27FC236}">
                <a16:creationId xmlns:a16="http://schemas.microsoft.com/office/drawing/2014/main" id="{525C5454-4728-2B5E-FBFD-5DD5FF3624A4}"/>
              </a:ext>
            </a:extLst>
          </p:cNvPr>
          <p:cNvSpPr/>
          <p:nvPr/>
        </p:nvSpPr>
        <p:spPr>
          <a:xfrm>
            <a:off x="685800" y="4800600"/>
            <a:ext cx="10058400" cy="457200"/>
          </a:xfrm>
          <a:prstGeom prst="rect">
            <a:avLst/>
          </a:prstGeom>
          <a:noFill/>
          <a:ln/>
        </p:spPr>
        <p:txBody>
          <a:bodyPr wrap="square" lIns="0" tIns="0" rIns="0" bIns="0" rtlCol="0" anchor="ctr"/>
          <a:lstStyle/>
          <a:p>
            <a:r>
              <a:rPr lang="en-US" sz="2200" b="1" dirty="0">
                <a:solidFill>
                  <a:srgbClr val="262320"/>
                </a:solidFill>
                <a:latin typeface="Calibri" pitchFamily="34" charset="0"/>
                <a:ea typeface="Calibri" pitchFamily="34" charset="-122"/>
                <a:cs typeface="Calibri" pitchFamily="34" charset="-120"/>
              </a:rPr>
              <a:t>Joel Keenan MD </a:t>
            </a:r>
            <a:r>
              <a:rPr lang="en-US" sz="2200" dirty="0">
                <a:solidFill>
                  <a:srgbClr val="8A8076"/>
                </a:solidFill>
                <a:latin typeface="Calibri" pitchFamily="34" charset="0"/>
                <a:ea typeface="Calibri" pitchFamily="34" charset="-122"/>
                <a:cs typeface="Calibri" pitchFamily="34" charset="-120"/>
              </a:rPr>
              <a:t>	</a:t>
            </a:r>
            <a:r>
              <a:rPr lang="en-US" sz="2200" dirty="0" err="1">
                <a:solidFill>
                  <a:srgbClr val="8A8076"/>
                </a:solidFill>
                <a:latin typeface="Calibri" pitchFamily="34" charset="0"/>
                <a:ea typeface="Calibri" pitchFamily="34" charset="-122"/>
                <a:cs typeface="Calibri" pitchFamily="34" charset="-120"/>
              </a:rPr>
              <a:t>drkeenan@mdvip.com</a:t>
            </a:r>
            <a:endParaRPr lang="en-US" sz="2200" dirty="0"/>
          </a:p>
        </p:txBody>
      </p:sp>
      <p:pic>
        <p:nvPicPr>
          <p:cNvPr id="9" name="Image 0" descr="/home/claude/assets/emblem.sv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0849" y="1536649"/>
            <a:ext cx="538582" cy="538582"/>
          </a:xfrm>
          <a:prstGeom prst="rect">
            <a:avLst/>
          </a:prstGeom>
        </p:spPr>
      </p:pic>
    </p:spTree>
  </p:cSld>
  <p:clrMapOvr>
    <a:masterClrMapping/>
  </p:clrMapOvr>
</p:sld>
</file>

<file path=ppt/theme/theme1.xml><?xml version="1.0" encoding="utf-8"?>
<a:theme xmlns:a="http://schemas.openxmlformats.org/drawingml/2006/main" name="Office Theme [1786994344768]">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lthy_Skepticism_template" id="{A475EFBF-EC16-804F-804C-E378F4DD18F0}" vid="{6A4D0C99-FC8E-6640-8839-28A56828CE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ECEDE5C-0805-304A-84E1-7603506FB6F1}">
  <we:reference id="wa200010001" version="1.0.0.1" store="en-US" storeType="OMEX"/>
  <we:alternateReferences>
    <we:reference id="WA200010001" version="1.0.0.1" store="WA200010001" storeType="OMEX"/>
  </we:alternateReferences>
  <we:properties>
    <we:property name="claude.fileId" value="&quot;a7861329-2e06-4a86-8236-388c24162ff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19014</TotalTime>
  <Words>2584</Words>
  <Application>Microsoft Macintosh PowerPoint</Application>
  <PresentationFormat>Widescreen</PresentationFormat>
  <Paragraphs>238</Paragraphs>
  <Slides>23</Slides>
  <Notes>3</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Bookman Old Style</vt:lpstr>
      <vt:lpstr>Calibri</vt:lpstr>
      <vt:lpstr>Office Theme [1786994344768]</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Murray Cantor</dc:creator>
  <cp:lastModifiedBy>Murray Cantor</cp:lastModifiedBy>
  <cp:revision>51</cp:revision>
  <cp:lastPrinted>2026-06-18T15:28:25Z</cp:lastPrinted>
  <dcterms:created xsi:type="dcterms:W3CDTF">2026-06-10T15:36:34Z</dcterms:created>
  <dcterms:modified xsi:type="dcterms:W3CDTF">2026-08-17T19:36:54Z</dcterms:modified>
</cp:coreProperties>
</file>