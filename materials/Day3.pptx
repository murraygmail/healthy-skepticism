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375" r:id="rId2"/>
    <p:sldId id="414" r:id="rId3"/>
    <p:sldId id="442" r:id="rId4"/>
    <p:sldId id="392" r:id="rId5"/>
    <p:sldId id="397" r:id="rId6"/>
    <p:sldId id="519" r:id="rId7"/>
    <p:sldId id="518" r:id="rId8"/>
    <p:sldId id="446" r:id="rId9"/>
    <p:sldId id="520" r:id="rId10"/>
    <p:sldId id="455" r:id="rId11"/>
    <p:sldId id="543" r:id="rId12"/>
    <p:sldId id="547" r:id="rId13"/>
    <p:sldId id="553" r:id="rId14"/>
    <p:sldId id="550" r:id="rId15"/>
    <p:sldId id="557" r:id="rId16"/>
    <p:sldId id="480" r:id="rId17"/>
    <p:sldId id="565" r:id="rId18"/>
    <p:sldId id="559" r:id="rId19"/>
    <p:sldId id="495" r:id="rId20"/>
    <p:sldId id="496" r:id="rId21"/>
    <p:sldId id="546" r:id="rId22"/>
    <p:sldId id="561" r:id="rId23"/>
    <p:sldId id="262" r:id="rId24"/>
    <p:sldId id="411" r:id="rId25"/>
    <p:sldId id="492" r:id="rId26"/>
    <p:sldId id="452" r:id="rId27"/>
    <p:sldId id="453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9DDD94B-1509-DCC6-97CA-BFFAFB482CC6}" name="Murray Cantor" initials="MC" userId="S::contact@murraycantor.com::4c14c09f-f573-4990-929e-1c221c9daca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22"/>
    <p:restoredTop sz="86438"/>
  </p:normalViewPr>
  <p:slideViewPr>
    <p:cSldViewPr snapToGrid="0" snapToObjects="1">
      <p:cViewPr varScale="1">
        <p:scale>
          <a:sx n="109" d="100"/>
          <a:sy n="109" d="100"/>
        </p:scale>
        <p:origin x="62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1F3864"/>
                </a:solidFill>
                <a:latin typeface="Calibri"/>
              </a:defRPr>
            </a:pPr>
            <a:r>
              <a:rPr lang="en-US" sz="1400"/>
              <a:t>Risk climbs smoothly. The labels do not.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Men</c:f>
              <c:strCache>
                <c:ptCount val="1"/>
                <c:pt idx="0">
                  <c:v>Men</c:v>
                </c:pt>
              </c:strCache>
            </c:strRef>
          </c:tx>
          <c:spPr>
            <a:ln w="28575" cap="rnd">
              <a:solidFill>
                <a:srgbClr val="15686B"/>
              </a:solidFill>
              <a:round/>
            </a:ln>
          </c:spPr>
          <c:marker>
            <c:symbol val="none"/>
          </c:marker>
          <c:xVal>
            <c:numLit>
              <c:formatCode>General</c:formatCode>
              <c:ptCount val="8"/>
              <c:pt idx="0">
                <c:v>110</c:v>
              </c:pt>
              <c:pt idx="1">
                <c:v>120</c:v>
              </c:pt>
              <c:pt idx="2">
                <c:v>130</c:v>
              </c:pt>
              <c:pt idx="3">
                <c:v>140</c:v>
              </c:pt>
              <c:pt idx="4">
                <c:v>150</c:v>
              </c:pt>
              <c:pt idx="5">
                <c:v>160</c:v>
              </c:pt>
              <c:pt idx="6">
                <c:v>170</c:v>
              </c:pt>
              <c:pt idx="7">
                <c:v>180</c:v>
              </c:pt>
            </c:numLit>
          </c:xVal>
          <c:yVal>
            <c:numLit>
              <c:formatCode>General</c:formatCode>
              <c:ptCount val="8"/>
              <c:pt idx="0">
                <c:v>2.4</c:v>
              </c:pt>
              <c:pt idx="1">
                <c:v>2.9</c:v>
              </c:pt>
              <c:pt idx="2">
                <c:v>3.4</c:v>
              </c:pt>
              <c:pt idx="3">
                <c:v>4</c:v>
              </c:pt>
              <c:pt idx="4">
                <c:v>4.9000000000000004</c:v>
              </c:pt>
              <c:pt idx="5">
                <c:v>6</c:v>
              </c:pt>
              <c:pt idx="6">
                <c:v>7.5</c:v>
              </c:pt>
              <c:pt idx="7">
                <c:v>9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59F6-0149-B598-06EE10E60C0B}"/>
            </c:ext>
          </c:extLst>
        </c:ser>
        <c:ser>
          <c:idx val="1"/>
          <c:order val="1"/>
          <c:tx>
            <c:strRef>
              <c:f>Women</c:f>
              <c:strCache>
                <c:ptCount val="1"/>
                <c:pt idx="0">
                  <c:v>Women</c:v>
                </c:pt>
              </c:strCache>
            </c:strRef>
          </c:tx>
          <c:spPr>
            <a:ln w="28575" cap="rnd">
              <a:solidFill>
                <a:srgbClr val="1F3864"/>
              </a:solidFill>
              <a:prstDash val="dash"/>
              <a:round/>
            </a:ln>
          </c:spPr>
          <c:marker>
            <c:symbol val="none"/>
          </c:marker>
          <c:xVal>
            <c:numLit>
              <c:formatCode>General</c:formatCode>
              <c:ptCount val="8"/>
              <c:pt idx="0">
                <c:v>110</c:v>
              </c:pt>
              <c:pt idx="1">
                <c:v>120</c:v>
              </c:pt>
              <c:pt idx="2">
                <c:v>130</c:v>
              </c:pt>
              <c:pt idx="3">
                <c:v>140</c:v>
              </c:pt>
              <c:pt idx="4">
                <c:v>150</c:v>
              </c:pt>
              <c:pt idx="5">
                <c:v>160</c:v>
              </c:pt>
              <c:pt idx="6">
                <c:v>170</c:v>
              </c:pt>
              <c:pt idx="7">
                <c:v>180</c:v>
              </c:pt>
            </c:numLit>
          </c:xVal>
          <c:yVal>
            <c:numLit>
              <c:formatCode>General</c:formatCode>
              <c:ptCount val="8"/>
              <c:pt idx="0">
                <c:v>0.8</c:v>
              </c:pt>
              <c:pt idx="1">
                <c:v>1</c:v>
              </c:pt>
              <c:pt idx="2">
                <c:v>1.35</c:v>
              </c:pt>
              <c:pt idx="3">
                <c:v>1.9</c:v>
              </c:pt>
              <c:pt idx="4">
                <c:v>2.4</c:v>
              </c:pt>
              <c:pt idx="5">
                <c:v>3</c:v>
              </c:pt>
              <c:pt idx="6">
                <c:v>3.9</c:v>
              </c:pt>
              <c:pt idx="7">
                <c:v>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59F6-0149-B598-06EE10E60C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3333333"/>
        <c:axId val="444444444"/>
      </c:scatterChart>
      <c:valAx>
        <c:axId val="333333333"/>
        <c:scaling>
          <c:orientation val="minMax"/>
          <c:max val="180"/>
          <c:min val="110"/>
        </c:scaling>
        <c:delete val="0"/>
        <c:axPos val="b"/>
        <c:title>
          <c:tx>
            <c:rich>
              <a:bodyPr/>
              <a:lstStyle/>
              <a:p>
                <a:pPr>
                  <a:defRPr sz="1400">
                    <a:solidFill>
                      <a:srgbClr val="262320"/>
                    </a:solidFill>
                    <a:latin typeface="Calibri"/>
                  </a:defRPr>
                </a:pPr>
                <a:r>
                  <a:rPr lang="en-US" sz="1400"/>
                  <a:t>Usual systolic blood pressure (mmHg)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libri"/>
              </a:defRPr>
            </a:pPr>
            <a:endParaRPr lang="en-US"/>
          </a:p>
        </c:txPr>
        <c:crossAx val="444444444"/>
        <c:crosses val="autoZero"/>
        <c:crossBetween val="midCat"/>
        <c:majorUnit val="10"/>
      </c:valAx>
      <c:valAx>
        <c:axId val="444444444"/>
        <c:scaling>
          <c:orientation val="minMax"/>
          <c:max val="12"/>
          <c:min val="0"/>
        </c:scaling>
        <c:delete val="0"/>
        <c:axPos val="l"/>
        <c:majorGridlines>
          <c:spPr>
            <a:ln w="9525">
              <a:solidFill>
                <a:srgbClr val="E6E6E6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400">
                    <a:solidFill>
                      <a:srgbClr val="262320"/>
                    </a:solidFill>
                    <a:latin typeface="Calibri"/>
                  </a:defRPr>
                </a:pPr>
                <a:r>
                  <a:rPr lang="en-US" sz="1400"/>
                  <a:t>10-year risk of CVD death (%)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libri"/>
              </a:defRPr>
            </a:pPr>
            <a:endParaRPr lang="en-US"/>
          </a:p>
        </c:txPr>
        <c:crossAx val="333333333"/>
        <c:crosses val="autoZero"/>
        <c:crossBetween val="midCat"/>
        <c:majorUnit val="2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400"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1F3864"/>
                </a:solidFill>
                <a:latin typeface="Calibri"/>
              </a:defRPr>
            </a:pPr>
            <a:r>
              <a:rPr lang="en-US" sz="1400"/>
              <a:t>Risk rises smoothly across every category boundary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Men</c:f>
              <c:strCache>
                <c:ptCount val="1"/>
                <c:pt idx="0">
                  <c:v>Men</c:v>
                </c:pt>
              </c:strCache>
            </c:strRef>
          </c:tx>
          <c:spPr>
            <a:ln w="28575" cap="rnd">
              <a:solidFill>
                <a:srgbClr val="15686B"/>
              </a:solidFill>
              <a:round/>
            </a:ln>
          </c:spPr>
          <c:marker>
            <c:symbol val="none"/>
          </c:marker>
          <c:xVal>
            <c:numLit>
              <c:formatCode>General</c:formatCode>
              <c:ptCount val="8"/>
              <c:pt idx="0">
                <c:v>110</c:v>
              </c:pt>
              <c:pt idx="1">
                <c:v>120</c:v>
              </c:pt>
              <c:pt idx="2">
                <c:v>130</c:v>
              </c:pt>
              <c:pt idx="3">
                <c:v>140</c:v>
              </c:pt>
              <c:pt idx="4">
                <c:v>150</c:v>
              </c:pt>
              <c:pt idx="5">
                <c:v>160</c:v>
              </c:pt>
              <c:pt idx="6">
                <c:v>170</c:v>
              </c:pt>
              <c:pt idx="7">
                <c:v>180</c:v>
              </c:pt>
            </c:numLit>
          </c:xVal>
          <c:yVal>
            <c:numLit>
              <c:formatCode>General</c:formatCode>
              <c:ptCount val="8"/>
              <c:pt idx="0">
                <c:v>2.4</c:v>
              </c:pt>
              <c:pt idx="1">
                <c:v>2.9</c:v>
              </c:pt>
              <c:pt idx="2">
                <c:v>3.4</c:v>
              </c:pt>
              <c:pt idx="3">
                <c:v>4</c:v>
              </c:pt>
              <c:pt idx="4">
                <c:v>4.9000000000000004</c:v>
              </c:pt>
              <c:pt idx="5">
                <c:v>6</c:v>
              </c:pt>
              <c:pt idx="6">
                <c:v>7.5</c:v>
              </c:pt>
              <c:pt idx="7">
                <c:v>9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FDC6-204B-A01A-431EA57FD4DC}"/>
            </c:ext>
          </c:extLst>
        </c:ser>
        <c:ser>
          <c:idx val="1"/>
          <c:order val="1"/>
          <c:tx>
            <c:strRef>
              <c:f>Women</c:f>
              <c:strCache>
                <c:ptCount val="1"/>
                <c:pt idx="0">
                  <c:v>Women</c:v>
                </c:pt>
              </c:strCache>
            </c:strRef>
          </c:tx>
          <c:spPr>
            <a:ln w="28575" cap="rnd">
              <a:solidFill>
                <a:srgbClr val="1F3864"/>
              </a:solidFill>
              <a:prstDash val="dash"/>
              <a:round/>
            </a:ln>
          </c:spPr>
          <c:marker>
            <c:symbol val="none"/>
          </c:marker>
          <c:xVal>
            <c:numLit>
              <c:formatCode>General</c:formatCode>
              <c:ptCount val="8"/>
              <c:pt idx="0">
                <c:v>110</c:v>
              </c:pt>
              <c:pt idx="1">
                <c:v>120</c:v>
              </c:pt>
              <c:pt idx="2">
                <c:v>130</c:v>
              </c:pt>
              <c:pt idx="3">
                <c:v>140</c:v>
              </c:pt>
              <c:pt idx="4">
                <c:v>150</c:v>
              </c:pt>
              <c:pt idx="5">
                <c:v>160</c:v>
              </c:pt>
              <c:pt idx="6">
                <c:v>170</c:v>
              </c:pt>
              <c:pt idx="7">
                <c:v>180</c:v>
              </c:pt>
            </c:numLit>
          </c:xVal>
          <c:yVal>
            <c:numLit>
              <c:formatCode>General</c:formatCode>
              <c:ptCount val="8"/>
              <c:pt idx="0">
                <c:v>0.8</c:v>
              </c:pt>
              <c:pt idx="1">
                <c:v>1</c:v>
              </c:pt>
              <c:pt idx="2">
                <c:v>1.35</c:v>
              </c:pt>
              <c:pt idx="3">
                <c:v>1.9</c:v>
              </c:pt>
              <c:pt idx="4">
                <c:v>2.4</c:v>
              </c:pt>
              <c:pt idx="5">
                <c:v>3</c:v>
              </c:pt>
              <c:pt idx="6">
                <c:v>3.9</c:v>
              </c:pt>
              <c:pt idx="7">
                <c:v>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FDC6-204B-A01A-431EA57FD4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5555555"/>
        <c:axId val="666666666"/>
      </c:scatterChart>
      <c:valAx>
        <c:axId val="555555555"/>
        <c:scaling>
          <c:orientation val="minMax"/>
          <c:max val="180"/>
          <c:min val="110"/>
        </c:scaling>
        <c:delete val="0"/>
        <c:axPos val="b"/>
        <c:title>
          <c:tx>
            <c:rich>
              <a:bodyPr/>
              <a:lstStyle/>
              <a:p>
                <a:pPr>
                  <a:defRPr sz="1400">
                    <a:solidFill>
                      <a:srgbClr val="262320"/>
                    </a:solidFill>
                    <a:latin typeface="Calibri"/>
                  </a:defRPr>
                </a:pPr>
                <a:r>
                  <a:rPr lang="en-US" sz="1400"/>
                  <a:t>Usual systolic blood pressure (mmHg)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libri"/>
              </a:defRPr>
            </a:pPr>
            <a:endParaRPr lang="en-US"/>
          </a:p>
        </c:txPr>
        <c:crossAx val="666666666"/>
        <c:crosses val="autoZero"/>
        <c:crossBetween val="midCat"/>
        <c:majorUnit val="10"/>
      </c:valAx>
      <c:valAx>
        <c:axId val="666666666"/>
        <c:scaling>
          <c:orientation val="minMax"/>
          <c:max val="12"/>
          <c:min val="0"/>
        </c:scaling>
        <c:delete val="0"/>
        <c:axPos val="l"/>
        <c:majorGridlines>
          <c:spPr>
            <a:ln w="9525">
              <a:solidFill>
                <a:srgbClr val="E6E6E6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400">
                    <a:solidFill>
                      <a:srgbClr val="262320"/>
                    </a:solidFill>
                    <a:latin typeface="Calibri"/>
                  </a:defRPr>
                </a:pPr>
                <a:r>
                  <a:rPr lang="en-US" sz="1400"/>
                  <a:t>10-year risk of CVD death (%)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libri"/>
              </a:defRPr>
            </a:pPr>
            <a:endParaRPr lang="en-US"/>
          </a:p>
        </c:txPr>
        <c:crossAx val="555555555"/>
        <c:crosses val="autoZero"/>
        <c:crossBetween val="midCat"/>
        <c:majorUnit val="2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400"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400" b="0">
                <a:solidFill>
                  <a:srgbClr val="1F3864"/>
                </a:solidFill>
                <a:latin typeface="Calibri"/>
              </a:defRPr>
            </a:pPr>
            <a:r>
              <a:rPr lang="en-US" sz="1400"/>
              <a:t>The risk curve does not know where the categories are</a:t>
            </a:r>
          </a:p>
        </c:rich>
      </c:tx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Men</c:f>
              <c:strCache>
                <c:ptCount val="1"/>
                <c:pt idx="0">
                  <c:v>Men</c:v>
                </c:pt>
              </c:strCache>
            </c:strRef>
          </c:tx>
          <c:spPr>
            <a:ln w="28575" cap="rnd">
              <a:solidFill>
                <a:srgbClr val="15686B"/>
              </a:solidFill>
              <a:round/>
            </a:ln>
          </c:spPr>
          <c:marker>
            <c:symbol val="none"/>
          </c:marker>
          <c:xVal>
            <c:numLit>
              <c:formatCode>General</c:formatCode>
              <c:ptCount val="8"/>
              <c:pt idx="0">
                <c:v>110</c:v>
              </c:pt>
              <c:pt idx="1">
                <c:v>120</c:v>
              </c:pt>
              <c:pt idx="2">
                <c:v>130</c:v>
              </c:pt>
              <c:pt idx="3">
                <c:v>140</c:v>
              </c:pt>
              <c:pt idx="4">
                <c:v>150</c:v>
              </c:pt>
              <c:pt idx="5">
                <c:v>160</c:v>
              </c:pt>
              <c:pt idx="6">
                <c:v>170</c:v>
              </c:pt>
              <c:pt idx="7">
                <c:v>180</c:v>
              </c:pt>
            </c:numLit>
          </c:xVal>
          <c:yVal>
            <c:numLit>
              <c:formatCode>General</c:formatCode>
              <c:ptCount val="8"/>
              <c:pt idx="0">
                <c:v>2.4</c:v>
              </c:pt>
              <c:pt idx="1">
                <c:v>2.9</c:v>
              </c:pt>
              <c:pt idx="2">
                <c:v>3.4</c:v>
              </c:pt>
              <c:pt idx="3">
                <c:v>4</c:v>
              </c:pt>
              <c:pt idx="4">
                <c:v>4.9000000000000004</c:v>
              </c:pt>
              <c:pt idx="5">
                <c:v>6</c:v>
              </c:pt>
              <c:pt idx="6">
                <c:v>7.5</c:v>
              </c:pt>
              <c:pt idx="7">
                <c:v>9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0-2617-F349-B485-2B2553B37E1F}"/>
            </c:ext>
          </c:extLst>
        </c:ser>
        <c:ser>
          <c:idx val="1"/>
          <c:order val="1"/>
          <c:tx>
            <c:strRef>
              <c:f>Women</c:f>
              <c:strCache>
                <c:ptCount val="1"/>
                <c:pt idx="0">
                  <c:v>Women</c:v>
                </c:pt>
              </c:strCache>
            </c:strRef>
          </c:tx>
          <c:spPr>
            <a:ln w="28575" cap="rnd">
              <a:solidFill>
                <a:srgbClr val="1F3864"/>
              </a:solidFill>
              <a:prstDash val="dash"/>
              <a:round/>
            </a:ln>
          </c:spPr>
          <c:marker>
            <c:symbol val="none"/>
          </c:marker>
          <c:xVal>
            <c:numLit>
              <c:formatCode>General</c:formatCode>
              <c:ptCount val="8"/>
              <c:pt idx="0">
                <c:v>110</c:v>
              </c:pt>
              <c:pt idx="1">
                <c:v>120</c:v>
              </c:pt>
              <c:pt idx="2">
                <c:v>130</c:v>
              </c:pt>
              <c:pt idx="3">
                <c:v>140</c:v>
              </c:pt>
              <c:pt idx="4">
                <c:v>150</c:v>
              </c:pt>
              <c:pt idx="5">
                <c:v>160</c:v>
              </c:pt>
              <c:pt idx="6">
                <c:v>170</c:v>
              </c:pt>
              <c:pt idx="7">
                <c:v>180</c:v>
              </c:pt>
            </c:numLit>
          </c:xVal>
          <c:yVal>
            <c:numLit>
              <c:formatCode>General</c:formatCode>
              <c:ptCount val="8"/>
              <c:pt idx="0">
                <c:v>0.8</c:v>
              </c:pt>
              <c:pt idx="1">
                <c:v>1</c:v>
              </c:pt>
              <c:pt idx="2">
                <c:v>1.35</c:v>
              </c:pt>
              <c:pt idx="3">
                <c:v>1.9</c:v>
              </c:pt>
              <c:pt idx="4">
                <c:v>2.4</c:v>
              </c:pt>
              <c:pt idx="5">
                <c:v>3</c:v>
              </c:pt>
              <c:pt idx="6">
                <c:v>3.9</c:v>
              </c:pt>
              <c:pt idx="7">
                <c:v>5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1-2617-F349-B485-2B2553B37E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111111"/>
        <c:axId val="222222222"/>
      </c:scatterChart>
      <c:valAx>
        <c:axId val="111111111"/>
        <c:scaling>
          <c:orientation val="minMax"/>
          <c:max val="180"/>
          <c:min val="110"/>
        </c:scaling>
        <c:delete val="0"/>
        <c:axPos val="b"/>
        <c:title>
          <c:tx>
            <c:rich>
              <a:bodyPr/>
              <a:lstStyle/>
              <a:p>
                <a:pPr>
                  <a:defRPr sz="1400">
                    <a:solidFill>
                      <a:srgbClr val="262320"/>
                    </a:solidFill>
                    <a:latin typeface="Calibri"/>
                  </a:defRPr>
                </a:pPr>
                <a:r>
                  <a:rPr lang="en-US" sz="1400"/>
                  <a:t>Usual systolic blood pressure (mmHg)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libri"/>
              </a:defRPr>
            </a:pPr>
            <a:endParaRPr lang="en-US"/>
          </a:p>
        </c:txPr>
        <c:crossAx val="222222222"/>
        <c:crosses val="autoZero"/>
        <c:crossBetween val="midCat"/>
        <c:majorUnit val="10"/>
      </c:valAx>
      <c:valAx>
        <c:axId val="222222222"/>
        <c:scaling>
          <c:orientation val="minMax"/>
          <c:max val="12"/>
          <c:min val="0"/>
        </c:scaling>
        <c:delete val="0"/>
        <c:axPos val="l"/>
        <c:majorGridlines>
          <c:spPr>
            <a:ln w="9525">
              <a:solidFill>
                <a:srgbClr val="E6E6E6"/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400">
                    <a:solidFill>
                      <a:srgbClr val="262320"/>
                    </a:solidFill>
                    <a:latin typeface="Calibri"/>
                  </a:defRPr>
                </a:pPr>
                <a:r>
                  <a:rPr lang="en-US" sz="1400"/>
                  <a:t>10-year risk of CVD death (%)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Calibri"/>
              </a:defRPr>
            </a:pPr>
            <a:endParaRPr lang="en-US"/>
          </a:p>
        </c:txPr>
        <c:crossAx val="111111111"/>
        <c:crosses val="autoZero"/>
        <c:crossBetween val="midCat"/>
        <c:majorUnit val="2"/>
      </c:valAx>
      <c:spPr>
        <a:noFill/>
        <a:ln>
          <a:noFill/>
        </a:ln>
      </c:spPr>
    </c:plotArea>
    <c:legend>
      <c:legendPos val="t"/>
      <c:overlay val="0"/>
      <c:txPr>
        <a:bodyPr/>
        <a:lstStyle/>
        <a:p>
          <a:pPr>
            <a:defRPr sz="1400">
              <a:latin typeface="Calibri"/>
            </a:defRPr>
          </a:pPr>
          <a:endParaRPr lang="en-US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93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EDITING: The course mark (top-right) and white background live in the slide master — change them once under View &gt; Slide Master. To reuse a layout, right-click a slide and Duplicate. Swap the bell-curve graphic for a topic image on other talks. Palette: teal 15686B, terracotta C2683F, ink 262320. Fonts: Bookman Old Style (headings), Calibri (body).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468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A8B38-75D5-CF83-842C-6F59FEA79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0873C-0B23-508E-2AB8-CEDF19423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A0D07-CA53-E247-C1A2-604EF6ED7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078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I </a:t>
            </a:r>
          </a:p>
        </p:txBody>
      </p:sp>
    </p:spTree>
    <p:extLst>
      <p:ext uri="{BB962C8B-B14F-4D97-AF65-F5344CB8AC3E}">
        <p14:creationId xmlns:p14="http://schemas.microsoft.com/office/powerpoint/2010/main" val="802448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82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29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742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8BFB0-BB14-6244-1F19-CB7C26A71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EE3C14-C7F0-3D48-D6A5-3D46A4BD1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154E8-405A-73E4-ABFD-47DA42B52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418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195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0593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Leave it up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2E226-7E68-9CF6-0474-61FFF4894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631BF1-4012-77F1-CF86-FFE22B699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09DA29-9705-9F6B-3D49-BD41018A3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03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PLAI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emblem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84280" y="292608"/>
            <a:ext cx="53035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52560" y="31089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5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Skepticism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emblem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84280" y="292608"/>
            <a:ext cx="530352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52560" y="31089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5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Skepticism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80467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1444752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26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Healthy Skepticism</a:t>
            </a:r>
          </a:p>
          <a:p>
            <a:pPr marL="0" indent="0" algn="l">
              <a:buNone/>
            </a:pPr>
            <a:r>
              <a:rPr lang="en-US" sz="5600" b="1" dirty="0">
                <a:solidFill>
                  <a:srgbClr val="26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Day 3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685800" y="39319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8580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Murray Cantor, PhD</a:t>
            </a:r>
            <a:r>
              <a:rPr lang="en-US" sz="200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20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Keenan, MD</a:t>
            </a:r>
            <a:r>
              <a:rPr lang="en-US" sz="200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[venue and date]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FCB6C9-B600-3075-6ECF-8170100C8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560" y="883920"/>
            <a:ext cx="4053840" cy="405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507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6434-DFB8-E1FE-E272-5F4490BA0C23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 dirty="0"/>
              <a:t>Disclaimer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612B187-63AC-484D-96FF-F51A43C7A849}"/>
              </a:ext>
            </a:extLst>
          </p:cNvPr>
          <p:cNvSpPr/>
          <p:nvPr/>
        </p:nvSpPr>
        <p:spPr>
          <a:xfrm>
            <a:off x="685800" y="2095500"/>
            <a:ext cx="10820400" cy="3810000"/>
          </a:xfrm>
          <a:prstGeom prst="roundRect">
            <a:avLst/>
          </a:prstGeom>
          <a:solidFill>
            <a:srgbClr val="F7F4EF"/>
          </a:solidFill>
          <a:ln w="15875" cap="flat" cmpd="sng" algn="ctr">
            <a:solidFill>
              <a:srgbClr val="156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7521CD-DA07-AC4E-A7A3-3D3A710E92CB}"/>
              </a:ext>
            </a:extLst>
          </p:cNvPr>
          <p:cNvSpPr/>
          <p:nvPr/>
        </p:nvSpPr>
        <p:spPr>
          <a:xfrm>
            <a:off x="685800" y="2095500"/>
            <a:ext cx="127000" cy="3810000"/>
          </a:xfrm>
          <a:prstGeom prst="rect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C05EF-D295-C643-A361-AF4175794819}"/>
              </a:ext>
            </a:extLst>
          </p:cNvPr>
          <p:cNvSpPr txBox="1"/>
          <p:nvPr/>
        </p:nvSpPr>
        <p:spPr>
          <a:xfrm>
            <a:off x="1168400" y="2438400"/>
            <a:ext cx="9906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200" b="1">
                <a:solidFill>
                  <a:srgbClr val="15686B"/>
                </a:solidFill>
                <a:latin typeface="Bookman Old Style"/>
              </a:rPr>
              <a:t>This presentation is for educational purposes only.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985791-1FC6-B047-8506-DF1BFD2D57D3}"/>
              </a:ext>
            </a:extLst>
          </p:cNvPr>
          <p:cNvSpPr txBox="1"/>
          <p:nvPr/>
        </p:nvSpPr>
        <p:spPr>
          <a:xfrm>
            <a:off x="1168400" y="3048000"/>
            <a:ext cx="10033000" cy="2603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262320"/>
                </a:solidFill>
                <a:latin typeface="Calibri"/>
                <a:cs typeface="Calibri"/>
              </a:rPr>
              <a:t>The content does not constitute medical advice and is not a substitute for professional diagnosis, treatment, or care. Nothing presented here should be used to make decisions about your health or the health of others.
Always seek the advice of a qualified physician or other licensed healthcare provider with any questions you may have regarding a medical condition, test result, or treatment. Never disregard professional medical advice or delay seeking it because of something discussed in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2582526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50126-7440-1590-4C70-F58F33D427B8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pPr algn="l">
              <a:buNone/>
            </a:pPr>
            <a:r>
              <a:rPr lang="en-US" b="1" dirty="0"/>
              <a:t>The Five Faults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CB8C89-50DD-22CD-174B-BC09CF7AACEB}"/>
              </a:ext>
            </a:extLst>
          </p:cNvPr>
          <p:cNvGrpSpPr/>
          <p:nvPr/>
        </p:nvGrpSpPr>
        <p:grpSpPr>
          <a:xfrm>
            <a:off x="951186" y="3385933"/>
            <a:ext cx="10541000" cy="688348"/>
            <a:chOff x="762000" y="1874336"/>
            <a:chExt cx="10541000" cy="688348"/>
          </a:xfrm>
        </p:grpSpPr>
        <p:sp>
          <p:nvSpPr>
            <p:cNvPr id="80" name="ErrBadge1">
              <a:extLst>
                <a:ext uri="{FF2B5EF4-FFF2-40B4-BE49-F238E27FC236}">
                  <a16:creationId xmlns:a16="http://schemas.microsoft.com/office/drawing/2014/main" id="{F0998706-CCA9-D843-9E12-327649D378EE}"/>
                </a:ext>
              </a:extLst>
            </p:cNvPr>
            <p:cNvSpPr/>
            <p:nvPr/>
          </p:nvSpPr>
          <p:spPr>
            <a:xfrm>
              <a:off x="762000" y="705400"/>
              <a:ext cx="609600" cy="609600"/>
            </a:xfrm>
            <a:prstGeom prst="ellipse">
              <a:avLst/>
            </a:prstGeom>
            <a:solidFill>
              <a:srgbClr val="15686B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2200" b="1" dirty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1" name="ErrTitle1">
              <a:extLst>
                <a:ext uri="{FF2B5EF4-FFF2-40B4-BE49-F238E27FC236}">
                  <a16:creationId xmlns:a16="http://schemas.microsoft.com/office/drawing/2014/main" id="{FCC03E0A-53C5-6045-B806-A3AF5C0A7D8F}"/>
                </a:ext>
              </a:extLst>
            </p:cNvPr>
            <p:cNvSpPr txBox="1"/>
            <p:nvPr/>
          </p:nvSpPr>
          <p:spPr>
            <a:xfrm>
              <a:off x="1651000" y="680000"/>
              <a:ext cx="9652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2000" b="1" dirty="0"/>
                <a:t>Relative reporting</a:t>
              </a:r>
            </a:p>
          </p:txBody>
        </p:sp>
        <p:sp>
          <p:nvSpPr>
            <p:cNvPr id="82" name="ErrBadge2">
              <a:extLst>
                <a:ext uri="{FF2B5EF4-FFF2-40B4-BE49-F238E27FC236}">
                  <a16:creationId xmlns:a16="http://schemas.microsoft.com/office/drawing/2014/main" id="{F0998706-CCA9-D843-9E12-327649D378EE}"/>
                </a:ext>
              </a:extLst>
            </p:cNvPr>
            <p:cNvSpPr/>
            <p:nvPr/>
          </p:nvSpPr>
          <p:spPr>
            <a:xfrm>
              <a:off x="762000" y="1455400"/>
              <a:ext cx="609600" cy="609600"/>
            </a:xfrm>
            <a:prstGeom prst="ellipse">
              <a:avLst/>
            </a:prstGeom>
            <a:solidFill>
              <a:srgbClr val="15686B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2200" b="1" dirty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83" name="ErrTitle2">
              <a:extLst>
                <a:ext uri="{FF2B5EF4-FFF2-40B4-BE49-F238E27FC236}">
                  <a16:creationId xmlns:a16="http://schemas.microsoft.com/office/drawing/2014/main" id="{FCC03E0A-53C5-6045-B806-A3AF5C0A7D8F}"/>
                </a:ext>
              </a:extLst>
            </p:cNvPr>
            <p:cNvSpPr txBox="1"/>
            <p:nvPr/>
          </p:nvSpPr>
          <p:spPr>
            <a:xfrm>
              <a:off x="1651000" y="1430000"/>
              <a:ext cx="9652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2000" b="1" dirty="0"/>
                <a:t>Probability reversal</a:t>
              </a:r>
            </a:p>
          </p:txBody>
        </p:sp>
        <p:sp>
          <p:nvSpPr>
            <p:cNvPr id="84" name="ErrBadge3">
              <a:extLst>
                <a:ext uri="{FF2B5EF4-FFF2-40B4-BE49-F238E27FC236}">
                  <a16:creationId xmlns:a16="http://schemas.microsoft.com/office/drawing/2014/main" id="{F0998706-CCA9-D843-9E12-327649D378EE}"/>
                </a:ext>
              </a:extLst>
            </p:cNvPr>
            <p:cNvSpPr/>
            <p:nvPr/>
          </p:nvSpPr>
          <p:spPr>
            <a:xfrm>
              <a:off x="762000" y="2205400"/>
              <a:ext cx="609600" cy="609600"/>
            </a:xfrm>
            <a:prstGeom prst="ellipse">
              <a:avLst/>
            </a:prstGeom>
            <a:solidFill>
              <a:srgbClr val="15686B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2200" b="1" dirty="0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85" name="ErrTitle3">
              <a:extLst>
                <a:ext uri="{FF2B5EF4-FFF2-40B4-BE49-F238E27FC236}">
                  <a16:creationId xmlns:a16="http://schemas.microsoft.com/office/drawing/2014/main" id="{FCC03E0A-53C5-6045-B806-A3AF5C0A7D8F}"/>
                </a:ext>
              </a:extLst>
            </p:cNvPr>
            <p:cNvSpPr txBox="1"/>
            <p:nvPr/>
          </p:nvSpPr>
          <p:spPr>
            <a:xfrm>
              <a:off x="1651000" y="2180000"/>
              <a:ext cx="9652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2000" b="1" dirty="0"/>
                <a:t>Arbitrary categories</a:t>
              </a:r>
            </a:p>
          </p:txBody>
        </p:sp>
        <p:sp>
          <p:nvSpPr>
            <p:cNvPr id="86" name="ErrBadge4">
              <a:extLst>
                <a:ext uri="{FF2B5EF4-FFF2-40B4-BE49-F238E27FC236}">
                  <a16:creationId xmlns:a16="http://schemas.microsoft.com/office/drawing/2014/main" id="{F0998706-CCA9-D843-9E12-327649D378EE}"/>
                </a:ext>
              </a:extLst>
            </p:cNvPr>
            <p:cNvSpPr/>
            <p:nvPr/>
          </p:nvSpPr>
          <p:spPr>
            <a:xfrm>
              <a:off x="762000" y="2955400"/>
              <a:ext cx="609600" cy="609600"/>
            </a:xfrm>
            <a:prstGeom prst="ellipse">
              <a:avLst/>
            </a:prstGeom>
            <a:solidFill>
              <a:srgbClr val="15686B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2200" b="1" dirty="0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87" name="ErrTitle4">
              <a:extLst>
                <a:ext uri="{FF2B5EF4-FFF2-40B4-BE49-F238E27FC236}">
                  <a16:creationId xmlns:a16="http://schemas.microsoft.com/office/drawing/2014/main" id="{FCC03E0A-53C5-6045-B806-A3AF5C0A7D8F}"/>
                </a:ext>
              </a:extLst>
            </p:cNvPr>
            <p:cNvSpPr txBox="1"/>
            <p:nvPr/>
          </p:nvSpPr>
          <p:spPr>
            <a:xfrm>
              <a:off x="1651000" y="2930000"/>
              <a:ext cx="9652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2000" b="1" dirty="0"/>
                <a:t>The Bernoulli fallacy</a:t>
              </a:r>
            </a:p>
          </p:txBody>
        </p:sp>
        <p:sp>
          <p:nvSpPr>
            <p:cNvPr id="88" name="ErrBadge5">
              <a:extLst>
                <a:ext uri="{FF2B5EF4-FFF2-40B4-BE49-F238E27FC236}">
                  <a16:creationId xmlns:a16="http://schemas.microsoft.com/office/drawing/2014/main" id="{F0998706-CCA9-D843-9E12-327649D378EE}"/>
                </a:ext>
              </a:extLst>
            </p:cNvPr>
            <p:cNvSpPr/>
            <p:nvPr/>
          </p:nvSpPr>
          <p:spPr>
            <a:xfrm>
              <a:off x="762000" y="3705400"/>
              <a:ext cx="609600" cy="609600"/>
            </a:xfrm>
            <a:prstGeom prst="ellipse">
              <a:avLst/>
            </a:prstGeom>
            <a:solidFill>
              <a:srgbClr val="15686B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2200" b="1" dirty="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89" name="ErrTitle5">
              <a:extLst>
                <a:ext uri="{FF2B5EF4-FFF2-40B4-BE49-F238E27FC236}">
                  <a16:creationId xmlns:a16="http://schemas.microsoft.com/office/drawing/2014/main" id="{FCC03E0A-53C5-6045-B806-A3AF5C0A7D8F}"/>
                </a:ext>
              </a:extLst>
            </p:cNvPr>
            <p:cNvSpPr txBox="1"/>
            <p:nvPr/>
          </p:nvSpPr>
          <p:spPr>
            <a:xfrm>
              <a:off x="1651000" y="3680000"/>
              <a:ext cx="9652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2000" b="1" dirty="0"/>
                <a:t>The causal leap</a:t>
              </a:r>
            </a:p>
          </p:txBody>
        </p:sp>
        <p:sp>
          <p:nvSpPr>
            <p:cNvPr id="300" name="FaultTag300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1651000" y="1063548"/>
              <a:ext cx="80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300" i="1" dirty="0">
                  <a:solidFill>
                    <a:srgbClr val="5A5A5A"/>
                  </a:solidFill>
                </a:rPr>
                <a:t>What does a 36% improvement from taking a drug really mean?</a:t>
              </a:r>
            </a:p>
          </p:txBody>
        </p:sp>
        <p:sp>
          <p:nvSpPr>
            <p:cNvPr id="301" name="FaultTag301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1651000" y="1813548"/>
              <a:ext cx="80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300" i="1" dirty="0">
                  <a:solidFill>
                    <a:srgbClr val="5A5A5A"/>
                  </a:solidFill>
                </a:rPr>
                <a:t>What does a positive COVID test really mean?</a:t>
              </a:r>
            </a:p>
          </p:txBody>
        </p:sp>
        <p:sp>
          <p:nvSpPr>
            <p:cNvPr id="302" name="FaultTag302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1651000" y="2563548"/>
              <a:ext cx="80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300" i="1" dirty="0">
                  <a:solidFill>
                    <a:srgbClr val="5A5A5A"/>
                  </a:solidFill>
                </a:rPr>
                <a:t>How concerned should you be if your systolic BP goes from 119 to 120?</a:t>
              </a:r>
            </a:p>
          </p:txBody>
        </p:sp>
        <p:sp>
          <p:nvSpPr>
            <p:cNvPr id="303" name="FaultTag303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1651000" y="3313548"/>
              <a:ext cx="80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300" i="1" dirty="0">
                  <a:solidFill>
                    <a:srgbClr val="5A5A5A"/>
                  </a:solidFill>
                </a:rPr>
                <a:t>Why does the published medical advice keep changing?</a:t>
              </a:r>
            </a:p>
          </p:txBody>
        </p:sp>
        <p:sp>
          <p:nvSpPr>
            <p:cNvPr id="304" name="FaultTag304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1651000" y="4063548"/>
              <a:ext cx="80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300" i="1" dirty="0">
                  <a:solidFill>
                    <a:srgbClr val="5A5A5A"/>
                  </a:solidFill>
                </a:rPr>
                <a:t>Does bird watching prevent dementia?</a:t>
              </a:r>
            </a:p>
          </p:txBody>
        </p:sp>
        <p:sp>
          <p:nvSpPr>
            <p:cNvPr id="210" name="DayTag210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6200000" y="752000"/>
              <a:ext cx="16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15686B"/>
                  </a:solidFill>
                </a:rPr>
                <a:t>Day 1</a:t>
              </a:r>
            </a:p>
          </p:txBody>
        </p:sp>
        <p:sp>
          <p:nvSpPr>
            <p:cNvPr id="211" name="DayTag211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6200000" y="1502000"/>
              <a:ext cx="16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15686B"/>
                  </a:solidFill>
                </a:rPr>
                <a:t>Day 2</a:t>
              </a:r>
            </a:p>
          </p:txBody>
        </p:sp>
        <p:sp>
          <p:nvSpPr>
            <p:cNvPr id="212" name="DayTag212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6200000" y="2252000"/>
              <a:ext cx="16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15686B"/>
                  </a:solidFill>
                </a:rPr>
                <a:t>Day 3</a:t>
              </a:r>
            </a:p>
          </p:txBody>
        </p:sp>
        <p:sp>
          <p:nvSpPr>
            <p:cNvPr id="213" name="DayTag213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6200000" y="3002000"/>
              <a:ext cx="16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15686B"/>
                  </a:solidFill>
                </a:rPr>
                <a:t>Day 3</a:t>
              </a:r>
            </a:p>
          </p:txBody>
        </p:sp>
        <p:sp>
          <p:nvSpPr>
            <p:cNvPr id="214" name="DayTag214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6200000" y="3752000"/>
              <a:ext cx="1600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400" dirty="0">
                  <a:solidFill>
                    <a:srgbClr val="15686B"/>
                  </a:solidFill>
                </a:rPr>
                <a:t>Day 4</a:t>
              </a:r>
            </a:p>
          </p:txBody>
        </p:sp>
        <p:sp>
          <p:nvSpPr>
            <p:cNvPr id="95" name="Tagline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1651000" y="4500000"/>
              <a:ext cx="9652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2000" i="1" dirty="0">
                  <a:solidFill>
                    <a:srgbClr val="15686B"/>
                  </a:solidFill>
                </a:rPr>
                <a:t>Once you see them, you can’t unsee them.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1274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50126-7440-1590-4C70-F58F33D427B8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pPr algn="l">
              <a:buNone/>
            </a:pPr>
            <a:r>
              <a:rPr lang="en-US" b="1" dirty="0"/>
              <a:t>Today’s Two Faults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CB8C89-50DD-22CD-174B-BC09CF7AACEB}"/>
              </a:ext>
            </a:extLst>
          </p:cNvPr>
          <p:cNvGrpSpPr/>
          <p:nvPr/>
        </p:nvGrpSpPr>
        <p:grpSpPr>
          <a:xfrm>
            <a:off x="951186" y="3385933"/>
            <a:ext cx="10541000" cy="688348"/>
            <a:chOff x="762000" y="1874336"/>
            <a:chExt cx="10541000" cy="688348"/>
          </a:xfrm>
        </p:grpSpPr>
        <p:sp>
          <p:nvSpPr>
            <p:cNvPr id="500" name="AgendaBadge1">
              <a:extLst>
                <a:ext uri="{FF2B5EF4-FFF2-40B4-BE49-F238E27FC236}">
                  <a16:creationId xmlns:a16="http://schemas.microsoft.com/office/drawing/2014/main" id="{F0998706-CCA9-D843-9E12-327649D378EE}"/>
                </a:ext>
              </a:extLst>
            </p:cNvPr>
            <p:cNvSpPr/>
            <p:nvPr/>
          </p:nvSpPr>
          <p:spPr>
            <a:xfrm>
              <a:off x="762000" y="1525400"/>
              <a:ext cx="609600" cy="609600"/>
            </a:xfrm>
            <a:prstGeom prst="ellipse">
              <a:avLst/>
            </a:prstGeom>
            <a:solidFill>
              <a:srgbClr val="15686B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2200" b="1" dirty="0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501" name="AgendaTitle1">
              <a:extLst>
                <a:ext uri="{FF2B5EF4-FFF2-40B4-BE49-F238E27FC236}">
                  <a16:creationId xmlns:a16="http://schemas.microsoft.com/office/drawing/2014/main" id="{FCC03E0A-53C5-6045-B806-A3AF5C0A7D8F}"/>
                </a:ext>
              </a:extLst>
            </p:cNvPr>
            <p:cNvSpPr txBox="1"/>
            <p:nvPr/>
          </p:nvSpPr>
          <p:spPr>
            <a:xfrm>
              <a:off x="1651000" y="1500000"/>
              <a:ext cx="9652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2000" b="1" dirty="0"/>
                <a:t>Arbitrary categories</a:t>
              </a:r>
            </a:p>
          </p:txBody>
        </p:sp>
        <p:sp>
          <p:nvSpPr>
            <p:cNvPr id="502" name="AgendaSub1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1651000" y="1883548"/>
              <a:ext cx="9652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400" i="1" dirty="0">
                  <a:solidFill>
                    <a:srgbClr val="5A5A5A"/>
                  </a:solidFill>
                </a:rPr>
                <a:t>Blood pressure, body weight, and where the lines fall</a:t>
              </a:r>
            </a:p>
          </p:txBody>
        </p:sp>
        <p:sp>
          <p:nvSpPr>
            <p:cNvPr id="503" name="AgendaBadge2">
              <a:extLst>
                <a:ext uri="{FF2B5EF4-FFF2-40B4-BE49-F238E27FC236}">
                  <a16:creationId xmlns:a16="http://schemas.microsoft.com/office/drawing/2014/main" id="{F0998706-CCA9-D843-9E12-327649D378EE}"/>
                </a:ext>
              </a:extLst>
            </p:cNvPr>
            <p:cNvSpPr/>
            <p:nvPr/>
          </p:nvSpPr>
          <p:spPr>
            <a:xfrm>
              <a:off x="762000" y="2925400"/>
              <a:ext cx="609600" cy="609600"/>
            </a:xfrm>
            <a:prstGeom prst="ellipse">
              <a:avLst/>
            </a:prstGeom>
            <a:solidFill>
              <a:srgbClr val="15686B"/>
            </a:solidFill>
            <a:ln w="1270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clip" horzOverflow="clip" wrap="none" rtlCol="0" anchor="ctr" anchorCtr="0">
              <a:noAutofit/>
            </a:bodyPr>
            <a:lstStyle/>
            <a:p>
              <a:pPr algn="l"/>
              <a:r>
                <a:rPr lang="en-US" sz="2200" b="1" dirty="0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504" name="AgendaTitle2">
              <a:extLst>
                <a:ext uri="{FF2B5EF4-FFF2-40B4-BE49-F238E27FC236}">
                  <a16:creationId xmlns:a16="http://schemas.microsoft.com/office/drawing/2014/main" id="{FCC03E0A-53C5-6045-B806-A3AF5C0A7D8F}"/>
                </a:ext>
              </a:extLst>
            </p:cNvPr>
            <p:cNvSpPr txBox="1"/>
            <p:nvPr/>
          </p:nvSpPr>
          <p:spPr>
            <a:xfrm>
              <a:off x="1651000" y="2900000"/>
              <a:ext cx="9652000" cy="40011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2000" b="1" dirty="0"/>
                <a:t>The Bernoulli fallacy</a:t>
              </a:r>
            </a:p>
          </p:txBody>
        </p:sp>
        <p:sp>
          <p:nvSpPr>
            <p:cNvPr id="505" name="AgendaSub2">
              <a:extLst>
                <a:ext uri="{FF2B5EF4-FFF2-40B4-BE49-F238E27FC236}">
                  <a16:creationId xmlns:a16="http://schemas.microsoft.com/office/drawing/2014/main" id="{6D74C8DC-CDBB-EE4C-BA2A-F94E81E7ED83}"/>
                </a:ext>
              </a:extLst>
            </p:cNvPr>
            <p:cNvSpPr txBox="1"/>
            <p:nvPr/>
          </p:nvSpPr>
          <p:spPr>
            <a:xfrm>
              <a:off x="1651000" y="3283548"/>
              <a:ext cx="9652000" cy="304800"/>
            </a:xfrm>
            <a:prstGeom prst="rect">
              <a:avLst/>
            </a:prstGeom>
            <a:noFill/>
          </p:spPr>
          <p:txBody>
            <a:bodyPr vertOverflow="overflow" vert="horz" wrap="square" rtlCol="0" anchor="t" anchorCtr="0">
              <a:spAutoFit/>
            </a:bodyPr>
            <a:lstStyle/>
            <a:p>
              <a:pPr algn="l"/>
              <a:r>
                <a:rPr lang="en-US" sz="1400" i="1" dirty="0">
                  <a:solidFill>
                    <a:srgbClr val="5A5A5A"/>
                  </a:solidFill>
                </a:rPr>
                <a:t>The 0.05 line, and what a study can and cannot tell you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1274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5E177-1AF0-D38F-A8A6-DC5F61194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Eyebrow">
            <a:extLst>
              <a:ext uri="{FF2B5EF4-FFF2-40B4-BE49-F238E27FC236}">
                <a16:creationId xmlns:a16="http://schemas.microsoft.com/office/drawing/2014/main" id="{2BF134FA-EBA0-A3AD-3AC8-E3EEAA31E3C9}"/>
              </a:ext>
            </a:extLst>
          </p:cNvPr>
          <p:cNvSpPr txBox="1"/>
          <p:nvPr/>
        </p:nvSpPr>
        <p:spPr>
          <a:xfrm>
            <a:off x="1066800" y="1905000"/>
            <a:ext cx="5080000" cy="430887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2200" b="1" dirty="0">
                <a:solidFill>
                  <a:srgbClr val="15686B"/>
                </a:solidFill>
              </a:rPr>
              <a:t>FAULT 3</a:t>
            </a:r>
          </a:p>
        </p:txBody>
      </p:sp>
      <p:sp>
        <p:nvSpPr>
          <p:cNvPr id="3" name="DividerNum">
            <a:extLst>
              <a:ext uri="{FF2B5EF4-FFF2-40B4-BE49-F238E27FC236}">
                <a16:creationId xmlns:a16="http://schemas.microsoft.com/office/drawing/2014/main" id="{661B0C9E-3646-F27A-56D6-CDD2DDD1998B}"/>
              </a:ext>
            </a:extLst>
          </p:cNvPr>
          <p:cNvSpPr txBox="1"/>
          <p:nvPr/>
        </p:nvSpPr>
        <p:spPr>
          <a:xfrm>
            <a:off x="1041400" y="2840335"/>
            <a:ext cx="9652000" cy="92333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5400" b="1" dirty="0">
                <a:solidFill>
                  <a:srgbClr val="15686B"/>
                </a:solidFill>
              </a:rPr>
              <a:t>Arbitrary Categories</a:t>
            </a:r>
          </a:p>
        </p:txBody>
      </p:sp>
      <p:sp>
        <p:nvSpPr>
          <p:cNvPr id="4" name="DividerRule">
            <a:extLst>
              <a:ext uri="{FF2B5EF4-FFF2-40B4-BE49-F238E27FC236}">
                <a16:creationId xmlns:a16="http://schemas.microsoft.com/office/drawing/2014/main" id="{FE84A27C-9ADB-3B9D-98E7-C3E2AE3D838A}"/>
              </a:ext>
            </a:extLst>
          </p:cNvPr>
          <p:cNvSpPr/>
          <p:nvPr/>
        </p:nvSpPr>
        <p:spPr>
          <a:xfrm>
            <a:off x="1066800" y="4445000"/>
            <a:ext cx="1143000" cy="63500"/>
          </a:xfrm>
          <a:prstGeom prst="rect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DividerTitle">
            <a:extLst>
              <a:ext uri="{FF2B5EF4-FFF2-40B4-BE49-F238E27FC236}">
                <a16:creationId xmlns:a16="http://schemas.microsoft.com/office/drawing/2014/main" id="{7A5C08FE-FEAD-72E4-D547-0920A0AE96F3}"/>
              </a:ext>
            </a:extLst>
          </p:cNvPr>
          <p:cNvSpPr txBox="1"/>
          <p:nvPr/>
        </p:nvSpPr>
        <p:spPr>
          <a:xfrm>
            <a:off x="1016000" y="4762500"/>
            <a:ext cx="10160000" cy="707886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4000" b="1" dirty="0">
                <a:solidFill>
                  <a:srgbClr val="15686B"/>
                </a:solidFill>
              </a:rPr>
              <a:t>Read the curve, not the cutoff</a:t>
            </a:r>
          </a:p>
        </p:txBody>
      </p:sp>
    </p:spTree>
    <p:extLst>
      <p:ext uri="{BB962C8B-B14F-4D97-AF65-F5344CB8AC3E}">
        <p14:creationId xmlns:p14="http://schemas.microsoft.com/office/powerpoint/2010/main" val="719447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C017-64D0-82A9-F277-1B15C137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nd3">
            <a:extLst>
              <a:ext uri="{FF2B5EF4-FFF2-40B4-BE49-F238E27FC236}">
                <a16:creationId xmlns:a16="http://schemas.microsoft.com/office/drawing/2014/main" id="{C5E6FFC1-532D-484D-A67D-E16E147EC193}"/>
              </a:ext>
            </a:extLst>
          </p:cNvPr>
          <p:cNvSpPr/>
          <p:nvPr/>
        </p:nvSpPr>
        <p:spPr>
          <a:xfrm>
            <a:off x="8198757" y="2717800"/>
            <a:ext cx="3142342" cy="1930400"/>
          </a:xfrm>
          <a:prstGeom prst="rect">
            <a:avLst/>
          </a:prstGeom>
          <a:solidFill>
            <a:srgbClr val="E8C3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band2">
            <a:extLst>
              <a:ext uri="{FF2B5EF4-FFF2-40B4-BE49-F238E27FC236}">
                <a16:creationId xmlns:a16="http://schemas.microsoft.com/office/drawing/2014/main" id="{65C7B875-7A73-E745-B504-CB5931D8DCE3}"/>
              </a:ext>
            </a:extLst>
          </p:cNvPr>
          <p:cNvSpPr/>
          <p:nvPr/>
        </p:nvSpPr>
        <p:spPr>
          <a:xfrm>
            <a:off x="7413171" y="2717800"/>
            <a:ext cx="785585" cy="1930400"/>
          </a:xfrm>
          <a:prstGeom prst="rect">
            <a:avLst/>
          </a:prstGeom>
          <a:solidFill>
            <a:srgbClr val="F0D3B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band1">
            <a:extLst>
              <a:ext uri="{FF2B5EF4-FFF2-40B4-BE49-F238E27FC236}">
                <a16:creationId xmlns:a16="http://schemas.microsoft.com/office/drawing/2014/main" id="{07BA3453-31F1-B343-BF89-C95C6C8D502E}"/>
              </a:ext>
            </a:extLst>
          </p:cNvPr>
          <p:cNvSpPr/>
          <p:nvPr/>
        </p:nvSpPr>
        <p:spPr>
          <a:xfrm>
            <a:off x="6627585" y="2717800"/>
            <a:ext cx="785585" cy="1930400"/>
          </a:xfrm>
          <a:prstGeom prst="rect">
            <a:avLst/>
          </a:prstGeom>
          <a:solidFill>
            <a:srgbClr val="F7E4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band0">
            <a:extLst>
              <a:ext uri="{FF2B5EF4-FFF2-40B4-BE49-F238E27FC236}">
                <a16:creationId xmlns:a16="http://schemas.microsoft.com/office/drawing/2014/main" id="{BC585D99-CD74-9244-80E1-5A88A9B81E95}"/>
              </a:ext>
            </a:extLst>
          </p:cNvPr>
          <p:cNvSpPr/>
          <p:nvPr/>
        </p:nvSpPr>
        <p:spPr>
          <a:xfrm>
            <a:off x="5842000" y="2717800"/>
            <a:ext cx="785585" cy="1930400"/>
          </a:xfrm>
          <a:prstGeom prst="rect">
            <a:avLst/>
          </a:prstGeom>
          <a:solidFill>
            <a:srgbClr val="FBF2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7F81AE2-39D1-F6E2-E01E-274585F610B5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685800" y="7620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1F3864"/>
                </a:solidFill>
              </a:rPr>
              <a:t>Where Does “High” Begin?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C866DE-8D41-4444-718A-B004165057F2}"/>
              </a:ext>
            </a:extLst>
          </p:cNvPr>
          <p:cNvSpPr/>
          <p:nvPr/>
        </p:nvSpPr>
        <p:spPr>
          <a:xfrm>
            <a:off x="685800" y="2540000"/>
            <a:ext cx="4191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Systolic this year: 120. Last year: 119.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Nothing about you changed. The label did.</a:t>
            </a:r>
          </a:p>
        </p:txBody>
      </p:sp>
      <p:graphicFrame>
        <p:nvGraphicFramePr>
          <p:cNvPr id="400" name="RiskChart"/>
          <p:cNvGraphicFramePr/>
          <p:nvPr/>
        </p:nvGraphicFramePr>
        <p:xfrm>
          <a:off x="5080000" y="1905000"/>
          <a:ext cx="647700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bandLbl0">
            <a:extLst>
              <a:ext uri="{FF2B5EF4-FFF2-40B4-BE49-F238E27FC236}">
                <a16:creationId xmlns:a16="http://schemas.microsoft.com/office/drawing/2014/main" id="{CF8FDB2E-63F1-154D-83B2-23ACA77017DA}"/>
              </a:ext>
            </a:extLst>
          </p:cNvPr>
          <p:cNvSpPr txBox="1"/>
          <p:nvPr/>
        </p:nvSpPr>
        <p:spPr>
          <a:xfrm>
            <a:off x="5842000" y="2692400"/>
            <a:ext cx="785585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A3428"/>
                </a:solidFill>
                <a:latin typeface="Calibri"/>
                <a:cs typeface="Calibri"/>
              </a:rPr>
              <a:t>Normal</a:t>
            </a:r>
          </a:p>
        </p:txBody>
      </p:sp>
      <p:sp>
        <p:nvSpPr>
          <p:cNvPr id="9" name="bandLbl1">
            <a:extLst>
              <a:ext uri="{FF2B5EF4-FFF2-40B4-BE49-F238E27FC236}">
                <a16:creationId xmlns:a16="http://schemas.microsoft.com/office/drawing/2014/main" id="{B9B435C3-F581-FD49-A63E-AEA4EA6649E5}"/>
              </a:ext>
            </a:extLst>
          </p:cNvPr>
          <p:cNvSpPr txBox="1"/>
          <p:nvPr/>
        </p:nvSpPr>
        <p:spPr>
          <a:xfrm>
            <a:off x="6627585" y="2692400"/>
            <a:ext cx="785585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A3428"/>
                </a:solidFill>
                <a:latin typeface="Calibri"/>
                <a:cs typeface="Calibri"/>
              </a:rPr>
              <a:t>Elevated</a:t>
            </a:r>
          </a:p>
        </p:txBody>
      </p:sp>
      <p:sp>
        <p:nvSpPr>
          <p:cNvPr id="10" name="bandLbl2">
            <a:extLst>
              <a:ext uri="{FF2B5EF4-FFF2-40B4-BE49-F238E27FC236}">
                <a16:creationId xmlns:a16="http://schemas.microsoft.com/office/drawing/2014/main" id="{91A49004-3235-A742-AD68-C5FF6ABA13D0}"/>
              </a:ext>
            </a:extLst>
          </p:cNvPr>
          <p:cNvSpPr txBox="1"/>
          <p:nvPr/>
        </p:nvSpPr>
        <p:spPr>
          <a:xfrm>
            <a:off x="7413171" y="2692400"/>
            <a:ext cx="785585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A3428"/>
                </a:solidFill>
                <a:latin typeface="Calibri"/>
                <a:cs typeface="Calibri"/>
              </a:rPr>
              <a:t>Stage 1</a:t>
            </a:r>
          </a:p>
        </p:txBody>
      </p:sp>
      <p:sp>
        <p:nvSpPr>
          <p:cNvPr id="11" name="bandLbl3">
            <a:extLst>
              <a:ext uri="{FF2B5EF4-FFF2-40B4-BE49-F238E27FC236}">
                <a16:creationId xmlns:a16="http://schemas.microsoft.com/office/drawing/2014/main" id="{E5822484-197C-A24B-9CF0-5B51298E7D68}"/>
              </a:ext>
            </a:extLst>
          </p:cNvPr>
          <p:cNvSpPr txBox="1"/>
          <p:nvPr/>
        </p:nvSpPr>
        <p:spPr>
          <a:xfrm>
            <a:off x="8198757" y="2692400"/>
            <a:ext cx="3142342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A3428"/>
                </a:solidFill>
                <a:latin typeface="Calibri"/>
                <a:cs typeface="Calibri"/>
              </a:rPr>
              <a:t>Stage 2</a:t>
            </a:r>
          </a:p>
        </p:txBody>
      </p:sp>
      <p:sp>
        <p:nvSpPr>
          <p:cNvPr id="12" name="line120">
            <a:extLst>
              <a:ext uri="{FF2B5EF4-FFF2-40B4-BE49-F238E27FC236}">
                <a16:creationId xmlns:a16="http://schemas.microsoft.com/office/drawing/2014/main" id="{8909E981-CA83-F743-93F2-B0E59A284BC5}"/>
              </a:ext>
            </a:extLst>
          </p:cNvPr>
          <p:cNvSpPr/>
          <p:nvPr/>
        </p:nvSpPr>
        <p:spPr>
          <a:xfrm>
            <a:off x="6614885" y="2717800"/>
            <a:ext cx="25400" cy="1930400"/>
          </a:xfrm>
          <a:prstGeom prst="rect">
            <a:avLst/>
          </a:prstGeom>
          <a:solidFill>
            <a:srgbClr val="A33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dot119">
            <a:extLst>
              <a:ext uri="{FF2B5EF4-FFF2-40B4-BE49-F238E27FC236}">
                <a16:creationId xmlns:a16="http://schemas.microsoft.com/office/drawing/2014/main" id="{E46CF819-6B12-5140-9F35-5BD41D6048A1}"/>
              </a:ext>
            </a:extLst>
          </p:cNvPr>
          <p:cNvSpPr/>
          <p:nvPr/>
        </p:nvSpPr>
        <p:spPr>
          <a:xfrm>
            <a:off x="6485527" y="4126229"/>
            <a:ext cx="127000" cy="127000"/>
          </a:xfrm>
          <a:prstGeom prst="ellipse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dot120">
            <a:extLst>
              <a:ext uri="{FF2B5EF4-FFF2-40B4-BE49-F238E27FC236}">
                <a16:creationId xmlns:a16="http://schemas.microsoft.com/office/drawing/2014/main" id="{440B5719-8643-6D4B-A01B-2F01BF4C1CCF}"/>
              </a:ext>
            </a:extLst>
          </p:cNvPr>
          <p:cNvSpPr/>
          <p:nvPr/>
        </p:nvSpPr>
        <p:spPr>
          <a:xfrm>
            <a:off x="6564085" y="4118186"/>
            <a:ext cx="127000" cy="127000"/>
          </a:xfrm>
          <a:prstGeom prst="ellipse">
            <a:avLst/>
          </a:prstGeom>
          <a:solidFill>
            <a:srgbClr val="A33A3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crossNote">
            <a:extLst>
              <a:ext uri="{FF2B5EF4-FFF2-40B4-BE49-F238E27FC236}">
                <a16:creationId xmlns:a16="http://schemas.microsoft.com/office/drawing/2014/main" id="{25FC4C7A-77D7-624D-A695-EA4AB74FB97E}"/>
              </a:ext>
            </a:extLst>
          </p:cNvPr>
          <p:cNvSpPr txBox="1"/>
          <p:nvPr/>
        </p:nvSpPr>
        <p:spPr>
          <a:xfrm>
            <a:off x="6756400" y="3149600"/>
            <a:ext cx="19050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A33A3A"/>
                </a:solidFill>
                <a:latin typeface="Calibri"/>
                <a:cs typeface="Calibri"/>
              </a:rPr>
              <a:t>119 → 120
same risk, new label</a:t>
            </a:r>
          </a:p>
        </p:txBody>
      </p:sp>
      <p:sp>
        <p:nvSpPr>
          <p:cNvPr id="70" name="card70"/>
          <p:cNvSpPr/>
          <p:nvPr/>
        </p:nvSpPr>
        <p:spPr>
          <a:xfrm>
            <a:off x="685800" y="5486400"/>
            <a:ext cx="10820400" cy="914400"/>
          </a:xfrm>
          <a:prstGeom prst="roundRect">
            <a:avLst>
              <a:gd name="adj" fmla="val 8000"/>
            </a:avLst>
          </a:prstGeom>
          <a:solidFill>
            <a:srgbClr val="EAF2F2"/>
          </a:solidFill>
          <a:ln w="12700">
            <a:solidFill>
              <a:srgbClr val="15686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cardtx70"/>
          <p:cNvSpPr txBox="1"/>
          <p:nvPr/>
        </p:nvSpPr>
        <p:spPr>
          <a:xfrm>
            <a:off x="939800" y="5664200"/>
            <a:ext cx="10312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mmHg moved you across a line. It did not move your risk.</a:t>
            </a:r>
          </a:p>
        </p:txBody>
      </p:sp>
      <p:sp>
        <p:nvSpPr>
          <p:cNvPr id="90" name="Source"/>
          <p:cNvSpPr txBox="1"/>
          <p:nvPr/>
        </p:nvSpPr>
        <p:spPr>
          <a:xfrm>
            <a:off x="685800" y="6502400"/>
            <a:ext cx="1082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risk charts, low-risk regions: Conroy RM et al., Eur Heart J 2003;24:987-1003. Category boundaries: ACC/AHA 2017.</a:t>
            </a: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1528E2A3-BA09-AA4D-94C6-7483BA840C52}"/>
              </a:ext>
            </a:extLst>
          </p:cNvPr>
          <p:cNvSpPr txBox="1"/>
          <p:nvPr/>
        </p:nvSpPr>
        <p:spPr>
          <a:xfrm>
            <a:off x="685800" y="4064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15686B"/>
                </a:solidFill>
                <a:latin typeface="Calibri"/>
                <a:cs typeface="Calibri"/>
              </a:rPr>
              <a:t>FAULT 3 · ARBITRARY CATEGORIES</a:t>
            </a:r>
          </a:p>
        </p:txBody>
      </p:sp>
    </p:spTree>
    <p:extLst>
      <p:ext uri="{BB962C8B-B14F-4D97-AF65-F5344CB8AC3E}">
        <p14:creationId xmlns:p14="http://schemas.microsoft.com/office/powerpoint/2010/main" val="135886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and3">
            <a:extLst>
              <a:ext uri="{FF2B5EF4-FFF2-40B4-BE49-F238E27FC236}">
                <a16:creationId xmlns:a16="http://schemas.microsoft.com/office/drawing/2014/main" id="{9F6A83A0-F8B6-FB4D-9F01-C48470BB4D57}"/>
              </a:ext>
            </a:extLst>
          </p:cNvPr>
          <p:cNvSpPr/>
          <p:nvPr/>
        </p:nvSpPr>
        <p:spPr>
          <a:xfrm>
            <a:off x="5785757" y="2400300"/>
            <a:ext cx="4615542" cy="2806700"/>
          </a:xfrm>
          <a:prstGeom prst="rect">
            <a:avLst/>
          </a:prstGeom>
          <a:solidFill>
            <a:srgbClr val="E8C3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band2">
            <a:extLst>
              <a:ext uri="{FF2B5EF4-FFF2-40B4-BE49-F238E27FC236}">
                <a16:creationId xmlns:a16="http://schemas.microsoft.com/office/drawing/2014/main" id="{6D893E52-FD89-7341-8BD9-6B8F85FA847B}"/>
              </a:ext>
            </a:extLst>
          </p:cNvPr>
          <p:cNvSpPr/>
          <p:nvPr/>
        </p:nvSpPr>
        <p:spPr>
          <a:xfrm>
            <a:off x="4631871" y="2400300"/>
            <a:ext cx="1153885" cy="2806700"/>
          </a:xfrm>
          <a:prstGeom prst="rect">
            <a:avLst/>
          </a:prstGeom>
          <a:solidFill>
            <a:srgbClr val="F0D3B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band1">
            <a:extLst>
              <a:ext uri="{FF2B5EF4-FFF2-40B4-BE49-F238E27FC236}">
                <a16:creationId xmlns:a16="http://schemas.microsoft.com/office/drawing/2014/main" id="{C4FC8F9C-0A9E-A140-B9FA-83292CA62FEF}"/>
              </a:ext>
            </a:extLst>
          </p:cNvPr>
          <p:cNvSpPr/>
          <p:nvPr/>
        </p:nvSpPr>
        <p:spPr>
          <a:xfrm>
            <a:off x="3477985" y="2400300"/>
            <a:ext cx="1153885" cy="2806700"/>
          </a:xfrm>
          <a:prstGeom prst="rect">
            <a:avLst/>
          </a:prstGeom>
          <a:solidFill>
            <a:srgbClr val="F7E4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band0">
            <a:extLst>
              <a:ext uri="{FF2B5EF4-FFF2-40B4-BE49-F238E27FC236}">
                <a16:creationId xmlns:a16="http://schemas.microsoft.com/office/drawing/2014/main" id="{1F708E98-0578-004F-9BD4-7FA0C9542780}"/>
              </a:ext>
            </a:extLst>
          </p:cNvPr>
          <p:cNvSpPr/>
          <p:nvPr/>
        </p:nvSpPr>
        <p:spPr>
          <a:xfrm>
            <a:off x="2324100" y="2400300"/>
            <a:ext cx="1153885" cy="2806700"/>
          </a:xfrm>
          <a:prstGeom prst="rect">
            <a:avLst/>
          </a:prstGeom>
          <a:solidFill>
            <a:srgbClr val="FBF2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3DE2E-2F00-BD95-3B30-AD408B0F7813}"/>
              </a:ext>
            </a:extLst>
          </p:cNvPr>
          <p:cNvSpPr>
            <a:spLocks noGrp="1"/>
          </p:cNvSpPr>
          <p:nvPr>
            <p:ph type="title" idx="102"/>
          </p:nvPr>
        </p:nvSpPr>
        <p:spPr>
          <a:xfrm>
            <a:off x="685800" y="736600"/>
            <a:ext cx="9235440" cy="584200"/>
          </a:xfrm>
        </p:spPr>
        <p:txBody>
          <a:bodyPr/>
          <a:lstStyle/>
          <a:p>
            <a:r>
              <a:rPr lang="en-US" sz="3000" b="1">
                <a:solidFill>
                  <a:srgbClr val="1F386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Systolic Categories Don’t Mean Much</a:t>
            </a:r>
            <a:endParaRPr lang="en-US" sz="3000" b="1" dirty="0">
              <a:solidFill>
                <a:srgbClr val="1F3864"/>
              </a:solidFill>
              <a:latin typeface="Bookman Old Style" pitchFamily="34" charset="0"/>
              <a:ea typeface="Bookman Old Style" pitchFamily="34" charset="-122"/>
              <a:cs typeface="Bookman Old Style" pitchFamily="34" charset="-120"/>
            </a:endParaRPr>
          </a:p>
        </p:txBody>
      </p:sp>
      <p:graphicFrame>
        <p:nvGraphicFramePr>
          <p:cNvPr id="400" name="RiskChart"/>
          <p:cNvGraphicFramePr/>
          <p:nvPr/>
        </p:nvGraphicFramePr>
        <p:xfrm>
          <a:off x="1524000" y="1574800"/>
          <a:ext cx="9144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bandLbl0">
            <a:extLst>
              <a:ext uri="{FF2B5EF4-FFF2-40B4-BE49-F238E27FC236}">
                <a16:creationId xmlns:a16="http://schemas.microsoft.com/office/drawing/2014/main" id="{590DC012-FA6A-EA41-A1F0-402BE5594E12}"/>
              </a:ext>
            </a:extLst>
          </p:cNvPr>
          <p:cNvSpPr txBox="1"/>
          <p:nvPr/>
        </p:nvSpPr>
        <p:spPr>
          <a:xfrm>
            <a:off x="2324100" y="2451100"/>
            <a:ext cx="115388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4A3428"/>
                </a:solidFill>
                <a:latin typeface="Calibri"/>
                <a:cs typeface="Calibri"/>
              </a:rPr>
              <a:t>Normal</a:t>
            </a:r>
          </a:p>
        </p:txBody>
      </p:sp>
      <p:sp>
        <p:nvSpPr>
          <p:cNvPr id="8" name="bandLbl1">
            <a:extLst>
              <a:ext uri="{FF2B5EF4-FFF2-40B4-BE49-F238E27FC236}">
                <a16:creationId xmlns:a16="http://schemas.microsoft.com/office/drawing/2014/main" id="{5BAE19F4-9C60-374D-93B5-79AD92D9B55A}"/>
              </a:ext>
            </a:extLst>
          </p:cNvPr>
          <p:cNvSpPr txBox="1"/>
          <p:nvPr/>
        </p:nvSpPr>
        <p:spPr>
          <a:xfrm>
            <a:off x="3477985" y="2451100"/>
            <a:ext cx="115388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4A3428"/>
                </a:solidFill>
                <a:latin typeface="Calibri"/>
                <a:cs typeface="Calibri"/>
              </a:rPr>
              <a:t>Elevated</a:t>
            </a:r>
          </a:p>
        </p:txBody>
      </p:sp>
      <p:sp>
        <p:nvSpPr>
          <p:cNvPr id="9" name="bandLbl2">
            <a:extLst>
              <a:ext uri="{FF2B5EF4-FFF2-40B4-BE49-F238E27FC236}">
                <a16:creationId xmlns:a16="http://schemas.microsoft.com/office/drawing/2014/main" id="{AF2E9469-B94E-D847-B58A-EAF02837EFCE}"/>
              </a:ext>
            </a:extLst>
          </p:cNvPr>
          <p:cNvSpPr txBox="1"/>
          <p:nvPr/>
        </p:nvSpPr>
        <p:spPr>
          <a:xfrm>
            <a:off x="4631871" y="2451100"/>
            <a:ext cx="1153885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4A3428"/>
                </a:solidFill>
                <a:latin typeface="Calibri"/>
                <a:cs typeface="Calibri"/>
              </a:rPr>
              <a:t>Stage 1</a:t>
            </a:r>
          </a:p>
        </p:txBody>
      </p:sp>
      <p:sp>
        <p:nvSpPr>
          <p:cNvPr id="10" name="bandLbl3">
            <a:extLst>
              <a:ext uri="{FF2B5EF4-FFF2-40B4-BE49-F238E27FC236}">
                <a16:creationId xmlns:a16="http://schemas.microsoft.com/office/drawing/2014/main" id="{4E0A7517-8C9D-254D-989F-235F182377A0}"/>
              </a:ext>
            </a:extLst>
          </p:cNvPr>
          <p:cNvSpPr txBox="1"/>
          <p:nvPr/>
        </p:nvSpPr>
        <p:spPr>
          <a:xfrm>
            <a:off x="5785757" y="2451100"/>
            <a:ext cx="4615542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4A3428"/>
                </a:solidFill>
                <a:latin typeface="Calibri"/>
                <a:cs typeface="Calibri"/>
              </a:rPr>
              <a:t>Stage 2</a:t>
            </a:r>
          </a:p>
        </p:txBody>
      </p:sp>
      <p:sp>
        <p:nvSpPr>
          <p:cNvPr id="90" name="Source"/>
          <p:cNvSpPr txBox="1"/>
          <p:nvPr/>
        </p:nvSpPr>
        <p:spPr>
          <a:xfrm>
            <a:off x="685800" y="6248400"/>
            <a:ext cx="108204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200" b="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risk charts, low-risk regions: Conroy RM et al., Eur Heart J 2003;24:987-1003. Category boundaries: ACC/AHA 2017 hypertension guideline.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23D9CA33-83DD-E546-85D4-F28DBF0696C8}"/>
              </a:ext>
            </a:extLst>
          </p:cNvPr>
          <p:cNvSpPr txBox="1"/>
          <p:nvPr/>
        </p:nvSpPr>
        <p:spPr>
          <a:xfrm>
            <a:off x="685800" y="4064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15686B"/>
                </a:solidFill>
                <a:latin typeface="Calibri"/>
                <a:cs typeface="Calibri"/>
              </a:rPr>
              <a:t>FAULT 3 · ARBITRARY CATEGORIES</a:t>
            </a:r>
          </a:p>
        </p:txBody>
      </p:sp>
    </p:spTree>
    <p:extLst>
      <p:ext uri="{BB962C8B-B14F-4D97-AF65-F5344CB8AC3E}">
        <p14:creationId xmlns:p14="http://schemas.microsoft.com/office/powerpoint/2010/main" val="3623614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DE2E-2F00-BD95-3B30-AD408B0F7813}"/>
              </a:ext>
            </a:extLst>
          </p:cNvPr>
          <p:cNvSpPr>
            <a:spLocks noGrp="1"/>
          </p:cNvSpPr>
          <p:nvPr>
            <p:ph type="title" idx="102"/>
          </p:nvPr>
        </p:nvSpPr>
        <p:spPr>
          <a:xfrm>
            <a:off x="685800" y="762000"/>
            <a:ext cx="8046720" cy="868680"/>
          </a:xfrm>
        </p:spPr>
        <p:txBody>
          <a:bodyPr/>
          <a:lstStyle/>
          <a:p>
            <a:r>
              <a:rPr lang="en-US"/>
              <a:t>BMI Categories Are Worse</a:t>
            </a:r>
            <a:endParaRPr lang="en-US" dirty="0"/>
          </a:p>
        </p:txBody>
      </p:sp>
      <p:pic>
        <p:nvPicPr>
          <p:cNvPr id="300" name="SBP catego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50000"/>
            <a:ext cx="10094000" cy="4800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859D4EF-15CD-2346-BF19-AB834E7E1B35}"/>
              </a:ext>
            </a:extLst>
          </p:cNvPr>
          <p:cNvSpPr txBox="1"/>
          <p:nvPr/>
        </p:nvSpPr>
        <p:spPr>
          <a:xfrm>
            <a:off x="685800" y="4064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15686B"/>
                </a:solidFill>
                <a:latin typeface="Calibri"/>
                <a:cs typeface="Calibri"/>
              </a:rPr>
              <a:t>FAULT 3 · ARBITRARY CATEGORIES</a:t>
            </a:r>
          </a:p>
        </p:txBody>
      </p:sp>
    </p:spTree>
    <p:extLst>
      <p:ext uri="{BB962C8B-B14F-4D97-AF65-F5344CB8AC3E}">
        <p14:creationId xmlns:p14="http://schemas.microsoft.com/office/powerpoint/2010/main" val="1369993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C017-64D0-82A9-F277-1B15C137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nd3">
            <a:extLst>
              <a:ext uri="{FF2B5EF4-FFF2-40B4-BE49-F238E27FC236}">
                <a16:creationId xmlns:a16="http://schemas.microsoft.com/office/drawing/2014/main" id="{7B2359EC-132B-B94C-84A4-130D20A49E8C}"/>
              </a:ext>
            </a:extLst>
          </p:cNvPr>
          <p:cNvSpPr/>
          <p:nvPr/>
        </p:nvSpPr>
        <p:spPr>
          <a:xfrm>
            <a:off x="8198757" y="2717800"/>
            <a:ext cx="3142342" cy="1930400"/>
          </a:xfrm>
          <a:prstGeom prst="rect">
            <a:avLst/>
          </a:prstGeom>
          <a:solidFill>
            <a:srgbClr val="E8C3A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band2">
            <a:extLst>
              <a:ext uri="{FF2B5EF4-FFF2-40B4-BE49-F238E27FC236}">
                <a16:creationId xmlns:a16="http://schemas.microsoft.com/office/drawing/2014/main" id="{E4569E0F-0B01-434A-AF43-5DDDB51655F0}"/>
              </a:ext>
            </a:extLst>
          </p:cNvPr>
          <p:cNvSpPr/>
          <p:nvPr/>
        </p:nvSpPr>
        <p:spPr>
          <a:xfrm>
            <a:off x="7413171" y="2717800"/>
            <a:ext cx="785585" cy="1930400"/>
          </a:xfrm>
          <a:prstGeom prst="rect">
            <a:avLst/>
          </a:prstGeom>
          <a:solidFill>
            <a:srgbClr val="F0D3B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band1">
            <a:extLst>
              <a:ext uri="{FF2B5EF4-FFF2-40B4-BE49-F238E27FC236}">
                <a16:creationId xmlns:a16="http://schemas.microsoft.com/office/drawing/2014/main" id="{33D7CAD3-292E-8D42-8C01-4DFBAA4DB802}"/>
              </a:ext>
            </a:extLst>
          </p:cNvPr>
          <p:cNvSpPr/>
          <p:nvPr/>
        </p:nvSpPr>
        <p:spPr>
          <a:xfrm>
            <a:off x="6627585" y="2717800"/>
            <a:ext cx="785585" cy="1930400"/>
          </a:xfrm>
          <a:prstGeom prst="rect">
            <a:avLst/>
          </a:prstGeom>
          <a:solidFill>
            <a:srgbClr val="F7E4D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band0">
            <a:extLst>
              <a:ext uri="{FF2B5EF4-FFF2-40B4-BE49-F238E27FC236}">
                <a16:creationId xmlns:a16="http://schemas.microsoft.com/office/drawing/2014/main" id="{BF47A433-1D04-DA4A-B385-3ABCD1031746}"/>
              </a:ext>
            </a:extLst>
          </p:cNvPr>
          <p:cNvSpPr/>
          <p:nvPr/>
        </p:nvSpPr>
        <p:spPr>
          <a:xfrm>
            <a:off x="5842000" y="2717800"/>
            <a:ext cx="785585" cy="1930400"/>
          </a:xfrm>
          <a:prstGeom prst="rect">
            <a:avLst/>
          </a:prstGeom>
          <a:solidFill>
            <a:srgbClr val="FBF2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7F81AE2-39D1-F6E2-E01E-274585F610B5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685800" y="76200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1F3864"/>
                </a:solidFill>
              </a:rPr>
              <a:t>So Why Have Categories at All?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C866DE-8D41-4444-718A-B004165057F2}"/>
              </a:ext>
            </a:extLst>
          </p:cNvPr>
          <p:cNvSpPr/>
          <p:nvPr/>
        </p:nvSpPr>
        <p:spPr>
          <a:xfrm>
            <a:off x="685800" y="2413000"/>
            <a:ext cx="4191000" cy="287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A box is a decision rule: triage in three seconds.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The trouble: the box gets read as a fact about your body.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A box cannot say how much risk you carry.</a:t>
            </a:r>
          </a:p>
        </p:txBody>
      </p:sp>
      <p:sp>
        <p:nvSpPr>
          <p:cNvPr id="70" name="card70"/>
          <p:cNvSpPr/>
          <p:nvPr/>
        </p:nvSpPr>
        <p:spPr>
          <a:xfrm>
            <a:off x="685800" y="5384800"/>
            <a:ext cx="10820400" cy="965200"/>
          </a:xfrm>
          <a:prstGeom prst="roundRect">
            <a:avLst>
              <a:gd name="adj" fmla="val 8000"/>
            </a:avLst>
          </a:prstGeom>
          <a:solidFill>
            <a:srgbClr val="EAF2F2"/>
          </a:solidFill>
          <a:ln w="12700">
            <a:solidFill>
              <a:srgbClr val="15686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cardtx70"/>
          <p:cNvSpPr txBox="1"/>
          <p:nvPr/>
        </p:nvSpPr>
        <p:spPr>
          <a:xfrm>
            <a:off x="939800" y="5588000"/>
            <a:ext cx="10312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where you sit on the curve, not which side of the line.</a:t>
            </a:r>
          </a:p>
        </p:txBody>
      </p:sp>
      <p:graphicFrame>
        <p:nvGraphicFramePr>
          <p:cNvPr id="400" name="RiskChart"/>
          <p:cNvGraphicFramePr/>
          <p:nvPr/>
        </p:nvGraphicFramePr>
        <p:xfrm>
          <a:off x="5080000" y="1905000"/>
          <a:ext cx="6477000" cy="340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bandLbl0">
            <a:extLst>
              <a:ext uri="{FF2B5EF4-FFF2-40B4-BE49-F238E27FC236}">
                <a16:creationId xmlns:a16="http://schemas.microsoft.com/office/drawing/2014/main" id="{E246CB41-D012-114D-819E-36729B14E6BD}"/>
              </a:ext>
            </a:extLst>
          </p:cNvPr>
          <p:cNvSpPr txBox="1"/>
          <p:nvPr/>
        </p:nvSpPr>
        <p:spPr>
          <a:xfrm>
            <a:off x="5842000" y="2692400"/>
            <a:ext cx="785585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A3428"/>
                </a:solidFill>
                <a:latin typeface="Calibri"/>
                <a:cs typeface="Calibri"/>
              </a:rPr>
              <a:t>Normal</a:t>
            </a:r>
          </a:p>
        </p:txBody>
      </p:sp>
      <p:sp>
        <p:nvSpPr>
          <p:cNvPr id="9" name="bandLbl1">
            <a:extLst>
              <a:ext uri="{FF2B5EF4-FFF2-40B4-BE49-F238E27FC236}">
                <a16:creationId xmlns:a16="http://schemas.microsoft.com/office/drawing/2014/main" id="{A9C7537A-630C-5A47-BDC2-1A7DF68FC5BF}"/>
              </a:ext>
            </a:extLst>
          </p:cNvPr>
          <p:cNvSpPr txBox="1"/>
          <p:nvPr/>
        </p:nvSpPr>
        <p:spPr>
          <a:xfrm>
            <a:off x="6627585" y="2692400"/>
            <a:ext cx="785585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A3428"/>
                </a:solidFill>
                <a:latin typeface="Calibri"/>
                <a:cs typeface="Calibri"/>
              </a:rPr>
              <a:t>Elevated</a:t>
            </a:r>
          </a:p>
        </p:txBody>
      </p:sp>
      <p:sp>
        <p:nvSpPr>
          <p:cNvPr id="10" name="bandLbl2">
            <a:extLst>
              <a:ext uri="{FF2B5EF4-FFF2-40B4-BE49-F238E27FC236}">
                <a16:creationId xmlns:a16="http://schemas.microsoft.com/office/drawing/2014/main" id="{949F150C-E637-C64D-892D-76DF62917CC9}"/>
              </a:ext>
            </a:extLst>
          </p:cNvPr>
          <p:cNvSpPr txBox="1"/>
          <p:nvPr/>
        </p:nvSpPr>
        <p:spPr>
          <a:xfrm>
            <a:off x="7413171" y="2692400"/>
            <a:ext cx="785585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A3428"/>
                </a:solidFill>
                <a:latin typeface="Calibri"/>
                <a:cs typeface="Calibri"/>
              </a:rPr>
              <a:t>Stage 1</a:t>
            </a:r>
          </a:p>
        </p:txBody>
      </p:sp>
      <p:sp>
        <p:nvSpPr>
          <p:cNvPr id="11" name="bandLbl3">
            <a:extLst>
              <a:ext uri="{FF2B5EF4-FFF2-40B4-BE49-F238E27FC236}">
                <a16:creationId xmlns:a16="http://schemas.microsoft.com/office/drawing/2014/main" id="{977CABCF-C2AF-FC43-9862-8E66114B591C}"/>
              </a:ext>
            </a:extLst>
          </p:cNvPr>
          <p:cNvSpPr txBox="1"/>
          <p:nvPr/>
        </p:nvSpPr>
        <p:spPr>
          <a:xfrm>
            <a:off x="8198757" y="2692400"/>
            <a:ext cx="3142342" cy="2032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4A3428"/>
                </a:solidFill>
                <a:latin typeface="Calibri"/>
                <a:cs typeface="Calibri"/>
              </a:rPr>
              <a:t>Stage 2</a:t>
            </a:r>
          </a:p>
        </p:txBody>
      </p:sp>
      <p:sp>
        <p:nvSpPr>
          <p:cNvPr id="90" name="Source"/>
          <p:cNvSpPr txBox="1"/>
          <p:nvPr/>
        </p:nvSpPr>
        <p:spPr>
          <a:xfrm>
            <a:off x="685800" y="6502400"/>
            <a:ext cx="1082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risk charts, low-risk regions: Conroy RM et al., Eur Heart J 2003;24:987-1003. Category boundaries: ACC/AHA 2017.</a:t>
            </a:r>
          </a:p>
        </p:txBody>
      </p:sp>
      <p:sp>
        <p:nvSpPr>
          <p:cNvPr id="12" name="Text 0">
            <a:extLst>
              <a:ext uri="{FF2B5EF4-FFF2-40B4-BE49-F238E27FC236}">
                <a16:creationId xmlns:a16="http://schemas.microsoft.com/office/drawing/2014/main" id="{452EB309-956F-8D42-B286-AB0C9C331B18}"/>
              </a:ext>
            </a:extLst>
          </p:cNvPr>
          <p:cNvSpPr txBox="1"/>
          <p:nvPr/>
        </p:nvSpPr>
        <p:spPr>
          <a:xfrm>
            <a:off x="685800" y="406400"/>
            <a:ext cx="88900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1400" b="1">
                <a:solidFill>
                  <a:srgbClr val="15686B"/>
                </a:solidFill>
                <a:latin typeface="Calibri"/>
                <a:cs typeface="Calibri"/>
              </a:rPr>
              <a:t>FAULT 3 · ARBITRARY CATEGORIES</a:t>
            </a:r>
          </a:p>
        </p:txBody>
      </p:sp>
    </p:spTree>
    <p:extLst>
      <p:ext uri="{BB962C8B-B14F-4D97-AF65-F5344CB8AC3E}">
        <p14:creationId xmlns:p14="http://schemas.microsoft.com/office/powerpoint/2010/main" val="118234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EAE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Eyebrow">
            <a:extLst>
              <a:ext uri="{FF2B5EF4-FFF2-40B4-BE49-F238E27FC236}">
                <a16:creationId xmlns:a16="http://schemas.microsoft.com/office/drawing/2014/main" id="{43DCC678-91EF-7B44-B2D7-D2CC82E0E9AA}"/>
              </a:ext>
            </a:extLst>
          </p:cNvPr>
          <p:cNvSpPr txBox="1"/>
          <p:nvPr/>
        </p:nvSpPr>
        <p:spPr>
          <a:xfrm>
            <a:off x="1066800" y="1905000"/>
            <a:ext cx="5080000" cy="430887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2200" b="1" dirty="0">
                <a:solidFill>
                  <a:srgbClr val="15686B"/>
                </a:solidFill>
              </a:rPr>
              <a:t>FAULT 4</a:t>
            </a:r>
          </a:p>
        </p:txBody>
      </p:sp>
      <p:sp>
        <p:nvSpPr>
          <p:cNvPr id="3" name="DividerNum">
            <a:extLst>
              <a:ext uri="{FF2B5EF4-FFF2-40B4-BE49-F238E27FC236}">
                <a16:creationId xmlns:a16="http://schemas.microsoft.com/office/drawing/2014/main" id="{07FB2CF1-E663-8246-8037-8D6C8382576B}"/>
              </a:ext>
            </a:extLst>
          </p:cNvPr>
          <p:cNvSpPr txBox="1"/>
          <p:nvPr/>
        </p:nvSpPr>
        <p:spPr>
          <a:xfrm>
            <a:off x="1041400" y="2349500"/>
            <a:ext cx="9652000" cy="190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5400" b="1" dirty="0">
                <a:solidFill>
                  <a:srgbClr val="15686B"/>
                </a:solidFill>
              </a:rPr>
              <a:t>The Bernoulli Fallacy</a:t>
            </a:r>
          </a:p>
        </p:txBody>
      </p:sp>
      <p:sp>
        <p:nvSpPr>
          <p:cNvPr id="4" name="DividerRule">
            <a:extLst>
              <a:ext uri="{FF2B5EF4-FFF2-40B4-BE49-F238E27FC236}">
                <a16:creationId xmlns:a16="http://schemas.microsoft.com/office/drawing/2014/main" id="{9B746F38-27CC-8F48-9AB8-524EE588C1AC}"/>
              </a:ext>
            </a:extLst>
          </p:cNvPr>
          <p:cNvSpPr/>
          <p:nvPr/>
        </p:nvSpPr>
        <p:spPr>
          <a:xfrm>
            <a:off x="1066800" y="4445000"/>
            <a:ext cx="1143000" cy="63500"/>
          </a:xfrm>
          <a:prstGeom prst="rect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DividerTitle">
            <a:extLst>
              <a:ext uri="{FF2B5EF4-FFF2-40B4-BE49-F238E27FC236}">
                <a16:creationId xmlns:a16="http://schemas.microsoft.com/office/drawing/2014/main" id="{423C2191-AB8A-764E-9F15-6ADA4D84F2D4}"/>
              </a:ext>
            </a:extLst>
          </p:cNvPr>
          <p:cNvSpPr txBox="1"/>
          <p:nvPr/>
        </p:nvSpPr>
        <p:spPr>
          <a:xfrm>
            <a:off x="1016000" y="4762500"/>
            <a:ext cx="10160000" cy="707886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4000" b="1" dirty="0">
                <a:solidFill>
                  <a:srgbClr val="15686B"/>
                </a:solidFill>
              </a:rPr>
              <a:t>Why medical advice </a:t>
            </a:r>
            <a:r>
              <a:rPr lang="en-US" sz="4000" b="1">
                <a:solidFill>
                  <a:srgbClr val="15686B"/>
                </a:solidFill>
              </a:rPr>
              <a:t>keeps changing</a:t>
            </a:r>
            <a:endParaRPr lang="en-US" sz="4000" b="1" dirty="0">
              <a:solidFill>
                <a:srgbClr val="1568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586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15686B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/>
              </a:rPr>
              <a:t>FAULT 4 · THE BERNOULLI FALLACY</a:t>
            </a:r>
            <a:endParaRPr kumimoji="0" lang="en-US" sz="1400" b="1" i="0" u="none" strike="noStrike" kern="1200" cap="none" spc="300" normalizeH="0" baseline="0" noProof="0" dirty="0">
              <a:ln>
                <a:noFill/>
              </a:ln>
              <a:solidFill>
                <a:srgbClr val="15686B"/>
              </a:solidFill>
              <a:effectLst/>
              <a:uLnTx/>
              <a:uFillTx/>
              <a:latin typeface="Calibri"/>
              <a:ea typeface="Calibri" pitchFamily="34" charset="-122"/>
              <a:cs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749300"/>
            <a:ext cx="8890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Published Papers with Findings That Could be Repeated</a:t>
            </a:r>
          </a:p>
        </p:txBody>
      </p:sp>
      <p:sp>
        <p:nvSpPr>
          <p:cNvPr id="20" name="card20"/>
          <p:cNvSpPr/>
          <p:nvPr/>
        </p:nvSpPr>
        <p:spPr>
          <a:xfrm>
            <a:off x="640080" y="2463800"/>
            <a:ext cx="5303520" cy="1219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cardtx20"/>
          <p:cNvSpPr/>
          <p:nvPr/>
        </p:nvSpPr>
        <p:spPr>
          <a:xfrm>
            <a:off x="868680" y="2717800"/>
            <a:ext cx="48463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2000" b="1" dirty="0">
                <a:solidFill>
                  <a:srgbClr val="15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of 53</a:t>
            </a:r>
            <a:r>
              <a:rPr lang="en-US" sz="2000" b="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landmark cancer findings were confirmed on rerun.</a:t>
            </a:r>
          </a:p>
        </p:txBody>
      </p:sp>
      <p:sp>
        <p:nvSpPr>
          <p:cNvPr id="40" name="card40"/>
          <p:cNvSpPr/>
          <p:nvPr/>
        </p:nvSpPr>
        <p:spPr>
          <a:xfrm>
            <a:off x="6248400" y="2463800"/>
            <a:ext cx="5303520" cy="1219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cardtx40"/>
          <p:cNvSpPr/>
          <p:nvPr/>
        </p:nvSpPr>
        <p:spPr>
          <a:xfrm>
            <a:off x="6477000" y="2717800"/>
            <a:ext cx="48463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2000" b="1" dirty="0">
                <a:solidFill>
                  <a:srgbClr val="15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35 of 97</a:t>
            </a:r>
            <a:r>
              <a:rPr lang="en-US" sz="2000" b="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psychology findings stayed significant on rerun.</a:t>
            </a:r>
          </a:p>
        </p:txBody>
      </p:sp>
      <p:sp>
        <p:nvSpPr>
          <p:cNvPr id="70" name="card70"/>
          <p:cNvSpPr/>
          <p:nvPr/>
        </p:nvSpPr>
        <p:spPr>
          <a:xfrm>
            <a:off x="640080" y="4191000"/>
            <a:ext cx="10911840" cy="965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cardtx70"/>
          <p:cNvSpPr/>
          <p:nvPr/>
        </p:nvSpPr>
        <p:spPr>
          <a:xfrm>
            <a:off x="868680" y="43688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ctr">
              <a:lnSpc>
                <a:spcPct val="135000"/>
              </a:lnSpc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This is </a:t>
            </a: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Irreproducibility Crisis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1F3864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0" name="Source"/>
          <p:cNvSpPr/>
          <p:nvPr/>
        </p:nvSpPr>
        <p:spPr>
          <a:xfrm>
            <a:off x="640080" y="6350000"/>
            <a:ext cx="1097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Begley CG, Ellis LM. Nature 2012;483:531-533. Open Science Collaboration, Science 2015;349:aac4716. Clayton A, Bernoulli's Fallacy, 2021.</a:t>
            </a:r>
          </a:p>
        </p:txBody>
      </p:sp>
    </p:spTree>
    <p:extLst>
      <p:ext uri="{BB962C8B-B14F-4D97-AF65-F5344CB8AC3E}">
        <p14:creationId xmlns:p14="http://schemas.microsoft.com/office/powerpoint/2010/main" val="1387631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75D8A-2D0A-83B5-E981-142126F16D8A}"/>
              </a:ext>
            </a:extLst>
          </p:cNvPr>
          <p:cNvSpPr>
            <a:spLocks noGrp="1"/>
          </p:cNvSpPr>
          <p:nvPr>
            <p:ph type="title" idx="102"/>
          </p:nvPr>
        </p:nvSpPr>
        <p:spPr>
          <a:xfrm>
            <a:off x="635000" y="749300"/>
            <a:ext cx="9652000" cy="762000"/>
          </a:xfrm>
        </p:spPr>
        <p:txBody>
          <a:bodyPr/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 Important Aside: P(A|B) is The Core Element of Inference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01466F-6454-EE17-BD1F-6CEC07F444E1}"/>
              </a:ext>
            </a:extLst>
          </p:cNvPr>
          <p:cNvSpPr txBox="1"/>
          <p:nvPr/>
        </p:nvSpPr>
        <p:spPr>
          <a:xfrm>
            <a:off x="635000" y="1905000"/>
            <a:ext cx="10972800" cy="377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called 'conditional probability'</a:t>
            </a:r>
          </a:p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the probability of A if B is true</a:t>
            </a:r>
          </a:p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shortened to the probability of A, given B</a:t>
            </a:r>
          </a:p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the circumstances, B may be observed, believed, or imagined for argument's sake</a:t>
            </a:r>
          </a:p>
          <a:p>
            <a:pPr marL="457200" indent="-457200">
              <a:lnSpc>
                <a:spcPct val="1100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</a:p>
          <a:p>
            <a:pPr marL="8001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–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Courtrooms: P(Criminal guilt | evidence)</a:t>
            </a:r>
          </a:p>
          <a:p>
            <a:pPr marL="8001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–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Gambling: P(Rolling 7 with 2 dice | Dice are fair)</a:t>
            </a:r>
          </a:p>
          <a:p>
            <a:pPr marL="8001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–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Science: P(Tested hypothesis | data)</a:t>
            </a:r>
          </a:p>
          <a:p>
            <a:pPr marL="8001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–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Causality: P(drowning | warm weather)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47937A-8185-FF83-8DBB-C8279548E554}"/>
              </a:ext>
            </a:extLst>
          </p:cNvPr>
          <p:cNvSpPr txBox="1"/>
          <p:nvPr/>
        </p:nvSpPr>
        <p:spPr>
          <a:xfrm>
            <a:off x="635000" y="5778500"/>
            <a:ext cx="1097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600" i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course, you only need to be aware of the concept</a:t>
            </a:r>
          </a:p>
        </p:txBody>
      </p:sp>
      <p:sp>
        <p:nvSpPr>
          <p:cNvPr id="810" name="Text 0"/>
          <p:cNvSpPr txBox="1"/>
          <p:nvPr/>
        </p:nvSpPr>
        <p:spPr>
          <a:xfrm>
            <a:off x="635000" y="4572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b="1" spc="300" dirty="0">
                <a:solidFill>
                  <a:srgbClr val="15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4 · THE BERNOULLI FALLACY</a:t>
            </a:r>
          </a:p>
        </p:txBody>
      </p:sp>
    </p:spTree>
    <p:extLst>
      <p:ext uri="{BB962C8B-B14F-4D97-AF65-F5344CB8AC3E}">
        <p14:creationId xmlns:p14="http://schemas.microsoft.com/office/powerpoint/2010/main" val="2473214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01C6-74B3-5D3F-DED9-797B88578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14BC2D6A-5ABC-576D-E123-D7259DE7391B}"/>
              </a:ext>
            </a:extLst>
          </p:cNvPr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 dirty="0">
                <a:ln>
                  <a:noFill/>
                </a:ln>
                <a:solidFill>
                  <a:srgbClr val="1568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FAULT 4 · THE BERNOULLI FALLACY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7FB79DCB-85DB-9BE1-02D8-7BE2E7D90E5F}"/>
              </a:ext>
            </a:extLst>
          </p:cNvPr>
          <p:cNvSpPr/>
          <p:nvPr/>
        </p:nvSpPr>
        <p:spPr>
          <a:xfrm>
            <a:off x="635000" y="749300"/>
            <a:ext cx="965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Sometimes We Want to Reverse Conditional Probability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EC730-44E4-1909-869D-D4445DF91F05}"/>
              </a:ext>
            </a:extLst>
          </p:cNvPr>
          <p:cNvSpPr txBox="1"/>
          <p:nvPr/>
        </p:nvSpPr>
        <p:spPr>
          <a:xfrm>
            <a:off x="635000" y="2438400"/>
            <a:ext cx="10972800" cy="248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 saw in Day 2, we can reverse P(A|B) to P(B|A) if we also have P(B)</a:t>
            </a:r>
          </a:p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P(B) is sometimes called the 'prevalence' or 'prior' depending on the circumstances</a:t>
            </a:r>
          </a:p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example, in the mammogram example</a:t>
            </a:r>
          </a:p>
          <a:p>
            <a:pPr marL="8001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–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P(called back | cancer) = 87%</a:t>
            </a:r>
          </a:p>
          <a:p>
            <a:pPr marL="8001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–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P(cancer) = 0.6% (6 in 1000)</a:t>
            </a:r>
          </a:p>
          <a:p>
            <a:pPr marL="800100" indent="-3429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–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computed using ratios P(cancer | called back) = 4.4%</a:t>
            </a:r>
          </a:p>
        </p:txBody>
      </p:sp>
      <p:sp>
        <p:nvSpPr>
          <p:cNvPr id="2" name="RecallLead">
            <a:extLst>
              <a:ext uri="{FF2B5EF4-FFF2-40B4-BE49-F238E27FC236}">
                <a16:creationId xmlns:a16="http://schemas.microsoft.com/office/drawing/2014/main" id="{576B0628-3308-2E46-B486-AEEF8A04680F}"/>
              </a:ext>
            </a:extLst>
          </p:cNvPr>
          <p:cNvSpPr txBox="1"/>
          <p:nvPr/>
        </p:nvSpPr>
        <p:spPr>
          <a:xfrm>
            <a:off x="635000" y="1854200"/>
            <a:ext cx="10972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5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had 2 examples</a:t>
            </a:r>
          </a:p>
        </p:txBody>
      </p:sp>
      <p:sp>
        <p:nvSpPr>
          <p:cNvPr id="820" name="card820"/>
          <p:cNvSpPr/>
          <p:nvPr/>
        </p:nvSpPr>
        <p:spPr>
          <a:xfrm>
            <a:off x="635000" y="5511800"/>
            <a:ext cx="10909300" cy="787400"/>
          </a:xfrm>
          <a:prstGeom prst="roundRect">
            <a:avLst>
              <a:gd name="adj" fmla="val 8000"/>
            </a:avLst>
          </a:prstGeom>
          <a:solidFill>
            <a:srgbClr val="EAF2F2"/>
          </a:solidFill>
          <a:ln w="12700">
            <a:solidFill>
              <a:srgbClr val="15686B"/>
            </a:solidFill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endParaRPr 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2A6EEB-B8D3-F0A3-BEE0-3CA34837BED8}"/>
              </a:ext>
            </a:extLst>
          </p:cNvPr>
          <p:cNvSpPr txBox="1"/>
          <p:nvPr/>
        </p:nvSpPr>
        <p:spPr>
          <a:xfrm>
            <a:off x="1092200" y="5751611"/>
            <a:ext cx="10033000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sort of calculation, reversing using the prior, is called 'Bayesian Analysis'</a:t>
            </a:r>
          </a:p>
        </p:txBody>
      </p:sp>
    </p:spTree>
    <p:extLst>
      <p:ext uri="{BB962C8B-B14F-4D97-AF65-F5344CB8AC3E}">
        <p14:creationId xmlns:p14="http://schemas.microsoft.com/office/powerpoint/2010/main" val="1965583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A8A7D-014E-24A9-34C4-C3FBE1F52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CBBD8109-C11F-BFE3-9B60-588302BB6368}"/>
              </a:ext>
            </a:extLst>
          </p:cNvPr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15686B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/>
              </a:rPr>
              <a:t>FAULT 4 · THE BERNOULLI FALLACY</a:t>
            </a:r>
            <a:endParaRPr kumimoji="0" lang="en-US" sz="1400" b="1" i="0" u="none" strike="noStrike" kern="1200" cap="none" spc="300" normalizeH="0" baseline="0" noProof="0" dirty="0">
              <a:ln>
                <a:noFill/>
              </a:ln>
              <a:solidFill>
                <a:srgbClr val="15686B"/>
              </a:solidFill>
              <a:effectLst/>
              <a:uLnTx/>
              <a:uFillTx/>
              <a:latin typeface="Calibri"/>
              <a:ea typeface="Calibri" pitchFamily="34" charset="-122"/>
              <a:cs typeface="Calibri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17613C26-0B64-29A0-89E6-C878136AFEB9}"/>
              </a:ext>
            </a:extLst>
          </p:cNvPr>
          <p:cNvSpPr/>
          <p:nvPr/>
        </p:nvSpPr>
        <p:spPr>
          <a:xfrm>
            <a:off x="635000" y="749300"/>
            <a:ext cx="965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Fallacy Stems From Frequentist Reasoning</a:t>
            </a:r>
          </a:p>
        </p:txBody>
      </p:sp>
      <p:sp>
        <p:nvSpPr>
          <p:cNvPr id="70" name="card70">
            <a:extLst>
              <a:ext uri="{FF2B5EF4-FFF2-40B4-BE49-F238E27FC236}">
                <a16:creationId xmlns:a16="http://schemas.microsoft.com/office/drawing/2014/main" id="{C3073C38-6B5D-9E4F-290E-3CCC63D1766B}"/>
              </a:ext>
            </a:extLst>
          </p:cNvPr>
          <p:cNvSpPr/>
          <p:nvPr/>
        </p:nvSpPr>
        <p:spPr>
          <a:xfrm>
            <a:off x="635000" y="4800600"/>
            <a:ext cx="10909300" cy="9398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71" name="cardtx70">
            <a:extLst>
              <a:ext uri="{FF2B5EF4-FFF2-40B4-BE49-F238E27FC236}">
                <a16:creationId xmlns:a16="http://schemas.microsoft.com/office/drawing/2014/main" id="{ED20CE70-A6B5-E326-E274-8B24AE68BDB0}"/>
              </a:ext>
            </a:extLst>
          </p:cNvPr>
          <p:cNvSpPr/>
          <p:nvPr/>
        </p:nvSpPr>
        <p:spPr>
          <a:xfrm>
            <a:off x="1092200" y="4800600"/>
            <a:ext cx="9906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lnSpc>
                <a:spcPct val="115000"/>
              </a:lnSpc>
              <a:defRPr/>
            </a:pPr>
            <a:r>
              <a:rPr lang="en-US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criterion means one would expect about 1 in 20 published experiments to be not reproducible.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1F3864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7FE24D-ACCA-F629-1174-5679D748E986}"/>
              </a:ext>
            </a:extLst>
          </p:cNvPr>
          <p:cNvSpPr txBox="1"/>
          <p:nvPr/>
        </p:nvSpPr>
        <p:spPr>
          <a:xfrm>
            <a:off x="635000" y="1968500"/>
            <a:ext cx="10972800" cy="30916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 to know if a hypothesis is true.</a:t>
            </a:r>
          </a:p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compute P(hypothesis | data), they compute p = P(data | hypothesis is false)</a:t>
            </a:r>
          </a:p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is low enough, they say the observations are 'statistically significant' and submit the result for publication.</a:t>
            </a:r>
          </a:p>
          <a:p>
            <a:pPr marL="457200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medicine and the social sciences, the significance criterion is p &lt; .05: if the hypothesis were false, the data would arise only 5% of the time.</a:t>
            </a:r>
          </a:p>
          <a:p>
            <a:pPr marL="914400" lvl="1" indent="-4572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words: a false hypothesis would make this data very surprising, so treat it as true</a:t>
            </a:r>
          </a:p>
        </p:txBody>
      </p:sp>
    </p:spTree>
    <p:extLst>
      <p:ext uri="{BB962C8B-B14F-4D97-AF65-F5344CB8AC3E}">
        <p14:creationId xmlns:p14="http://schemas.microsoft.com/office/powerpoint/2010/main" val="312668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457200"/>
            <a:ext cx="109728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1400" b="1" spc="300" dirty="0">
                <a:solidFill>
                  <a:srgbClr val="15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4 · THE BERNOULLI FALLACY</a:t>
            </a:r>
          </a:p>
        </p:txBody>
      </p:sp>
      <p:sp>
        <p:nvSpPr>
          <p:cNvPr id="3" name="Text 1"/>
          <p:cNvSpPr/>
          <p:nvPr/>
        </p:nvSpPr>
        <p:spPr>
          <a:xfrm>
            <a:off x="635000" y="749300"/>
            <a:ext cx="9652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Drawbacks</a:t>
            </a:r>
          </a:p>
        </p:txBody>
      </p:sp>
      <p:sp>
        <p:nvSpPr>
          <p:cNvPr id="4" name="Shape 2"/>
          <p:cNvSpPr/>
          <p:nvPr/>
        </p:nvSpPr>
        <p:spPr>
          <a:xfrm>
            <a:off x="635000" y="1625600"/>
            <a:ext cx="10922000" cy="3454400"/>
          </a:xfrm>
          <a:prstGeom prst="roundRect">
            <a:avLst>
              <a:gd name="adj" fmla="val 1446"/>
            </a:avLst>
          </a:prstGeom>
          <a:solidFill>
            <a:srgbClr val="F7F4EE"/>
          </a:solidFill>
          <a:ln w="1270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22400" y="1803400"/>
            <a:ext cx="9906000" cy="104140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>
              <a:lnSpc>
                <a:spcPct val="108000"/>
              </a:lnSpc>
            </a:pPr>
            <a:r>
              <a:rPr lang="en-US" sz="1800" b="1" dirty="0">
                <a:solidFill>
                  <a:srgbClr val="8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significance setting is arbitrary, and often far too high. </a:t>
            </a:r>
            <a:r>
              <a:rPr lang="en-US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There is no formula or theorem that defines ‘significance’ .</a:t>
            </a:r>
          </a:p>
        </p:txBody>
      </p:sp>
      <p:sp>
        <p:nvSpPr>
          <p:cNvPr id="6" name="Text 4"/>
          <p:cNvSpPr/>
          <p:nvPr/>
        </p:nvSpPr>
        <p:spPr>
          <a:xfrm>
            <a:off x="1422400" y="2946400"/>
            <a:ext cx="9906000" cy="104140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8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is not informative. </a:t>
            </a:r>
            <a:r>
              <a:rPr lang="en-US" sz="18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P(hypothesis | data) enables risk-based decision support, like gambling; the p-value does not.</a:t>
            </a:r>
          </a:p>
        </p:txBody>
      </p:sp>
      <p:sp>
        <p:nvSpPr>
          <p:cNvPr id="7" name="Text 5"/>
          <p:cNvSpPr/>
          <p:nvPr/>
        </p:nvSpPr>
        <p:spPr>
          <a:xfrm>
            <a:off x="1422400" y="4089400"/>
            <a:ext cx="9906000" cy="104140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8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invites p-hacking. </a:t>
            </a:r>
            <a:r>
              <a:rPr lang="en-US" sz="18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 subsets of the data for those that meet the criterion by luck alone.</a:t>
            </a:r>
          </a:p>
        </p:txBody>
      </p:sp>
      <p:sp>
        <p:nvSpPr>
          <p:cNvPr id="850" name="card850"/>
          <p:cNvSpPr/>
          <p:nvPr/>
        </p:nvSpPr>
        <p:spPr>
          <a:xfrm>
            <a:off x="635000" y="5232400"/>
            <a:ext cx="1090930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15686B"/>
            </a:solidFill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</a:pP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1092200" y="5232400"/>
            <a:ext cx="9994900" cy="91440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algn="ctr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feed the replication crisis</a:t>
            </a:r>
            <a:endParaRPr lang="en-US" sz="1800" dirty="0">
              <a:solidFill>
                <a:srgbClr val="2623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30" name="dbadge1"/>
          <p:cNvSpPr/>
          <p:nvPr/>
        </p:nvSpPr>
        <p:spPr>
          <a:xfrm>
            <a:off x="889000" y="2146300"/>
            <a:ext cx="355600" cy="355600"/>
          </a:xfrm>
          <a:prstGeom prst="ellipse">
            <a:avLst/>
          </a:prstGeom>
          <a:solidFill>
            <a:srgbClr val="8F2D2D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31" name="dbadge2"/>
          <p:cNvSpPr/>
          <p:nvPr/>
        </p:nvSpPr>
        <p:spPr>
          <a:xfrm>
            <a:off x="889000" y="3289300"/>
            <a:ext cx="355600" cy="355600"/>
          </a:xfrm>
          <a:prstGeom prst="ellipse">
            <a:avLst/>
          </a:prstGeom>
          <a:solidFill>
            <a:srgbClr val="8F2D2D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832" name="dbadge3"/>
          <p:cNvSpPr/>
          <p:nvPr/>
        </p:nvSpPr>
        <p:spPr>
          <a:xfrm>
            <a:off x="889000" y="4432300"/>
            <a:ext cx="355600" cy="355600"/>
          </a:xfrm>
          <a:prstGeom prst="ellipse">
            <a:avLst/>
          </a:prstGeom>
          <a:solidFill>
            <a:srgbClr val="8F2D2D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860" name="Source"/>
          <p:cNvSpPr txBox="1"/>
          <p:nvPr/>
        </p:nvSpPr>
        <p:spPr>
          <a:xfrm>
            <a:off x="635000" y="62992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sigma, one-sided, corresponds to p = 0.000000287; ATLAS and CMS required it for the 2012 Higgs discovery. Ioannidis JPA. Why most published research findings are false. PLoS Med 2005;2:e124.</a:t>
            </a:r>
          </a:p>
        </p:txBody>
      </p:sp>
    </p:spTree>
    <p:extLst>
      <p:ext uri="{BB962C8B-B14F-4D97-AF65-F5344CB8AC3E}">
        <p14:creationId xmlns:p14="http://schemas.microsoft.com/office/powerpoint/2010/main" val="2862482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15686B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/>
              </a:rPr>
              <a:t>FAULT 4 · THE BERNOULLI FALLACY</a:t>
            </a:r>
            <a:endParaRPr kumimoji="0" lang="en-US" sz="1400" b="1" i="0" u="none" strike="noStrike" kern="1200" cap="none" spc="300" normalizeH="0" baseline="0" noProof="0" dirty="0">
              <a:ln>
                <a:noFill/>
              </a:ln>
              <a:solidFill>
                <a:srgbClr val="15686B"/>
              </a:solidFill>
              <a:effectLst/>
              <a:uLnTx/>
              <a:uFillTx/>
              <a:latin typeface="Calibri"/>
              <a:ea typeface="Calibri" pitchFamily="34" charset="-122"/>
              <a:cs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749300"/>
            <a:ext cx="8890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Medical and Social Science Sets the </a:t>
            </a:r>
            <a:r>
              <a:rPr lang="en-US" sz="3000" b="1" dirty="0">
                <a:solidFill>
                  <a:srgbClr val="1F386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p-value 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 Far Too High for Significance</a:t>
            </a:r>
          </a:p>
        </p:txBody>
      </p:sp>
      <p:sp>
        <p:nvSpPr>
          <p:cNvPr id="20" name="card20"/>
          <p:cNvSpPr/>
          <p:nvPr/>
        </p:nvSpPr>
        <p:spPr>
          <a:xfrm>
            <a:off x="640080" y="246380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cardtx20"/>
          <p:cNvSpPr/>
          <p:nvPr/>
        </p:nvSpPr>
        <p:spPr>
          <a:xfrm>
            <a:off x="868680" y="271780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68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PHYSICS DEMANDS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  &lt;  0.000000287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Five sigma: one chance in 3.5 million. The Higgs waited for that bar.</a:t>
            </a:r>
          </a:p>
        </p:txBody>
      </p:sp>
      <p:sp>
        <p:nvSpPr>
          <p:cNvPr id="40" name="card40"/>
          <p:cNvSpPr/>
          <p:nvPr/>
        </p:nvSpPr>
        <p:spPr>
          <a:xfrm>
            <a:off x="6248400" y="2463800"/>
            <a:ext cx="5303520" cy="2286000"/>
          </a:xfrm>
          <a:prstGeom prst="roundRect">
            <a:avLst>
              <a:gd name="adj" fmla="val 6000"/>
            </a:avLst>
          </a:prstGeom>
          <a:solidFill>
            <a:srgbClr val="FBF1EA"/>
          </a:solidFill>
          <a:ln w="12700">
            <a:solidFill>
              <a:srgbClr val="F4B7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cardtx40"/>
          <p:cNvSpPr/>
          <p:nvPr/>
        </p:nvSpPr>
        <p:spPr>
          <a:xfrm>
            <a:off x="6477000" y="271780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886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MEDICINE AND SOCIAL SCIENCE ACCEPT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  &lt;  0.05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One chance in twenty. A no-effect test clears it 1 time in 20, by luck.</a:t>
            </a:r>
          </a:p>
        </p:txBody>
      </p:sp>
      <p:sp>
        <p:nvSpPr>
          <p:cNvPr id="60" name="Mid"/>
          <p:cNvSpPr/>
          <p:nvPr/>
        </p:nvSpPr>
        <p:spPr>
          <a:xfrm>
            <a:off x="640080" y="1841500"/>
            <a:ext cx="1091184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Medicine cannot wait for five-sigma data: patients are scarce, trials costly.</a:t>
            </a:r>
          </a:p>
        </p:txBody>
      </p:sp>
      <p:sp>
        <p:nvSpPr>
          <p:cNvPr id="70" name="card70"/>
          <p:cNvSpPr/>
          <p:nvPr/>
        </p:nvSpPr>
        <p:spPr>
          <a:xfrm>
            <a:off x="640080" y="5080000"/>
            <a:ext cx="10911840" cy="11430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cardtx70"/>
          <p:cNvSpPr/>
          <p:nvPr/>
        </p:nvSpPr>
        <p:spPr>
          <a:xfrm>
            <a:off x="868680" y="5257800"/>
            <a:ext cx="9906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 in 20 is the rate per test of nothing. The share of false findings is a reversal question: how many tested ideas were true? The prevalence, yet again.</a:t>
            </a:r>
          </a:p>
        </p:txBody>
      </p:sp>
      <p:sp>
        <p:nvSpPr>
          <p:cNvPr id="90" name="Source"/>
          <p:cNvSpPr/>
          <p:nvPr/>
        </p:nvSpPr>
        <p:spPr>
          <a:xfrm>
            <a:off x="640080" y="6375400"/>
            <a:ext cx="1097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Five sigma, one-sided, corresponds to p = 0.000000287; ATLAS and CMS required it for the 2012 Higgs discovery. Ioannidis JPA. Why most published research findings are false. PLoS Med 2005;2:e124.</a:t>
            </a:r>
          </a:p>
        </p:txBody>
      </p:sp>
    </p:spTree>
    <p:extLst>
      <p:ext uri="{BB962C8B-B14F-4D97-AF65-F5344CB8AC3E}">
        <p14:creationId xmlns:p14="http://schemas.microsoft.com/office/powerpoint/2010/main" val="11285560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5000" y="457200"/>
            <a:ext cx="109728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1400" b="1" spc="300" dirty="0">
                <a:solidFill>
                  <a:srgbClr val="15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4 · THE BERNOULLI FALLACY</a:t>
            </a:r>
          </a:p>
        </p:txBody>
      </p:sp>
      <p:sp>
        <p:nvSpPr>
          <p:cNvPr id="3" name="Text 1"/>
          <p:cNvSpPr/>
          <p:nvPr/>
        </p:nvSpPr>
        <p:spPr>
          <a:xfrm>
            <a:off x="635000" y="749300"/>
            <a:ext cx="9652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 Why Do They Adopt Frequentism?</a:t>
            </a:r>
          </a:p>
        </p:txBody>
      </p:sp>
      <p:sp>
        <p:nvSpPr>
          <p:cNvPr id="4" name="Shape 2"/>
          <p:cNvSpPr/>
          <p:nvPr/>
        </p:nvSpPr>
        <p:spPr>
          <a:xfrm>
            <a:off x="635000" y="1676400"/>
            <a:ext cx="10922000" cy="4318000"/>
          </a:xfrm>
          <a:prstGeom prst="roundRect">
            <a:avLst>
              <a:gd name="adj" fmla="val 1600"/>
            </a:avLst>
          </a:prstGeom>
          <a:solidFill>
            <a:srgbClr val="F7F4EE"/>
          </a:solidFill>
          <a:ln w="1270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2200" y="1905000"/>
            <a:ext cx="10033000" cy="3860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200" indent="-457200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there is no prior:</a:t>
            </a:r>
            <a:endParaRPr lang="en-US" sz="2200" dirty="0">
              <a:solidFill>
                <a:srgbClr val="2623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–"/>
            </a:pPr>
            <a:r>
              <a:rPr lang="en-US" sz="2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quality control</a:t>
            </a:r>
          </a:p>
          <a:p>
            <a:pPr marL="800100" lvl="1" indent="-342900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–"/>
            </a:pPr>
            <a:r>
              <a:rPr lang="en-US" sz="2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survey sampling</a:t>
            </a:r>
          </a:p>
          <a:p>
            <a:pPr marL="800100" lvl="1" indent="-342900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–"/>
            </a:pPr>
            <a:r>
              <a:rPr lang="en-US" sz="220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 physics (which </a:t>
            </a:r>
            <a:r>
              <a:rPr lang="en-US" sz="2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criterion at p </a:t>
            </a:r>
            <a:r>
              <a:rPr lang="en-US" sz="220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0.000000287)</a:t>
            </a:r>
            <a:endParaRPr lang="en-US" sz="2200" dirty="0">
              <a:solidFill>
                <a:srgbClr val="26232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–"/>
            </a:pPr>
            <a:r>
              <a:rPr lang="en-US" sz="2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using a prior is considered more objective and honest by its proponents.</a:t>
            </a:r>
          </a:p>
          <a:p>
            <a:pPr marL="457200" indent="-457200">
              <a:lnSpc>
                <a:spcPct val="11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described in the book</a:t>
            </a:r>
            <a:r>
              <a:rPr lang="en-US" sz="2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more rigorous standard disrupts the academic publication world.</a:t>
            </a:r>
          </a:p>
        </p:txBody>
      </p:sp>
    </p:spTree>
    <p:extLst>
      <p:ext uri="{BB962C8B-B14F-4D97-AF65-F5344CB8AC3E}">
        <p14:creationId xmlns:p14="http://schemas.microsoft.com/office/powerpoint/2010/main" val="1235069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9ADD4-EFB5-4750-A956-0F8B08A96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6B972FED-A84B-8F80-836B-6DC15817AC33}"/>
              </a:ext>
            </a:extLst>
          </p:cNvPr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15686B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/>
              </a:rPr>
              <a:t>FAULT 4 · THE BERNOULLI FALLACY</a:t>
            </a:r>
            <a:endParaRPr kumimoji="0" lang="en-US" sz="1400" b="1" i="0" u="none" strike="noStrike" kern="1200" cap="none" spc="300" normalizeH="0" baseline="0" noProof="0" dirty="0">
              <a:ln>
                <a:noFill/>
              </a:ln>
              <a:solidFill>
                <a:srgbClr val="15686B"/>
              </a:solidFill>
              <a:effectLst/>
              <a:uLnTx/>
              <a:uFillTx/>
              <a:latin typeface="Calibri"/>
              <a:ea typeface="Calibri" pitchFamily="34" charset="-122"/>
              <a:cs typeface="Calibri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7F3EFA75-BDE9-1400-2BB4-5C9E75D7EE77}"/>
              </a:ext>
            </a:extLst>
          </p:cNvPr>
          <p:cNvSpPr/>
          <p:nvPr/>
        </p:nvSpPr>
        <p:spPr>
          <a:xfrm>
            <a:off x="640080" y="749300"/>
            <a:ext cx="8890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31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Evidence of p-hacking</a:t>
            </a:r>
          </a:p>
        </p:txBody>
      </p:sp>
      <p:sp>
        <p:nvSpPr>
          <p:cNvPr id="20" name="card20">
            <a:extLst>
              <a:ext uri="{FF2B5EF4-FFF2-40B4-BE49-F238E27FC236}">
                <a16:creationId xmlns:a16="http://schemas.microsoft.com/office/drawing/2014/main" id="{3281A16E-0EF9-985A-81B2-6C48C7A10A60}"/>
              </a:ext>
            </a:extLst>
          </p:cNvPr>
          <p:cNvSpPr/>
          <p:nvPr/>
        </p:nvSpPr>
        <p:spPr>
          <a:xfrm>
            <a:off x="640080" y="2463800"/>
            <a:ext cx="5303520" cy="1219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cardtx20">
            <a:extLst>
              <a:ext uri="{FF2B5EF4-FFF2-40B4-BE49-F238E27FC236}">
                <a16:creationId xmlns:a16="http://schemas.microsoft.com/office/drawing/2014/main" id="{F6634D40-BFF1-001D-3CD5-0061B80F2561}"/>
              </a:ext>
            </a:extLst>
          </p:cNvPr>
          <p:cNvSpPr/>
          <p:nvPr/>
        </p:nvSpPr>
        <p:spPr>
          <a:xfrm>
            <a:off x="868680" y="2717800"/>
            <a:ext cx="48463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2000" b="1" dirty="0">
                <a:solidFill>
                  <a:srgbClr val="15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 of 53 (11%)</a:t>
            </a:r>
            <a:r>
              <a:rPr lang="en-US" sz="2000" b="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landmark cancer findings were confirmed on rerun.</a:t>
            </a:r>
          </a:p>
        </p:txBody>
      </p:sp>
      <p:sp>
        <p:nvSpPr>
          <p:cNvPr id="40" name="card40">
            <a:extLst>
              <a:ext uri="{FF2B5EF4-FFF2-40B4-BE49-F238E27FC236}">
                <a16:creationId xmlns:a16="http://schemas.microsoft.com/office/drawing/2014/main" id="{18E8DB2B-41D2-19C0-E926-A7B31C277887}"/>
              </a:ext>
            </a:extLst>
          </p:cNvPr>
          <p:cNvSpPr/>
          <p:nvPr/>
        </p:nvSpPr>
        <p:spPr>
          <a:xfrm>
            <a:off x="6248400" y="2463800"/>
            <a:ext cx="5303520" cy="1219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cardtx40">
            <a:extLst>
              <a:ext uri="{FF2B5EF4-FFF2-40B4-BE49-F238E27FC236}">
                <a16:creationId xmlns:a16="http://schemas.microsoft.com/office/drawing/2014/main" id="{B15A241A-5C0B-3143-0324-30BE73A97ACB}"/>
              </a:ext>
            </a:extLst>
          </p:cNvPr>
          <p:cNvSpPr/>
          <p:nvPr/>
        </p:nvSpPr>
        <p:spPr>
          <a:xfrm>
            <a:off x="6477000" y="2717800"/>
            <a:ext cx="484632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2000" b="1" dirty="0">
                <a:solidFill>
                  <a:srgbClr val="156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35 of 97 (36%)</a:t>
            </a:r>
            <a:r>
              <a:rPr lang="en-US" sz="2000" b="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psychology findings stayed significant on rerun.</a:t>
            </a:r>
          </a:p>
        </p:txBody>
      </p:sp>
      <p:sp>
        <p:nvSpPr>
          <p:cNvPr id="70" name="card70">
            <a:extLst>
              <a:ext uri="{FF2B5EF4-FFF2-40B4-BE49-F238E27FC236}">
                <a16:creationId xmlns:a16="http://schemas.microsoft.com/office/drawing/2014/main" id="{8D388894-6E61-38BC-52FD-C0BDAA8EF172}"/>
              </a:ext>
            </a:extLst>
          </p:cNvPr>
          <p:cNvSpPr/>
          <p:nvPr/>
        </p:nvSpPr>
        <p:spPr>
          <a:xfrm>
            <a:off x="640080" y="4191000"/>
            <a:ext cx="10911840" cy="965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cardtx70">
            <a:extLst>
              <a:ext uri="{FF2B5EF4-FFF2-40B4-BE49-F238E27FC236}">
                <a16:creationId xmlns:a16="http://schemas.microsoft.com/office/drawing/2014/main" id="{0BEBF1E8-FC15-7EFC-8375-ACF67E63719F}"/>
              </a:ext>
            </a:extLst>
          </p:cNvPr>
          <p:cNvSpPr/>
          <p:nvPr/>
        </p:nvSpPr>
        <p:spPr>
          <a:xfrm>
            <a:off x="868680" y="4368800"/>
            <a:ext cx="965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ctr">
              <a:lnSpc>
                <a:spcPct val="135000"/>
              </a:lnSpc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These are much lower than chance (95%)</a:t>
            </a:r>
          </a:p>
        </p:txBody>
      </p:sp>
      <p:sp>
        <p:nvSpPr>
          <p:cNvPr id="90" name="Source">
            <a:extLst>
              <a:ext uri="{FF2B5EF4-FFF2-40B4-BE49-F238E27FC236}">
                <a16:creationId xmlns:a16="http://schemas.microsoft.com/office/drawing/2014/main" id="{B7BCC91A-0F9C-1093-4058-FEFDACE74CCB}"/>
              </a:ext>
            </a:extLst>
          </p:cNvPr>
          <p:cNvSpPr/>
          <p:nvPr/>
        </p:nvSpPr>
        <p:spPr>
          <a:xfrm>
            <a:off x="640080" y="6350000"/>
            <a:ext cx="1097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Begley CG, Ellis LM. Nature 2012;483:531-533. Open Science Collaboration, Science 2015;349:aac4716. Clayton A, Bernoulli's Fallacy, 2021.</a:t>
            </a:r>
          </a:p>
        </p:txBody>
      </p:sp>
    </p:spTree>
    <p:extLst>
      <p:ext uri="{BB962C8B-B14F-4D97-AF65-F5344CB8AC3E}">
        <p14:creationId xmlns:p14="http://schemas.microsoft.com/office/powerpoint/2010/main" val="3301561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15686B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/>
              </a:rPr>
              <a:t>FAULT 4 · THE BERNOULLI FALLACY</a:t>
            </a:r>
            <a:endParaRPr kumimoji="0" lang="en-US" sz="1400" b="1" i="0" u="none" strike="noStrike" kern="1200" cap="none" spc="300" normalizeH="0" baseline="0" noProof="0" dirty="0">
              <a:ln>
                <a:noFill/>
              </a:ln>
              <a:solidFill>
                <a:srgbClr val="15686B"/>
              </a:solidFill>
              <a:effectLst/>
              <a:uLnTx/>
              <a:uFillTx/>
              <a:latin typeface="Calibri"/>
              <a:ea typeface="Calibri" pitchFamily="34" charset="-122"/>
              <a:cs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749300"/>
            <a:ext cx="8890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3000" b="1">
                <a:solidFill>
                  <a:srgbClr val="1F386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Evidence for ‘p-hacking’, aka ‘data torturing’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rgbClr val="1F3864"/>
              </a:solidFill>
              <a:effectLst/>
              <a:uLnTx/>
              <a:uFillTx/>
              <a:latin typeface="Bookman Old Style" pitchFamily="34" charset="0"/>
              <a:ea typeface="Bookman Old Style" pitchFamily="34" charset="-122"/>
              <a:cs typeface="Bookman Old Style" pitchFamily="34" charset="-120"/>
            </a:endParaRPr>
          </a:p>
        </p:txBody>
      </p:sp>
      <p:sp>
        <p:nvSpPr>
          <p:cNvPr id="20" name="card20"/>
          <p:cNvSpPr/>
          <p:nvPr/>
        </p:nvSpPr>
        <p:spPr>
          <a:xfrm>
            <a:off x="640080" y="2463800"/>
            <a:ext cx="5303520" cy="1930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cardtx20"/>
          <p:cNvSpPr/>
          <p:nvPr/>
        </p:nvSpPr>
        <p:spPr>
          <a:xfrm>
            <a:off x="868680" y="2717800"/>
            <a:ext cx="484632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5686B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in 20</a:t>
            </a:r>
          </a:p>
          <a:p>
            <a:pPr marL="0" marR="0" lvl="0" indent="0" algn="l" defTabSz="9144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rate honest testing would produce on its own, with no torturing at all.</a:t>
            </a:r>
          </a:p>
        </p:txBody>
      </p:sp>
      <p:sp>
        <p:nvSpPr>
          <p:cNvPr id="40" name="card40"/>
          <p:cNvSpPr/>
          <p:nvPr/>
        </p:nvSpPr>
        <p:spPr>
          <a:xfrm>
            <a:off x="6248400" y="2463800"/>
            <a:ext cx="5303520" cy="1930400"/>
          </a:xfrm>
          <a:prstGeom prst="roundRect">
            <a:avLst>
              <a:gd name="adj" fmla="val 6000"/>
            </a:avLst>
          </a:prstGeom>
          <a:solidFill>
            <a:srgbClr val="FBF1EA"/>
          </a:solidFill>
          <a:ln w="12700">
            <a:solidFill>
              <a:srgbClr val="F4B7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cardtx40"/>
          <p:cNvSpPr/>
          <p:nvPr/>
        </p:nvSpPr>
        <p:spPr>
          <a:xfrm>
            <a:off x="6477000" y="2717800"/>
            <a:ext cx="484632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B8860B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47 of 53</a:t>
            </a:r>
          </a:p>
          <a:p>
            <a:pPr marL="0" marR="0" lvl="0" indent="0" algn="l" defTabSz="9144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landmark cancer findings that failed to repeat. Psychology: about 2 in 3.</a:t>
            </a:r>
          </a:p>
        </p:txBody>
      </p:sp>
      <p:sp>
        <p:nvSpPr>
          <p:cNvPr id="60" name="Mid"/>
          <p:cNvSpPr/>
          <p:nvPr/>
        </p:nvSpPr>
        <p:spPr>
          <a:xfrm>
            <a:off x="640080" y="1841500"/>
            <a:ext cx="1091184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observed failure rate is far above the honest floor.</a:t>
            </a:r>
          </a:p>
        </p:txBody>
      </p:sp>
      <p:sp>
        <p:nvSpPr>
          <p:cNvPr id="70" name="card70"/>
          <p:cNvSpPr/>
          <p:nvPr/>
        </p:nvSpPr>
        <p:spPr>
          <a:xfrm>
            <a:off x="640080" y="4775200"/>
            <a:ext cx="10911840" cy="1219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cardtx70"/>
          <p:cNvSpPr/>
          <p:nvPr/>
        </p:nvSpPr>
        <p:spPr>
          <a:xfrm>
            <a:off x="868680" y="4953000"/>
            <a:ext cx="9652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rate is too high for luck alone.</a:t>
            </a:r>
          </a:p>
        </p:txBody>
      </p:sp>
      <p:sp>
        <p:nvSpPr>
          <p:cNvPr id="90" name="Source"/>
          <p:cNvSpPr/>
          <p:nvPr/>
        </p:nvSpPr>
        <p:spPr>
          <a:xfrm>
            <a:off x="640080" y="6350000"/>
            <a:ext cx="1097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Begley CG, Ellis LM. Nature 2012;483:531-533. Open Science Collaboration, Science 2015;349:aac4716.</a:t>
            </a:r>
          </a:p>
        </p:txBody>
      </p:sp>
    </p:spTree>
    <p:extLst>
      <p:ext uri="{BB962C8B-B14F-4D97-AF65-F5344CB8AC3E}">
        <p14:creationId xmlns:p14="http://schemas.microsoft.com/office/powerpoint/2010/main" val="2174389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15686B"/>
                </a:solidFill>
                <a:effectLst/>
                <a:uLnTx/>
                <a:uFillTx/>
                <a:latin typeface="Calibri"/>
                <a:ea typeface="Calibri" pitchFamily="34" charset="-122"/>
                <a:cs typeface="Calibri"/>
              </a:rPr>
              <a:t>FAULT 4 · THE BERNOULLI FALLACY</a:t>
            </a:r>
            <a:endParaRPr kumimoji="0" lang="en-US" sz="1400" b="1" i="0" u="none" strike="noStrike" kern="1200" cap="none" spc="300" normalizeH="0" baseline="0" noProof="0" dirty="0">
              <a:ln>
                <a:noFill/>
              </a:ln>
              <a:solidFill>
                <a:srgbClr val="15686B"/>
              </a:solidFill>
              <a:effectLst/>
              <a:uLnTx/>
              <a:uFillTx/>
              <a:latin typeface="Calibri"/>
              <a:ea typeface="Calibri" pitchFamily="34" charset="-122"/>
              <a:cs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749300"/>
            <a:ext cx="8890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Baby Aspirin Recommendation Change</a:t>
            </a:r>
          </a:p>
        </p:txBody>
      </p:sp>
      <p:sp>
        <p:nvSpPr>
          <p:cNvPr id="20" name="card20"/>
          <p:cNvSpPr/>
          <p:nvPr/>
        </p:nvSpPr>
        <p:spPr>
          <a:xfrm>
            <a:off x="640080" y="2463800"/>
            <a:ext cx="5303520" cy="1930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cardtx20"/>
          <p:cNvSpPr/>
          <p:nvPr/>
        </p:nvSpPr>
        <p:spPr>
          <a:xfrm>
            <a:off x="868680" y="2717800"/>
            <a:ext cx="484632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5686B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1988</a:t>
            </a:r>
          </a:p>
          <a:p>
            <a:pPr marL="0" marR="0" lvl="0" indent="0" algn="l" defTabSz="9144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Physicians' Health Study: aspirin cut first heart attacks 44%, p &lt; 0.00001. Stopped early for benefit. Decades of daily-aspirin advice followed.</a:t>
            </a:r>
          </a:p>
        </p:txBody>
      </p:sp>
      <p:sp>
        <p:nvSpPr>
          <p:cNvPr id="40" name="card40"/>
          <p:cNvSpPr/>
          <p:nvPr/>
        </p:nvSpPr>
        <p:spPr>
          <a:xfrm>
            <a:off x="6248400" y="2463800"/>
            <a:ext cx="5303520" cy="1930400"/>
          </a:xfrm>
          <a:prstGeom prst="roundRect">
            <a:avLst>
              <a:gd name="adj" fmla="val 6000"/>
            </a:avLst>
          </a:prstGeom>
          <a:solidFill>
            <a:srgbClr val="FBF1EA"/>
          </a:solidFill>
          <a:ln w="12700">
            <a:solidFill>
              <a:srgbClr val="F4B7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cardtx40"/>
          <p:cNvSpPr/>
          <p:nvPr/>
        </p:nvSpPr>
        <p:spPr>
          <a:xfrm>
            <a:off x="6477000" y="2717800"/>
            <a:ext cx="484632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ts val="44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B8860B"/>
                </a:solidFill>
                <a:effectLst/>
                <a:uLnTx/>
                <a:uFillTx/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2018</a:t>
            </a:r>
          </a:p>
          <a:p>
            <a:pPr marL="0" marR="0" lvl="0" indent="0" algn="l" defTabSz="914400" rtl="0" eaLnBrk="1" fontAlgn="auto" latinLnBrk="0" hangingPunct="1">
              <a:lnSpc>
                <a:spcPts val="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retests, ARRIVE and ASPREE: no net benefit (ARRIVE p = 0.60), more major bleeding. USPSTF 2022: do not start after 60.</a:t>
            </a:r>
          </a:p>
        </p:txBody>
      </p:sp>
      <p:sp>
        <p:nvSpPr>
          <p:cNvPr id="60" name="Mid"/>
          <p:cNvSpPr/>
          <p:nvPr/>
        </p:nvSpPr>
        <p:spPr>
          <a:xfrm>
            <a:off x="640080" y="1841500"/>
            <a:ext cx="1091184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6232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Trials stopped early tend to stop on a lucky high. On the retests, p never crossed the line again.</a:t>
            </a:r>
          </a:p>
        </p:txBody>
      </p:sp>
      <p:sp>
        <p:nvSpPr>
          <p:cNvPr id="70" name="card70"/>
          <p:cNvSpPr/>
          <p:nvPr/>
        </p:nvSpPr>
        <p:spPr>
          <a:xfrm>
            <a:off x="640080" y="4775200"/>
            <a:ext cx="10911840" cy="1219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cardtx70"/>
          <p:cNvSpPr/>
          <p:nvPr/>
        </p:nvSpPr>
        <p:spPr>
          <a:xfrm>
            <a:off x="868680" y="4953000"/>
            <a:ext cx="9652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F386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advice changed because the finding would not repeat, and the harm outweighed the benefit</a:t>
            </a:r>
          </a:p>
        </p:txBody>
      </p:sp>
      <p:sp>
        <p:nvSpPr>
          <p:cNvPr id="90" name="Source"/>
          <p:cNvSpPr/>
          <p:nvPr/>
        </p:nvSpPr>
        <p:spPr>
          <a:xfrm>
            <a:off x="640080" y="6350000"/>
            <a:ext cx="1097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Physicians' Health Study final report, N Engl J Med 1989;321:129-135. McNeil JJ et al. (ASPREE), N Engl J Med 2018;379:1509-1518. Gaziano JM et al. (ARRIVE), Lancet 2018;392:1036-1046. USPSTF, JAMA 2022;327:1577-1584.</a:t>
            </a:r>
          </a:p>
        </p:txBody>
      </p:sp>
    </p:spTree>
    <p:extLst>
      <p:ext uri="{BB962C8B-B14F-4D97-AF65-F5344CB8AC3E}">
        <p14:creationId xmlns:p14="http://schemas.microsoft.com/office/powerpoint/2010/main" val="39463039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sz="1400" b="1" spc="300">
                <a:solidFill>
                  <a:srgbClr val="15686B"/>
                </a:solidFill>
                <a:latin typeface="Calibri"/>
                <a:ea typeface="Calibri" pitchFamily="34" charset="-122"/>
                <a:cs typeface="Calibri"/>
              </a:rPr>
              <a:t>FAULT 4 · THE BERNOULLI FALLACY</a:t>
            </a:r>
            <a:endParaRPr kumimoji="0" lang="en-US" sz="1400" b="1" i="0" u="none" strike="noStrike" kern="1200" cap="none" spc="300" normalizeH="0" baseline="0" noProof="0" dirty="0">
              <a:ln>
                <a:noFill/>
              </a:ln>
              <a:solidFill>
                <a:srgbClr val="15686B"/>
              </a:solidFill>
              <a:effectLst/>
              <a:uLnTx/>
              <a:uFillTx/>
              <a:latin typeface="Calibri"/>
              <a:ea typeface="Calibri" pitchFamily="34" charset="-122"/>
              <a:cs typeface="Calibri"/>
            </a:endParaRPr>
          </a:p>
        </p:txBody>
      </p:sp>
      <p:sp>
        <p:nvSpPr>
          <p:cNvPr id="11" name="Text 1"/>
          <p:cNvSpPr/>
          <p:nvPr/>
        </p:nvSpPr>
        <p:spPr>
          <a:xfrm>
            <a:off x="64008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3000" b="1" dirty="0">
                <a:solidFill>
                  <a:srgbClr val="1F386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Autism: From a p-Value to Policy</a:t>
            </a:r>
          </a:p>
        </p:txBody>
      </p:sp>
      <p:sp>
        <p:nvSpPr>
          <p:cNvPr id="20" name="card20"/>
          <p:cNvSpPr/>
          <p:nvPr/>
        </p:nvSpPr>
        <p:spPr>
          <a:xfrm>
            <a:off x="640080" y="1778000"/>
            <a:ext cx="3429000" cy="1676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cardtx20"/>
          <p:cNvSpPr/>
          <p:nvPr/>
        </p:nvSpPr>
        <p:spPr>
          <a:xfrm>
            <a:off x="868680" y="1981200"/>
            <a:ext cx="2971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31</a:t>
            </a:r>
          </a:p>
          <a:p>
            <a:pPr algn="ctr">
              <a:lnSpc>
                <a:spcPts val="600"/>
              </a:lnSpc>
              <a:buNone/>
            </a:pPr>
            <a:r>
              <a:rPr lang="en-US" sz="9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autism cases, parent-reported, not medical records</a:t>
            </a:r>
          </a:p>
        </p:txBody>
      </p:sp>
      <p:sp>
        <p:nvSpPr>
          <p:cNvPr id="40" name="card40"/>
          <p:cNvSpPr/>
          <p:nvPr/>
        </p:nvSpPr>
        <p:spPr>
          <a:xfrm>
            <a:off x="4381500" y="1778000"/>
            <a:ext cx="3429000" cy="1676400"/>
          </a:xfrm>
          <a:prstGeom prst="roundRect">
            <a:avLst>
              <a:gd name="adj" fmla="val 6000"/>
            </a:avLst>
          </a:prstGeom>
          <a:solidFill>
            <a:srgbClr val="FBF1EA"/>
          </a:solidFill>
          <a:ln w="12700">
            <a:solidFill>
              <a:srgbClr val="F4B7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cardtx40"/>
          <p:cNvSpPr/>
          <p:nvPr/>
        </p:nvSpPr>
        <p:spPr>
          <a:xfrm>
            <a:off x="4610100" y="1981200"/>
            <a:ext cx="2971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3x</a:t>
            </a:r>
          </a:p>
          <a:p>
            <a:pPr algn="ctr">
              <a:lnSpc>
                <a:spcPts val="600"/>
              </a:lnSpc>
              <a:buNone/>
            </a:pPr>
            <a:r>
              <a:rPr lang="en-US" sz="9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reported odds, in boys only, not the full sample</a:t>
            </a:r>
          </a:p>
        </p:txBody>
      </p:sp>
      <p:sp>
        <p:nvSpPr>
          <p:cNvPr id="60" name="card60"/>
          <p:cNvSpPr/>
          <p:nvPr/>
        </p:nvSpPr>
        <p:spPr>
          <a:xfrm>
            <a:off x="8122920" y="1778000"/>
            <a:ext cx="3429000" cy="16764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1568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cardtx60"/>
          <p:cNvSpPr/>
          <p:nvPr/>
        </p:nvSpPr>
        <p:spPr>
          <a:xfrm>
            <a:off x="8351520" y="1981200"/>
            <a:ext cx="2971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800"/>
              </a:lnSpc>
              <a:buNone/>
            </a:pPr>
            <a:r>
              <a:rPr lang="en-US" sz="2800" b="1" dirty="0">
                <a:solidFill>
                  <a:srgbClr val="1568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 &lt; 0.05</a:t>
            </a:r>
          </a:p>
          <a:p>
            <a:pPr algn="ctr">
              <a:lnSpc>
                <a:spcPts val="600"/>
              </a:lnSpc>
              <a:buNone/>
            </a:pPr>
            <a:r>
              <a:rPr lang="en-US" sz="9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was written up as a finding</a:t>
            </a:r>
          </a:p>
        </p:txBody>
      </p:sp>
      <p:sp>
        <p:nvSpPr>
          <p:cNvPr id="65" name="Frag1"/>
          <p:cNvSpPr/>
          <p:nvPr/>
        </p:nvSpPr>
        <p:spPr>
          <a:xfrm>
            <a:off x="1168400" y="3708400"/>
            <a:ext cx="10388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study:  </a:t>
            </a:r>
            <a:r>
              <a:rPr lang="en-US" sz="16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parent-reported cases.</a:t>
            </a:r>
          </a:p>
        </p:txBody>
      </p:sp>
      <p:sp>
        <p:nvSpPr>
          <p:cNvPr id="66" name="Frag2"/>
          <p:cNvSpPr/>
          <p:nvPr/>
        </p:nvSpPr>
        <p:spPr>
          <a:xfrm>
            <a:off x="1168400" y="4089400"/>
            <a:ext cx="10388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number:  </a:t>
            </a:r>
            <a:r>
              <a:rPr lang="en-US" sz="16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below 0.05.</a:t>
            </a:r>
          </a:p>
        </p:txBody>
      </p:sp>
      <p:sp>
        <p:nvSpPr>
          <p:cNvPr id="90" name="Source"/>
          <p:cNvSpPr/>
          <p:nvPr/>
        </p:nvSpPr>
        <p:spPr>
          <a:xfrm>
            <a:off x="635000" y="6299200"/>
            <a:ext cx="10972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12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Gallagher CM, Goodman MS. J Toxicol Environ Health A 2010;73(24):1665-1677; cited on the CDC Autism and Vaccines page, since retracted. No replication; large studies find no association (Price CS et al., Pediatrics 2010;126:656-664).</a:t>
            </a:r>
          </a:p>
        </p:txBody>
      </p:sp>
      <p:sp>
        <p:nvSpPr>
          <p:cNvPr id="702" name="Step2"/>
          <p:cNvSpPr/>
          <p:nvPr/>
        </p:nvSpPr>
        <p:spPr>
          <a:xfrm>
            <a:off x="1168400" y="4470400"/>
            <a:ext cx="10388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citation:  </a:t>
            </a:r>
            <a:r>
              <a:rPr lang="en-US" sz="16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CDC's Autism and Vaccines page.</a:t>
            </a:r>
          </a:p>
        </p:txBody>
      </p:sp>
      <p:sp>
        <p:nvSpPr>
          <p:cNvPr id="703" name="Step3"/>
          <p:cNvSpPr/>
          <p:nvPr/>
        </p:nvSpPr>
        <p:spPr>
          <a:xfrm>
            <a:off x="1168400" y="4851400"/>
            <a:ext cx="10388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committee:  </a:t>
            </a:r>
            <a:r>
              <a:rPr lang="en-US" sz="16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ACIP, twice, days before a vote.</a:t>
            </a:r>
          </a:p>
        </p:txBody>
      </p:sp>
      <p:sp>
        <p:nvSpPr>
          <p:cNvPr id="704" name="Step4"/>
          <p:cNvSpPr/>
          <p:nvPr/>
        </p:nvSpPr>
        <p:spPr>
          <a:xfrm>
            <a:off x="1168400" y="5232400"/>
            <a:ext cx="10388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policy:  </a:t>
            </a:r>
            <a:r>
              <a:rPr lang="en-US" sz="1600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newborn hepatitis B vaccination, ended.</a:t>
            </a:r>
          </a:p>
        </p:txBody>
      </p:sp>
      <p:sp>
        <p:nvSpPr>
          <p:cNvPr id="760" name="Closer"/>
          <p:cNvSpPr/>
          <p:nvPr/>
        </p:nvSpPr>
        <p:spPr>
          <a:xfrm>
            <a:off x="635000" y="5740400"/>
            <a:ext cx="1092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replicated. In May 2026 the journal retracted the paper, months after the vote.</a:t>
            </a:r>
          </a:p>
        </p:txBody>
      </p:sp>
      <p:sp>
        <p:nvSpPr>
          <p:cNvPr id="800" name="badge1"/>
          <p:cNvSpPr/>
          <p:nvPr/>
        </p:nvSpPr>
        <p:spPr>
          <a:xfrm>
            <a:off x="635000" y="3695700"/>
            <a:ext cx="304800" cy="304800"/>
          </a:xfrm>
          <a:prstGeom prst="ellipse">
            <a:avLst/>
          </a:prstGeom>
          <a:solidFill>
            <a:srgbClr val="1568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801" name="badge2"/>
          <p:cNvSpPr/>
          <p:nvPr/>
        </p:nvSpPr>
        <p:spPr>
          <a:xfrm>
            <a:off x="635000" y="4076700"/>
            <a:ext cx="304800" cy="304800"/>
          </a:xfrm>
          <a:prstGeom prst="ellipse">
            <a:avLst/>
          </a:prstGeom>
          <a:solidFill>
            <a:srgbClr val="1568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802" name="badge3"/>
          <p:cNvSpPr/>
          <p:nvPr/>
        </p:nvSpPr>
        <p:spPr>
          <a:xfrm>
            <a:off x="635000" y="4457700"/>
            <a:ext cx="304800" cy="304800"/>
          </a:xfrm>
          <a:prstGeom prst="ellipse">
            <a:avLst/>
          </a:prstGeom>
          <a:solidFill>
            <a:srgbClr val="1568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803" name="badge4"/>
          <p:cNvSpPr/>
          <p:nvPr/>
        </p:nvSpPr>
        <p:spPr>
          <a:xfrm>
            <a:off x="635000" y="4838700"/>
            <a:ext cx="304800" cy="304800"/>
          </a:xfrm>
          <a:prstGeom prst="ellipse">
            <a:avLst/>
          </a:prstGeom>
          <a:solidFill>
            <a:srgbClr val="1568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804" name="badge5"/>
          <p:cNvSpPr/>
          <p:nvPr/>
        </p:nvSpPr>
        <p:spPr>
          <a:xfrm>
            <a:off x="635000" y="5219700"/>
            <a:ext cx="304800" cy="304800"/>
          </a:xfrm>
          <a:prstGeom prst="ellipse">
            <a:avLst/>
          </a:prstGeom>
          <a:solidFill>
            <a:srgbClr val="1568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452439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essonRow2">
            <a:extLst>
              <a:ext uri="{FF2B5EF4-FFF2-40B4-BE49-F238E27FC236}">
                <a16:creationId xmlns:a16="http://schemas.microsoft.com/office/drawing/2014/main" id="{52F63C0D-4A73-0F4E-AD7D-EA91119928AA}"/>
              </a:ext>
            </a:extLst>
          </p:cNvPr>
          <p:cNvSpPr/>
          <p:nvPr/>
        </p:nvSpPr>
        <p:spPr>
          <a:xfrm>
            <a:off x="1016000" y="4419600"/>
            <a:ext cx="10160000" cy="177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56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LessonRow1">
            <a:extLst>
              <a:ext uri="{FF2B5EF4-FFF2-40B4-BE49-F238E27FC236}">
                <a16:creationId xmlns:a16="http://schemas.microsoft.com/office/drawing/2014/main" id="{A5DD4986-05B4-ED4B-8B06-D6C217012104}"/>
              </a:ext>
            </a:extLst>
          </p:cNvPr>
          <p:cNvSpPr/>
          <p:nvPr/>
        </p:nvSpPr>
        <p:spPr>
          <a:xfrm>
            <a:off x="1016000" y="2362200"/>
            <a:ext cx="10160000" cy="1778000"/>
          </a:xfrm>
          <a:prstGeom prst="roundRect">
            <a:avLst/>
          </a:prstGeom>
          <a:solidFill>
            <a:srgbClr val="FFFFFF"/>
          </a:solidFill>
          <a:ln w="15875" cap="flat" cmpd="sng" algn="ctr">
            <a:solidFill>
              <a:srgbClr val="1568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DividerNum">
            <a:extLst>
              <a:ext uri="{FF2B5EF4-FFF2-40B4-BE49-F238E27FC236}">
                <a16:creationId xmlns:a16="http://schemas.microsoft.com/office/drawing/2014/main" id="{4F5C199A-9D23-694A-B32A-BEF550796026}"/>
              </a:ext>
            </a:extLst>
          </p:cNvPr>
          <p:cNvSpPr txBox="1"/>
          <p:nvPr/>
        </p:nvSpPr>
        <p:spPr>
          <a:xfrm>
            <a:off x="1016000" y="838200"/>
            <a:ext cx="9144000" cy="584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3000" b="1">
                <a:solidFill>
                  <a:srgbClr val="1F3864"/>
                </a:solidFill>
                <a:latin typeface="Bookman Old Style" pitchFamily="34" charset="0"/>
                <a:ea typeface="Bookman Old Style" pitchFamily="34" charset="0"/>
                <a:cs typeface="Bookman Old Style" pitchFamily="34" charset="0"/>
              </a:rPr>
              <a:t>What We’ve Learned</a:t>
            </a:r>
            <a:endParaRPr lang="en-US" sz="3000" b="1" dirty="0">
              <a:solidFill>
                <a:srgbClr val="1F3864"/>
              </a:solidFill>
              <a:latin typeface="Bookman Old Style" pitchFamily="34" charset="0"/>
              <a:ea typeface="Bookman Old Style" pitchFamily="34" charset="0"/>
              <a:cs typeface="Bookman Old Style" pitchFamily="34" charset="0"/>
            </a:endParaRPr>
          </a:p>
        </p:txBody>
      </p:sp>
      <p:sp>
        <p:nvSpPr>
          <p:cNvPr id="4" name="DividerRule">
            <a:extLst>
              <a:ext uri="{FF2B5EF4-FFF2-40B4-BE49-F238E27FC236}">
                <a16:creationId xmlns:a16="http://schemas.microsoft.com/office/drawing/2014/main" id="{40908AA8-D266-8145-9246-0E6135A5D2B5}"/>
              </a:ext>
            </a:extLst>
          </p:cNvPr>
          <p:cNvSpPr/>
          <p:nvPr/>
        </p:nvSpPr>
        <p:spPr>
          <a:xfrm>
            <a:off x="1066800" y="1549400"/>
            <a:ext cx="1143000" cy="63500"/>
          </a:xfrm>
          <a:prstGeom prst="rect">
            <a:avLst/>
          </a:prstGeom>
          <a:solidFill>
            <a:srgbClr val="15686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DividerTitle">
            <a:extLst>
              <a:ext uri="{FF2B5EF4-FFF2-40B4-BE49-F238E27FC236}">
                <a16:creationId xmlns:a16="http://schemas.microsoft.com/office/drawing/2014/main" id="{C1F7EE2F-254B-F247-8EFC-DAB681104AF6}"/>
              </a:ext>
            </a:extLst>
          </p:cNvPr>
          <p:cNvSpPr txBox="1"/>
          <p:nvPr/>
        </p:nvSpPr>
        <p:spPr>
          <a:xfrm>
            <a:off x="1016000" y="1701800"/>
            <a:ext cx="9652000" cy="431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2000" dirty="0">
                <a:solidFill>
                  <a:srgbClr val="1F3864"/>
                </a:solidFill>
                <a:latin typeface="Calibri" pitchFamily="34" charset="0"/>
              </a:rPr>
              <a:t>Two faults, one shape.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D81A89-49D7-7C4E-8D71-2C7441676222}"/>
              </a:ext>
            </a:extLst>
          </p:cNvPr>
          <p:cNvSpPr txBox="1"/>
          <p:nvPr/>
        </p:nvSpPr>
        <p:spPr>
          <a:xfrm>
            <a:off x="2768600" y="2540000"/>
            <a:ext cx="822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5686B"/>
                </a:solidFill>
                <a:latin typeface="Bookman Old Style"/>
              </a:rPr>
              <a:t>1  ·  Arbitrary categories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5A494C-1575-024E-9422-649FF425005E}"/>
              </a:ext>
            </a:extLst>
          </p:cNvPr>
          <p:cNvSpPr txBox="1"/>
          <p:nvPr/>
        </p:nvSpPr>
        <p:spPr>
          <a:xfrm>
            <a:off x="2768600" y="2946400"/>
            <a:ext cx="8229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>
                <a:solidFill>
                  <a:srgbClr val="1F3864"/>
                </a:solidFill>
                <a:latin typeface="Calibri"/>
                <a:cs typeface="Calibri"/>
              </a:rPr>
              <a:t>The trap:  A line drawn across a continuous measurement is read as a fact about your body.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DDD215-9415-154A-B2E2-330108F0AD4B}"/>
              </a:ext>
            </a:extLst>
          </p:cNvPr>
          <p:cNvSpPr txBox="1"/>
          <p:nvPr/>
        </p:nvSpPr>
        <p:spPr>
          <a:xfrm>
            <a:off x="2768600" y="3556000"/>
            <a:ext cx="8229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i="1" dirty="0">
                <a:solidFill>
                  <a:srgbClr val="15686B"/>
                </a:solidFill>
                <a:latin typeface="Calibri"/>
                <a:cs typeface="Calibri"/>
              </a:rPr>
              <a:t>Ask: What is my risk with my measurement?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FEF917-D127-B54B-A3E9-E18AA7793178}"/>
              </a:ext>
            </a:extLst>
          </p:cNvPr>
          <p:cNvSpPr txBox="1"/>
          <p:nvPr/>
        </p:nvSpPr>
        <p:spPr>
          <a:xfrm>
            <a:off x="2768600" y="4597400"/>
            <a:ext cx="822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b="1">
                <a:solidFill>
                  <a:srgbClr val="15686B"/>
                </a:solidFill>
                <a:latin typeface="Bookman Old Style"/>
              </a:rPr>
              <a:t>2  ·  The Bernoulli fallacy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6B5D73-CED0-924B-845A-70E448D1D2F4}"/>
              </a:ext>
            </a:extLst>
          </p:cNvPr>
          <p:cNvSpPr txBox="1"/>
          <p:nvPr/>
        </p:nvSpPr>
        <p:spPr>
          <a:xfrm>
            <a:off x="2768600" y="5003800"/>
            <a:ext cx="8229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1600" dirty="0">
                <a:solidFill>
                  <a:srgbClr val="1F3864"/>
                </a:solidFill>
                <a:latin typeface="Calibri" pitchFamily="34" charset="0"/>
              </a:rPr>
              <a:t>The trap:  p below 0.05 is read as proof the effect is real, and that has made the </a:t>
            </a:r>
            <a:r>
              <a:rPr lang="en-US" sz="1600">
                <a:solidFill>
                  <a:srgbClr val="1F3864"/>
                </a:solidFill>
                <a:latin typeface="Calibri" pitchFamily="34" charset="0"/>
              </a:rPr>
              <a:t>medical literature unreliable.</a:t>
            </a:r>
            <a:endParaRPr lang="en-US" sz="1600" dirty="0">
              <a:solidFill>
                <a:srgbClr val="1F3864"/>
              </a:solidFill>
              <a:latin typeface="Calibri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D5EEE8-70C1-0748-B0E2-1CBE76AD0958}"/>
              </a:ext>
            </a:extLst>
          </p:cNvPr>
          <p:cNvSpPr txBox="1"/>
          <p:nvPr/>
        </p:nvSpPr>
        <p:spPr>
          <a:xfrm>
            <a:off x="2768600" y="5613400"/>
            <a:ext cx="8229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000" b="1" i="1" dirty="0">
                <a:solidFill>
                  <a:srgbClr val="15686B"/>
                </a:solidFill>
                <a:latin typeface="Calibri"/>
                <a:cs typeface="Calibri"/>
              </a:rPr>
              <a:t>Ask: Have these studies been replicated?</a:t>
            </a:r>
          </a:p>
        </p:txBody>
      </p:sp>
      <p:sp>
        <p:nvSpPr>
          <p:cNvPr id="901" name="lessonBadge1"/>
          <p:cNvSpPr/>
          <p:nvPr/>
        </p:nvSpPr>
        <p:spPr>
          <a:xfrm>
            <a:off x="1435100" y="2895600"/>
            <a:ext cx="711200" cy="711200"/>
          </a:xfrm>
          <a:prstGeom prst="ellipse">
            <a:avLst/>
          </a:prstGeom>
          <a:solidFill>
            <a:srgbClr val="1568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902" name="lessonBadge2"/>
          <p:cNvSpPr/>
          <p:nvPr/>
        </p:nvSpPr>
        <p:spPr>
          <a:xfrm>
            <a:off x="1435100" y="4953000"/>
            <a:ext cx="711200" cy="711200"/>
          </a:xfrm>
          <a:prstGeom prst="ellipse">
            <a:avLst/>
          </a:prstGeom>
          <a:solidFill>
            <a:srgbClr val="15686B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58602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3749040"/>
            <a:ext cx="4572000" cy="4572000"/>
          </a:xfrm>
          <a:prstGeom prst="ellipse">
            <a:avLst/>
          </a:prstGeom>
          <a:solidFill>
            <a:srgbClr val="C2683F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0152" y="2834640"/>
            <a:ext cx="2011680" cy="2011680"/>
          </a:xfrm>
          <a:prstGeom prst="ellipse">
            <a:avLst/>
          </a:prstGeom>
          <a:solidFill>
            <a:srgbClr val="15686B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868680" cy="868680"/>
          </a:xfrm>
          <a:prstGeom prst="ellipse">
            <a:avLst/>
          </a:prstGeom>
          <a:solidFill>
            <a:srgbClr val="C2683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assets/emblem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849" y="1536649"/>
            <a:ext cx="538582" cy="5385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5146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26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Questions, and a conversation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68580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Murray Cantor PhD</a:t>
            </a:r>
            <a:r>
              <a:rPr lang="en-US" sz="220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  <a:r>
              <a:rPr lang="en-US" sz="2200" dirty="0" err="1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murray@murraycantor.com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525C5454-4728-2B5E-FBFD-5DD5FF3624A4}"/>
              </a:ext>
            </a:extLst>
          </p:cNvPr>
          <p:cNvSpPr/>
          <p:nvPr/>
        </p:nvSpPr>
        <p:spPr>
          <a:xfrm>
            <a:off x="685800" y="4800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26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Keenan MD </a:t>
            </a:r>
            <a:r>
              <a:rPr lang="en-US" sz="2200" dirty="0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r>
              <a:rPr lang="en-US" sz="2200" dirty="0" err="1">
                <a:solidFill>
                  <a:srgbClr val="8A80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drkeenan@mdvip.com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52069-C849-3E8A-174B-6C0615D4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viderNum">
            <a:extLst>
              <a:ext uri="{FF2B5EF4-FFF2-40B4-BE49-F238E27FC236}">
                <a16:creationId xmlns:a16="http://schemas.microsoft.com/office/drawing/2014/main" id="{AC0E9DE4-118D-6E98-2451-537E31AB4607}"/>
              </a:ext>
            </a:extLst>
          </p:cNvPr>
          <p:cNvSpPr txBox="1"/>
          <p:nvPr/>
        </p:nvSpPr>
        <p:spPr>
          <a:xfrm>
            <a:off x="1041400" y="2840335"/>
            <a:ext cx="9652000" cy="92333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sz="5400" b="1" dirty="0">
                <a:solidFill>
                  <a:srgbClr val="15686B"/>
                </a:solidFill>
              </a:rPr>
              <a:t>Backup Slides</a:t>
            </a:r>
          </a:p>
        </p:txBody>
      </p:sp>
    </p:spTree>
    <p:extLst>
      <p:ext uri="{BB962C8B-B14F-4D97-AF65-F5344CB8AC3E}">
        <p14:creationId xmlns:p14="http://schemas.microsoft.com/office/powerpoint/2010/main" val="3564758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C017-64D0-82A9-F277-1B15C137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7F81AE2-39D1-F6E2-E01E-274585F610B5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/>
              <a:t>A Line You Have Already Met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C866DE-8D41-4444-718A-B004165057F2}"/>
              </a:ext>
            </a:extLst>
          </p:cNvPr>
          <p:cNvSpPr/>
          <p:nvPr/>
        </p:nvSpPr>
        <p:spPr>
          <a:xfrm>
            <a:off x="685800" y="201168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Arbitrary categories came from clinical medicine: BMI 25, systolic 130.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Statistics draws the same kind of line on itself. A study is "significant" if p falls below 0.05, and not otherwise.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p is a continuous quantity. 0.05 is a convention, not a discovery. R. A. Fisher drew it in 1925 because it was convenient.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Everything Fault 3 taught about cutoffs applies to the line the research itself is graded on.</a:t>
            </a:r>
          </a:p>
        </p:txBody>
      </p:sp>
      <p:sp>
        <p:nvSpPr>
          <p:cNvPr id="90" name="Source"/>
          <p:cNvSpPr/>
          <p:nvPr/>
        </p:nvSpPr>
        <p:spPr>
          <a:xfrm>
            <a:off x="685800" y="6461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Fisher RA. Statistical Methods for Research Workers. Oliver &amp; Boyd, 1925. His word for the 0.05 level was "convenient".</a:t>
            </a:r>
          </a:p>
        </p:txBody>
      </p:sp>
    </p:spTree>
    <p:extLst>
      <p:ext uri="{BB962C8B-B14F-4D97-AF65-F5344CB8AC3E}">
        <p14:creationId xmlns:p14="http://schemas.microsoft.com/office/powerpoint/2010/main" val="36658727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C017-64D0-82A9-F277-1B15C137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7F81AE2-39D1-F6E2-E01E-274585F610B5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/>
              <a:t>Too Few Cases, Read as No Effect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C866DE-8D41-4444-718A-B004165057F2}"/>
              </a:ext>
            </a:extLst>
          </p:cNvPr>
          <p:cNvSpPr/>
          <p:nvPr/>
        </p:nvSpPr>
        <p:spPr>
          <a:xfrm>
            <a:off x="685800" y="201168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[Placeholder: ASCOT-LLA’s women.]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Only 36 heart events among women in the whole trial. The label calls the result inconclusive.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Correspondents read that as evidence the drug does not help women.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The investigators replied that 36 events cannot show much, and that absent evidence of a different effect, the whole-trial result is the best estimate for women too.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Source: Sever PS, et al. Lancet 2003;361:1986.</a:t>
            </a:r>
          </a:p>
        </p:txBody>
      </p:sp>
    </p:spTree>
    <p:extLst>
      <p:ext uri="{BB962C8B-B14F-4D97-AF65-F5344CB8AC3E}">
        <p14:creationId xmlns:p14="http://schemas.microsoft.com/office/powerpoint/2010/main" val="2390172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4C017-64D0-82A9-F277-1B15C137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27F81AE2-39D1-F6E2-E01E-274585F610B5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685800" y="8686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dirty="0"/>
              <a:t>Sixty Side Effects at Once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C866DE-8D41-4444-718A-B004165057F2}"/>
              </a:ext>
            </a:extLst>
          </p:cNvPr>
          <p:cNvSpPr/>
          <p:nvPr/>
        </p:nvSpPr>
        <p:spPr>
          <a:xfrm>
            <a:off x="685800" y="2011680"/>
            <a:ext cx="10058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[Placeholder: the 2026 statin label meta-analysis.]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More than sixty labelled side effects tested, with a strict bar to avoid finding things by luck.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Six survived. The conclusion drawn was that the labels should be trimmed.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A strict bar also means real effects get missed, and that rate was never reported.</a:t>
            </a:r>
          </a:p>
          <a:p>
            <a:pPr marL="800100" lvl="1" indent="-342900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262320"/>
                </a:solidFill>
                <a:latin typeface="Calibri" pitchFamily="34" charset="0"/>
                <a:cs typeface="Calibri" pitchFamily="34" charset="-120"/>
              </a:rPr>
              <a:t>Source: Cholesterol Treatment Trialists’ Collaboration, Lancet 2026;407:689-703.</a:t>
            </a:r>
          </a:p>
        </p:txBody>
      </p:sp>
    </p:spTree>
    <p:extLst>
      <p:ext uri="{BB962C8B-B14F-4D97-AF65-F5344CB8AC3E}">
        <p14:creationId xmlns:p14="http://schemas.microsoft.com/office/powerpoint/2010/main" val="1983079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lthy_Skepticism_template" id="{A475EFBF-EC16-804F-804C-E378F4DD18F0}" vid="{6A4D0C99-FC8E-6640-8839-28A56828CE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ECEDE5C-0805-304A-84E1-7603506FB6F1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a7861329-2e06-4a86-8236-388c24162ff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25175</TotalTime>
  <Words>2305</Words>
  <Application>Microsoft Macintosh PowerPoint</Application>
  <PresentationFormat>Widescreen</PresentationFormat>
  <Paragraphs>240</Paragraphs>
  <Slides>27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Bookman Old Style</vt:lpstr>
      <vt:lpstr>Calibri</vt:lpstr>
      <vt:lpstr>Office Theme</vt:lpstr>
      <vt:lpstr>PowerPoint Presentation</vt:lpstr>
      <vt:lpstr>Disclaimer</vt:lpstr>
      <vt:lpstr>The Five Faults</vt:lpstr>
      <vt:lpstr>Today’s Two Faults</vt:lpstr>
      <vt:lpstr>PowerPoint Presentation</vt:lpstr>
      <vt:lpstr>Where Does “High” Begin?</vt:lpstr>
      <vt:lpstr>Systolic Categories Don’t Mean Much</vt:lpstr>
      <vt:lpstr>BMI Categories Are Worse</vt:lpstr>
      <vt:lpstr>So Why Have Categories at All?</vt:lpstr>
      <vt:lpstr>PowerPoint Presentation</vt:lpstr>
      <vt:lpstr>PowerPoint Presentation</vt:lpstr>
      <vt:lpstr>An Important Aside: P(A|B) is The Core Element of Inference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Line You Have Already Met</vt:lpstr>
      <vt:lpstr>Too Few Cases, Read as No Effect</vt:lpstr>
      <vt:lpstr>Sixty Side Effects at Once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Murray Cantor</dc:creator>
  <cp:lastModifiedBy>Murray Cantor</cp:lastModifiedBy>
  <cp:revision>56</cp:revision>
  <cp:lastPrinted>2026-06-18T15:28:25Z</cp:lastPrinted>
  <dcterms:created xsi:type="dcterms:W3CDTF">2026-06-10T15:36:34Z</dcterms:created>
  <dcterms:modified xsi:type="dcterms:W3CDTF">2026-08-15T14:08:17Z</dcterms:modified>
</cp:coreProperties>
</file>